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48" r:id="rId2"/>
  </p:sldMasterIdLst>
  <p:notesMasterIdLst>
    <p:notesMasterId r:id="rId32"/>
  </p:notesMasterIdLst>
  <p:sldIdLst>
    <p:sldId id="257" r:id="rId3"/>
    <p:sldId id="258" r:id="rId4"/>
    <p:sldId id="287" r:id="rId5"/>
    <p:sldId id="259" r:id="rId6"/>
    <p:sldId id="283" r:id="rId7"/>
    <p:sldId id="260" r:id="rId8"/>
    <p:sldId id="265" r:id="rId9"/>
    <p:sldId id="262" r:id="rId10"/>
    <p:sldId id="263" r:id="rId11"/>
    <p:sldId id="264" r:id="rId12"/>
    <p:sldId id="271" r:id="rId13"/>
    <p:sldId id="266" r:id="rId14"/>
    <p:sldId id="281" r:id="rId15"/>
    <p:sldId id="280" r:id="rId16"/>
    <p:sldId id="273" r:id="rId17"/>
    <p:sldId id="282" r:id="rId18"/>
    <p:sldId id="277" r:id="rId19"/>
    <p:sldId id="278" r:id="rId20"/>
    <p:sldId id="279" r:id="rId21"/>
    <p:sldId id="290" r:id="rId22"/>
    <p:sldId id="268" r:id="rId23"/>
    <p:sldId id="288" r:id="rId24"/>
    <p:sldId id="289" r:id="rId25"/>
    <p:sldId id="276" r:id="rId26"/>
    <p:sldId id="285" r:id="rId27"/>
    <p:sldId id="291" r:id="rId28"/>
    <p:sldId id="269" r:id="rId29"/>
    <p:sldId id="270" r:id="rId30"/>
    <p:sldId id="286"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2AFF"/>
    <a:srgbClr val="FFFF04"/>
    <a:srgbClr val="01FFFF"/>
    <a:srgbClr val="FFFF00"/>
    <a:srgbClr val="FFFF99"/>
    <a:srgbClr val="FFFFFF"/>
    <a:srgbClr val="6699FF"/>
    <a:srgbClr val="3333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4504" autoAdjust="0"/>
  </p:normalViewPr>
  <p:slideViewPr>
    <p:cSldViewPr snapToGrid="0">
      <p:cViewPr varScale="1">
        <p:scale>
          <a:sx n="93" d="100"/>
          <a:sy n="93" d="100"/>
        </p:scale>
        <p:origin x="678"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theme" Target="theme/theme1.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B2B5D39-10E0-4DC6-A854-CD5F3B87F678}" type="datetimeFigureOut">
              <a:rPr lang="en-US" smtClean="0"/>
              <a:t>6/22/2025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429A7D2-398B-427C-AC3D-B0EBA8B12372}" type="slidenum">
              <a:rPr lang="en-US" smtClean="0"/>
              <a:t>‹#›</a:t>
            </a:fld>
            <a:endParaRPr lang="en-US"/>
          </a:p>
        </p:txBody>
      </p:sp>
    </p:spTree>
    <p:extLst>
      <p:ext uri="{BB962C8B-B14F-4D97-AF65-F5344CB8AC3E}">
        <p14:creationId xmlns:p14="http://schemas.microsoft.com/office/powerpoint/2010/main" val="30282219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is the amygdala in this image?? The amygdala is everywhere! It isn’t possible to localize anatomical structures in K-space</a:t>
            </a:r>
          </a:p>
        </p:txBody>
      </p:sp>
      <p:sp>
        <p:nvSpPr>
          <p:cNvPr id="4" name="Slide Number Placeholder 3"/>
          <p:cNvSpPr>
            <a:spLocks noGrp="1"/>
          </p:cNvSpPr>
          <p:nvPr>
            <p:ph type="sldNum" sz="quarter" idx="5"/>
          </p:nvPr>
        </p:nvSpPr>
        <p:spPr/>
        <p:txBody>
          <a:bodyPr/>
          <a:lstStyle/>
          <a:p>
            <a:fld id="{1429A7D2-398B-427C-AC3D-B0EBA8B12372}" type="slidenum">
              <a:rPr lang="en-US" smtClean="0"/>
              <a:t>6</a:t>
            </a:fld>
            <a:endParaRPr lang="en-US"/>
          </a:p>
        </p:txBody>
      </p:sp>
    </p:spTree>
    <p:extLst>
      <p:ext uri="{BB962C8B-B14F-4D97-AF65-F5344CB8AC3E}">
        <p14:creationId xmlns:p14="http://schemas.microsoft.com/office/powerpoint/2010/main" val="40269595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static B0 field is extremely linear at the magnet’s isocenter, but it deviates from linearity once you zoom out more than 20cm from isocenter. Vendors often correct for this by default, but not always!!! (important to know this!)</a:t>
            </a:r>
          </a:p>
          <a:p>
            <a:endParaRPr lang="en-US" dirty="0"/>
          </a:p>
          <a:p>
            <a:r>
              <a:rPr lang="en-US" dirty="0"/>
              <a:t>Because the gradient coils never move, the same deformation field works for every scan on that system until the next service calibration. Offline tools therefore pre-compute it once and reuse it.</a:t>
            </a:r>
          </a:p>
          <a:p>
            <a:endParaRPr lang="en-US" dirty="0"/>
          </a:p>
          <a:p>
            <a:r>
              <a:rPr lang="en-US" dirty="0"/>
              <a:t>Phantom studies show displacements of </a:t>
            </a:r>
            <a:r>
              <a:rPr lang="en-US" b="1" dirty="0"/>
              <a:t>1-2 mm at 12 cm</a:t>
            </a:r>
            <a:r>
              <a:rPr lang="en-US" dirty="0"/>
              <a:t> off center and </a:t>
            </a:r>
            <a:r>
              <a:rPr lang="en-US" b="1" dirty="0"/>
              <a:t>4-6 mm near 17 cm</a:t>
            </a:r>
            <a:r>
              <a:rPr lang="en-US" dirty="0"/>
              <a:t>. Yikes!</a:t>
            </a:r>
          </a:p>
          <a:p>
            <a:endParaRPr lang="en-US" dirty="0"/>
          </a:p>
          <a:p>
            <a:endParaRPr lang="en-US" dirty="0"/>
          </a:p>
        </p:txBody>
      </p:sp>
      <p:sp>
        <p:nvSpPr>
          <p:cNvPr id="4" name="Slide Number Placeholder 3"/>
          <p:cNvSpPr>
            <a:spLocks noGrp="1"/>
          </p:cNvSpPr>
          <p:nvPr>
            <p:ph type="sldNum" sz="quarter" idx="5"/>
          </p:nvPr>
        </p:nvSpPr>
        <p:spPr/>
        <p:txBody>
          <a:bodyPr/>
          <a:lstStyle/>
          <a:p>
            <a:fld id="{1429A7D2-398B-427C-AC3D-B0EBA8B12372}" type="slidenum">
              <a:rPr lang="en-US" smtClean="0"/>
              <a:t>7</a:t>
            </a:fld>
            <a:endParaRPr lang="en-US"/>
          </a:p>
        </p:txBody>
      </p:sp>
    </p:spTree>
    <p:extLst>
      <p:ext uri="{BB962C8B-B14F-4D97-AF65-F5344CB8AC3E}">
        <p14:creationId xmlns:p14="http://schemas.microsoft.com/office/powerpoint/2010/main" val="12468327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Alternating phase</a:t>
            </a:r>
            <a:r>
              <a:rPr lang="en-US" dirty="0"/>
              <a:t> is a pattern that flips sign every other </a:t>
            </a:r>
            <a:r>
              <a:rPr lang="en-US" dirty="0" err="1"/>
              <a:t>ky</a:t>
            </a:r>
            <a:r>
              <a:rPr lang="en-US" dirty="0"/>
              <a:t> line.</a:t>
            </a:r>
          </a:p>
          <a:p>
            <a:endParaRPr lang="en-US" dirty="0"/>
          </a:p>
          <a:p>
            <a:r>
              <a:rPr lang="en-US" dirty="0"/>
              <a:t>The highest spatial frequency you can represent on that </a:t>
            </a:r>
            <a:r>
              <a:rPr lang="en-US" dirty="0" err="1"/>
              <a:t>ky</a:t>
            </a:r>
            <a:r>
              <a:rPr lang="en-US" dirty="0"/>
              <a:t> grid is one that toggles every step—the </a:t>
            </a:r>
            <a:r>
              <a:rPr lang="en-US" b="1" dirty="0"/>
              <a:t>Nyquist frequency</a:t>
            </a:r>
            <a:r>
              <a:rPr lang="en-US" dirty="0"/>
              <a:t>.</a:t>
            </a:r>
          </a:p>
          <a:p>
            <a:endParaRPr lang="en-US" dirty="0"/>
          </a:p>
          <a:p>
            <a:r>
              <a:rPr lang="en-US" dirty="0"/>
              <a:t>The Nyquist frequency in k-space corresponds to a shift of </a:t>
            </a:r>
            <a:r>
              <a:rPr lang="en-US" b="1" dirty="0"/>
              <a:t>exactly one-half of the sampled field-of-view</a:t>
            </a:r>
            <a:r>
              <a:rPr lang="en-US" dirty="0"/>
              <a:t> in image space.</a:t>
            </a:r>
          </a:p>
          <a:p>
            <a:endParaRPr lang="en-US" dirty="0"/>
          </a:p>
          <a:p>
            <a:r>
              <a:rPr lang="en-US" dirty="0"/>
              <a:t>Hence the name “N/2 ghost.”</a:t>
            </a:r>
          </a:p>
          <a:p>
            <a:endParaRPr lang="en-US" dirty="0"/>
          </a:p>
          <a:p>
            <a:r>
              <a:rPr lang="en-US" dirty="0"/>
              <a:t>Scanner runs +x and –x gradients at </a:t>
            </a:r>
            <a:r>
              <a:rPr lang="en-US" dirty="0" err="1"/>
              <a:t>ky</a:t>
            </a:r>
            <a:r>
              <a:rPr lang="en-US" dirty="0"/>
              <a:t> = 0 (should be identical), and uses the difference to adjust for eddy currents (subtracts that phase from each even line)</a:t>
            </a:r>
          </a:p>
          <a:p>
            <a:endParaRPr lang="en-US" dirty="0"/>
          </a:p>
        </p:txBody>
      </p:sp>
      <p:sp>
        <p:nvSpPr>
          <p:cNvPr id="4" name="Slide Number Placeholder 3"/>
          <p:cNvSpPr>
            <a:spLocks noGrp="1"/>
          </p:cNvSpPr>
          <p:nvPr>
            <p:ph type="sldNum" sz="quarter" idx="5"/>
          </p:nvPr>
        </p:nvSpPr>
        <p:spPr/>
        <p:txBody>
          <a:bodyPr/>
          <a:lstStyle/>
          <a:p>
            <a:fld id="{1429A7D2-398B-427C-AC3D-B0EBA8B12372}" type="slidenum">
              <a:rPr lang="en-US" smtClean="0"/>
              <a:t>8</a:t>
            </a:fld>
            <a:endParaRPr lang="en-US"/>
          </a:p>
        </p:txBody>
      </p:sp>
    </p:spTree>
    <p:extLst>
      <p:ext uri="{BB962C8B-B14F-4D97-AF65-F5344CB8AC3E}">
        <p14:creationId xmlns:p14="http://schemas.microsoft.com/office/powerpoint/2010/main" val="19844249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NORM “ON” makes for pretty images on the console, but it makes trouble for later quantitative work: Hidden scaling complicates interpretation -- offline correction preserves relative units (scales can still differ across scanners, but bias source is explicit). You still need to perform N4 bias correction algo after scanning, but that’s trivial. </a:t>
            </a:r>
            <a:r>
              <a:rPr lang="en-US" dirty="0" err="1"/>
              <a:t>Prescan</a:t>
            </a:r>
            <a:r>
              <a:rPr lang="en-US" dirty="0"/>
              <a:t> normalization, on the other hand, is irreversible, sensitive to head positioning/shifting. Furthermore, any pipeline that interprets absolute signal (qT1, ASL-CBF, T2*, etc.) requires raw, unscaled data, but </a:t>
            </a:r>
            <a:r>
              <a:rPr lang="en-US" dirty="0" err="1"/>
              <a:t>prescan</a:t>
            </a:r>
            <a:r>
              <a:rPr lang="en-US" dirty="0"/>
              <a:t> normalization corrupts those units!!</a:t>
            </a:r>
          </a:p>
        </p:txBody>
      </p:sp>
      <p:sp>
        <p:nvSpPr>
          <p:cNvPr id="4" name="Slide Number Placeholder 3"/>
          <p:cNvSpPr>
            <a:spLocks noGrp="1"/>
          </p:cNvSpPr>
          <p:nvPr>
            <p:ph type="sldNum" sz="quarter" idx="5"/>
          </p:nvPr>
        </p:nvSpPr>
        <p:spPr/>
        <p:txBody>
          <a:bodyPr/>
          <a:lstStyle/>
          <a:p>
            <a:fld id="{1429A7D2-398B-427C-AC3D-B0EBA8B12372}" type="slidenum">
              <a:rPr lang="en-US" smtClean="0"/>
              <a:t>9</a:t>
            </a:fld>
            <a:endParaRPr lang="en-US"/>
          </a:p>
        </p:txBody>
      </p:sp>
    </p:spTree>
    <p:extLst>
      <p:ext uri="{BB962C8B-B14F-4D97-AF65-F5344CB8AC3E}">
        <p14:creationId xmlns:p14="http://schemas.microsoft.com/office/powerpoint/2010/main" val="3969039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PACE (Prospective Acquisition </a:t>
            </a:r>
            <a:r>
              <a:rPr lang="en-US" b="1" dirty="0" err="1"/>
              <a:t>CorrEction</a:t>
            </a:r>
            <a:r>
              <a:rPr lang="en-US" b="1" dirty="0"/>
              <a:t>)</a:t>
            </a:r>
          </a:p>
          <a:p>
            <a:endParaRPr lang="en-US" b="1" dirty="0"/>
          </a:p>
          <a:p>
            <a:r>
              <a:rPr lang="en-US" b="1" dirty="0"/>
              <a:t>Quick navigator image every TR</a:t>
            </a:r>
            <a:br>
              <a:rPr lang="en-US" dirty="0"/>
            </a:br>
            <a:r>
              <a:rPr lang="en-US" i="1" dirty="0"/>
              <a:t>Right after the BOLD slice stack is read, the sequence grabs a tiny, low-resolution EPI volume (~ 4 mm voxels).</a:t>
            </a:r>
            <a:endParaRPr lang="en-US" dirty="0"/>
          </a:p>
          <a:p>
            <a:endParaRPr lang="en-US" b="1" dirty="0"/>
          </a:p>
          <a:p>
            <a:r>
              <a:rPr lang="en-US" b="1" dirty="0"/>
              <a:t>Rigid-body fit to a running reference</a:t>
            </a:r>
            <a:br>
              <a:rPr lang="en-US" dirty="0"/>
            </a:br>
            <a:r>
              <a:rPr lang="en-US" i="1" dirty="0"/>
              <a:t>Software compares the navigator to the running “target” volume and estimates 6 motion parameters (dx, </a:t>
            </a:r>
            <a:r>
              <a:rPr lang="en-US" i="1" dirty="0" err="1"/>
              <a:t>dy</a:t>
            </a:r>
            <a:r>
              <a:rPr lang="en-US" i="1" dirty="0"/>
              <a:t>, </a:t>
            </a:r>
            <a:r>
              <a:rPr lang="en-US" i="1" dirty="0" err="1"/>
              <a:t>dz</a:t>
            </a:r>
            <a:r>
              <a:rPr lang="en-US" i="1" dirty="0"/>
              <a:t>, pitch, roll, yaw).</a:t>
            </a:r>
            <a:endParaRPr lang="en-US" dirty="0"/>
          </a:p>
          <a:p>
            <a:endParaRPr lang="en-US" b="1" dirty="0"/>
          </a:p>
          <a:p>
            <a:r>
              <a:rPr lang="en-US" b="1" dirty="0"/>
              <a:t>Update gradients &amp; RF before next TR</a:t>
            </a:r>
            <a:br>
              <a:rPr lang="en-US" dirty="0"/>
            </a:br>
            <a:r>
              <a:rPr lang="en-US" i="1" dirty="0"/>
              <a:t>Those parameters are converted into new gradient offsets and RF phase shifts so the next slice package is excited in the head’s new position.</a:t>
            </a:r>
            <a:endParaRPr lang="en-US" dirty="0"/>
          </a:p>
          <a:p>
            <a:endParaRPr lang="en-US" b="1" dirty="0"/>
          </a:p>
          <a:p>
            <a:r>
              <a:rPr lang="en-US" b="1" dirty="0"/>
              <a:t>Refresh the reference (slowly)</a:t>
            </a:r>
            <a:br>
              <a:rPr lang="en-US" dirty="0"/>
            </a:br>
            <a:r>
              <a:rPr lang="en-US" i="1" dirty="0"/>
              <a:t>If the head stays in the new spot for a few seconds, that volume becomes the new reference—prevents drift.</a:t>
            </a:r>
            <a:endParaRPr lang="en-US" dirty="0"/>
          </a:p>
          <a:p>
            <a:endParaRPr lang="en-US" b="1" dirty="0"/>
          </a:p>
          <a:p>
            <a:r>
              <a:rPr lang="en-US" b="1" dirty="0"/>
              <a:t>Log the motion</a:t>
            </a:r>
            <a:br>
              <a:rPr lang="en-US" dirty="0"/>
            </a:br>
            <a:r>
              <a:rPr lang="en-US" i="1" dirty="0"/>
              <a:t>PACE writes one line per TR in the DICOM header/text file; you can still feed these numbers to </a:t>
            </a:r>
            <a:r>
              <a:rPr lang="en-US" i="1" dirty="0" err="1"/>
              <a:t>fMRIPrep</a:t>
            </a:r>
            <a:r>
              <a:rPr lang="en-US" i="1" dirty="0"/>
              <a:t> for quality control.</a:t>
            </a:r>
            <a:endParaRPr lang="en-US" dirty="0"/>
          </a:p>
          <a:p>
            <a:endParaRPr lang="en-US" dirty="0"/>
          </a:p>
          <a:p>
            <a:r>
              <a:rPr lang="en-US" dirty="0"/>
              <a:t>summary: </a:t>
            </a:r>
            <a:r>
              <a:rPr lang="en-US" b="1" dirty="0"/>
              <a:t>Navigator → Fit → Shift → Update → Log.</a:t>
            </a:r>
          </a:p>
          <a:p>
            <a:endParaRPr lang="en-US" b="1" dirty="0"/>
          </a:p>
          <a:p>
            <a:r>
              <a:rPr lang="en-US" b="1" dirty="0"/>
              <a:t>Unresolved issues:</a:t>
            </a:r>
          </a:p>
          <a:p>
            <a:endParaRPr lang="en-US" b="1" dirty="0"/>
          </a:p>
          <a:p>
            <a:r>
              <a:rPr lang="en-US" b="1" dirty="0"/>
              <a:t>Spin-history effects</a:t>
            </a:r>
            <a:br>
              <a:rPr lang="en-US" dirty="0"/>
            </a:br>
            <a:r>
              <a:rPr lang="en-US" dirty="0"/>
              <a:t>When the head moves, spins in a voxel may have just experienced a different flip-angle or field inhomogeneity. Signal amplitude changes that happened </a:t>
            </a:r>
            <a:r>
              <a:rPr lang="en-US" i="1" dirty="0"/>
              <a:t>before</a:t>
            </a:r>
            <a:r>
              <a:rPr lang="en-US" dirty="0"/>
              <a:t> PACE caught up remain baked into the data.</a:t>
            </a:r>
            <a:endParaRPr lang="en-US" b="1" dirty="0"/>
          </a:p>
          <a:p>
            <a:endParaRPr lang="en-US" b="1" dirty="0"/>
          </a:p>
          <a:p>
            <a:r>
              <a:rPr lang="en-US" b="1" dirty="0"/>
              <a:t>Intra-TR motion</a:t>
            </a:r>
            <a:br>
              <a:rPr lang="en-US" dirty="0"/>
            </a:br>
            <a:r>
              <a:rPr lang="en-US" dirty="0"/>
              <a:t>A sudden jerk during readout corrupts that volume’s k-space. PACE only updates before the </a:t>
            </a:r>
            <a:r>
              <a:rPr lang="en-US" i="1" dirty="0"/>
              <a:t>next</a:t>
            </a:r>
            <a:r>
              <a:rPr lang="en-US" dirty="0"/>
              <a:t> TR, so the “bad” volume still needs repairing or censoring.</a:t>
            </a:r>
          </a:p>
          <a:p>
            <a:endParaRPr lang="en-US" dirty="0"/>
          </a:p>
          <a:p>
            <a:r>
              <a:rPr lang="en-US" b="1" dirty="0"/>
              <a:t>Susceptibility warping &amp; B₀ changes</a:t>
            </a:r>
            <a:br>
              <a:rPr lang="en-US" dirty="0"/>
            </a:br>
            <a:r>
              <a:rPr lang="en-US" dirty="0"/>
              <a:t>Head rotations subtly reshape the magnetic field; PACE doesn’t re-shim fast enough to undo these distortions. Offline TOPUP/field-map or field-map-less SDC is still required.</a:t>
            </a:r>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1429A7D2-398B-427C-AC3D-B0EBA8B12372}" type="slidenum">
              <a:rPr lang="en-US" smtClean="0"/>
              <a:t>10</a:t>
            </a:fld>
            <a:endParaRPr lang="en-US"/>
          </a:p>
        </p:txBody>
      </p:sp>
    </p:spTree>
    <p:extLst>
      <p:ext uri="{BB962C8B-B14F-4D97-AF65-F5344CB8AC3E}">
        <p14:creationId xmlns:p14="http://schemas.microsoft.com/office/powerpoint/2010/main" val="25053062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It’s all about location – We’re putting stuff where it belongs</a:t>
            </a:r>
          </a:p>
        </p:txBody>
      </p:sp>
      <p:sp>
        <p:nvSpPr>
          <p:cNvPr id="4" name="Slide Number Placeholder 3"/>
          <p:cNvSpPr>
            <a:spLocks noGrp="1"/>
          </p:cNvSpPr>
          <p:nvPr>
            <p:ph type="sldNum" sz="quarter" idx="5"/>
          </p:nvPr>
        </p:nvSpPr>
        <p:spPr/>
        <p:txBody>
          <a:bodyPr/>
          <a:lstStyle/>
          <a:p>
            <a:fld id="{1429A7D2-398B-427C-AC3D-B0EBA8B12372}" type="slidenum">
              <a:rPr lang="en-US" smtClean="0"/>
              <a:t>12</a:t>
            </a:fld>
            <a:endParaRPr lang="en-US"/>
          </a:p>
        </p:txBody>
      </p:sp>
    </p:spTree>
    <p:extLst>
      <p:ext uri="{BB962C8B-B14F-4D97-AF65-F5344CB8AC3E}">
        <p14:creationId xmlns:p14="http://schemas.microsoft.com/office/powerpoint/2010/main" val="14730870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Okay, yeah, it does this – but we don’t want it to! Turn it off and use N4</a:t>
            </a:r>
          </a:p>
          <a:p>
            <a:endParaRPr lang="en-US" dirty="0"/>
          </a:p>
          <a:p>
            <a:r>
              <a:rPr lang="en-US" dirty="0"/>
              <a:t>(We do this for functional images too, but only the BOLD reference -- EPI intensity is arbitrary and later analyzed as </a:t>
            </a:r>
            <a:r>
              <a:rPr lang="en-US" b="1" dirty="0"/>
              <a:t>percent-signal change</a:t>
            </a:r>
            <a:r>
              <a:rPr lang="en-US" dirty="0"/>
              <a:t> (GLM) or </a:t>
            </a:r>
            <a:r>
              <a:rPr lang="en-US" b="1" dirty="0"/>
              <a:t>temporal correlations</a:t>
            </a:r>
            <a:r>
              <a:rPr lang="en-US" dirty="0"/>
              <a:t> (functional connectivity); the slowly varying bias largely washes out)</a:t>
            </a:r>
          </a:p>
        </p:txBody>
      </p:sp>
      <p:sp>
        <p:nvSpPr>
          <p:cNvPr id="4" name="Slide Number Placeholder 3"/>
          <p:cNvSpPr>
            <a:spLocks noGrp="1"/>
          </p:cNvSpPr>
          <p:nvPr>
            <p:ph type="sldNum" sz="quarter" idx="5"/>
          </p:nvPr>
        </p:nvSpPr>
        <p:spPr/>
        <p:txBody>
          <a:bodyPr/>
          <a:lstStyle/>
          <a:p>
            <a:fld id="{1429A7D2-398B-427C-AC3D-B0EBA8B12372}" type="slidenum">
              <a:rPr lang="en-US" smtClean="0"/>
              <a:t>14</a:t>
            </a:fld>
            <a:endParaRPr lang="en-US"/>
          </a:p>
        </p:txBody>
      </p:sp>
    </p:spTree>
    <p:extLst>
      <p:ext uri="{BB962C8B-B14F-4D97-AF65-F5344CB8AC3E}">
        <p14:creationId xmlns:p14="http://schemas.microsoft.com/office/powerpoint/2010/main" val="36052000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interested in brain morphometry – so we need to figure out where the brain is</a:t>
            </a:r>
          </a:p>
          <a:p>
            <a:endParaRPr lang="en-US" dirty="0"/>
          </a:p>
          <a:p>
            <a:r>
              <a:rPr lang="en-US" dirty="0"/>
              <a:t>This is complicated by partial volume effects, bias, etc.</a:t>
            </a:r>
          </a:p>
        </p:txBody>
      </p:sp>
      <p:sp>
        <p:nvSpPr>
          <p:cNvPr id="4" name="Slide Number Placeholder 3"/>
          <p:cNvSpPr>
            <a:spLocks noGrp="1"/>
          </p:cNvSpPr>
          <p:nvPr>
            <p:ph type="sldNum" sz="quarter" idx="5"/>
          </p:nvPr>
        </p:nvSpPr>
        <p:spPr/>
        <p:txBody>
          <a:bodyPr/>
          <a:lstStyle/>
          <a:p>
            <a:fld id="{1429A7D2-398B-427C-AC3D-B0EBA8B12372}" type="slidenum">
              <a:rPr lang="en-US" smtClean="0"/>
              <a:t>15</a:t>
            </a:fld>
            <a:endParaRPr lang="en-US"/>
          </a:p>
        </p:txBody>
      </p:sp>
    </p:spTree>
    <p:extLst>
      <p:ext uri="{BB962C8B-B14F-4D97-AF65-F5344CB8AC3E}">
        <p14:creationId xmlns:p14="http://schemas.microsoft.com/office/powerpoint/2010/main" val="29335741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37E074-9F78-5914-3A88-79642C002E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2DF966-6545-8BAD-4B70-C09D184223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CDA65D-97EF-0642-568D-8E88EE83E4C5}"/>
              </a:ext>
            </a:extLst>
          </p:cNvPr>
          <p:cNvSpPr>
            <a:spLocks noGrp="1"/>
          </p:cNvSpPr>
          <p:nvPr>
            <p:ph type="body" idx="1"/>
          </p:nvPr>
        </p:nvSpPr>
        <p:spPr/>
        <p:txBody>
          <a:bodyPr/>
          <a:lstStyle/>
          <a:p>
            <a:r>
              <a:rPr lang="en-US" dirty="0"/>
              <a:t>We’re interested in brain morphometry – so we need to figure out where the brain is</a:t>
            </a:r>
          </a:p>
          <a:p>
            <a:endParaRPr lang="en-US" dirty="0"/>
          </a:p>
          <a:p>
            <a:r>
              <a:rPr lang="en-US" dirty="0"/>
              <a:t>This is complicated by partial volume effects, bias, etc.</a:t>
            </a:r>
          </a:p>
        </p:txBody>
      </p:sp>
      <p:sp>
        <p:nvSpPr>
          <p:cNvPr id="4" name="Slide Number Placeholder 3">
            <a:extLst>
              <a:ext uri="{FF2B5EF4-FFF2-40B4-BE49-F238E27FC236}">
                <a16:creationId xmlns:a16="http://schemas.microsoft.com/office/drawing/2014/main" id="{476C8A57-F84C-2F1D-CEF7-4D9E02AC677F}"/>
              </a:ext>
            </a:extLst>
          </p:cNvPr>
          <p:cNvSpPr>
            <a:spLocks noGrp="1"/>
          </p:cNvSpPr>
          <p:nvPr>
            <p:ph type="sldNum" sz="quarter" idx="5"/>
          </p:nvPr>
        </p:nvSpPr>
        <p:spPr/>
        <p:txBody>
          <a:bodyPr/>
          <a:lstStyle/>
          <a:p>
            <a:fld id="{1429A7D2-398B-427C-AC3D-B0EBA8B12372}" type="slidenum">
              <a:rPr lang="en-US" smtClean="0"/>
              <a:t>16</a:t>
            </a:fld>
            <a:endParaRPr lang="en-US"/>
          </a:p>
        </p:txBody>
      </p:sp>
    </p:spTree>
    <p:extLst>
      <p:ext uri="{BB962C8B-B14F-4D97-AF65-F5344CB8AC3E}">
        <p14:creationId xmlns:p14="http://schemas.microsoft.com/office/powerpoint/2010/main" val="35021932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19740F-BE3A-42E3-7CA1-C6C7380475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3F9CA0-4F35-88BD-7E76-DF5C25470E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F79920-676E-5C57-04D2-3A95320D96E2}"/>
              </a:ext>
            </a:extLst>
          </p:cNvPr>
          <p:cNvSpPr>
            <a:spLocks noGrp="1"/>
          </p:cNvSpPr>
          <p:nvPr>
            <p:ph type="body" idx="1"/>
          </p:nvPr>
        </p:nvSpPr>
        <p:spPr/>
        <p:txBody>
          <a:bodyPr/>
          <a:lstStyle/>
          <a:p>
            <a:r>
              <a:rPr lang="en-US" dirty="0"/>
              <a:t>Depends on how you time your slices!</a:t>
            </a:r>
          </a:p>
        </p:txBody>
      </p:sp>
      <p:sp>
        <p:nvSpPr>
          <p:cNvPr id="4" name="Slide Number Placeholder 3">
            <a:extLst>
              <a:ext uri="{FF2B5EF4-FFF2-40B4-BE49-F238E27FC236}">
                <a16:creationId xmlns:a16="http://schemas.microsoft.com/office/drawing/2014/main" id="{D2AEB45A-D2DD-39AB-5EC6-D85D09CB4276}"/>
              </a:ext>
            </a:extLst>
          </p:cNvPr>
          <p:cNvSpPr>
            <a:spLocks noGrp="1"/>
          </p:cNvSpPr>
          <p:nvPr>
            <p:ph type="sldNum" sz="quarter" idx="5"/>
          </p:nvPr>
        </p:nvSpPr>
        <p:spPr/>
        <p:txBody>
          <a:bodyPr/>
          <a:lstStyle/>
          <a:p>
            <a:fld id="{1429A7D2-398B-427C-AC3D-B0EBA8B12372}" type="slidenum">
              <a:rPr lang="en-US" smtClean="0"/>
              <a:t>20</a:t>
            </a:fld>
            <a:endParaRPr lang="en-US"/>
          </a:p>
        </p:txBody>
      </p:sp>
    </p:spTree>
    <p:extLst>
      <p:ext uri="{BB962C8B-B14F-4D97-AF65-F5344CB8AC3E}">
        <p14:creationId xmlns:p14="http://schemas.microsoft.com/office/powerpoint/2010/main" val="29180685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Depends on how you time your slices!</a:t>
            </a:r>
          </a:p>
        </p:txBody>
      </p:sp>
      <p:sp>
        <p:nvSpPr>
          <p:cNvPr id="4" name="Slide Number Placeholder 3"/>
          <p:cNvSpPr>
            <a:spLocks noGrp="1"/>
          </p:cNvSpPr>
          <p:nvPr>
            <p:ph type="sldNum" sz="quarter" idx="5"/>
          </p:nvPr>
        </p:nvSpPr>
        <p:spPr/>
        <p:txBody>
          <a:bodyPr/>
          <a:lstStyle/>
          <a:p>
            <a:fld id="{1429A7D2-398B-427C-AC3D-B0EBA8B12372}" type="slidenum">
              <a:rPr lang="en-US" smtClean="0"/>
              <a:t>21</a:t>
            </a:fld>
            <a:endParaRPr lang="en-US"/>
          </a:p>
        </p:txBody>
      </p:sp>
    </p:spTree>
    <p:extLst>
      <p:ext uri="{BB962C8B-B14F-4D97-AF65-F5344CB8AC3E}">
        <p14:creationId xmlns:p14="http://schemas.microsoft.com/office/powerpoint/2010/main" val="5801259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100A76-A292-81BD-F1A3-8EB911144A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03BA63-5070-D28D-6474-458786603D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AE36E6-D480-09F2-9832-595E640DF48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7D9C48B-5CDD-89A4-56B0-DB70E5E59C2E}"/>
              </a:ext>
            </a:extLst>
          </p:cNvPr>
          <p:cNvSpPr>
            <a:spLocks noGrp="1"/>
          </p:cNvSpPr>
          <p:nvPr>
            <p:ph type="sldNum" sz="quarter" idx="5"/>
          </p:nvPr>
        </p:nvSpPr>
        <p:spPr/>
        <p:txBody>
          <a:bodyPr/>
          <a:lstStyle/>
          <a:p>
            <a:fld id="{1429A7D2-398B-427C-AC3D-B0EBA8B12372}" type="slidenum">
              <a:rPr lang="en-US" smtClean="0"/>
              <a:t>22</a:t>
            </a:fld>
            <a:endParaRPr lang="en-US"/>
          </a:p>
        </p:txBody>
      </p:sp>
    </p:spTree>
    <p:extLst>
      <p:ext uri="{BB962C8B-B14F-4D97-AF65-F5344CB8AC3E}">
        <p14:creationId xmlns:p14="http://schemas.microsoft.com/office/powerpoint/2010/main" val="40421883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28FB1A-6A32-0854-1404-980CDBF622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52FC28-BBC7-2EB7-C932-C28BC7FC36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EF8347-5300-7161-D0CD-5F0654AB5AB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EA77676-7EA2-1E67-C5D8-DB6A54F5798C}"/>
              </a:ext>
            </a:extLst>
          </p:cNvPr>
          <p:cNvSpPr>
            <a:spLocks noGrp="1"/>
          </p:cNvSpPr>
          <p:nvPr>
            <p:ph type="sldNum" sz="quarter" idx="5"/>
          </p:nvPr>
        </p:nvSpPr>
        <p:spPr/>
        <p:txBody>
          <a:bodyPr/>
          <a:lstStyle/>
          <a:p>
            <a:fld id="{1429A7D2-398B-427C-AC3D-B0EBA8B12372}" type="slidenum">
              <a:rPr lang="en-US" smtClean="0"/>
              <a:t>23</a:t>
            </a:fld>
            <a:endParaRPr lang="en-US"/>
          </a:p>
        </p:txBody>
      </p:sp>
    </p:spTree>
    <p:extLst>
      <p:ext uri="{BB962C8B-B14F-4D97-AF65-F5344CB8AC3E}">
        <p14:creationId xmlns:p14="http://schemas.microsoft.com/office/powerpoint/2010/main" val="37300745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EE13E1-6B18-668E-B11B-E8831FBB648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EA2C340-9253-61BD-C68B-149F0C28C68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857D0B2-9443-B9EC-7A90-D47A97A27522}"/>
              </a:ext>
            </a:extLst>
          </p:cNvPr>
          <p:cNvSpPr>
            <a:spLocks noGrp="1"/>
          </p:cNvSpPr>
          <p:nvPr>
            <p:ph type="dt" sz="half" idx="10"/>
          </p:nvPr>
        </p:nvSpPr>
        <p:spPr/>
        <p:txBody>
          <a:bodyPr/>
          <a:lstStyle/>
          <a:p>
            <a:fld id="{7D97FCB0-C154-4AC2-8FB1-CED0B549503C}" type="datetimeFigureOut">
              <a:rPr lang="en-US" smtClean="0"/>
              <a:t>6/22/2025</a:t>
            </a:fld>
            <a:endParaRPr lang="en-US"/>
          </a:p>
        </p:txBody>
      </p:sp>
      <p:sp>
        <p:nvSpPr>
          <p:cNvPr id="5" name="Footer Placeholder 4">
            <a:extLst>
              <a:ext uri="{FF2B5EF4-FFF2-40B4-BE49-F238E27FC236}">
                <a16:creationId xmlns:a16="http://schemas.microsoft.com/office/drawing/2014/main" id="{9F863D1F-85EA-3804-8C36-DC3BBCB6B75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784E6F6-B413-34BC-371C-BB627AAD4DE1}"/>
              </a:ext>
            </a:extLst>
          </p:cNvPr>
          <p:cNvSpPr>
            <a:spLocks noGrp="1"/>
          </p:cNvSpPr>
          <p:nvPr>
            <p:ph type="sldNum" sz="quarter" idx="12"/>
          </p:nvPr>
        </p:nvSpPr>
        <p:spPr/>
        <p:txBody>
          <a:bodyPr/>
          <a:lstStyle/>
          <a:p>
            <a:fld id="{B8557CF5-9678-47F9-9B3F-FC35A2EE3346}" type="slidenum">
              <a:rPr lang="en-US" smtClean="0"/>
              <a:t>‹#›</a:t>
            </a:fld>
            <a:endParaRPr lang="en-US"/>
          </a:p>
        </p:txBody>
      </p:sp>
    </p:spTree>
    <p:extLst>
      <p:ext uri="{BB962C8B-B14F-4D97-AF65-F5344CB8AC3E}">
        <p14:creationId xmlns:p14="http://schemas.microsoft.com/office/powerpoint/2010/main" val="7963870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FE3EB-A309-7095-E65D-D4232BF7ECB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3D56E85-D05A-FCB9-2165-A1829D18E79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A051543-0F83-588A-94F6-70FF3A1239E3}"/>
              </a:ext>
            </a:extLst>
          </p:cNvPr>
          <p:cNvSpPr>
            <a:spLocks noGrp="1"/>
          </p:cNvSpPr>
          <p:nvPr>
            <p:ph type="dt" sz="half" idx="10"/>
          </p:nvPr>
        </p:nvSpPr>
        <p:spPr/>
        <p:txBody>
          <a:bodyPr/>
          <a:lstStyle/>
          <a:p>
            <a:fld id="{981DCC2D-24E8-4D19-A3D4-BF5D7547EDA2}" type="datetimeFigureOut">
              <a:rPr lang="en-US" smtClean="0"/>
              <a:t>6/22/2025</a:t>
            </a:fld>
            <a:endParaRPr lang="en-US"/>
          </a:p>
        </p:txBody>
      </p:sp>
      <p:sp>
        <p:nvSpPr>
          <p:cNvPr id="5" name="Footer Placeholder 4">
            <a:extLst>
              <a:ext uri="{FF2B5EF4-FFF2-40B4-BE49-F238E27FC236}">
                <a16:creationId xmlns:a16="http://schemas.microsoft.com/office/drawing/2014/main" id="{B4BD2ADB-87BD-C48D-D497-78A9CE6A6D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2A01428-CFA6-46CB-E4F8-0D0E59450B4B}"/>
              </a:ext>
            </a:extLst>
          </p:cNvPr>
          <p:cNvSpPr>
            <a:spLocks noGrp="1"/>
          </p:cNvSpPr>
          <p:nvPr>
            <p:ph type="sldNum" sz="quarter" idx="12"/>
          </p:nvPr>
        </p:nvSpPr>
        <p:spPr/>
        <p:txBody>
          <a:bodyPr/>
          <a:lstStyle/>
          <a:p>
            <a:fld id="{C43764C6-7476-4DDF-AE74-1E71E8908426}" type="slidenum">
              <a:rPr lang="en-US" smtClean="0"/>
              <a:t>‹#›</a:t>
            </a:fld>
            <a:endParaRPr lang="en-US"/>
          </a:p>
        </p:txBody>
      </p:sp>
    </p:spTree>
    <p:extLst>
      <p:ext uri="{BB962C8B-B14F-4D97-AF65-F5344CB8AC3E}">
        <p14:creationId xmlns:p14="http://schemas.microsoft.com/office/powerpoint/2010/main" val="4060861977"/>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D8784C3-1790-12B5-E837-F108EF8B2DF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FA8925C-5DD3-0B3F-3153-C8088EB3F8A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E436B0A-DA2A-87FB-E81D-BF5F2B7395C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D97FCB0-C154-4AC2-8FB1-CED0B549503C}" type="datetimeFigureOut">
              <a:rPr lang="en-US" smtClean="0"/>
              <a:t>6/22/2025</a:t>
            </a:fld>
            <a:endParaRPr lang="en-US"/>
          </a:p>
        </p:txBody>
      </p:sp>
      <p:sp>
        <p:nvSpPr>
          <p:cNvPr id="5" name="Footer Placeholder 4">
            <a:extLst>
              <a:ext uri="{FF2B5EF4-FFF2-40B4-BE49-F238E27FC236}">
                <a16:creationId xmlns:a16="http://schemas.microsoft.com/office/drawing/2014/main" id="{F4DEB7BD-9500-39CF-AF68-35BB85FCA4F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83174DC-2A0A-E174-D33C-5F9264B14BC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8557CF5-9678-47F9-9B3F-FC35A2EE3346}" type="slidenum">
              <a:rPr lang="en-US" smtClean="0"/>
              <a:t>‹#›</a:t>
            </a:fld>
            <a:endParaRPr lang="en-US"/>
          </a:p>
        </p:txBody>
      </p:sp>
    </p:spTree>
    <p:extLst>
      <p:ext uri="{BB962C8B-B14F-4D97-AF65-F5344CB8AC3E}">
        <p14:creationId xmlns:p14="http://schemas.microsoft.com/office/powerpoint/2010/main" val="2475676790"/>
      </p:ext>
    </p:extLst>
  </p:cSld>
  <p:clrMap bg1="lt1" tx1="dk1" bg2="lt2" tx2="dk2" accent1="accent1" accent2="accent2" accent3="accent3" accent4="accent4" accent5="accent5" accent6="accent6" hlink="hlink" folHlink="folHlink"/>
  <p:sldLayoutIdLst>
    <p:sldLayoutId id="214748366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2EC6C6E-FACC-4737-DA84-4933F836790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68D3C38-1D60-0BB4-765D-DF524761ADC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672A44-EDB5-51A5-814A-47EBF2AEBCF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81DCC2D-24E8-4D19-A3D4-BF5D7547EDA2}" type="datetimeFigureOut">
              <a:rPr lang="en-US" smtClean="0"/>
              <a:t>6/22/2025</a:t>
            </a:fld>
            <a:endParaRPr lang="en-US"/>
          </a:p>
        </p:txBody>
      </p:sp>
      <p:sp>
        <p:nvSpPr>
          <p:cNvPr id="5" name="Footer Placeholder 4">
            <a:extLst>
              <a:ext uri="{FF2B5EF4-FFF2-40B4-BE49-F238E27FC236}">
                <a16:creationId xmlns:a16="http://schemas.microsoft.com/office/drawing/2014/main" id="{9A304F52-E9AF-55DC-F905-B07D0BB0914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5CB978E-8C5A-D991-BC3F-55C82CAC0E6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43764C6-7476-4DDF-AE74-1E71E8908426}" type="slidenum">
              <a:rPr lang="en-US" smtClean="0"/>
              <a:t>‹#›</a:t>
            </a:fld>
            <a:endParaRPr lang="en-US"/>
          </a:p>
        </p:txBody>
      </p:sp>
    </p:spTree>
    <p:extLst>
      <p:ext uri="{BB962C8B-B14F-4D97-AF65-F5344CB8AC3E}">
        <p14:creationId xmlns:p14="http://schemas.microsoft.com/office/powerpoint/2010/main" val="198621421"/>
      </p:ext>
    </p:extLst>
  </p:cSld>
  <p:clrMap bg1="lt1" tx1="dk1" bg2="lt2" tx2="dk2" accent1="accent1" accent2="accent2" accent3="accent3" accent4="accent4" accent5="accent5" accent6="accent6" hlink="hlink" folHlink="folHlink"/>
  <p:sldLayoutIdLst>
    <p:sldLayoutId id="2147483650"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1.jpeg"/><Relationship Id="rId4" Type="http://schemas.openxmlformats.org/officeDocument/2006/relationships/image" Target="../media/image10.jpe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Layout" Target="../slideLayouts/slideLayout2.xml"/><Relationship Id="rId5" Type="http://schemas.openxmlformats.org/officeDocument/2006/relationships/image" Target="../media/image18.svg"/><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0.jpeg"/></Relationships>
</file>

<file path=ppt/slides/_rels/slide1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png"/></Relationships>
</file>

<file path=ppt/slides/_rels/slide1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29.png"/><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20.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image" Target="../media/image35.png"/><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2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hyperlink" Target="https://fmriprep.org/en/stable/" TargetMode="Externa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Slide Background Fill">
            <a:extLst>
              <a:ext uri="{FF2B5EF4-FFF2-40B4-BE49-F238E27FC236}">
                <a16:creationId xmlns:a16="http://schemas.microsoft.com/office/drawing/2014/main" id="{C7D023E4-8DE1-436E-9847-ED6A4B4B04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1"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grpSp>
        <p:nvGrpSpPr>
          <p:cNvPr id="10" name="Group 9">
            <a:extLst>
              <a:ext uri="{FF2B5EF4-FFF2-40B4-BE49-F238E27FC236}">
                <a16:creationId xmlns:a16="http://schemas.microsoft.com/office/drawing/2014/main" id="{1FEC590B-3306-47E9-BD67-97F3F76169A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88952" cy="6858000"/>
            <a:chOff x="651279" y="598259"/>
            <a:chExt cx="10889442" cy="5680742"/>
          </a:xfrm>
        </p:grpSpPr>
        <p:sp>
          <p:nvSpPr>
            <p:cNvPr id="11" name="Color">
              <a:extLst>
                <a:ext uri="{FF2B5EF4-FFF2-40B4-BE49-F238E27FC236}">
                  <a16:creationId xmlns:a16="http://schemas.microsoft.com/office/drawing/2014/main" id="{54F87DBC-E43C-4CE4-A8C5-61E3D68194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2" name="Color">
              <a:extLst>
                <a:ext uri="{FF2B5EF4-FFF2-40B4-BE49-F238E27FC236}">
                  <a16:creationId xmlns:a16="http://schemas.microsoft.com/office/drawing/2014/main" id="{CD39A88A-7F84-4ACA-877B-E28BC26CD8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grpSp>
      <p:grpSp>
        <p:nvGrpSpPr>
          <p:cNvPr id="14" name="Group 13">
            <a:extLst>
              <a:ext uri="{FF2B5EF4-FFF2-40B4-BE49-F238E27FC236}">
                <a16:creationId xmlns:a16="http://schemas.microsoft.com/office/drawing/2014/main" id="{A47AAF5E-1692-48C9-98FB-6432BF0BC4F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15" name="Freeform: Shape 14">
              <a:extLst>
                <a:ext uri="{FF2B5EF4-FFF2-40B4-BE49-F238E27FC236}">
                  <a16:creationId xmlns:a16="http://schemas.microsoft.com/office/drawing/2014/main" id="{5F36A26D-E71D-4663-B197-8B7BFA37AD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6" name="Freeform: Shape 15">
              <a:extLst>
                <a:ext uri="{FF2B5EF4-FFF2-40B4-BE49-F238E27FC236}">
                  <a16:creationId xmlns:a16="http://schemas.microsoft.com/office/drawing/2014/main" id="{8A821CEB-DA96-4952-93B9-81F9C42BAD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7" name="Freeform: Shape 16">
              <a:extLst>
                <a:ext uri="{FF2B5EF4-FFF2-40B4-BE49-F238E27FC236}">
                  <a16:creationId xmlns:a16="http://schemas.microsoft.com/office/drawing/2014/main" id="{18C8EDE0-D69B-4F65-9AB7-DDE7EAD78E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8" name="Freeform: Shape 17">
              <a:extLst>
                <a:ext uri="{FF2B5EF4-FFF2-40B4-BE49-F238E27FC236}">
                  <a16:creationId xmlns:a16="http://schemas.microsoft.com/office/drawing/2014/main" id="{546F0982-BF10-4BF6-842A-F631654FFD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9" name="Freeform: Shape 18">
              <a:extLst>
                <a:ext uri="{FF2B5EF4-FFF2-40B4-BE49-F238E27FC236}">
                  <a16:creationId xmlns:a16="http://schemas.microsoft.com/office/drawing/2014/main" id="{2B313509-2128-42CA-81B6-C9EC23E44C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0" name="Freeform: Shape 19">
              <a:extLst>
                <a:ext uri="{FF2B5EF4-FFF2-40B4-BE49-F238E27FC236}">
                  <a16:creationId xmlns:a16="http://schemas.microsoft.com/office/drawing/2014/main" id="{1589188C-E06E-4F8A-BDD1-02ADF1408F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1" name="Freeform: Shape 20">
              <a:extLst>
                <a:ext uri="{FF2B5EF4-FFF2-40B4-BE49-F238E27FC236}">
                  <a16:creationId xmlns:a16="http://schemas.microsoft.com/office/drawing/2014/main" id="{6B4E610F-FCD0-483F-B9F2-6DF2C28FE8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grpSp>
        <p:nvGrpSpPr>
          <p:cNvPr id="34" name="Group 33">
            <a:extLst>
              <a:ext uri="{FF2B5EF4-FFF2-40B4-BE49-F238E27FC236}">
                <a16:creationId xmlns:a16="http://schemas.microsoft.com/office/drawing/2014/main" id="{A6354C4B-A321-2406-7D6C-7EB884DDCC2C}"/>
              </a:ext>
            </a:extLst>
          </p:cNvPr>
          <p:cNvGrpSpPr/>
          <p:nvPr/>
        </p:nvGrpSpPr>
        <p:grpSpPr>
          <a:xfrm>
            <a:off x="110703" y="49488"/>
            <a:ext cx="11995595" cy="6441663"/>
            <a:chOff x="110703" y="49488"/>
            <a:chExt cx="11995595" cy="6441663"/>
          </a:xfrm>
        </p:grpSpPr>
        <p:pic>
          <p:nvPicPr>
            <p:cNvPr id="4" name="Picture 2">
              <a:extLst>
                <a:ext uri="{FF2B5EF4-FFF2-40B4-BE49-F238E27FC236}">
                  <a16:creationId xmlns:a16="http://schemas.microsoft.com/office/drawing/2014/main" id="{2144F7E5-A3DE-C3B4-B75A-D4849B684F7A}"/>
                </a:ext>
              </a:extLst>
            </p:cNvPr>
            <p:cNvPicPr>
              <a:picLocks noChangeAspect="1" noChangeArrowheads="1"/>
            </p:cNvPicPr>
            <p:nvPr/>
          </p:nvPicPr>
          <p:blipFill rotWithShape="1">
            <a:blip r:embed="rId2">
              <a:alphaModFix amt="5000"/>
              <a:extLst>
                <a:ext uri="{28A0092B-C50C-407E-A947-70E740481C1C}">
                  <a14:useLocalDpi xmlns:a14="http://schemas.microsoft.com/office/drawing/2010/main" val="0"/>
                </a:ext>
              </a:extLst>
            </a:blip>
            <a:srcRect t="1" b="975"/>
            <a:stretch>
              <a:fillRect/>
            </a:stretch>
          </p:blipFill>
          <p:spPr bwMode="auto">
            <a:xfrm flipH="1">
              <a:off x="3969542" y="1880350"/>
              <a:ext cx="4651538" cy="460617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a:extLst>
                <a:ext uri="{FF2B5EF4-FFF2-40B4-BE49-F238E27FC236}">
                  <a16:creationId xmlns:a16="http://schemas.microsoft.com/office/drawing/2014/main" id="{07928141-054E-BD22-A501-161BE96F1BB2}"/>
                </a:ext>
              </a:extLst>
            </p:cNvPr>
            <p:cNvPicPr>
              <a:picLocks noChangeAspect="1" noChangeArrowheads="1"/>
            </p:cNvPicPr>
            <p:nvPr/>
          </p:nvPicPr>
          <p:blipFill rotWithShape="1">
            <a:blip r:embed="rId2">
              <a:alphaModFix amt="5000"/>
              <a:extLst>
                <a:ext uri="{28A0092B-C50C-407E-A947-70E740481C1C}">
                  <a14:useLocalDpi xmlns:a14="http://schemas.microsoft.com/office/drawing/2010/main" val="0"/>
                </a:ext>
              </a:extLst>
            </a:blip>
            <a:srcRect t="1" b="975"/>
            <a:stretch>
              <a:fillRect/>
            </a:stretch>
          </p:blipFill>
          <p:spPr bwMode="auto">
            <a:xfrm>
              <a:off x="3476244" y="5139447"/>
              <a:ext cx="1360344" cy="1347078"/>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a:extLst>
                <a:ext uri="{FF2B5EF4-FFF2-40B4-BE49-F238E27FC236}">
                  <a16:creationId xmlns:a16="http://schemas.microsoft.com/office/drawing/2014/main" id="{F21624BD-DEFD-549C-EE49-339704C18611}"/>
                </a:ext>
              </a:extLst>
            </p:cNvPr>
            <p:cNvPicPr>
              <a:picLocks noChangeAspect="1" noChangeArrowheads="1"/>
            </p:cNvPicPr>
            <p:nvPr/>
          </p:nvPicPr>
          <p:blipFill rotWithShape="1">
            <a:blip r:embed="rId2">
              <a:alphaModFix amt="5000"/>
              <a:extLst>
                <a:ext uri="{28A0092B-C50C-407E-A947-70E740481C1C}">
                  <a14:useLocalDpi xmlns:a14="http://schemas.microsoft.com/office/drawing/2010/main" val="0"/>
                </a:ext>
              </a:extLst>
            </a:blip>
            <a:srcRect t="1" b="975"/>
            <a:stretch>
              <a:fillRect/>
            </a:stretch>
          </p:blipFill>
          <p:spPr bwMode="auto">
            <a:xfrm flipH="1">
              <a:off x="2750734" y="3594575"/>
              <a:ext cx="1460214" cy="1445975"/>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a:extLst>
                <a:ext uri="{FF2B5EF4-FFF2-40B4-BE49-F238E27FC236}">
                  <a16:creationId xmlns:a16="http://schemas.microsoft.com/office/drawing/2014/main" id="{6B52F817-82BE-23EC-0964-310D34AEBD86}"/>
                </a:ext>
              </a:extLst>
            </p:cNvPr>
            <p:cNvPicPr>
              <a:picLocks noChangeAspect="1" noChangeArrowheads="1"/>
            </p:cNvPicPr>
            <p:nvPr/>
          </p:nvPicPr>
          <p:blipFill rotWithShape="1">
            <a:blip r:embed="rId2">
              <a:alphaModFix amt="5000"/>
              <a:extLst>
                <a:ext uri="{28A0092B-C50C-407E-A947-70E740481C1C}">
                  <a14:useLocalDpi xmlns:a14="http://schemas.microsoft.com/office/drawing/2010/main" val="0"/>
                </a:ext>
              </a:extLst>
            </a:blip>
            <a:srcRect t="1" b="975"/>
            <a:stretch>
              <a:fillRect/>
            </a:stretch>
          </p:blipFill>
          <p:spPr bwMode="auto">
            <a:xfrm>
              <a:off x="375396" y="3183805"/>
              <a:ext cx="2354756" cy="2331792"/>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2">
              <a:extLst>
                <a:ext uri="{FF2B5EF4-FFF2-40B4-BE49-F238E27FC236}">
                  <a16:creationId xmlns:a16="http://schemas.microsoft.com/office/drawing/2014/main" id="{5186EF19-31E3-3BF4-4499-6329F183C1FA}"/>
                </a:ext>
              </a:extLst>
            </p:cNvPr>
            <p:cNvPicPr>
              <a:picLocks noChangeAspect="1" noChangeArrowheads="1"/>
            </p:cNvPicPr>
            <p:nvPr/>
          </p:nvPicPr>
          <p:blipFill rotWithShape="1">
            <a:blip r:embed="rId2">
              <a:alphaModFix amt="5000"/>
              <a:extLst>
                <a:ext uri="{28A0092B-C50C-407E-A947-70E740481C1C}">
                  <a14:useLocalDpi xmlns:a14="http://schemas.microsoft.com/office/drawing/2010/main" val="0"/>
                </a:ext>
              </a:extLst>
            </a:blip>
            <a:srcRect t="1" b="975"/>
            <a:stretch>
              <a:fillRect/>
            </a:stretch>
          </p:blipFill>
          <p:spPr bwMode="auto">
            <a:xfrm>
              <a:off x="110703" y="1122597"/>
              <a:ext cx="1242102" cy="1229989"/>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
              <a:extLst>
                <a:ext uri="{FF2B5EF4-FFF2-40B4-BE49-F238E27FC236}">
                  <a16:creationId xmlns:a16="http://schemas.microsoft.com/office/drawing/2014/main" id="{6FD863E0-829E-4606-63D8-A25D9164B7E4}"/>
                </a:ext>
              </a:extLst>
            </p:cNvPr>
            <p:cNvPicPr>
              <a:picLocks noChangeAspect="1" noChangeArrowheads="1"/>
            </p:cNvPicPr>
            <p:nvPr/>
          </p:nvPicPr>
          <p:blipFill rotWithShape="1">
            <a:blip r:embed="rId2">
              <a:alphaModFix amt="5000"/>
              <a:extLst>
                <a:ext uri="{28A0092B-C50C-407E-A947-70E740481C1C}">
                  <a14:useLocalDpi xmlns:a14="http://schemas.microsoft.com/office/drawing/2010/main" val="0"/>
                </a:ext>
              </a:extLst>
            </a:blip>
            <a:srcRect t="1" b="975"/>
            <a:stretch>
              <a:fillRect/>
            </a:stretch>
          </p:blipFill>
          <p:spPr bwMode="auto">
            <a:xfrm flipH="1">
              <a:off x="1597155" y="49488"/>
              <a:ext cx="1933784" cy="1914925"/>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2">
              <a:extLst>
                <a:ext uri="{FF2B5EF4-FFF2-40B4-BE49-F238E27FC236}">
                  <a16:creationId xmlns:a16="http://schemas.microsoft.com/office/drawing/2014/main" id="{5829CFD8-D81A-7AF1-04D7-E416B33A2F84}"/>
                </a:ext>
              </a:extLst>
            </p:cNvPr>
            <p:cNvPicPr>
              <a:picLocks noChangeAspect="1" noChangeArrowheads="1"/>
            </p:cNvPicPr>
            <p:nvPr/>
          </p:nvPicPr>
          <p:blipFill rotWithShape="1">
            <a:blip r:embed="rId2">
              <a:alphaModFix amt="5000"/>
              <a:extLst>
                <a:ext uri="{28A0092B-C50C-407E-A947-70E740481C1C}">
                  <a14:useLocalDpi xmlns:a14="http://schemas.microsoft.com/office/drawing/2010/main" val="0"/>
                </a:ext>
              </a:extLst>
            </a:blip>
            <a:srcRect t="1" b="975"/>
            <a:stretch>
              <a:fillRect/>
            </a:stretch>
          </p:blipFill>
          <p:spPr bwMode="auto">
            <a:xfrm>
              <a:off x="2720896" y="2119790"/>
              <a:ext cx="1205645" cy="1193888"/>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2">
              <a:extLst>
                <a:ext uri="{FF2B5EF4-FFF2-40B4-BE49-F238E27FC236}">
                  <a16:creationId xmlns:a16="http://schemas.microsoft.com/office/drawing/2014/main" id="{81ECEA6B-DD5B-2267-2284-016B8FB1E92A}"/>
                </a:ext>
              </a:extLst>
            </p:cNvPr>
            <p:cNvPicPr>
              <a:picLocks noChangeAspect="1" noChangeArrowheads="1"/>
            </p:cNvPicPr>
            <p:nvPr/>
          </p:nvPicPr>
          <p:blipFill rotWithShape="1">
            <a:blip r:embed="rId2">
              <a:alphaModFix amt="5000"/>
              <a:extLst>
                <a:ext uri="{28A0092B-C50C-407E-A947-70E740481C1C}">
                  <a14:useLocalDpi xmlns:a14="http://schemas.microsoft.com/office/drawing/2010/main" val="0"/>
                </a:ext>
              </a:extLst>
            </a:blip>
            <a:srcRect t="1" b="975"/>
            <a:stretch>
              <a:fillRect/>
            </a:stretch>
          </p:blipFill>
          <p:spPr bwMode="auto">
            <a:xfrm>
              <a:off x="4014376" y="1684198"/>
              <a:ext cx="620864" cy="614809"/>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
              <a:extLst>
                <a:ext uri="{FF2B5EF4-FFF2-40B4-BE49-F238E27FC236}">
                  <a16:creationId xmlns:a16="http://schemas.microsoft.com/office/drawing/2014/main" id="{AD4023EC-E81F-6627-D025-83E80B14FF6D}"/>
                </a:ext>
              </a:extLst>
            </p:cNvPr>
            <p:cNvPicPr>
              <a:picLocks noChangeAspect="1" noChangeArrowheads="1"/>
            </p:cNvPicPr>
            <p:nvPr/>
          </p:nvPicPr>
          <p:blipFill rotWithShape="1">
            <a:blip r:embed="rId2">
              <a:alphaModFix amt="5000"/>
              <a:extLst>
                <a:ext uri="{28A0092B-C50C-407E-A947-70E740481C1C}">
                  <a14:useLocalDpi xmlns:a14="http://schemas.microsoft.com/office/drawing/2010/main" val="0"/>
                </a:ext>
              </a:extLst>
            </a:blip>
            <a:srcRect t="1" b="975"/>
            <a:stretch>
              <a:fillRect/>
            </a:stretch>
          </p:blipFill>
          <p:spPr bwMode="auto">
            <a:xfrm flipH="1">
              <a:off x="1330527" y="2120264"/>
              <a:ext cx="873353" cy="864836"/>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2">
              <a:extLst>
                <a:ext uri="{FF2B5EF4-FFF2-40B4-BE49-F238E27FC236}">
                  <a16:creationId xmlns:a16="http://schemas.microsoft.com/office/drawing/2014/main" id="{01BBE522-8701-2265-A668-C58A02E1D3F2}"/>
                </a:ext>
              </a:extLst>
            </p:cNvPr>
            <p:cNvPicPr>
              <a:picLocks noChangeAspect="1" noChangeArrowheads="1"/>
            </p:cNvPicPr>
            <p:nvPr/>
          </p:nvPicPr>
          <p:blipFill rotWithShape="1">
            <a:blip r:embed="rId2">
              <a:alphaModFix amt="5000"/>
              <a:extLst>
                <a:ext uri="{28A0092B-C50C-407E-A947-70E740481C1C}">
                  <a14:useLocalDpi xmlns:a14="http://schemas.microsoft.com/office/drawing/2010/main" val="0"/>
                </a:ext>
              </a:extLst>
            </a:blip>
            <a:srcRect t="1" b="975"/>
            <a:stretch>
              <a:fillRect/>
            </a:stretch>
          </p:blipFill>
          <p:spPr bwMode="auto">
            <a:xfrm>
              <a:off x="8356801" y="1150710"/>
              <a:ext cx="1610592" cy="1594885"/>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2">
              <a:extLst>
                <a:ext uri="{FF2B5EF4-FFF2-40B4-BE49-F238E27FC236}">
                  <a16:creationId xmlns:a16="http://schemas.microsoft.com/office/drawing/2014/main" id="{2EB0F1FA-6FF9-4CC7-65E7-9B21AC2FD761}"/>
                </a:ext>
              </a:extLst>
            </p:cNvPr>
            <p:cNvPicPr>
              <a:picLocks noChangeAspect="1" noChangeArrowheads="1"/>
            </p:cNvPicPr>
            <p:nvPr/>
          </p:nvPicPr>
          <p:blipFill rotWithShape="1">
            <a:blip r:embed="rId2">
              <a:alphaModFix amt="5000"/>
              <a:extLst>
                <a:ext uri="{28A0092B-C50C-407E-A947-70E740481C1C}">
                  <a14:useLocalDpi xmlns:a14="http://schemas.microsoft.com/office/drawing/2010/main" val="0"/>
                </a:ext>
              </a:extLst>
            </a:blip>
            <a:srcRect t="1" b="975"/>
            <a:stretch>
              <a:fillRect/>
            </a:stretch>
          </p:blipFill>
          <p:spPr bwMode="auto">
            <a:xfrm>
              <a:off x="9816480" y="169770"/>
              <a:ext cx="1064045" cy="1053668"/>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2">
              <a:extLst>
                <a:ext uri="{FF2B5EF4-FFF2-40B4-BE49-F238E27FC236}">
                  <a16:creationId xmlns:a16="http://schemas.microsoft.com/office/drawing/2014/main" id="{03D8D9A5-BF5A-BEAB-2787-489E3E017558}"/>
                </a:ext>
              </a:extLst>
            </p:cNvPr>
            <p:cNvPicPr>
              <a:picLocks noChangeAspect="1" noChangeArrowheads="1"/>
            </p:cNvPicPr>
            <p:nvPr/>
          </p:nvPicPr>
          <p:blipFill rotWithShape="1">
            <a:blip r:embed="rId2">
              <a:alphaModFix amt="5000"/>
              <a:extLst>
                <a:ext uri="{28A0092B-C50C-407E-A947-70E740481C1C}">
                  <a14:useLocalDpi xmlns:a14="http://schemas.microsoft.com/office/drawing/2010/main" val="0"/>
                </a:ext>
              </a:extLst>
            </a:blip>
            <a:srcRect t="1" b="975"/>
            <a:stretch>
              <a:fillRect/>
            </a:stretch>
          </p:blipFill>
          <p:spPr bwMode="auto">
            <a:xfrm flipH="1">
              <a:off x="9905375" y="2162381"/>
              <a:ext cx="1014697" cy="1004801"/>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2">
              <a:extLst>
                <a:ext uri="{FF2B5EF4-FFF2-40B4-BE49-F238E27FC236}">
                  <a16:creationId xmlns:a16="http://schemas.microsoft.com/office/drawing/2014/main" id="{545F69C3-08C3-C3EA-5D47-B9EFC2AAE785}"/>
                </a:ext>
              </a:extLst>
            </p:cNvPr>
            <p:cNvPicPr>
              <a:picLocks noChangeAspect="1" noChangeArrowheads="1"/>
            </p:cNvPicPr>
            <p:nvPr/>
          </p:nvPicPr>
          <p:blipFill rotWithShape="1">
            <a:blip r:embed="rId2">
              <a:alphaModFix amt="5000"/>
              <a:extLst>
                <a:ext uri="{28A0092B-C50C-407E-A947-70E740481C1C}">
                  <a14:useLocalDpi xmlns:a14="http://schemas.microsoft.com/office/drawing/2010/main" val="0"/>
                </a:ext>
              </a:extLst>
            </a:blip>
            <a:srcRect t="1" b="975"/>
            <a:stretch>
              <a:fillRect/>
            </a:stretch>
          </p:blipFill>
          <p:spPr bwMode="auto">
            <a:xfrm flipH="1">
              <a:off x="8141249" y="3010732"/>
              <a:ext cx="844774" cy="836536"/>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2">
              <a:extLst>
                <a:ext uri="{FF2B5EF4-FFF2-40B4-BE49-F238E27FC236}">
                  <a16:creationId xmlns:a16="http://schemas.microsoft.com/office/drawing/2014/main" id="{D7383249-1E68-FDB7-B515-0CC7180F0C23}"/>
                </a:ext>
              </a:extLst>
            </p:cNvPr>
            <p:cNvPicPr>
              <a:picLocks noChangeAspect="1" noChangeArrowheads="1"/>
            </p:cNvPicPr>
            <p:nvPr/>
          </p:nvPicPr>
          <p:blipFill rotWithShape="1">
            <a:blip r:embed="rId2">
              <a:alphaModFix amt="5000"/>
              <a:extLst>
                <a:ext uri="{28A0092B-C50C-407E-A947-70E740481C1C}">
                  <a14:useLocalDpi xmlns:a14="http://schemas.microsoft.com/office/drawing/2010/main" val="0"/>
                </a:ext>
              </a:extLst>
            </a:blip>
            <a:srcRect t="1" b="975"/>
            <a:stretch>
              <a:fillRect/>
            </a:stretch>
          </p:blipFill>
          <p:spPr bwMode="auto">
            <a:xfrm>
              <a:off x="10135975" y="4540042"/>
              <a:ext cx="1970323" cy="1951109"/>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2">
              <a:extLst>
                <a:ext uri="{FF2B5EF4-FFF2-40B4-BE49-F238E27FC236}">
                  <a16:creationId xmlns:a16="http://schemas.microsoft.com/office/drawing/2014/main" id="{CA5ADDA8-A3CE-C5BA-ACF9-B4E28EE4E09B}"/>
                </a:ext>
              </a:extLst>
            </p:cNvPr>
            <p:cNvPicPr>
              <a:picLocks noChangeAspect="1" noChangeArrowheads="1"/>
            </p:cNvPicPr>
            <p:nvPr/>
          </p:nvPicPr>
          <p:blipFill rotWithShape="1">
            <a:blip r:embed="rId2">
              <a:alphaModFix amt="5000"/>
              <a:extLst>
                <a:ext uri="{28A0092B-C50C-407E-A947-70E740481C1C}">
                  <a14:useLocalDpi xmlns:a14="http://schemas.microsoft.com/office/drawing/2010/main" val="0"/>
                </a:ext>
              </a:extLst>
            </a:blip>
            <a:srcRect t="1" b="975"/>
            <a:stretch>
              <a:fillRect/>
            </a:stretch>
          </p:blipFill>
          <p:spPr bwMode="auto">
            <a:xfrm flipH="1">
              <a:off x="8240783" y="5124462"/>
              <a:ext cx="1360345" cy="1347078"/>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2">
              <a:extLst>
                <a:ext uri="{FF2B5EF4-FFF2-40B4-BE49-F238E27FC236}">
                  <a16:creationId xmlns:a16="http://schemas.microsoft.com/office/drawing/2014/main" id="{99A36D67-C077-E252-A4BC-0C9842E67BD5}"/>
                </a:ext>
              </a:extLst>
            </p:cNvPr>
            <p:cNvPicPr>
              <a:picLocks noChangeAspect="1" noChangeArrowheads="1"/>
            </p:cNvPicPr>
            <p:nvPr/>
          </p:nvPicPr>
          <p:blipFill rotWithShape="1">
            <a:blip r:embed="rId2">
              <a:alphaModFix amt="5000"/>
              <a:extLst>
                <a:ext uri="{28A0092B-C50C-407E-A947-70E740481C1C}">
                  <a14:useLocalDpi xmlns:a14="http://schemas.microsoft.com/office/drawing/2010/main" val="0"/>
                </a:ext>
              </a:extLst>
            </a:blip>
            <a:srcRect t="1" b="975"/>
            <a:stretch>
              <a:fillRect/>
            </a:stretch>
          </p:blipFill>
          <p:spPr bwMode="auto">
            <a:xfrm>
              <a:off x="10763153" y="3010732"/>
              <a:ext cx="1320626" cy="1307747"/>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2">
              <a:extLst>
                <a:ext uri="{FF2B5EF4-FFF2-40B4-BE49-F238E27FC236}">
                  <a16:creationId xmlns:a16="http://schemas.microsoft.com/office/drawing/2014/main" id="{F84C7FEE-0431-655A-E762-902A736117F0}"/>
                </a:ext>
              </a:extLst>
            </p:cNvPr>
            <p:cNvPicPr>
              <a:picLocks noChangeAspect="1" noChangeArrowheads="1"/>
            </p:cNvPicPr>
            <p:nvPr/>
          </p:nvPicPr>
          <p:blipFill rotWithShape="1">
            <a:blip r:embed="rId2">
              <a:alphaModFix amt="5000"/>
              <a:extLst>
                <a:ext uri="{28A0092B-C50C-407E-A947-70E740481C1C}">
                  <a14:useLocalDpi xmlns:a14="http://schemas.microsoft.com/office/drawing/2010/main" val="0"/>
                </a:ext>
              </a:extLst>
            </a:blip>
            <a:srcRect t="1" b="975"/>
            <a:stretch>
              <a:fillRect/>
            </a:stretch>
          </p:blipFill>
          <p:spPr bwMode="auto">
            <a:xfrm>
              <a:off x="8950335" y="3479528"/>
              <a:ext cx="1483563" cy="1469094"/>
            </a:xfrm>
            <a:prstGeom prst="rect">
              <a:avLst/>
            </a:prstGeom>
            <a:noFill/>
            <a:extLst>
              <a:ext uri="{909E8E84-426E-40DD-AFC4-6F175D3DCCD1}">
                <a14:hiddenFill xmlns:a14="http://schemas.microsoft.com/office/drawing/2010/main">
                  <a:solidFill>
                    <a:srgbClr val="FFFFFF"/>
                  </a:solidFill>
                </a14:hiddenFill>
              </a:ext>
            </a:extLst>
          </p:spPr>
        </p:pic>
      </p:grpSp>
      <p:sp>
        <p:nvSpPr>
          <p:cNvPr id="2" name="Title 1">
            <a:extLst>
              <a:ext uri="{FF2B5EF4-FFF2-40B4-BE49-F238E27FC236}">
                <a16:creationId xmlns:a16="http://schemas.microsoft.com/office/drawing/2014/main" id="{A493C7D5-9357-0BE6-37B8-E0C51C8AF3CB}"/>
              </a:ext>
            </a:extLst>
          </p:cNvPr>
          <p:cNvSpPr>
            <a:spLocks noGrp="1"/>
          </p:cNvSpPr>
          <p:nvPr>
            <p:ph type="ctrTitle"/>
          </p:nvPr>
        </p:nvSpPr>
        <p:spPr>
          <a:xfrm>
            <a:off x="816797" y="666352"/>
            <a:ext cx="10558405" cy="3044335"/>
          </a:xfrm>
        </p:spPr>
        <p:txBody>
          <a:bodyPr anchor="b">
            <a:normAutofit/>
          </a:bodyPr>
          <a:lstStyle/>
          <a:p>
            <a:r>
              <a:rPr lang="en-US" sz="4800" dirty="0">
                <a:solidFill>
                  <a:schemeClr val="bg1"/>
                </a:solidFill>
              </a:rPr>
              <a:t>UVA Brainhack!</a:t>
            </a:r>
          </a:p>
        </p:txBody>
      </p:sp>
      <p:sp>
        <p:nvSpPr>
          <p:cNvPr id="3" name="Subtitle 2">
            <a:extLst>
              <a:ext uri="{FF2B5EF4-FFF2-40B4-BE49-F238E27FC236}">
                <a16:creationId xmlns:a16="http://schemas.microsoft.com/office/drawing/2014/main" id="{D9BB5031-D951-D78E-CF2A-18BF4B0D5F10}"/>
              </a:ext>
            </a:extLst>
          </p:cNvPr>
          <p:cNvSpPr>
            <a:spLocks noGrp="1"/>
          </p:cNvSpPr>
          <p:nvPr>
            <p:ph type="subTitle" idx="1"/>
          </p:nvPr>
        </p:nvSpPr>
        <p:spPr>
          <a:xfrm>
            <a:off x="789708" y="3866064"/>
            <a:ext cx="10558405" cy="2234485"/>
          </a:xfrm>
        </p:spPr>
        <p:txBody>
          <a:bodyPr anchor="t">
            <a:normAutofit/>
          </a:bodyPr>
          <a:lstStyle/>
          <a:p>
            <a:r>
              <a:rPr lang="en-US" dirty="0">
                <a:solidFill>
                  <a:schemeClr val="bg1"/>
                </a:solidFill>
              </a:rPr>
              <a:t>===== Week 4 =====</a:t>
            </a:r>
          </a:p>
          <a:p>
            <a:r>
              <a:rPr lang="en-US" dirty="0">
                <a:solidFill>
                  <a:schemeClr val="bg1"/>
                </a:solidFill>
              </a:rPr>
              <a:t>6/20/2025</a:t>
            </a:r>
          </a:p>
        </p:txBody>
      </p:sp>
    </p:spTree>
    <p:extLst>
      <p:ext uri="{BB962C8B-B14F-4D97-AF65-F5344CB8AC3E}">
        <p14:creationId xmlns:p14="http://schemas.microsoft.com/office/powerpoint/2010/main" val="29232586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par>
                                <p:cTn id="8" presetID="10" presetClass="entr" presetSubtype="0" fill="hold" grpId="0" nodeType="withEffect">
                                  <p:stCondLst>
                                    <p:cond delay="1000"/>
                                  </p:stCondLst>
                                  <p:iterate type="lt">
                                    <p:tmPct val="15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1000"/>
                                        <p:tgtEl>
                                          <p:spTgt spid="3">
                                            <p:txEl>
                                              <p:pRg st="0" end="0"/>
                                            </p:txEl>
                                          </p:spTgt>
                                        </p:tgtEl>
                                      </p:cBhvr>
                                    </p:animEffect>
                                  </p:childTnLst>
                                </p:cTn>
                              </p:par>
                              <p:par>
                                <p:cTn id="11" presetID="10" presetClass="entr" presetSubtype="0" fill="hold" grpId="0" nodeType="withEffect">
                                  <p:stCondLst>
                                    <p:cond delay="1000"/>
                                  </p:stCondLst>
                                  <p:iterate type="lt">
                                    <p:tmPct val="15000"/>
                                  </p:iterate>
                                  <p:childTnLst>
                                    <p:set>
                                      <p:cBhvr>
                                        <p:cTn id="12" dur="1" fill="hold">
                                          <p:stCondLst>
                                            <p:cond delay="0"/>
                                          </p:stCondLst>
                                        </p:cTn>
                                        <p:tgtEl>
                                          <p:spTgt spid="3">
                                            <p:txEl>
                                              <p:pRg st="1" end="1"/>
                                            </p:txEl>
                                          </p:spTgt>
                                        </p:tgtEl>
                                        <p:attrNameLst>
                                          <p:attrName>style.visibility</p:attrName>
                                        </p:attrNameLst>
                                      </p:cBhvr>
                                      <p:to>
                                        <p:strVal val="visible"/>
                                      </p:to>
                                    </p:set>
                                    <p:animEffect transition="in" filter="fade">
                                      <p:cBhvr>
                                        <p:cTn id="13" dur="750"/>
                                        <p:tgtEl>
                                          <p:spTgt spid="3">
                                            <p:txEl>
                                              <p:pRg st="1" end="1"/>
                                            </p:txEl>
                                          </p:spTgt>
                                        </p:tgtEl>
                                      </p:cBhvr>
                                    </p:animEffect>
                                  </p:childTnLst>
                                </p:cTn>
                              </p:par>
                              <p:par>
                                <p:cTn id="14" presetID="34" presetClass="emph" presetSubtype="0" repeatCount="indefinite" fill="hold" grpId="1" nodeType="withEffect">
                                  <p:stCondLst>
                                    <p:cond delay="1000"/>
                                  </p:stCondLst>
                                  <p:iterate type="lt">
                                    <p:tmPct val="25000"/>
                                  </p:iterate>
                                  <p:childTnLst>
                                    <p:animMotion origin="layout" path="M 0 -1.48148E-6 L 0 -0.10347 " pathEditMode="relative" rAng="0" ptsTypes="AA">
                                      <p:cBhvr>
                                        <p:cTn id="15" dur="500" accel="50000" decel="50000" autoRev="1" fill="hold">
                                          <p:stCondLst>
                                            <p:cond delay="0"/>
                                          </p:stCondLst>
                                        </p:cTn>
                                        <p:tgtEl>
                                          <p:spTgt spid="2"/>
                                        </p:tgtEl>
                                        <p:attrNameLst>
                                          <p:attrName>ppt_x</p:attrName>
                                          <p:attrName>ppt_y</p:attrName>
                                        </p:attrNameLst>
                                      </p:cBhvr>
                                      <p:rCtr x="0" y="-5185"/>
                                    </p:animMotion>
                                    <p:animRot by="1500000">
                                      <p:cBhvr>
                                        <p:cTn id="16" dur="250" fill="hold">
                                          <p:stCondLst>
                                            <p:cond delay="0"/>
                                          </p:stCondLst>
                                        </p:cTn>
                                        <p:tgtEl>
                                          <p:spTgt spid="2"/>
                                        </p:tgtEl>
                                        <p:attrNameLst>
                                          <p:attrName>r</p:attrName>
                                        </p:attrNameLst>
                                      </p:cBhvr>
                                    </p:animRot>
                                    <p:animRot by="-1500000">
                                      <p:cBhvr>
                                        <p:cTn id="17" dur="250" fill="hold">
                                          <p:stCondLst>
                                            <p:cond delay="250"/>
                                          </p:stCondLst>
                                        </p:cTn>
                                        <p:tgtEl>
                                          <p:spTgt spid="2"/>
                                        </p:tgtEl>
                                        <p:attrNameLst>
                                          <p:attrName>r</p:attrName>
                                        </p:attrNameLst>
                                      </p:cBhvr>
                                    </p:animRot>
                                    <p:animRot by="-1500000">
                                      <p:cBhvr>
                                        <p:cTn id="18" dur="250" fill="hold">
                                          <p:stCondLst>
                                            <p:cond delay="500"/>
                                          </p:stCondLst>
                                        </p:cTn>
                                        <p:tgtEl>
                                          <p:spTgt spid="2"/>
                                        </p:tgtEl>
                                        <p:attrNameLst>
                                          <p:attrName>r</p:attrName>
                                        </p:attrNameLst>
                                      </p:cBhvr>
                                    </p:animRot>
                                    <p:animRot by="1500000">
                                      <p:cBhvr>
                                        <p:cTn id="19" dur="250" fill="hold">
                                          <p:stCondLst>
                                            <p:cond delay="750"/>
                                          </p:stCondLst>
                                        </p:cTn>
                                        <p:tgtEl>
                                          <p:spTgt spid="2"/>
                                        </p:tgtEl>
                                        <p:attrNameLst>
                                          <p:attrName>r</p:attrName>
                                        </p:attrNameLst>
                                      </p:cBhvr>
                                    </p:animRot>
                                  </p:childTnLst>
                                </p:cTn>
                              </p:par>
                              <p:par>
                                <p:cTn id="20" presetID="34" presetClass="emph" presetSubtype="0" repeatCount="indefinite" fill="hold" grpId="1" nodeType="withEffect">
                                  <p:stCondLst>
                                    <p:cond delay="4700"/>
                                  </p:stCondLst>
                                  <p:iterate type="lt">
                                    <p:tmPct val="25000"/>
                                  </p:iterate>
                                  <p:childTnLst>
                                    <p:animMotion origin="layout" path="M -4.16667E-7 -2.96296E-6 L -0.00026 -0.05324 " pathEditMode="relative" rAng="0" ptsTypes="AA">
                                      <p:cBhvr>
                                        <p:cTn id="21" dur="1000" accel="50000" decel="50000" autoRev="1" fill="hold">
                                          <p:stCondLst>
                                            <p:cond delay="0"/>
                                          </p:stCondLst>
                                        </p:cTn>
                                        <p:tgtEl>
                                          <p:spTgt spid="3">
                                            <p:txEl>
                                              <p:pRg st="0" end="0"/>
                                            </p:txEl>
                                          </p:spTgt>
                                        </p:tgtEl>
                                        <p:attrNameLst>
                                          <p:attrName>ppt_x</p:attrName>
                                          <p:attrName>ppt_y</p:attrName>
                                        </p:attrNameLst>
                                      </p:cBhvr>
                                      <p:rCtr x="-13" y="-2662"/>
                                    </p:animMotion>
                                    <p:animRot by="1500000">
                                      <p:cBhvr>
                                        <p:cTn id="22" dur="500" fill="hold">
                                          <p:stCondLst>
                                            <p:cond delay="0"/>
                                          </p:stCondLst>
                                        </p:cTn>
                                        <p:tgtEl>
                                          <p:spTgt spid="3">
                                            <p:txEl>
                                              <p:pRg st="0" end="0"/>
                                            </p:txEl>
                                          </p:spTgt>
                                        </p:tgtEl>
                                        <p:attrNameLst>
                                          <p:attrName>r</p:attrName>
                                        </p:attrNameLst>
                                      </p:cBhvr>
                                    </p:animRot>
                                    <p:animRot by="-1500000">
                                      <p:cBhvr>
                                        <p:cTn id="23" dur="500" fill="hold">
                                          <p:stCondLst>
                                            <p:cond delay="500"/>
                                          </p:stCondLst>
                                        </p:cTn>
                                        <p:tgtEl>
                                          <p:spTgt spid="3">
                                            <p:txEl>
                                              <p:pRg st="0" end="0"/>
                                            </p:txEl>
                                          </p:spTgt>
                                        </p:tgtEl>
                                        <p:attrNameLst>
                                          <p:attrName>r</p:attrName>
                                        </p:attrNameLst>
                                      </p:cBhvr>
                                    </p:animRot>
                                    <p:animRot by="-1500000">
                                      <p:cBhvr>
                                        <p:cTn id="24" dur="500" fill="hold">
                                          <p:stCondLst>
                                            <p:cond delay="1000"/>
                                          </p:stCondLst>
                                        </p:cTn>
                                        <p:tgtEl>
                                          <p:spTgt spid="3">
                                            <p:txEl>
                                              <p:pRg st="0" end="0"/>
                                            </p:txEl>
                                          </p:spTgt>
                                        </p:tgtEl>
                                        <p:attrNameLst>
                                          <p:attrName>r</p:attrName>
                                        </p:attrNameLst>
                                      </p:cBhvr>
                                    </p:animRot>
                                    <p:animRot by="1500000">
                                      <p:cBhvr>
                                        <p:cTn id="25" dur="500" fill="hold">
                                          <p:stCondLst>
                                            <p:cond delay="1500"/>
                                          </p:stCondLst>
                                        </p:cTn>
                                        <p:tgtEl>
                                          <p:spTgt spid="3">
                                            <p:txEl>
                                              <p:pRg st="0" end="0"/>
                                            </p:txEl>
                                          </p:spTgt>
                                        </p:tgtEl>
                                        <p:attrNameLst>
                                          <p:attrName>r</p:attrName>
                                        </p:attrNameLst>
                                      </p:cBhvr>
                                    </p:animRot>
                                  </p:childTnLst>
                                </p:cTn>
                              </p:par>
                              <p:par>
                                <p:cTn id="26" presetID="34" presetClass="emph" presetSubtype="0" repeatCount="indefinite" fill="hold" nodeType="withEffect">
                                  <p:stCondLst>
                                    <p:cond delay="12500"/>
                                  </p:stCondLst>
                                  <p:iterate type="lt">
                                    <p:tmPct val="25000"/>
                                  </p:iterate>
                                  <p:childTnLst>
                                    <p:animMotion origin="layout" path="M -2.08333E-7 -3.7037E-7 L -0.00013 -0.01343 " pathEditMode="relative" rAng="0" ptsTypes="AA">
                                      <p:cBhvr>
                                        <p:cTn id="27" dur="1500" accel="50000" decel="50000" autoRev="1" fill="hold">
                                          <p:stCondLst>
                                            <p:cond delay="0"/>
                                          </p:stCondLst>
                                        </p:cTn>
                                        <p:tgtEl>
                                          <p:spTgt spid="3">
                                            <p:txEl>
                                              <p:pRg st="1" end="1"/>
                                            </p:txEl>
                                          </p:spTgt>
                                        </p:tgtEl>
                                        <p:attrNameLst>
                                          <p:attrName>ppt_x</p:attrName>
                                          <p:attrName>ppt_y</p:attrName>
                                        </p:attrNameLst>
                                      </p:cBhvr>
                                      <p:rCtr x="-13" y="-671"/>
                                    </p:animMotion>
                                    <p:animRot by="1500000">
                                      <p:cBhvr>
                                        <p:cTn id="28" dur="750" fill="hold">
                                          <p:stCondLst>
                                            <p:cond delay="0"/>
                                          </p:stCondLst>
                                        </p:cTn>
                                        <p:tgtEl>
                                          <p:spTgt spid="3">
                                            <p:txEl>
                                              <p:pRg st="1" end="1"/>
                                            </p:txEl>
                                          </p:spTgt>
                                        </p:tgtEl>
                                        <p:attrNameLst>
                                          <p:attrName>r</p:attrName>
                                        </p:attrNameLst>
                                      </p:cBhvr>
                                    </p:animRot>
                                    <p:animRot by="-1500000">
                                      <p:cBhvr>
                                        <p:cTn id="29" dur="750" fill="hold">
                                          <p:stCondLst>
                                            <p:cond delay="750"/>
                                          </p:stCondLst>
                                        </p:cTn>
                                        <p:tgtEl>
                                          <p:spTgt spid="3">
                                            <p:txEl>
                                              <p:pRg st="1" end="1"/>
                                            </p:txEl>
                                          </p:spTgt>
                                        </p:tgtEl>
                                        <p:attrNameLst>
                                          <p:attrName>r</p:attrName>
                                        </p:attrNameLst>
                                      </p:cBhvr>
                                    </p:animRot>
                                    <p:animRot by="-1500000">
                                      <p:cBhvr>
                                        <p:cTn id="30" dur="750" fill="hold">
                                          <p:stCondLst>
                                            <p:cond delay="1500"/>
                                          </p:stCondLst>
                                        </p:cTn>
                                        <p:tgtEl>
                                          <p:spTgt spid="3">
                                            <p:txEl>
                                              <p:pRg st="1" end="1"/>
                                            </p:txEl>
                                          </p:spTgt>
                                        </p:tgtEl>
                                        <p:attrNameLst>
                                          <p:attrName>r</p:attrName>
                                        </p:attrNameLst>
                                      </p:cBhvr>
                                    </p:animRot>
                                    <p:animRot by="1500000">
                                      <p:cBhvr>
                                        <p:cTn id="31" dur="750" fill="hold">
                                          <p:stCondLst>
                                            <p:cond delay="2250"/>
                                          </p:stCondLst>
                                        </p:cTn>
                                        <p:tgtEl>
                                          <p:spTgt spid="3">
                                            <p:txEl>
                                              <p:pRg st="1" end="1"/>
                                            </p:txEl>
                                          </p:spTgt>
                                        </p:tgtEl>
                                        <p:attrNameLst>
                                          <p:attrName>r</p:attrName>
                                        </p:attrNameLst>
                                      </p:cBhvr>
                                    </p:animRot>
                                  </p:childTnLst>
                                </p:cTn>
                              </p:par>
                              <p:par>
                                <p:cTn id="32" presetID="10" presetClass="entr" presetSubtype="0" fill="hold" nodeType="withEffect">
                                  <p:stCondLst>
                                    <p:cond delay="0"/>
                                  </p:stCondLst>
                                  <p:childTnLst>
                                    <p:set>
                                      <p:cBhvr>
                                        <p:cTn id="33" dur="1" fill="hold">
                                          <p:stCondLst>
                                            <p:cond delay="0"/>
                                          </p:stCondLst>
                                        </p:cTn>
                                        <p:tgtEl>
                                          <p:spTgt spid="34"/>
                                        </p:tgtEl>
                                        <p:attrNameLst>
                                          <p:attrName>style.visibility</p:attrName>
                                        </p:attrNameLst>
                                      </p:cBhvr>
                                      <p:to>
                                        <p:strVal val="visible"/>
                                      </p:to>
                                    </p:set>
                                    <p:animEffect transition="in" filter="fade">
                                      <p:cBhvr>
                                        <p:cTn id="34" dur="200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3" grpId="0" uiExpand="1" build="p"/>
      <p:bldP spid="3" grpId="1" uiExpand="1"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6C4028FD-8BAA-4A19-BFDE-594D991B75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658B9B6-F811-B299-F5B1-F469CB6E3CE8}"/>
              </a:ext>
            </a:extLst>
          </p:cNvPr>
          <p:cNvSpPr>
            <a:spLocks noGrp="1"/>
          </p:cNvSpPr>
          <p:nvPr>
            <p:ph type="title"/>
          </p:nvPr>
        </p:nvSpPr>
        <p:spPr>
          <a:xfrm>
            <a:off x="838200" y="556995"/>
            <a:ext cx="10515600" cy="1133693"/>
          </a:xfrm>
        </p:spPr>
        <p:txBody>
          <a:bodyPr>
            <a:normAutofit/>
          </a:bodyPr>
          <a:lstStyle/>
          <a:p>
            <a:r>
              <a:rPr lang="en-US" sz="5200" b="1"/>
              <a:t>Agenda</a:t>
            </a:r>
          </a:p>
        </p:txBody>
      </p:sp>
      <p:grpSp>
        <p:nvGrpSpPr>
          <p:cNvPr id="18" name="Group 17">
            <a:extLst>
              <a:ext uri="{FF2B5EF4-FFF2-40B4-BE49-F238E27FC236}">
                <a16:creationId xmlns:a16="http://schemas.microsoft.com/office/drawing/2014/main" id="{4A03BC01-DDFC-2D25-A5E3-E6EBCA972D6A}"/>
              </a:ext>
            </a:extLst>
          </p:cNvPr>
          <p:cNvGrpSpPr/>
          <p:nvPr/>
        </p:nvGrpSpPr>
        <p:grpSpPr>
          <a:xfrm>
            <a:off x="836675" y="1912761"/>
            <a:ext cx="10515600" cy="474974"/>
            <a:chOff x="0" y="37268"/>
            <a:chExt cx="10515600" cy="982800"/>
          </a:xfrm>
        </p:grpSpPr>
        <p:sp>
          <p:nvSpPr>
            <p:cNvPr id="19" name="Rectangle: Rounded Corners 18">
              <a:extLst>
                <a:ext uri="{FF2B5EF4-FFF2-40B4-BE49-F238E27FC236}">
                  <a16:creationId xmlns:a16="http://schemas.microsoft.com/office/drawing/2014/main" id="{604F23B0-C585-A519-43C0-BA23017149CF}"/>
                </a:ext>
              </a:extLst>
            </p:cNvPr>
            <p:cNvSpPr/>
            <p:nvPr/>
          </p:nvSpPr>
          <p:spPr>
            <a:xfrm>
              <a:off x="0" y="37268"/>
              <a:ext cx="10515600" cy="982800"/>
            </a:xfrm>
            <a:prstGeom prst="roundRect">
              <a:avLst/>
            </a:prstGeom>
            <a:gradFill>
              <a:gsLst>
                <a:gs pos="0">
                  <a:schemeClr val="accent5">
                    <a:lumMod val="60000"/>
                    <a:lumOff val="40000"/>
                  </a:schemeClr>
                </a:gs>
                <a:gs pos="50000">
                  <a:schemeClr val="accent5">
                    <a:lumMod val="60000"/>
                    <a:lumOff val="40000"/>
                  </a:schemeClr>
                </a:gs>
                <a:gs pos="100000">
                  <a:schemeClr val="accent5">
                    <a:lumMod val="40000"/>
                    <a:lumOff val="60000"/>
                  </a:schemeClr>
                </a:gs>
              </a:gsLst>
            </a:gradFill>
          </p:spPr>
          <p:style>
            <a:lnRef idx="0">
              <a:schemeClr val="lt1">
                <a:hueOff val="0"/>
                <a:satOff val="0"/>
                <a:lumOff val="0"/>
                <a:alphaOff val="0"/>
              </a:schemeClr>
            </a:lnRef>
            <a:fillRef idx="3">
              <a:schemeClr val="accent3">
                <a:hueOff val="0"/>
                <a:satOff val="0"/>
                <a:lumOff val="0"/>
                <a:alphaOff val="0"/>
              </a:schemeClr>
            </a:fillRef>
            <a:effectRef idx="3">
              <a:schemeClr val="accent3">
                <a:hueOff val="0"/>
                <a:satOff val="0"/>
                <a:lumOff val="0"/>
                <a:alphaOff val="0"/>
              </a:schemeClr>
            </a:effectRef>
            <a:fontRef idx="minor">
              <a:schemeClr val="lt1"/>
            </a:fontRef>
          </p:style>
          <p:txBody>
            <a:bodyPr/>
            <a:lstStyle/>
            <a:p>
              <a:endParaRPr lang="en-US" dirty="0"/>
            </a:p>
          </p:txBody>
        </p:sp>
        <p:sp>
          <p:nvSpPr>
            <p:cNvPr id="20" name="Rectangle: Rounded Corners 4">
              <a:extLst>
                <a:ext uri="{FF2B5EF4-FFF2-40B4-BE49-F238E27FC236}">
                  <a16:creationId xmlns:a16="http://schemas.microsoft.com/office/drawing/2014/main" id="{ED0174B2-9756-D3B9-233E-37EEC5B02B09}"/>
                </a:ext>
              </a:extLst>
            </p:cNvPr>
            <p:cNvSpPr txBox="1"/>
            <p:nvPr/>
          </p:nvSpPr>
          <p:spPr>
            <a:xfrm>
              <a:off x="47976" y="85244"/>
              <a:ext cx="9231806" cy="88684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52400" tIns="152400" rIns="152400" bIns="152400" numCol="1" spcCol="1270" anchor="ctr" anchorCtr="0">
              <a:noAutofit/>
            </a:bodyPr>
            <a:lstStyle/>
            <a:p>
              <a:pPr marL="0" lvl="0" indent="0" algn="l" defTabSz="1778000">
                <a:lnSpc>
                  <a:spcPct val="90000"/>
                </a:lnSpc>
                <a:spcBef>
                  <a:spcPct val="0"/>
                </a:spcBef>
                <a:spcAft>
                  <a:spcPct val="35000"/>
                </a:spcAft>
                <a:buNone/>
              </a:pPr>
              <a:r>
                <a:rPr lang="en-US" sz="4000" kern="1200" dirty="0">
                  <a:solidFill>
                    <a:schemeClr val="tx1"/>
                  </a:solidFill>
                </a:rPr>
                <a:t>MR Preprocessing</a:t>
              </a:r>
            </a:p>
          </p:txBody>
        </p:sp>
      </p:grpSp>
      <p:grpSp>
        <p:nvGrpSpPr>
          <p:cNvPr id="21" name="Group 20">
            <a:extLst>
              <a:ext uri="{FF2B5EF4-FFF2-40B4-BE49-F238E27FC236}">
                <a16:creationId xmlns:a16="http://schemas.microsoft.com/office/drawing/2014/main" id="{6987EE89-A3FC-B9BB-5F2E-C5CD4B0EDA86}"/>
              </a:ext>
            </a:extLst>
          </p:cNvPr>
          <p:cNvGrpSpPr/>
          <p:nvPr/>
        </p:nvGrpSpPr>
        <p:grpSpPr>
          <a:xfrm>
            <a:off x="836675" y="4057916"/>
            <a:ext cx="10515600" cy="474973"/>
            <a:chOff x="0" y="1135269"/>
            <a:chExt cx="10515600" cy="982800"/>
          </a:xfrm>
        </p:grpSpPr>
        <p:sp>
          <p:nvSpPr>
            <p:cNvPr id="23" name="Rectangle: Rounded Corners 22">
              <a:extLst>
                <a:ext uri="{FF2B5EF4-FFF2-40B4-BE49-F238E27FC236}">
                  <a16:creationId xmlns:a16="http://schemas.microsoft.com/office/drawing/2014/main" id="{A93C4F3F-4D7B-07A8-4DAA-9093A449A4EE}"/>
                </a:ext>
              </a:extLst>
            </p:cNvPr>
            <p:cNvSpPr/>
            <p:nvPr/>
          </p:nvSpPr>
          <p:spPr>
            <a:xfrm>
              <a:off x="0" y="1135269"/>
              <a:ext cx="10515600" cy="982800"/>
            </a:xfrm>
            <a:prstGeom prst="roundRect">
              <a:avLst/>
            </a:prstGeom>
            <a:gradFill>
              <a:gsLst>
                <a:gs pos="0">
                  <a:srgbClr val="FFFF00"/>
                </a:gs>
                <a:gs pos="50000">
                  <a:srgbClr val="FFFF00"/>
                </a:gs>
                <a:gs pos="100000">
                  <a:srgbClr val="FFFF99"/>
                </a:gs>
              </a:gsLst>
            </a:gradFill>
          </p:spPr>
          <p:style>
            <a:lnRef idx="0">
              <a:schemeClr val="lt1">
                <a:hueOff val="0"/>
                <a:satOff val="0"/>
                <a:lumOff val="0"/>
                <a:alphaOff val="0"/>
              </a:schemeClr>
            </a:lnRef>
            <a:fillRef idx="3">
              <a:schemeClr val="accent3">
                <a:hueOff val="0"/>
                <a:satOff val="0"/>
                <a:lumOff val="0"/>
                <a:alphaOff val="0"/>
              </a:schemeClr>
            </a:fillRef>
            <a:effectRef idx="3">
              <a:schemeClr val="accent3">
                <a:hueOff val="0"/>
                <a:satOff val="0"/>
                <a:lumOff val="0"/>
                <a:alphaOff val="0"/>
              </a:schemeClr>
            </a:effectRef>
            <a:fontRef idx="minor">
              <a:schemeClr val="lt1"/>
            </a:fontRef>
          </p:style>
          <p:txBody>
            <a:bodyPr/>
            <a:lstStyle/>
            <a:p>
              <a:endParaRPr lang="en-US" dirty="0"/>
            </a:p>
          </p:txBody>
        </p:sp>
        <p:sp>
          <p:nvSpPr>
            <p:cNvPr id="24" name="Rectangle: Rounded Corners 4">
              <a:extLst>
                <a:ext uri="{FF2B5EF4-FFF2-40B4-BE49-F238E27FC236}">
                  <a16:creationId xmlns:a16="http://schemas.microsoft.com/office/drawing/2014/main" id="{FF8190A1-87C8-CBC4-89A4-CF9B904C3F32}"/>
                </a:ext>
              </a:extLst>
            </p:cNvPr>
            <p:cNvSpPr txBox="1"/>
            <p:nvPr/>
          </p:nvSpPr>
          <p:spPr>
            <a:xfrm>
              <a:off x="47976" y="1183245"/>
              <a:ext cx="9449520" cy="88684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52400" tIns="152400" rIns="152400" bIns="152400" numCol="1" spcCol="1270" anchor="ctr" anchorCtr="0">
              <a:noAutofit/>
            </a:bodyPr>
            <a:lstStyle/>
            <a:p>
              <a:pPr marL="0" lvl="0" indent="0" algn="l" defTabSz="1778000">
                <a:lnSpc>
                  <a:spcPct val="90000"/>
                </a:lnSpc>
                <a:spcBef>
                  <a:spcPct val="0"/>
                </a:spcBef>
                <a:spcAft>
                  <a:spcPct val="35000"/>
                </a:spcAft>
                <a:buNone/>
              </a:pPr>
              <a:r>
                <a:rPr lang="en-US" sz="4000" kern="1200" dirty="0" err="1">
                  <a:solidFill>
                    <a:schemeClr val="tx1"/>
                  </a:solidFill>
                </a:rPr>
                <a:t>fMRIPrep</a:t>
              </a:r>
              <a:endParaRPr lang="en-US" sz="4000" kern="1200" dirty="0">
                <a:solidFill>
                  <a:schemeClr val="tx1"/>
                </a:solidFill>
              </a:endParaRPr>
            </a:p>
          </p:txBody>
        </p:sp>
      </p:grpSp>
      <p:grpSp>
        <p:nvGrpSpPr>
          <p:cNvPr id="25" name="Group 24">
            <a:extLst>
              <a:ext uri="{FF2B5EF4-FFF2-40B4-BE49-F238E27FC236}">
                <a16:creationId xmlns:a16="http://schemas.microsoft.com/office/drawing/2014/main" id="{6B89E1B3-7DA3-61AF-F3BA-8CB422DE6862}"/>
              </a:ext>
            </a:extLst>
          </p:cNvPr>
          <p:cNvGrpSpPr/>
          <p:nvPr/>
        </p:nvGrpSpPr>
        <p:grpSpPr>
          <a:xfrm>
            <a:off x="1623317" y="4781968"/>
            <a:ext cx="9728958" cy="474972"/>
            <a:chOff x="0" y="2233269"/>
            <a:chExt cx="10515600" cy="982800"/>
          </a:xfrm>
        </p:grpSpPr>
        <p:sp>
          <p:nvSpPr>
            <p:cNvPr id="26" name="Rectangle: Rounded Corners 25">
              <a:extLst>
                <a:ext uri="{FF2B5EF4-FFF2-40B4-BE49-F238E27FC236}">
                  <a16:creationId xmlns:a16="http://schemas.microsoft.com/office/drawing/2014/main" id="{155CD7FD-CF50-51A0-4C14-093728B3C602}"/>
                </a:ext>
              </a:extLst>
            </p:cNvPr>
            <p:cNvSpPr/>
            <p:nvPr/>
          </p:nvSpPr>
          <p:spPr>
            <a:xfrm>
              <a:off x="0" y="2233269"/>
              <a:ext cx="10515600" cy="982800"/>
            </a:xfrm>
            <a:prstGeom prst="roundRect">
              <a:avLst/>
            </a:prstGeom>
            <a:gradFill>
              <a:gsLst>
                <a:gs pos="0">
                  <a:srgbClr val="FFC000"/>
                </a:gs>
                <a:gs pos="50000">
                  <a:srgbClr val="FFCC00"/>
                </a:gs>
                <a:gs pos="100000">
                  <a:srgbClr val="FFCC00"/>
                </a:gs>
              </a:gsLst>
            </a:gradFill>
          </p:spPr>
          <p:style>
            <a:lnRef idx="0">
              <a:schemeClr val="lt1">
                <a:hueOff val="0"/>
                <a:satOff val="0"/>
                <a:lumOff val="0"/>
                <a:alphaOff val="0"/>
              </a:schemeClr>
            </a:lnRef>
            <a:fillRef idx="3">
              <a:schemeClr val="accent3">
                <a:hueOff val="0"/>
                <a:satOff val="0"/>
                <a:lumOff val="0"/>
                <a:alphaOff val="0"/>
              </a:schemeClr>
            </a:fillRef>
            <a:effectRef idx="3">
              <a:schemeClr val="accent3">
                <a:hueOff val="0"/>
                <a:satOff val="0"/>
                <a:lumOff val="0"/>
                <a:alphaOff val="0"/>
              </a:schemeClr>
            </a:effectRef>
            <a:fontRef idx="minor">
              <a:schemeClr val="lt1"/>
            </a:fontRef>
          </p:style>
          <p:txBody>
            <a:bodyPr/>
            <a:lstStyle/>
            <a:p>
              <a:endParaRPr lang="en-US" dirty="0"/>
            </a:p>
          </p:txBody>
        </p:sp>
        <p:sp>
          <p:nvSpPr>
            <p:cNvPr id="28" name="Rectangle: Rounded Corners 4">
              <a:extLst>
                <a:ext uri="{FF2B5EF4-FFF2-40B4-BE49-F238E27FC236}">
                  <a16:creationId xmlns:a16="http://schemas.microsoft.com/office/drawing/2014/main" id="{2CCD40DA-E508-D96F-7662-8528143775A0}"/>
                </a:ext>
              </a:extLst>
            </p:cNvPr>
            <p:cNvSpPr txBox="1"/>
            <p:nvPr/>
          </p:nvSpPr>
          <p:spPr>
            <a:xfrm>
              <a:off x="47976" y="2281245"/>
              <a:ext cx="9972035" cy="88684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52400" tIns="152400" rIns="152400" bIns="152400" numCol="1" spcCol="1270" anchor="ctr" anchorCtr="0">
              <a:noAutofit/>
            </a:bodyPr>
            <a:lstStyle/>
            <a:p>
              <a:pPr marL="0" lvl="0" indent="0" algn="l" defTabSz="1778000">
                <a:lnSpc>
                  <a:spcPct val="90000"/>
                </a:lnSpc>
                <a:spcBef>
                  <a:spcPct val="0"/>
                </a:spcBef>
                <a:spcAft>
                  <a:spcPct val="35000"/>
                </a:spcAft>
                <a:buNone/>
              </a:pPr>
              <a:r>
                <a:rPr lang="en-US" sz="4000" kern="1200" dirty="0" err="1">
                  <a:solidFill>
                    <a:schemeClr val="tx1"/>
                  </a:solidFill>
                </a:rPr>
                <a:t>Slurm</a:t>
              </a:r>
              <a:r>
                <a:rPr lang="en-US" sz="4000" kern="1200" dirty="0">
                  <a:solidFill>
                    <a:schemeClr val="tx1"/>
                  </a:solidFill>
                </a:rPr>
                <a:t> (if there’s time)</a:t>
              </a:r>
            </a:p>
          </p:txBody>
        </p:sp>
      </p:grpSp>
      <p:grpSp>
        <p:nvGrpSpPr>
          <p:cNvPr id="30" name="Group 29">
            <a:extLst>
              <a:ext uri="{FF2B5EF4-FFF2-40B4-BE49-F238E27FC236}">
                <a16:creationId xmlns:a16="http://schemas.microsoft.com/office/drawing/2014/main" id="{C448856C-684D-0FB0-625F-312F4859B0B5}"/>
              </a:ext>
            </a:extLst>
          </p:cNvPr>
          <p:cNvGrpSpPr/>
          <p:nvPr/>
        </p:nvGrpSpPr>
        <p:grpSpPr>
          <a:xfrm>
            <a:off x="836675" y="5506019"/>
            <a:ext cx="10515600" cy="474971"/>
            <a:chOff x="0" y="3368538"/>
            <a:chExt cx="10515600" cy="982800"/>
          </a:xfrm>
        </p:grpSpPr>
        <p:sp>
          <p:nvSpPr>
            <p:cNvPr id="34" name="Rectangle: Rounded Corners 33">
              <a:extLst>
                <a:ext uri="{FF2B5EF4-FFF2-40B4-BE49-F238E27FC236}">
                  <a16:creationId xmlns:a16="http://schemas.microsoft.com/office/drawing/2014/main" id="{633A8BE7-5A45-01F1-2CC7-D9D0D28E1F4B}"/>
                </a:ext>
              </a:extLst>
            </p:cNvPr>
            <p:cNvSpPr/>
            <p:nvPr/>
          </p:nvSpPr>
          <p:spPr>
            <a:xfrm>
              <a:off x="0" y="3368538"/>
              <a:ext cx="10515600" cy="982800"/>
            </a:xfrm>
            <a:prstGeom prst="roundRect">
              <a:avLst/>
            </a:prstGeom>
            <a:gradFill>
              <a:gsLst>
                <a:gs pos="0">
                  <a:srgbClr val="FF5050"/>
                </a:gs>
                <a:gs pos="50000">
                  <a:srgbClr val="CC0000"/>
                </a:gs>
                <a:gs pos="100000">
                  <a:srgbClr val="CC0000"/>
                </a:gs>
              </a:gsLst>
            </a:gradFill>
          </p:spPr>
          <p:style>
            <a:lnRef idx="0">
              <a:schemeClr val="lt1">
                <a:hueOff val="0"/>
                <a:satOff val="0"/>
                <a:lumOff val="0"/>
                <a:alphaOff val="0"/>
              </a:schemeClr>
            </a:lnRef>
            <a:fillRef idx="3">
              <a:schemeClr val="accent3">
                <a:hueOff val="0"/>
                <a:satOff val="0"/>
                <a:lumOff val="0"/>
                <a:alphaOff val="0"/>
              </a:schemeClr>
            </a:fillRef>
            <a:effectRef idx="3">
              <a:schemeClr val="accent3">
                <a:hueOff val="0"/>
                <a:satOff val="0"/>
                <a:lumOff val="0"/>
                <a:alphaOff val="0"/>
              </a:schemeClr>
            </a:effectRef>
            <a:fontRef idx="minor">
              <a:schemeClr val="lt1"/>
            </a:fontRef>
          </p:style>
          <p:txBody>
            <a:bodyPr/>
            <a:lstStyle/>
            <a:p>
              <a:endParaRPr lang="en-US" dirty="0"/>
            </a:p>
          </p:txBody>
        </p:sp>
        <p:sp>
          <p:nvSpPr>
            <p:cNvPr id="36" name="Rectangle: Rounded Corners 4">
              <a:extLst>
                <a:ext uri="{FF2B5EF4-FFF2-40B4-BE49-F238E27FC236}">
                  <a16:creationId xmlns:a16="http://schemas.microsoft.com/office/drawing/2014/main" id="{D93FAA92-EDBB-B28B-34A5-2392107F2AEC}"/>
                </a:ext>
              </a:extLst>
            </p:cNvPr>
            <p:cNvSpPr txBox="1"/>
            <p:nvPr/>
          </p:nvSpPr>
          <p:spPr>
            <a:xfrm>
              <a:off x="47976" y="3416514"/>
              <a:ext cx="9696263" cy="88684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52400" tIns="152400" rIns="152400" bIns="152400" numCol="1" spcCol="1270" anchor="ctr" anchorCtr="0">
              <a:noAutofit/>
            </a:bodyPr>
            <a:lstStyle/>
            <a:p>
              <a:pPr marL="0" lvl="0" indent="0" algn="l" defTabSz="1778000">
                <a:lnSpc>
                  <a:spcPct val="90000"/>
                </a:lnSpc>
                <a:spcBef>
                  <a:spcPct val="0"/>
                </a:spcBef>
                <a:spcAft>
                  <a:spcPct val="35000"/>
                </a:spcAft>
                <a:buNone/>
              </a:pPr>
              <a:r>
                <a:rPr lang="en-US" sz="4000" kern="1200" dirty="0">
                  <a:solidFill>
                    <a:schemeClr val="tx1"/>
                  </a:solidFill>
                </a:rPr>
                <a:t>Hacking</a:t>
              </a:r>
            </a:p>
          </p:txBody>
        </p:sp>
      </p:grpSp>
      <p:grpSp>
        <p:nvGrpSpPr>
          <p:cNvPr id="4" name="Group 3">
            <a:extLst>
              <a:ext uri="{FF2B5EF4-FFF2-40B4-BE49-F238E27FC236}">
                <a16:creationId xmlns:a16="http://schemas.microsoft.com/office/drawing/2014/main" id="{0742DAE9-D134-CBFA-07A7-91F2E303CD4F}"/>
              </a:ext>
            </a:extLst>
          </p:cNvPr>
          <p:cNvGrpSpPr/>
          <p:nvPr/>
        </p:nvGrpSpPr>
        <p:grpSpPr>
          <a:xfrm>
            <a:off x="1623317" y="2636814"/>
            <a:ext cx="9721780" cy="474974"/>
            <a:chOff x="0" y="37268"/>
            <a:chExt cx="10515600" cy="982800"/>
          </a:xfrm>
        </p:grpSpPr>
        <p:sp>
          <p:nvSpPr>
            <p:cNvPr id="5" name="Rectangle: Rounded Corners 4">
              <a:extLst>
                <a:ext uri="{FF2B5EF4-FFF2-40B4-BE49-F238E27FC236}">
                  <a16:creationId xmlns:a16="http://schemas.microsoft.com/office/drawing/2014/main" id="{2167C5D2-0F4A-D223-52B6-13DC35CA4116}"/>
                </a:ext>
              </a:extLst>
            </p:cNvPr>
            <p:cNvSpPr/>
            <p:nvPr/>
          </p:nvSpPr>
          <p:spPr>
            <a:xfrm>
              <a:off x="0" y="37268"/>
              <a:ext cx="10515600" cy="982800"/>
            </a:xfrm>
            <a:prstGeom prst="roundRect">
              <a:avLst/>
            </a:prstGeom>
            <a:gradFill>
              <a:gsLst>
                <a:gs pos="0">
                  <a:schemeClr val="tx2">
                    <a:lumMod val="50000"/>
                    <a:lumOff val="50000"/>
                  </a:schemeClr>
                </a:gs>
                <a:gs pos="50000">
                  <a:schemeClr val="tx2">
                    <a:lumMod val="50000"/>
                    <a:lumOff val="50000"/>
                  </a:schemeClr>
                </a:gs>
                <a:gs pos="100000">
                  <a:schemeClr val="tx2">
                    <a:lumMod val="25000"/>
                    <a:lumOff val="75000"/>
                  </a:schemeClr>
                </a:gs>
              </a:gsLst>
            </a:gradFill>
          </p:spPr>
          <p:style>
            <a:lnRef idx="0">
              <a:schemeClr val="lt1">
                <a:hueOff val="0"/>
                <a:satOff val="0"/>
                <a:lumOff val="0"/>
                <a:alphaOff val="0"/>
              </a:schemeClr>
            </a:lnRef>
            <a:fillRef idx="3">
              <a:schemeClr val="accent3">
                <a:hueOff val="0"/>
                <a:satOff val="0"/>
                <a:lumOff val="0"/>
                <a:alphaOff val="0"/>
              </a:schemeClr>
            </a:fillRef>
            <a:effectRef idx="3">
              <a:schemeClr val="accent3">
                <a:hueOff val="0"/>
                <a:satOff val="0"/>
                <a:lumOff val="0"/>
                <a:alphaOff val="0"/>
              </a:schemeClr>
            </a:effectRef>
            <a:fontRef idx="minor">
              <a:schemeClr val="lt1"/>
            </a:fontRef>
          </p:style>
          <p:txBody>
            <a:bodyPr/>
            <a:lstStyle/>
            <a:p>
              <a:endParaRPr lang="en-US" dirty="0"/>
            </a:p>
          </p:txBody>
        </p:sp>
        <p:sp>
          <p:nvSpPr>
            <p:cNvPr id="6" name="Rectangle: Rounded Corners 4">
              <a:extLst>
                <a:ext uri="{FF2B5EF4-FFF2-40B4-BE49-F238E27FC236}">
                  <a16:creationId xmlns:a16="http://schemas.microsoft.com/office/drawing/2014/main" id="{96782766-A12B-8DF2-D986-3641AF85E895}"/>
                </a:ext>
              </a:extLst>
            </p:cNvPr>
            <p:cNvSpPr txBox="1"/>
            <p:nvPr/>
          </p:nvSpPr>
          <p:spPr>
            <a:xfrm>
              <a:off x="47976" y="85244"/>
              <a:ext cx="9231806" cy="88684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52400" tIns="152400" rIns="152400" bIns="152400" numCol="1" spcCol="1270" anchor="ctr" anchorCtr="0">
              <a:noAutofit/>
            </a:bodyPr>
            <a:lstStyle/>
            <a:p>
              <a:pPr marL="0" lvl="0" indent="0" algn="l" defTabSz="1778000">
                <a:lnSpc>
                  <a:spcPct val="90000"/>
                </a:lnSpc>
                <a:spcBef>
                  <a:spcPct val="0"/>
                </a:spcBef>
                <a:spcAft>
                  <a:spcPct val="35000"/>
                </a:spcAft>
                <a:buNone/>
              </a:pPr>
              <a:r>
                <a:rPr lang="en-US" sz="4000" kern="1200" dirty="0">
                  <a:solidFill>
                    <a:schemeClr val="tx1"/>
                  </a:solidFill>
                </a:rPr>
                <a:t>Part I: Inside the scanner</a:t>
              </a:r>
            </a:p>
          </p:txBody>
        </p:sp>
      </p:grpSp>
      <p:grpSp>
        <p:nvGrpSpPr>
          <p:cNvPr id="7" name="Group 6">
            <a:extLst>
              <a:ext uri="{FF2B5EF4-FFF2-40B4-BE49-F238E27FC236}">
                <a16:creationId xmlns:a16="http://schemas.microsoft.com/office/drawing/2014/main" id="{16295ED6-1917-55E6-AEDF-E8EEE16F1039}"/>
              </a:ext>
            </a:extLst>
          </p:cNvPr>
          <p:cNvGrpSpPr/>
          <p:nvPr/>
        </p:nvGrpSpPr>
        <p:grpSpPr>
          <a:xfrm>
            <a:off x="1623317" y="3333862"/>
            <a:ext cx="9728958" cy="474974"/>
            <a:chOff x="0" y="37268"/>
            <a:chExt cx="10515600" cy="982800"/>
          </a:xfrm>
        </p:grpSpPr>
        <p:sp>
          <p:nvSpPr>
            <p:cNvPr id="8" name="Rectangle: Rounded Corners 7">
              <a:extLst>
                <a:ext uri="{FF2B5EF4-FFF2-40B4-BE49-F238E27FC236}">
                  <a16:creationId xmlns:a16="http://schemas.microsoft.com/office/drawing/2014/main" id="{5D9160BB-2012-9C31-4211-8AA4BB461591}"/>
                </a:ext>
              </a:extLst>
            </p:cNvPr>
            <p:cNvSpPr/>
            <p:nvPr/>
          </p:nvSpPr>
          <p:spPr>
            <a:xfrm>
              <a:off x="0" y="37268"/>
              <a:ext cx="10515600" cy="982800"/>
            </a:xfrm>
            <a:prstGeom prst="roundRect">
              <a:avLst/>
            </a:prstGeom>
            <a:gradFill>
              <a:gsLst>
                <a:gs pos="0">
                  <a:schemeClr val="accent6">
                    <a:lumMod val="60000"/>
                    <a:lumOff val="40000"/>
                  </a:schemeClr>
                </a:gs>
                <a:gs pos="50000">
                  <a:schemeClr val="accent6">
                    <a:lumMod val="60000"/>
                    <a:lumOff val="40000"/>
                  </a:schemeClr>
                </a:gs>
                <a:gs pos="100000">
                  <a:schemeClr val="accent6">
                    <a:lumMod val="40000"/>
                    <a:lumOff val="60000"/>
                  </a:schemeClr>
                </a:gs>
              </a:gsLst>
            </a:gradFill>
          </p:spPr>
          <p:style>
            <a:lnRef idx="0">
              <a:schemeClr val="lt1">
                <a:hueOff val="0"/>
                <a:satOff val="0"/>
                <a:lumOff val="0"/>
                <a:alphaOff val="0"/>
              </a:schemeClr>
            </a:lnRef>
            <a:fillRef idx="3">
              <a:schemeClr val="accent3">
                <a:hueOff val="0"/>
                <a:satOff val="0"/>
                <a:lumOff val="0"/>
                <a:alphaOff val="0"/>
              </a:schemeClr>
            </a:fillRef>
            <a:effectRef idx="3">
              <a:schemeClr val="accent3">
                <a:hueOff val="0"/>
                <a:satOff val="0"/>
                <a:lumOff val="0"/>
                <a:alphaOff val="0"/>
              </a:schemeClr>
            </a:effectRef>
            <a:fontRef idx="minor">
              <a:schemeClr val="lt1"/>
            </a:fontRef>
          </p:style>
          <p:txBody>
            <a:bodyPr/>
            <a:lstStyle/>
            <a:p>
              <a:endParaRPr lang="en-US" dirty="0"/>
            </a:p>
          </p:txBody>
        </p:sp>
        <p:sp>
          <p:nvSpPr>
            <p:cNvPr id="9" name="Rectangle: Rounded Corners 4">
              <a:extLst>
                <a:ext uri="{FF2B5EF4-FFF2-40B4-BE49-F238E27FC236}">
                  <a16:creationId xmlns:a16="http://schemas.microsoft.com/office/drawing/2014/main" id="{5A6574FE-5D20-C1C6-5204-9E6BC1C47C13}"/>
                </a:ext>
              </a:extLst>
            </p:cNvPr>
            <p:cNvSpPr txBox="1"/>
            <p:nvPr/>
          </p:nvSpPr>
          <p:spPr>
            <a:xfrm>
              <a:off x="47976" y="85244"/>
              <a:ext cx="9231806" cy="88684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52400" tIns="152400" rIns="152400" bIns="152400" numCol="1" spcCol="1270" anchor="ctr" anchorCtr="0">
              <a:noAutofit/>
            </a:bodyPr>
            <a:lstStyle/>
            <a:p>
              <a:pPr marL="0" lvl="0" indent="0" algn="l" defTabSz="1778000">
                <a:lnSpc>
                  <a:spcPct val="90000"/>
                </a:lnSpc>
                <a:spcBef>
                  <a:spcPct val="0"/>
                </a:spcBef>
                <a:spcAft>
                  <a:spcPct val="35000"/>
                </a:spcAft>
                <a:buNone/>
              </a:pPr>
              <a:r>
                <a:rPr lang="en-US" sz="4000" kern="1200" dirty="0">
                  <a:solidFill>
                    <a:schemeClr val="tx1"/>
                  </a:solidFill>
                </a:rPr>
                <a:t>Part II: Outside the scanner</a:t>
              </a:r>
            </a:p>
          </p:txBody>
        </p:sp>
      </p:grpSp>
    </p:spTree>
    <p:extLst>
      <p:ext uri="{BB962C8B-B14F-4D97-AF65-F5344CB8AC3E}">
        <p14:creationId xmlns:p14="http://schemas.microsoft.com/office/powerpoint/2010/main" val="22871544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left)">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wipe(left)">
                                      <p:cBhvr>
                                        <p:cTn id="22" dur="500"/>
                                        <p:tgtEl>
                                          <p:spTgt spid="2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wipe(left)">
                                      <p:cBhvr>
                                        <p:cTn id="27" dur="500"/>
                                        <p:tgtEl>
                                          <p:spTgt spid="25"/>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250" fill="hold"/>
                                        <p:tgtEl>
                                          <p:spTgt spid="30"/>
                                        </p:tgtEl>
                                        <p:attrNameLst>
                                          <p:attrName>ppt_x</p:attrName>
                                        </p:attrNameLst>
                                      </p:cBhvr>
                                      <p:tavLst>
                                        <p:tav tm="0">
                                          <p:val>
                                            <p:strVal val="#ppt_x"/>
                                          </p:val>
                                        </p:tav>
                                        <p:tav tm="100000">
                                          <p:val>
                                            <p:strVal val="#ppt_x"/>
                                          </p:val>
                                        </p:tav>
                                      </p:tavLst>
                                    </p:anim>
                                    <p:anim calcmode="lin" valueType="num">
                                      <p:cBhvr additive="base">
                                        <p:cTn id="33" dur="250" fill="hold"/>
                                        <p:tgtEl>
                                          <p:spTgt spid="30"/>
                                        </p:tgtEl>
                                        <p:attrNameLst>
                                          <p:attrName>ppt_y</p:attrName>
                                        </p:attrNameLst>
                                      </p:cBhvr>
                                      <p:tavLst>
                                        <p:tav tm="0">
                                          <p:val>
                                            <p:strVal val="1+#ppt_h/2"/>
                                          </p:val>
                                        </p:tav>
                                        <p:tav tm="100000">
                                          <p:val>
                                            <p:strVal val="#ppt_y"/>
                                          </p:val>
                                        </p:tav>
                                      </p:tavLst>
                                    </p:anim>
                                  </p:childTnLst>
                                </p:cTn>
                              </p:par>
                            </p:childTnLst>
                          </p:cTn>
                        </p:par>
                        <p:par>
                          <p:cTn id="34" fill="hold">
                            <p:stCondLst>
                              <p:cond delay="250"/>
                            </p:stCondLst>
                            <p:childTnLst>
                              <p:par>
                                <p:cTn id="35" presetID="32" presetClass="emph" presetSubtype="0" fill="hold" nodeType="afterEffect">
                                  <p:stCondLst>
                                    <p:cond delay="0"/>
                                  </p:stCondLst>
                                  <p:childTnLst>
                                    <p:animRot by="120000">
                                      <p:cBhvr>
                                        <p:cTn id="36" dur="75" fill="hold">
                                          <p:stCondLst>
                                            <p:cond delay="0"/>
                                          </p:stCondLst>
                                        </p:cTn>
                                        <p:tgtEl>
                                          <p:spTgt spid="30"/>
                                        </p:tgtEl>
                                        <p:attrNameLst>
                                          <p:attrName>r</p:attrName>
                                        </p:attrNameLst>
                                      </p:cBhvr>
                                    </p:animRot>
                                    <p:animRot by="-240000">
                                      <p:cBhvr>
                                        <p:cTn id="37" dur="150" fill="hold">
                                          <p:stCondLst>
                                            <p:cond delay="150"/>
                                          </p:stCondLst>
                                        </p:cTn>
                                        <p:tgtEl>
                                          <p:spTgt spid="30"/>
                                        </p:tgtEl>
                                        <p:attrNameLst>
                                          <p:attrName>r</p:attrName>
                                        </p:attrNameLst>
                                      </p:cBhvr>
                                    </p:animRot>
                                    <p:animRot by="240000">
                                      <p:cBhvr>
                                        <p:cTn id="38" dur="150" fill="hold">
                                          <p:stCondLst>
                                            <p:cond delay="300"/>
                                          </p:stCondLst>
                                        </p:cTn>
                                        <p:tgtEl>
                                          <p:spTgt spid="30"/>
                                        </p:tgtEl>
                                        <p:attrNameLst>
                                          <p:attrName>r</p:attrName>
                                        </p:attrNameLst>
                                      </p:cBhvr>
                                    </p:animRot>
                                    <p:animRot by="-240000">
                                      <p:cBhvr>
                                        <p:cTn id="39" dur="150" fill="hold">
                                          <p:stCondLst>
                                            <p:cond delay="450"/>
                                          </p:stCondLst>
                                        </p:cTn>
                                        <p:tgtEl>
                                          <p:spTgt spid="30"/>
                                        </p:tgtEl>
                                        <p:attrNameLst>
                                          <p:attrName>r</p:attrName>
                                        </p:attrNameLst>
                                      </p:cBhvr>
                                    </p:animRot>
                                    <p:animRot by="120000">
                                      <p:cBhvr>
                                        <p:cTn id="40" dur="150" fill="hold">
                                          <p:stCondLst>
                                            <p:cond delay="600"/>
                                          </p:stCondLst>
                                        </p:cTn>
                                        <p:tgtEl>
                                          <p:spTgt spid="30"/>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897C59-D771-743F-1D1A-1C95F6549BDF}"/>
              </a:ext>
            </a:extLst>
          </p:cNvPr>
          <p:cNvSpPr>
            <a:spLocks noGrp="1"/>
          </p:cNvSpPr>
          <p:nvPr>
            <p:ph type="title"/>
          </p:nvPr>
        </p:nvSpPr>
        <p:spPr/>
        <p:txBody>
          <a:bodyPr/>
          <a:lstStyle/>
          <a:p>
            <a:r>
              <a:rPr lang="en-US" dirty="0"/>
              <a:t>Quick return to K-space</a:t>
            </a:r>
          </a:p>
        </p:txBody>
      </p:sp>
      <p:sp>
        <p:nvSpPr>
          <p:cNvPr id="3" name="Content Placeholder 2">
            <a:extLst>
              <a:ext uri="{FF2B5EF4-FFF2-40B4-BE49-F238E27FC236}">
                <a16:creationId xmlns:a16="http://schemas.microsoft.com/office/drawing/2014/main" id="{95F66ACE-AF58-A8F0-BF5A-2C6DC8EB77F8}"/>
              </a:ext>
            </a:extLst>
          </p:cNvPr>
          <p:cNvSpPr>
            <a:spLocks noGrp="1"/>
          </p:cNvSpPr>
          <p:nvPr>
            <p:ph idx="1"/>
          </p:nvPr>
        </p:nvSpPr>
        <p:spPr/>
        <p:txBody>
          <a:bodyPr/>
          <a:lstStyle/>
          <a:p>
            <a:r>
              <a:rPr lang="en-US" dirty="0"/>
              <a:t>GitHub </a:t>
            </a:r>
            <a:r>
              <a:rPr lang="en-US" b="1" dirty="0"/>
              <a:t>Week3/scripts/</a:t>
            </a:r>
            <a:r>
              <a:rPr lang="en-US" b="1" dirty="0" err="1"/>
              <a:t>gradients.ipynb</a:t>
            </a:r>
            <a:r>
              <a:rPr lang="en-US" b="1" dirty="0"/>
              <a:t> </a:t>
            </a:r>
            <a:r>
              <a:rPr lang="en-US" dirty="0">
                <a:sym typeface="Wingdings" panose="05000000000000000000" pitchFamily="2" charset="2"/>
              </a:rPr>
              <a:t> Review this script!</a:t>
            </a:r>
            <a:endParaRPr lang="en-US" dirty="0"/>
          </a:p>
        </p:txBody>
      </p:sp>
      <p:pic>
        <p:nvPicPr>
          <p:cNvPr id="5" name="Picture 4">
            <a:extLst>
              <a:ext uri="{FF2B5EF4-FFF2-40B4-BE49-F238E27FC236}">
                <a16:creationId xmlns:a16="http://schemas.microsoft.com/office/drawing/2014/main" id="{979B7610-80B9-2308-04B3-B1A1F448C4AA}"/>
              </a:ext>
            </a:extLst>
          </p:cNvPr>
          <p:cNvPicPr>
            <a:picLocks noChangeAspect="1"/>
          </p:cNvPicPr>
          <p:nvPr/>
        </p:nvPicPr>
        <p:blipFill>
          <a:blip r:embed="rId2"/>
          <a:srcRect r="30071"/>
          <a:stretch>
            <a:fillRect/>
          </a:stretch>
        </p:blipFill>
        <p:spPr>
          <a:xfrm>
            <a:off x="5805267" y="2843932"/>
            <a:ext cx="5548533" cy="3048480"/>
          </a:xfrm>
          <a:prstGeom prst="rect">
            <a:avLst/>
          </a:prstGeom>
        </p:spPr>
      </p:pic>
      <p:pic>
        <p:nvPicPr>
          <p:cNvPr id="7" name="Picture 6">
            <a:extLst>
              <a:ext uri="{FF2B5EF4-FFF2-40B4-BE49-F238E27FC236}">
                <a16:creationId xmlns:a16="http://schemas.microsoft.com/office/drawing/2014/main" id="{326316D8-EF8A-760A-33BD-49185F235614}"/>
              </a:ext>
            </a:extLst>
          </p:cNvPr>
          <p:cNvPicPr>
            <a:picLocks noChangeAspect="1"/>
          </p:cNvPicPr>
          <p:nvPr/>
        </p:nvPicPr>
        <p:blipFill>
          <a:blip r:embed="rId3"/>
          <a:stretch>
            <a:fillRect/>
          </a:stretch>
        </p:blipFill>
        <p:spPr>
          <a:xfrm>
            <a:off x="1058354" y="2559382"/>
            <a:ext cx="4086451" cy="3617581"/>
          </a:xfrm>
          <a:prstGeom prst="rect">
            <a:avLst/>
          </a:prstGeom>
          <a:ln>
            <a:solidFill>
              <a:schemeClr val="tx1"/>
            </a:solidFill>
          </a:ln>
        </p:spPr>
      </p:pic>
      <p:grpSp>
        <p:nvGrpSpPr>
          <p:cNvPr id="15" name="Group 14">
            <a:extLst>
              <a:ext uri="{FF2B5EF4-FFF2-40B4-BE49-F238E27FC236}">
                <a16:creationId xmlns:a16="http://schemas.microsoft.com/office/drawing/2014/main" id="{69C53B7E-BF08-3F6B-6411-0BDB32D8E478}"/>
              </a:ext>
            </a:extLst>
          </p:cNvPr>
          <p:cNvGrpSpPr/>
          <p:nvPr/>
        </p:nvGrpSpPr>
        <p:grpSpPr>
          <a:xfrm>
            <a:off x="1356189" y="3897547"/>
            <a:ext cx="8752644" cy="664179"/>
            <a:chOff x="1356189" y="3897547"/>
            <a:chExt cx="8752644" cy="664179"/>
          </a:xfrm>
        </p:grpSpPr>
        <p:sp>
          <p:nvSpPr>
            <p:cNvPr id="9" name="Rectangle 8">
              <a:extLst>
                <a:ext uri="{FF2B5EF4-FFF2-40B4-BE49-F238E27FC236}">
                  <a16:creationId xmlns:a16="http://schemas.microsoft.com/office/drawing/2014/main" id="{CE8FD550-B684-6EE0-B469-F76B4F729CE5}"/>
                </a:ext>
              </a:extLst>
            </p:cNvPr>
            <p:cNvSpPr/>
            <p:nvPr/>
          </p:nvSpPr>
          <p:spPr>
            <a:xfrm>
              <a:off x="1356189" y="4089115"/>
              <a:ext cx="2137024" cy="472611"/>
            </a:xfrm>
            <a:prstGeom prst="rect">
              <a:avLst/>
            </a:prstGeom>
            <a:noFill/>
            <a:ln>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Arrow: Down 10">
              <a:extLst>
                <a:ext uri="{FF2B5EF4-FFF2-40B4-BE49-F238E27FC236}">
                  <a16:creationId xmlns:a16="http://schemas.microsoft.com/office/drawing/2014/main" id="{69DC63BA-DF34-8675-3037-C901FA096684}"/>
                </a:ext>
              </a:extLst>
            </p:cNvPr>
            <p:cNvSpPr/>
            <p:nvPr/>
          </p:nvSpPr>
          <p:spPr>
            <a:xfrm rot="10800000">
              <a:off x="3532053" y="4111123"/>
              <a:ext cx="362627" cy="38313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Arrow: Down 12">
              <a:extLst>
                <a:ext uri="{FF2B5EF4-FFF2-40B4-BE49-F238E27FC236}">
                  <a16:creationId xmlns:a16="http://schemas.microsoft.com/office/drawing/2014/main" id="{933689DF-A2AB-81B4-1AD2-F04CE3C3A5E5}"/>
                </a:ext>
              </a:extLst>
            </p:cNvPr>
            <p:cNvSpPr/>
            <p:nvPr/>
          </p:nvSpPr>
          <p:spPr>
            <a:xfrm rot="10800000">
              <a:off x="9746206" y="3897547"/>
              <a:ext cx="362627" cy="38313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15">
            <a:extLst>
              <a:ext uri="{FF2B5EF4-FFF2-40B4-BE49-F238E27FC236}">
                <a16:creationId xmlns:a16="http://schemas.microsoft.com/office/drawing/2014/main" id="{BB0D7052-CA55-1BBA-D7B7-EDCCF383B035}"/>
              </a:ext>
            </a:extLst>
          </p:cNvPr>
          <p:cNvGrpSpPr/>
          <p:nvPr/>
        </p:nvGrpSpPr>
        <p:grpSpPr>
          <a:xfrm>
            <a:off x="2722651" y="4186858"/>
            <a:ext cx="7716414" cy="847481"/>
            <a:chOff x="2722651" y="4186858"/>
            <a:chExt cx="7716414" cy="847481"/>
          </a:xfrm>
        </p:grpSpPr>
        <p:sp>
          <p:nvSpPr>
            <p:cNvPr id="10" name="Rectangle 9">
              <a:extLst>
                <a:ext uri="{FF2B5EF4-FFF2-40B4-BE49-F238E27FC236}">
                  <a16:creationId xmlns:a16="http://schemas.microsoft.com/office/drawing/2014/main" id="{2EA1E066-0ABA-9132-43C2-F647817E7239}"/>
                </a:ext>
              </a:extLst>
            </p:cNvPr>
            <p:cNvSpPr/>
            <p:nvPr/>
          </p:nvSpPr>
          <p:spPr>
            <a:xfrm>
              <a:off x="2722651" y="4561727"/>
              <a:ext cx="2342507" cy="472612"/>
            </a:xfrm>
            <a:prstGeom prst="rect">
              <a:avLst/>
            </a:prstGeom>
            <a:noFill/>
            <a:ln>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Arrow: Down 11">
              <a:extLst>
                <a:ext uri="{FF2B5EF4-FFF2-40B4-BE49-F238E27FC236}">
                  <a16:creationId xmlns:a16="http://schemas.microsoft.com/office/drawing/2014/main" id="{2283451D-FF8F-4EF2-328D-925337263EC6}"/>
                </a:ext>
              </a:extLst>
            </p:cNvPr>
            <p:cNvSpPr/>
            <p:nvPr/>
          </p:nvSpPr>
          <p:spPr>
            <a:xfrm rot="16200000">
              <a:off x="5102154" y="4606464"/>
              <a:ext cx="362627" cy="38313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Arrow: Down 13">
              <a:extLst>
                <a:ext uri="{FF2B5EF4-FFF2-40B4-BE49-F238E27FC236}">
                  <a16:creationId xmlns:a16="http://schemas.microsoft.com/office/drawing/2014/main" id="{8F7F3AF7-BAF4-0CD6-E108-C882C34C8CED}"/>
                </a:ext>
              </a:extLst>
            </p:cNvPr>
            <p:cNvSpPr/>
            <p:nvPr/>
          </p:nvSpPr>
          <p:spPr>
            <a:xfrm rot="16200000">
              <a:off x="10066183" y="4176604"/>
              <a:ext cx="362627" cy="38313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4882409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12D32B4-596B-75DC-A81E-E28DA0BDC0FF}"/>
              </a:ext>
            </a:extLst>
          </p:cNvPr>
          <p:cNvSpPr>
            <a:spLocks noGrp="1"/>
          </p:cNvSpPr>
          <p:nvPr>
            <p:ph type="ctrTitle"/>
          </p:nvPr>
        </p:nvSpPr>
        <p:spPr/>
        <p:txBody>
          <a:bodyPr/>
          <a:lstStyle/>
          <a:p>
            <a:r>
              <a:rPr lang="en-US" dirty="0"/>
              <a:t>MR Preprocessing</a:t>
            </a:r>
          </a:p>
        </p:txBody>
      </p:sp>
      <p:sp>
        <p:nvSpPr>
          <p:cNvPr id="5" name="Subtitle 4">
            <a:extLst>
              <a:ext uri="{FF2B5EF4-FFF2-40B4-BE49-F238E27FC236}">
                <a16:creationId xmlns:a16="http://schemas.microsoft.com/office/drawing/2014/main" id="{5A727457-8CBD-148B-E444-F35ADB129ADC}"/>
              </a:ext>
            </a:extLst>
          </p:cNvPr>
          <p:cNvSpPr>
            <a:spLocks noGrp="1"/>
          </p:cNvSpPr>
          <p:nvPr>
            <p:ph type="subTitle" idx="1"/>
          </p:nvPr>
        </p:nvSpPr>
        <p:spPr/>
        <p:txBody>
          <a:bodyPr/>
          <a:lstStyle/>
          <a:p>
            <a:r>
              <a:rPr lang="en-US" dirty="0"/>
              <a:t>Scanner </a:t>
            </a:r>
            <a:r>
              <a:rPr lang="en-US" dirty="0">
                <a:sym typeface="Wingdings" panose="05000000000000000000" pitchFamily="2" charset="2"/>
              </a:rPr>
              <a:t> Analysis</a:t>
            </a:r>
            <a:endParaRPr lang="en-US" dirty="0"/>
          </a:p>
        </p:txBody>
      </p:sp>
      <p:sp>
        <p:nvSpPr>
          <p:cNvPr id="6" name="TextBox 5">
            <a:extLst>
              <a:ext uri="{FF2B5EF4-FFF2-40B4-BE49-F238E27FC236}">
                <a16:creationId xmlns:a16="http://schemas.microsoft.com/office/drawing/2014/main" id="{740D5EC2-DE6B-127A-7F4C-D23AD96994BD}"/>
              </a:ext>
            </a:extLst>
          </p:cNvPr>
          <p:cNvSpPr txBox="1"/>
          <p:nvPr/>
        </p:nvSpPr>
        <p:spPr>
          <a:xfrm>
            <a:off x="5927558" y="3840238"/>
            <a:ext cx="336884" cy="461665"/>
          </a:xfrm>
          <a:prstGeom prst="rect">
            <a:avLst/>
          </a:prstGeom>
          <a:noFill/>
        </p:spPr>
        <p:txBody>
          <a:bodyPr wrap="square" rtlCol="0" anchor="ctr">
            <a:spAutoFit/>
          </a:bodyPr>
          <a:lstStyle/>
          <a:p>
            <a:pPr algn="ctr"/>
            <a:r>
              <a:rPr lang="en-US" sz="2400" b="1" dirty="0"/>
              <a:t>?</a:t>
            </a:r>
          </a:p>
        </p:txBody>
      </p:sp>
    </p:spTree>
    <p:extLst>
      <p:ext uri="{BB962C8B-B14F-4D97-AF65-F5344CB8AC3E}">
        <p14:creationId xmlns:p14="http://schemas.microsoft.com/office/powerpoint/2010/main" val="10652402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96826E-3349-669D-D145-4B06FE6E97F8}"/>
              </a:ext>
            </a:extLst>
          </p:cNvPr>
          <p:cNvSpPr>
            <a:spLocks noGrp="1"/>
          </p:cNvSpPr>
          <p:nvPr>
            <p:ph type="title"/>
          </p:nvPr>
        </p:nvSpPr>
        <p:spPr/>
        <p:txBody>
          <a:bodyPr/>
          <a:lstStyle/>
          <a:p>
            <a:r>
              <a:rPr lang="en-US" b="1" dirty="0"/>
              <a:t>Preamble</a:t>
            </a:r>
            <a:endParaRPr lang="en-US" dirty="0"/>
          </a:p>
        </p:txBody>
      </p:sp>
      <p:sp>
        <p:nvSpPr>
          <p:cNvPr id="3" name="Content Placeholder 2">
            <a:extLst>
              <a:ext uri="{FF2B5EF4-FFF2-40B4-BE49-F238E27FC236}">
                <a16:creationId xmlns:a16="http://schemas.microsoft.com/office/drawing/2014/main" id="{8206F58E-5969-4FE6-5599-0B8182A9AEE4}"/>
              </a:ext>
            </a:extLst>
          </p:cNvPr>
          <p:cNvSpPr>
            <a:spLocks noGrp="1"/>
          </p:cNvSpPr>
          <p:nvPr>
            <p:ph idx="1"/>
          </p:nvPr>
        </p:nvSpPr>
        <p:spPr/>
        <p:txBody>
          <a:bodyPr/>
          <a:lstStyle/>
          <a:p>
            <a:r>
              <a:rPr lang="en-US" dirty="0"/>
              <a:t>Common “types” of images</a:t>
            </a:r>
          </a:p>
          <a:p>
            <a:pPr lvl="1"/>
            <a:r>
              <a:rPr lang="en-US" dirty="0"/>
              <a:t>Structural</a:t>
            </a:r>
          </a:p>
          <a:p>
            <a:pPr lvl="1"/>
            <a:r>
              <a:rPr lang="en-US" dirty="0"/>
              <a:t>Functional</a:t>
            </a:r>
          </a:p>
          <a:p>
            <a:pPr lvl="1"/>
            <a:r>
              <a:rPr lang="en-US" dirty="0"/>
              <a:t>Field Map</a:t>
            </a:r>
          </a:p>
          <a:p>
            <a:pPr lvl="1"/>
            <a:r>
              <a:rPr lang="en-US" dirty="0"/>
              <a:t>Diffusion</a:t>
            </a:r>
          </a:p>
        </p:txBody>
      </p:sp>
      <p:pic>
        <p:nvPicPr>
          <p:cNvPr id="5" name="Picture 4">
            <a:extLst>
              <a:ext uri="{FF2B5EF4-FFF2-40B4-BE49-F238E27FC236}">
                <a16:creationId xmlns:a16="http://schemas.microsoft.com/office/drawing/2014/main" id="{4B53DDF7-4A38-DED6-FE7B-CF1452942A0A}"/>
              </a:ext>
            </a:extLst>
          </p:cNvPr>
          <p:cNvPicPr>
            <a:picLocks noChangeAspect="1"/>
          </p:cNvPicPr>
          <p:nvPr/>
        </p:nvPicPr>
        <p:blipFill>
          <a:blip r:embed="rId2"/>
          <a:srcRect l="50516" r="26425" b="81002"/>
          <a:stretch>
            <a:fillRect/>
          </a:stretch>
        </p:blipFill>
        <p:spPr>
          <a:xfrm>
            <a:off x="5928188" y="3429000"/>
            <a:ext cx="3119291" cy="1113589"/>
          </a:xfrm>
          <a:prstGeom prst="rect">
            <a:avLst/>
          </a:prstGeom>
          <a:ln>
            <a:solidFill>
              <a:schemeClr val="tx1"/>
            </a:solidFill>
          </a:ln>
        </p:spPr>
      </p:pic>
      <p:pic>
        <p:nvPicPr>
          <p:cNvPr id="6" name="Picture 5">
            <a:extLst>
              <a:ext uri="{FF2B5EF4-FFF2-40B4-BE49-F238E27FC236}">
                <a16:creationId xmlns:a16="http://schemas.microsoft.com/office/drawing/2014/main" id="{4DC4E906-BACB-1AE8-2D51-9A6A1B40EE9C}"/>
              </a:ext>
            </a:extLst>
          </p:cNvPr>
          <p:cNvPicPr>
            <a:picLocks noChangeAspect="1"/>
          </p:cNvPicPr>
          <p:nvPr/>
        </p:nvPicPr>
        <p:blipFill>
          <a:blip r:embed="rId2"/>
          <a:srcRect l="76933" b="81002"/>
          <a:stretch>
            <a:fillRect/>
          </a:stretch>
        </p:blipFill>
        <p:spPr>
          <a:xfrm>
            <a:off x="5928188" y="5167312"/>
            <a:ext cx="3120434" cy="1113589"/>
          </a:xfrm>
          <a:prstGeom prst="rect">
            <a:avLst/>
          </a:prstGeom>
          <a:ln>
            <a:solidFill>
              <a:schemeClr val="tx1"/>
            </a:solidFill>
          </a:ln>
        </p:spPr>
      </p:pic>
      <p:grpSp>
        <p:nvGrpSpPr>
          <p:cNvPr id="8" name="Group 7">
            <a:extLst>
              <a:ext uri="{FF2B5EF4-FFF2-40B4-BE49-F238E27FC236}">
                <a16:creationId xmlns:a16="http://schemas.microsoft.com/office/drawing/2014/main" id="{F92C9417-2F0D-3AF8-00A3-6A9943107432}"/>
              </a:ext>
            </a:extLst>
          </p:cNvPr>
          <p:cNvGrpSpPr/>
          <p:nvPr/>
        </p:nvGrpSpPr>
        <p:grpSpPr>
          <a:xfrm>
            <a:off x="5928189" y="1690688"/>
            <a:ext cx="3633045" cy="1108675"/>
            <a:chOff x="1520576" y="5013838"/>
            <a:chExt cx="2737301" cy="835326"/>
          </a:xfrm>
        </p:grpSpPr>
        <p:pic>
          <p:nvPicPr>
            <p:cNvPr id="4" name="Picture 3">
              <a:extLst>
                <a:ext uri="{FF2B5EF4-FFF2-40B4-BE49-F238E27FC236}">
                  <a16:creationId xmlns:a16="http://schemas.microsoft.com/office/drawing/2014/main" id="{58D7F36B-F675-3F1C-4E8C-35DC52EE2E4B}"/>
                </a:ext>
              </a:extLst>
            </p:cNvPr>
            <p:cNvPicPr>
              <a:picLocks noChangeAspect="1"/>
            </p:cNvPicPr>
            <p:nvPr/>
          </p:nvPicPr>
          <p:blipFill>
            <a:blip r:embed="rId2"/>
            <a:srcRect l="19389" r="65930" b="81002"/>
            <a:stretch>
              <a:fillRect/>
            </a:stretch>
          </p:blipFill>
          <p:spPr>
            <a:xfrm>
              <a:off x="1520576" y="5013838"/>
              <a:ext cx="1489752" cy="835326"/>
            </a:xfrm>
            <a:prstGeom prst="rect">
              <a:avLst/>
            </a:prstGeom>
            <a:ln>
              <a:solidFill>
                <a:schemeClr val="tx1"/>
              </a:solidFill>
            </a:ln>
          </p:spPr>
        </p:pic>
        <p:pic>
          <p:nvPicPr>
            <p:cNvPr id="7" name="Picture 6">
              <a:extLst>
                <a:ext uri="{FF2B5EF4-FFF2-40B4-BE49-F238E27FC236}">
                  <a16:creationId xmlns:a16="http://schemas.microsoft.com/office/drawing/2014/main" id="{C9B0FB6F-43F6-2CB0-E968-D0AA2FDCE414}"/>
                </a:ext>
              </a:extLst>
            </p:cNvPr>
            <p:cNvPicPr>
              <a:picLocks noChangeAspect="1"/>
            </p:cNvPicPr>
            <p:nvPr/>
          </p:nvPicPr>
          <p:blipFill>
            <a:blip r:embed="rId2"/>
            <a:srcRect l="37327" r="50379" b="81002"/>
            <a:stretch>
              <a:fillRect/>
            </a:stretch>
          </p:blipFill>
          <p:spPr>
            <a:xfrm>
              <a:off x="3010328" y="5013838"/>
              <a:ext cx="1247549" cy="835326"/>
            </a:xfrm>
            <a:prstGeom prst="rect">
              <a:avLst/>
            </a:prstGeom>
            <a:ln>
              <a:solidFill>
                <a:schemeClr val="tx1"/>
              </a:solidFill>
            </a:ln>
          </p:spPr>
        </p:pic>
      </p:grpSp>
      <p:pic>
        <p:nvPicPr>
          <p:cNvPr id="9" name="Google Shape;334;p31">
            <a:extLst>
              <a:ext uri="{FF2B5EF4-FFF2-40B4-BE49-F238E27FC236}">
                <a16:creationId xmlns:a16="http://schemas.microsoft.com/office/drawing/2014/main" id="{25DDE86A-D301-59E4-CBF7-48988A611659}"/>
              </a:ext>
            </a:extLst>
          </p:cNvPr>
          <p:cNvPicPr preferRelativeResize="0"/>
          <p:nvPr/>
        </p:nvPicPr>
        <p:blipFill rotWithShape="1">
          <a:blip r:embed="rId3">
            <a:alphaModFix/>
          </a:blip>
          <a:srcRect/>
          <a:stretch/>
        </p:blipFill>
        <p:spPr>
          <a:xfrm>
            <a:off x="1587562" y="4532082"/>
            <a:ext cx="2034305" cy="1644881"/>
          </a:xfrm>
          <a:prstGeom prst="rect">
            <a:avLst/>
          </a:prstGeom>
          <a:noFill/>
          <a:ln>
            <a:noFill/>
          </a:ln>
        </p:spPr>
      </p:pic>
      <p:sp>
        <p:nvSpPr>
          <p:cNvPr id="11" name="TextBox 10">
            <a:extLst>
              <a:ext uri="{FF2B5EF4-FFF2-40B4-BE49-F238E27FC236}">
                <a16:creationId xmlns:a16="http://schemas.microsoft.com/office/drawing/2014/main" id="{7DE55555-39F4-B195-4563-B67991F513D6}"/>
              </a:ext>
            </a:extLst>
          </p:cNvPr>
          <p:cNvSpPr txBox="1"/>
          <p:nvPr/>
        </p:nvSpPr>
        <p:spPr>
          <a:xfrm>
            <a:off x="1587562" y="4162750"/>
            <a:ext cx="573011" cy="369332"/>
          </a:xfrm>
          <a:prstGeom prst="rect">
            <a:avLst/>
          </a:prstGeom>
          <a:noFill/>
        </p:spPr>
        <p:txBody>
          <a:bodyPr wrap="square">
            <a:spAutoFit/>
          </a:bodyPr>
          <a:lstStyle/>
          <a:p>
            <a:r>
              <a:rPr lang="en-US" dirty="0" err="1"/>
              <a:t>dwi</a:t>
            </a:r>
            <a:endParaRPr lang="en-US" dirty="0"/>
          </a:p>
        </p:txBody>
      </p:sp>
      <p:sp>
        <p:nvSpPr>
          <p:cNvPr id="12" name="TextBox 11">
            <a:extLst>
              <a:ext uri="{FF2B5EF4-FFF2-40B4-BE49-F238E27FC236}">
                <a16:creationId xmlns:a16="http://schemas.microsoft.com/office/drawing/2014/main" id="{4120B806-139D-EC96-D99C-DDD92236DF03}"/>
              </a:ext>
            </a:extLst>
          </p:cNvPr>
          <p:cNvSpPr txBox="1"/>
          <p:nvPr/>
        </p:nvSpPr>
        <p:spPr>
          <a:xfrm>
            <a:off x="5809494" y="1326141"/>
            <a:ext cx="1033095" cy="369332"/>
          </a:xfrm>
          <a:prstGeom prst="rect">
            <a:avLst/>
          </a:prstGeom>
          <a:noFill/>
        </p:spPr>
        <p:txBody>
          <a:bodyPr wrap="square">
            <a:spAutoFit/>
          </a:bodyPr>
          <a:lstStyle/>
          <a:p>
            <a:r>
              <a:rPr lang="en-US" dirty="0" err="1"/>
              <a:t>anat</a:t>
            </a:r>
            <a:endParaRPr lang="en-US" dirty="0"/>
          </a:p>
        </p:txBody>
      </p:sp>
      <p:sp>
        <p:nvSpPr>
          <p:cNvPr id="13" name="TextBox 12">
            <a:extLst>
              <a:ext uri="{FF2B5EF4-FFF2-40B4-BE49-F238E27FC236}">
                <a16:creationId xmlns:a16="http://schemas.microsoft.com/office/drawing/2014/main" id="{2AAB29A8-7382-8AE0-7284-764FC7F1087A}"/>
              </a:ext>
            </a:extLst>
          </p:cNvPr>
          <p:cNvSpPr txBox="1"/>
          <p:nvPr/>
        </p:nvSpPr>
        <p:spPr>
          <a:xfrm>
            <a:off x="5840317" y="3054754"/>
            <a:ext cx="1033095" cy="369332"/>
          </a:xfrm>
          <a:prstGeom prst="rect">
            <a:avLst/>
          </a:prstGeom>
          <a:noFill/>
        </p:spPr>
        <p:txBody>
          <a:bodyPr wrap="square">
            <a:spAutoFit/>
          </a:bodyPr>
          <a:lstStyle/>
          <a:p>
            <a:r>
              <a:rPr lang="en-US" dirty="0" err="1"/>
              <a:t>func</a:t>
            </a:r>
            <a:endParaRPr lang="en-US" dirty="0"/>
          </a:p>
        </p:txBody>
      </p:sp>
      <p:sp>
        <p:nvSpPr>
          <p:cNvPr id="14" name="TextBox 13">
            <a:extLst>
              <a:ext uri="{FF2B5EF4-FFF2-40B4-BE49-F238E27FC236}">
                <a16:creationId xmlns:a16="http://schemas.microsoft.com/office/drawing/2014/main" id="{21F00365-E548-3ECC-0317-6510C0F30F85}"/>
              </a:ext>
            </a:extLst>
          </p:cNvPr>
          <p:cNvSpPr txBox="1"/>
          <p:nvPr/>
        </p:nvSpPr>
        <p:spPr>
          <a:xfrm>
            <a:off x="5840317" y="4794805"/>
            <a:ext cx="1033095" cy="369332"/>
          </a:xfrm>
          <a:prstGeom prst="rect">
            <a:avLst/>
          </a:prstGeom>
          <a:noFill/>
        </p:spPr>
        <p:txBody>
          <a:bodyPr wrap="square">
            <a:spAutoFit/>
          </a:bodyPr>
          <a:lstStyle/>
          <a:p>
            <a:r>
              <a:rPr lang="en-US" dirty="0" err="1"/>
              <a:t>fmap</a:t>
            </a:r>
            <a:endParaRPr lang="en-US" dirty="0"/>
          </a:p>
        </p:txBody>
      </p:sp>
      <p:grpSp>
        <p:nvGrpSpPr>
          <p:cNvPr id="19" name="Group 18">
            <a:extLst>
              <a:ext uri="{FF2B5EF4-FFF2-40B4-BE49-F238E27FC236}">
                <a16:creationId xmlns:a16="http://schemas.microsoft.com/office/drawing/2014/main" id="{2E425E14-7D20-A3B9-F98A-C382997C10E2}"/>
              </a:ext>
            </a:extLst>
          </p:cNvPr>
          <p:cNvGrpSpPr/>
          <p:nvPr/>
        </p:nvGrpSpPr>
        <p:grpSpPr>
          <a:xfrm>
            <a:off x="9904286" y="1690687"/>
            <a:ext cx="1438615" cy="4590214"/>
            <a:chOff x="9904286" y="1690687"/>
            <a:chExt cx="1438615" cy="4590214"/>
          </a:xfrm>
        </p:grpSpPr>
        <p:sp>
          <p:nvSpPr>
            <p:cNvPr id="15" name="Right Brace 14">
              <a:extLst>
                <a:ext uri="{FF2B5EF4-FFF2-40B4-BE49-F238E27FC236}">
                  <a16:creationId xmlns:a16="http://schemas.microsoft.com/office/drawing/2014/main" id="{468556C6-B9F6-D83A-2401-5662EE87A425}"/>
                </a:ext>
              </a:extLst>
            </p:cNvPr>
            <p:cNvSpPr/>
            <p:nvPr/>
          </p:nvSpPr>
          <p:spPr>
            <a:xfrm>
              <a:off x="9904287" y="1690687"/>
              <a:ext cx="493159" cy="1108675"/>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6" name="Right Brace 15">
              <a:extLst>
                <a:ext uri="{FF2B5EF4-FFF2-40B4-BE49-F238E27FC236}">
                  <a16:creationId xmlns:a16="http://schemas.microsoft.com/office/drawing/2014/main" id="{796DB15F-75AE-780C-7FC1-4C22D73D54B3}"/>
                </a:ext>
              </a:extLst>
            </p:cNvPr>
            <p:cNvSpPr/>
            <p:nvPr/>
          </p:nvSpPr>
          <p:spPr>
            <a:xfrm>
              <a:off x="9904286" y="3424086"/>
              <a:ext cx="493159" cy="2856815"/>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7" name="TextBox 16">
              <a:extLst>
                <a:ext uri="{FF2B5EF4-FFF2-40B4-BE49-F238E27FC236}">
                  <a16:creationId xmlns:a16="http://schemas.microsoft.com/office/drawing/2014/main" id="{1F4F948B-7F19-455D-4AD4-5ED6052E7E29}"/>
                </a:ext>
              </a:extLst>
            </p:cNvPr>
            <p:cNvSpPr txBox="1"/>
            <p:nvPr/>
          </p:nvSpPr>
          <p:spPr>
            <a:xfrm>
              <a:off x="10397445" y="2060358"/>
              <a:ext cx="789062" cy="369332"/>
            </a:xfrm>
            <a:prstGeom prst="rect">
              <a:avLst/>
            </a:prstGeom>
            <a:noFill/>
          </p:spPr>
          <p:txBody>
            <a:bodyPr wrap="none" rtlCol="0">
              <a:spAutoFit/>
            </a:bodyPr>
            <a:lstStyle/>
            <a:p>
              <a:r>
                <a:rPr lang="en-US" dirty="0"/>
                <a:t>Hi-res</a:t>
              </a:r>
            </a:p>
          </p:txBody>
        </p:sp>
        <p:sp>
          <p:nvSpPr>
            <p:cNvPr id="18" name="TextBox 17">
              <a:extLst>
                <a:ext uri="{FF2B5EF4-FFF2-40B4-BE49-F238E27FC236}">
                  <a16:creationId xmlns:a16="http://schemas.microsoft.com/office/drawing/2014/main" id="{18A74FA0-295F-E86A-EBA4-A04B9E01B7BF}"/>
                </a:ext>
              </a:extLst>
            </p:cNvPr>
            <p:cNvSpPr txBox="1"/>
            <p:nvPr/>
          </p:nvSpPr>
          <p:spPr>
            <a:xfrm>
              <a:off x="10364748" y="4667827"/>
              <a:ext cx="978153" cy="369332"/>
            </a:xfrm>
            <a:prstGeom prst="rect">
              <a:avLst/>
            </a:prstGeom>
            <a:noFill/>
          </p:spPr>
          <p:txBody>
            <a:bodyPr wrap="none" rtlCol="0">
              <a:spAutoFit/>
            </a:bodyPr>
            <a:lstStyle/>
            <a:p>
              <a:r>
                <a:rPr lang="en-US" dirty="0"/>
                <a:t>Low-res</a:t>
              </a:r>
            </a:p>
          </p:txBody>
        </p:sp>
      </p:grpSp>
    </p:spTree>
    <p:extLst>
      <p:ext uri="{BB962C8B-B14F-4D97-AF65-F5344CB8AC3E}">
        <p14:creationId xmlns:p14="http://schemas.microsoft.com/office/powerpoint/2010/main" val="10083825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additive="base">
                                        <p:cTn id="25" dur="500" fill="hold"/>
                                        <p:tgtEl>
                                          <p:spTgt spid="5"/>
                                        </p:tgtEl>
                                        <p:attrNameLst>
                                          <p:attrName>ppt_x</p:attrName>
                                        </p:attrNameLst>
                                      </p:cBhvr>
                                      <p:tavLst>
                                        <p:tav tm="0">
                                          <p:val>
                                            <p:strVal val="#ppt_x"/>
                                          </p:val>
                                        </p:tav>
                                        <p:tav tm="100000">
                                          <p:val>
                                            <p:strVal val="#ppt_x"/>
                                          </p:val>
                                        </p:tav>
                                      </p:tavLst>
                                    </p:anim>
                                    <p:anim calcmode="lin" valueType="num">
                                      <p:cBhvr additive="base">
                                        <p:cTn id="2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6"/>
                                        </p:tgtEl>
                                        <p:attrNameLst>
                                          <p:attrName>style.visibility</p:attrName>
                                        </p:attrNameLst>
                                      </p:cBhvr>
                                      <p:to>
                                        <p:strVal val="visible"/>
                                      </p:to>
                                    </p:set>
                                    <p:anim calcmode="lin" valueType="num">
                                      <p:cBhvr additive="base">
                                        <p:cTn id="37" dur="500" fill="hold"/>
                                        <p:tgtEl>
                                          <p:spTgt spid="6"/>
                                        </p:tgtEl>
                                        <p:attrNameLst>
                                          <p:attrName>ppt_x</p:attrName>
                                        </p:attrNameLst>
                                      </p:cBhvr>
                                      <p:tavLst>
                                        <p:tav tm="0">
                                          <p:val>
                                            <p:strVal val="#ppt_x"/>
                                          </p:val>
                                        </p:tav>
                                        <p:tav tm="100000">
                                          <p:val>
                                            <p:strVal val="#ppt_x"/>
                                          </p:val>
                                        </p:tav>
                                      </p:tavLst>
                                    </p:anim>
                                    <p:anim calcmode="lin" valueType="num">
                                      <p:cBhvr additive="base">
                                        <p:cTn id="3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4" end="4"/>
                                            </p:txEl>
                                          </p:spTgt>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1"/>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9"/>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0" presetClass="exit" presetSubtype="0" fill="hold" nodeType="clickEffect">
                                  <p:stCondLst>
                                    <p:cond delay="0"/>
                                  </p:stCondLst>
                                  <p:childTnLst>
                                    <p:animEffect transition="out" filter="fade">
                                      <p:cBhvr>
                                        <p:cTn id="50" dur="500"/>
                                        <p:tgtEl>
                                          <p:spTgt spid="3">
                                            <p:txEl>
                                              <p:pRg st="4" end="4"/>
                                            </p:txEl>
                                          </p:spTgt>
                                        </p:tgtEl>
                                      </p:cBhvr>
                                    </p:animEffect>
                                    <p:set>
                                      <p:cBhvr>
                                        <p:cTn id="51" dur="1" fill="hold">
                                          <p:stCondLst>
                                            <p:cond delay="499"/>
                                          </p:stCondLst>
                                        </p:cTn>
                                        <p:tgtEl>
                                          <p:spTgt spid="3">
                                            <p:txEl>
                                              <p:pRg st="4" end="4"/>
                                            </p:txEl>
                                          </p:spTgt>
                                        </p:tgtEl>
                                        <p:attrNameLst>
                                          <p:attrName>style.visibility</p:attrName>
                                        </p:attrNameLst>
                                      </p:cBhvr>
                                      <p:to>
                                        <p:strVal val="hidden"/>
                                      </p:to>
                                    </p:set>
                                  </p:childTnLst>
                                </p:cTn>
                              </p:par>
                            </p:childTnLst>
                          </p:cTn>
                        </p:par>
                      </p:childTnLst>
                    </p:cTn>
                  </p:par>
                  <p:par>
                    <p:cTn id="52" fill="hold">
                      <p:stCondLst>
                        <p:cond delay="indefinite"/>
                      </p:stCondLst>
                      <p:childTnLst>
                        <p:par>
                          <p:cTn id="53" fill="hold">
                            <p:stCondLst>
                              <p:cond delay="0"/>
                            </p:stCondLst>
                            <p:childTnLst>
                              <p:par>
                                <p:cTn id="54" presetID="31" presetClass="exit" presetSubtype="0" fill="hold" nodeType="clickEffect">
                                  <p:stCondLst>
                                    <p:cond delay="0"/>
                                  </p:stCondLst>
                                  <p:childTnLst>
                                    <p:anim calcmode="lin" valueType="num">
                                      <p:cBhvr>
                                        <p:cTn id="55" dur="1000"/>
                                        <p:tgtEl>
                                          <p:spTgt spid="9"/>
                                        </p:tgtEl>
                                        <p:attrNameLst>
                                          <p:attrName>ppt_w</p:attrName>
                                        </p:attrNameLst>
                                      </p:cBhvr>
                                      <p:tavLst>
                                        <p:tav tm="0">
                                          <p:val>
                                            <p:strVal val="ppt_w"/>
                                          </p:val>
                                        </p:tav>
                                        <p:tav tm="100000">
                                          <p:val>
                                            <p:fltVal val="0"/>
                                          </p:val>
                                        </p:tav>
                                      </p:tavLst>
                                    </p:anim>
                                    <p:anim calcmode="lin" valueType="num">
                                      <p:cBhvr>
                                        <p:cTn id="56" dur="1000"/>
                                        <p:tgtEl>
                                          <p:spTgt spid="9"/>
                                        </p:tgtEl>
                                        <p:attrNameLst>
                                          <p:attrName>ppt_h</p:attrName>
                                        </p:attrNameLst>
                                      </p:cBhvr>
                                      <p:tavLst>
                                        <p:tav tm="0">
                                          <p:val>
                                            <p:strVal val="ppt_h"/>
                                          </p:val>
                                        </p:tav>
                                        <p:tav tm="100000">
                                          <p:val>
                                            <p:fltVal val="0"/>
                                          </p:val>
                                        </p:tav>
                                      </p:tavLst>
                                    </p:anim>
                                    <p:anim calcmode="lin" valueType="num">
                                      <p:cBhvr>
                                        <p:cTn id="57" dur="1000"/>
                                        <p:tgtEl>
                                          <p:spTgt spid="9"/>
                                        </p:tgtEl>
                                        <p:attrNameLst>
                                          <p:attrName>style.rotation</p:attrName>
                                        </p:attrNameLst>
                                      </p:cBhvr>
                                      <p:tavLst>
                                        <p:tav tm="0">
                                          <p:val>
                                            <p:fltVal val="0"/>
                                          </p:val>
                                        </p:tav>
                                        <p:tav tm="100000">
                                          <p:val>
                                            <p:fltVal val="90"/>
                                          </p:val>
                                        </p:tav>
                                      </p:tavLst>
                                    </p:anim>
                                    <p:animEffect transition="out" filter="fade">
                                      <p:cBhvr>
                                        <p:cTn id="58" dur="1000"/>
                                        <p:tgtEl>
                                          <p:spTgt spid="9"/>
                                        </p:tgtEl>
                                      </p:cBhvr>
                                    </p:animEffect>
                                    <p:set>
                                      <p:cBhvr>
                                        <p:cTn id="59" dur="1" fill="hold">
                                          <p:stCondLst>
                                            <p:cond delay="999"/>
                                          </p:stCondLst>
                                        </p:cTn>
                                        <p:tgtEl>
                                          <p:spTgt spid="9"/>
                                        </p:tgtEl>
                                        <p:attrNameLst>
                                          <p:attrName>style.visibility</p:attrName>
                                        </p:attrNameLst>
                                      </p:cBhvr>
                                      <p:to>
                                        <p:strVal val="hidden"/>
                                      </p:to>
                                    </p:set>
                                  </p:childTnLst>
                                </p:cTn>
                              </p:par>
                              <p:par>
                                <p:cTn id="60" presetID="31" presetClass="exit" presetSubtype="0" fill="hold" grpId="1" nodeType="withEffect">
                                  <p:stCondLst>
                                    <p:cond delay="0"/>
                                  </p:stCondLst>
                                  <p:childTnLst>
                                    <p:anim calcmode="lin" valueType="num">
                                      <p:cBhvr>
                                        <p:cTn id="61" dur="1000"/>
                                        <p:tgtEl>
                                          <p:spTgt spid="11"/>
                                        </p:tgtEl>
                                        <p:attrNameLst>
                                          <p:attrName>ppt_w</p:attrName>
                                        </p:attrNameLst>
                                      </p:cBhvr>
                                      <p:tavLst>
                                        <p:tav tm="0">
                                          <p:val>
                                            <p:strVal val="ppt_w"/>
                                          </p:val>
                                        </p:tav>
                                        <p:tav tm="100000">
                                          <p:val>
                                            <p:fltVal val="0"/>
                                          </p:val>
                                        </p:tav>
                                      </p:tavLst>
                                    </p:anim>
                                    <p:anim calcmode="lin" valueType="num">
                                      <p:cBhvr>
                                        <p:cTn id="62" dur="1000"/>
                                        <p:tgtEl>
                                          <p:spTgt spid="11"/>
                                        </p:tgtEl>
                                        <p:attrNameLst>
                                          <p:attrName>ppt_h</p:attrName>
                                        </p:attrNameLst>
                                      </p:cBhvr>
                                      <p:tavLst>
                                        <p:tav tm="0">
                                          <p:val>
                                            <p:strVal val="ppt_h"/>
                                          </p:val>
                                        </p:tav>
                                        <p:tav tm="100000">
                                          <p:val>
                                            <p:fltVal val="0"/>
                                          </p:val>
                                        </p:tav>
                                      </p:tavLst>
                                    </p:anim>
                                    <p:anim calcmode="lin" valueType="num">
                                      <p:cBhvr>
                                        <p:cTn id="63" dur="1000"/>
                                        <p:tgtEl>
                                          <p:spTgt spid="11"/>
                                        </p:tgtEl>
                                        <p:attrNameLst>
                                          <p:attrName>style.rotation</p:attrName>
                                        </p:attrNameLst>
                                      </p:cBhvr>
                                      <p:tavLst>
                                        <p:tav tm="0">
                                          <p:val>
                                            <p:fltVal val="0"/>
                                          </p:val>
                                        </p:tav>
                                        <p:tav tm="100000">
                                          <p:val>
                                            <p:fltVal val="90"/>
                                          </p:val>
                                        </p:tav>
                                      </p:tavLst>
                                    </p:anim>
                                    <p:animEffect transition="out" filter="fade">
                                      <p:cBhvr>
                                        <p:cTn id="64" dur="1000"/>
                                        <p:tgtEl>
                                          <p:spTgt spid="11"/>
                                        </p:tgtEl>
                                      </p:cBhvr>
                                    </p:animEffect>
                                    <p:set>
                                      <p:cBhvr>
                                        <p:cTn id="65" dur="1" fill="hold">
                                          <p:stCondLst>
                                            <p:cond delay="999"/>
                                          </p:stCondLst>
                                        </p:cTn>
                                        <p:tgtEl>
                                          <p:spTgt spid="11"/>
                                        </p:tgtEl>
                                        <p:attrNameLst>
                                          <p:attrName>style.visibility</p:attrName>
                                        </p:attrNameLst>
                                      </p:cBhvr>
                                      <p:to>
                                        <p:strVal val="hidden"/>
                                      </p:to>
                                    </p:se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nodeType="clickEffect">
                                  <p:stCondLst>
                                    <p:cond delay="0"/>
                                  </p:stCondLst>
                                  <p:childTnLst>
                                    <p:set>
                                      <p:cBhvr>
                                        <p:cTn id="69" dur="1" fill="hold">
                                          <p:stCondLst>
                                            <p:cond delay="0"/>
                                          </p:stCondLst>
                                        </p:cTn>
                                        <p:tgtEl>
                                          <p:spTgt spid="19"/>
                                        </p:tgtEl>
                                        <p:attrNameLst>
                                          <p:attrName>style.visibility</p:attrName>
                                        </p:attrNameLst>
                                      </p:cBhvr>
                                      <p:to>
                                        <p:strVal val="visible"/>
                                      </p:to>
                                    </p:set>
                                    <p:animEffect transition="in" filter="fade">
                                      <p:cBhvr>
                                        <p:cTn id="70"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1" grpId="1"/>
      <p:bldP spid="12" grpId="0"/>
      <p:bldP spid="13" grpId="0"/>
      <p:bldP spid="1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5734DEC-B71B-F1D5-A768-3F21B78272DD}"/>
              </a:ext>
            </a:extLst>
          </p:cNvPr>
          <p:cNvSpPr>
            <a:spLocks noGrp="1"/>
          </p:cNvSpPr>
          <p:nvPr>
            <p:ph type="title"/>
          </p:nvPr>
        </p:nvSpPr>
        <p:spPr/>
        <p:txBody>
          <a:bodyPr/>
          <a:lstStyle/>
          <a:p>
            <a:r>
              <a:rPr lang="en-US" b="1" dirty="0"/>
              <a:t>Part I</a:t>
            </a:r>
            <a:r>
              <a:rPr lang="en-US" dirty="0"/>
              <a:t>: What the scanner does</a:t>
            </a:r>
          </a:p>
        </p:txBody>
      </p:sp>
      <p:sp>
        <p:nvSpPr>
          <p:cNvPr id="5" name="Content Placeholder 4">
            <a:extLst>
              <a:ext uri="{FF2B5EF4-FFF2-40B4-BE49-F238E27FC236}">
                <a16:creationId xmlns:a16="http://schemas.microsoft.com/office/drawing/2014/main" id="{E7B577B6-8FC6-782D-7646-FBED3E103014}"/>
              </a:ext>
            </a:extLst>
          </p:cNvPr>
          <p:cNvSpPr>
            <a:spLocks noGrp="1"/>
          </p:cNvSpPr>
          <p:nvPr>
            <p:ph idx="1"/>
          </p:nvPr>
        </p:nvSpPr>
        <p:spPr/>
        <p:txBody>
          <a:bodyPr/>
          <a:lstStyle/>
          <a:p>
            <a:pPr marL="0" indent="0">
              <a:buNone/>
            </a:pPr>
            <a:r>
              <a:rPr lang="en-US" dirty="0"/>
              <a:t>Fourier reconstruction from raw K-space</a:t>
            </a:r>
          </a:p>
          <a:p>
            <a:r>
              <a:rPr lang="en-US" dirty="0"/>
              <a:t>Translates frequency-encoded data to spatial domain</a:t>
            </a:r>
          </a:p>
        </p:txBody>
      </p:sp>
      <p:pic>
        <p:nvPicPr>
          <p:cNvPr id="1027" name="Picture 3" descr="K-space as FT">
            <a:extLst>
              <a:ext uri="{FF2B5EF4-FFF2-40B4-BE49-F238E27FC236}">
                <a16:creationId xmlns:a16="http://schemas.microsoft.com/office/drawing/2014/main" id="{879552E7-009C-744A-1091-A033CBEEF38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63178" y="2990369"/>
            <a:ext cx="7865643" cy="3186594"/>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9">
            <a:extLst>
              <a:ext uri="{FF2B5EF4-FFF2-40B4-BE49-F238E27FC236}">
                <a16:creationId xmlns:a16="http://schemas.microsoft.com/office/drawing/2014/main" id="{723C9C9F-24B7-D733-4BB4-753431EEF6BA}"/>
              </a:ext>
            </a:extLst>
          </p:cNvPr>
          <p:cNvSpPr/>
          <p:nvPr/>
        </p:nvSpPr>
        <p:spPr>
          <a:xfrm>
            <a:off x="5410199" y="2990370"/>
            <a:ext cx="4618621" cy="318659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rPr>
              <a:t>In K-space, spatial information is </a:t>
            </a:r>
            <a:r>
              <a:rPr lang="en-US" sz="3600" i="1" dirty="0">
                <a:solidFill>
                  <a:schemeClr val="tx1"/>
                </a:solidFill>
              </a:rPr>
              <a:t>distributed</a:t>
            </a:r>
          </a:p>
        </p:txBody>
      </p:sp>
    </p:spTree>
    <p:extLst>
      <p:ext uri="{BB962C8B-B14F-4D97-AF65-F5344CB8AC3E}">
        <p14:creationId xmlns:p14="http://schemas.microsoft.com/office/powerpoint/2010/main" val="17832400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0"/>
                                        </p:tgtEl>
                                      </p:cBhvr>
                                    </p:animEffect>
                                    <p:set>
                                      <p:cBhvr>
                                        <p:cTn id="7" dur="1" fill="hold">
                                          <p:stCondLst>
                                            <p:cond delay="499"/>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15FCCA-9B91-783A-8C32-DC14A65D206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9F01CC8-4331-6554-35DE-CE117FC4BF25}"/>
              </a:ext>
            </a:extLst>
          </p:cNvPr>
          <p:cNvSpPr>
            <a:spLocks noGrp="1"/>
          </p:cNvSpPr>
          <p:nvPr>
            <p:ph type="title"/>
          </p:nvPr>
        </p:nvSpPr>
        <p:spPr/>
        <p:txBody>
          <a:bodyPr/>
          <a:lstStyle/>
          <a:p>
            <a:r>
              <a:rPr lang="en-US" b="1" dirty="0"/>
              <a:t>Part I</a:t>
            </a:r>
            <a:r>
              <a:rPr lang="en-US" dirty="0"/>
              <a:t>: What the scanner does</a:t>
            </a:r>
          </a:p>
        </p:txBody>
      </p:sp>
      <p:sp>
        <p:nvSpPr>
          <p:cNvPr id="5" name="Content Placeholder 4">
            <a:extLst>
              <a:ext uri="{FF2B5EF4-FFF2-40B4-BE49-F238E27FC236}">
                <a16:creationId xmlns:a16="http://schemas.microsoft.com/office/drawing/2014/main" id="{5AEEEBD3-FC1C-6843-BA7F-D097F5C4709A}"/>
              </a:ext>
            </a:extLst>
          </p:cNvPr>
          <p:cNvSpPr>
            <a:spLocks noGrp="1"/>
          </p:cNvSpPr>
          <p:nvPr>
            <p:ph idx="1"/>
          </p:nvPr>
        </p:nvSpPr>
        <p:spPr/>
        <p:txBody>
          <a:bodyPr/>
          <a:lstStyle/>
          <a:p>
            <a:pPr marL="0" indent="0">
              <a:buNone/>
            </a:pPr>
            <a:r>
              <a:rPr lang="en-US" dirty="0"/>
              <a:t>Gradient-non-linearity (GNL) warp correction</a:t>
            </a:r>
          </a:p>
          <a:p>
            <a:r>
              <a:rPr lang="en-US" dirty="0"/>
              <a:t>“</a:t>
            </a:r>
            <a:r>
              <a:rPr lang="en-US" dirty="0" err="1"/>
              <a:t>NonlinearGradientCorrection</a:t>
            </a:r>
            <a:r>
              <a:rPr lang="en-US" dirty="0"/>
              <a:t> == true” </a:t>
            </a:r>
            <a:r>
              <a:rPr lang="en-US" i="1" dirty="0"/>
              <a:t>usually</a:t>
            </a:r>
            <a:r>
              <a:rPr lang="en-US" dirty="0"/>
              <a:t> by default</a:t>
            </a:r>
          </a:p>
        </p:txBody>
      </p:sp>
      <p:grpSp>
        <p:nvGrpSpPr>
          <p:cNvPr id="2082" name="Group 2081">
            <a:extLst>
              <a:ext uri="{FF2B5EF4-FFF2-40B4-BE49-F238E27FC236}">
                <a16:creationId xmlns:a16="http://schemas.microsoft.com/office/drawing/2014/main" id="{CB265912-0328-7DEE-DAC0-648D9D1239FF}"/>
              </a:ext>
            </a:extLst>
          </p:cNvPr>
          <p:cNvGrpSpPr/>
          <p:nvPr/>
        </p:nvGrpSpPr>
        <p:grpSpPr>
          <a:xfrm>
            <a:off x="4994097" y="3589511"/>
            <a:ext cx="2203806" cy="2231287"/>
            <a:chOff x="4994094" y="3624031"/>
            <a:chExt cx="2203806" cy="2231287"/>
          </a:xfrm>
        </p:grpSpPr>
        <p:sp>
          <p:nvSpPr>
            <p:cNvPr id="3" name="Oval 2">
              <a:extLst>
                <a:ext uri="{FF2B5EF4-FFF2-40B4-BE49-F238E27FC236}">
                  <a16:creationId xmlns:a16="http://schemas.microsoft.com/office/drawing/2014/main" id="{5AFB6DE8-9C2E-4BB0-57D1-E17E5C2FBC2E}"/>
                </a:ext>
              </a:extLst>
            </p:cNvPr>
            <p:cNvSpPr/>
            <p:nvPr/>
          </p:nvSpPr>
          <p:spPr>
            <a:xfrm rot="5400000">
              <a:off x="4980353" y="3637772"/>
              <a:ext cx="2231287" cy="2203806"/>
            </a:xfrm>
            <a:prstGeom prst="ellipse">
              <a:avLst/>
            </a:prstGeom>
            <a:gradFill>
              <a:gsLst>
                <a:gs pos="0">
                  <a:srgbClr val="3333FF"/>
                </a:gs>
                <a:gs pos="25000">
                  <a:srgbClr val="6699FF"/>
                </a:gs>
                <a:gs pos="51000">
                  <a:srgbClr val="FFFFFF"/>
                </a:gs>
                <a:gs pos="100000">
                  <a:srgbClr val="FFFF00"/>
                </a:gs>
                <a:gs pos="75000">
                  <a:srgbClr val="FFFF99"/>
                </a:gs>
              </a:gsLst>
              <a:lin ang="5400000" scaled="1"/>
            </a:grad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1" name="Group 30">
              <a:extLst>
                <a:ext uri="{FF2B5EF4-FFF2-40B4-BE49-F238E27FC236}">
                  <a16:creationId xmlns:a16="http://schemas.microsoft.com/office/drawing/2014/main" id="{0F56C3BB-D256-8610-DC69-6274A2E7D04A}"/>
                </a:ext>
              </a:extLst>
            </p:cNvPr>
            <p:cNvGrpSpPr/>
            <p:nvPr/>
          </p:nvGrpSpPr>
          <p:grpSpPr>
            <a:xfrm>
              <a:off x="5094268" y="3977672"/>
              <a:ext cx="2003461" cy="1524000"/>
              <a:chOff x="7431881" y="3946680"/>
              <a:chExt cx="2240688" cy="1524000"/>
            </a:xfrm>
          </p:grpSpPr>
          <p:cxnSp>
            <p:nvCxnSpPr>
              <p:cNvPr id="8" name="Straight Connector 7">
                <a:extLst>
                  <a:ext uri="{FF2B5EF4-FFF2-40B4-BE49-F238E27FC236}">
                    <a16:creationId xmlns:a16="http://schemas.microsoft.com/office/drawing/2014/main" id="{7FFE1E4D-E380-FA36-45C7-2FEB56026595}"/>
                  </a:ext>
                </a:extLst>
              </p:cNvPr>
              <p:cNvCxnSpPr>
                <a:cxnSpLocks/>
              </p:cNvCxnSpPr>
              <p:nvPr/>
            </p:nvCxnSpPr>
            <p:spPr>
              <a:xfrm flipV="1">
                <a:off x="7431881" y="4701573"/>
                <a:ext cx="2240688" cy="1"/>
              </a:xfrm>
              <a:prstGeom prst="line">
                <a:avLst/>
              </a:prstGeom>
              <a:ln w="38100" cap="sq" cmpd="sng">
                <a:solidFill>
                  <a:schemeClr val="tx1">
                    <a:alpha val="50000"/>
                  </a:schemeClr>
                </a:solidFill>
                <a:prstDash val="solid"/>
                <a:round/>
                <a:headEnd type="triangle" w="med" len="sm"/>
                <a:tailEnd type="none" w="med" len="med"/>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527CAB07-0EAE-96D7-0D46-7F2D24CED7BF}"/>
                  </a:ext>
                </a:extLst>
              </p:cNvPr>
              <p:cNvCxnSpPr>
                <a:cxnSpLocks/>
              </p:cNvCxnSpPr>
              <p:nvPr/>
            </p:nvCxnSpPr>
            <p:spPr>
              <a:xfrm>
                <a:off x="7746043" y="5470680"/>
                <a:ext cx="1599173" cy="0"/>
              </a:xfrm>
              <a:prstGeom prst="line">
                <a:avLst/>
              </a:prstGeom>
              <a:ln w="38100" cap="sq" cmpd="sng">
                <a:solidFill>
                  <a:schemeClr val="tx1">
                    <a:alpha val="50000"/>
                  </a:schemeClr>
                </a:solidFill>
                <a:prstDash val="solid"/>
                <a:round/>
                <a:headEnd type="triangle" w="med" len="sm"/>
                <a:tailEnd type="none" w="med" len="med"/>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77B466BE-C882-1F81-E851-D01EB2DA64D6}"/>
                  </a:ext>
                </a:extLst>
              </p:cNvPr>
              <p:cNvCxnSpPr>
                <a:cxnSpLocks/>
              </p:cNvCxnSpPr>
              <p:nvPr/>
            </p:nvCxnSpPr>
            <p:spPr>
              <a:xfrm>
                <a:off x="7504244" y="4333274"/>
                <a:ext cx="2082772" cy="0"/>
              </a:xfrm>
              <a:prstGeom prst="line">
                <a:avLst/>
              </a:prstGeom>
              <a:ln w="38100" cap="sq" cmpd="sng">
                <a:solidFill>
                  <a:schemeClr val="tx1">
                    <a:alpha val="50000"/>
                  </a:schemeClr>
                </a:solidFill>
                <a:prstDash val="solid"/>
                <a:round/>
                <a:headEnd type="triangle" w="med" len="sm"/>
                <a:tailEnd type="none" w="med" len="med"/>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A41A8E2E-9B2F-BE88-9FA2-8027D25FC7DA}"/>
                  </a:ext>
                </a:extLst>
              </p:cNvPr>
              <p:cNvCxnSpPr>
                <a:cxnSpLocks/>
              </p:cNvCxnSpPr>
              <p:nvPr/>
            </p:nvCxnSpPr>
            <p:spPr>
              <a:xfrm>
                <a:off x="7504244" y="5063524"/>
                <a:ext cx="2082772" cy="0"/>
              </a:xfrm>
              <a:prstGeom prst="line">
                <a:avLst/>
              </a:prstGeom>
              <a:ln w="38100" cap="sq" cmpd="sng">
                <a:solidFill>
                  <a:schemeClr val="tx1">
                    <a:alpha val="50000"/>
                  </a:schemeClr>
                </a:solidFill>
                <a:prstDash val="solid"/>
                <a:round/>
                <a:headEnd type="triangle" w="med" len="sm"/>
                <a:tailEnd type="none" w="med" len="med"/>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481746A4-D3D6-DE2A-4B78-7CC7F48115A6}"/>
                  </a:ext>
                </a:extLst>
              </p:cNvPr>
              <p:cNvCxnSpPr>
                <a:cxnSpLocks/>
              </p:cNvCxnSpPr>
              <p:nvPr/>
            </p:nvCxnSpPr>
            <p:spPr>
              <a:xfrm>
                <a:off x="7746042" y="3946680"/>
                <a:ext cx="1599173" cy="0"/>
              </a:xfrm>
              <a:prstGeom prst="line">
                <a:avLst/>
              </a:prstGeom>
              <a:ln w="38100" cap="sq" cmpd="sng">
                <a:solidFill>
                  <a:schemeClr val="tx1">
                    <a:alpha val="50000"/>
                  </a:schemeClr>
                </a:solidFill>
                <a:prstDash val="solid"/>
                <a:round/>
                <a:headEnd type="triangle" w="med" len="sm"/>
                <a:tailEnd type="none" w="med" len="med"/>
              </a:ln>
            </p:spPr>
            <p:style>
              <a:lnRef idx="2">
                <a:schemeClr val="accent1"/>
              </a:lnRef>
              <a:fillRef idx="0">
                <a:schemeClr val="accent1"/>
              </a:fillRef>
              <a:effectRef idx="1">
                <a:schemeClr val="accent1"/>
              </a:effectRef>
              <a:fontRef idx="minor">
                <a:schemeClr val="tx1"/>
              </a:fontRef>
            </p:style>
          </p:cxnSp>
        </p:grpSp>
      </p:grpSp>
      <p:grpSp>
        <p:nvGrpSpPr>
          <p:cNvPr id="2144" name="Group 2143">
            <a:extLst>
              <a:ext uri="{FF2B5EF4-FFF2-40B4-BE49-F238E27FC236}">
                <a16:creationId xmlns:a16="http://schemas.microsoft.com/office/drawing/2014/main" id="{A40AE280-BB00-1789-B1C2-54C664C7EFE0}"/>
              </a:ext>
            </a:extLst>
          </p:cNvPr>
          <p:cNvGrpSpPr/>
          <p:nvPr/>
        </p:nvGrpSpPr>
        <p:grpSpPr>
          <a:xfrm>
            <a:off x="3482942" y="2562013"/>
            <a:ext cx="5206267" cy="4295987"/>
            <a:chOff x="3482939" y="2596533"/>
            <a:chExt cx="5206267" cy="4295987"/>
          </a:xfrm>
        </p:grpSpPr>
        <p:grpSp>
          <p:nvGrpSpPr>
            <p:cNvPr id="2110" name="Group 2109">
              <a:extLst>
                <a:ext uri="{FF2B5EF4-FFF2-40B4-BE49-F238E27FC236}">
                  <a16:creationId xmlns:a16="http://schemas.microsoft.com/office/drawing/2014/main" id="{F12E66EA-BC5A-0EBD-9AED-FB89267FAC4C}"/>
                </a:ext>
              </a:extLst>
            </p:cNvPr>
            <p:cNvGrpSpPr/>
            <p:nvPr/>
          </p:nvGrpSpPr>
          <p:grpSpPr>
            <a:xfrm>
              <a:off x="3482939" y="3146820"/>
              <a:ext cx="1379328" cy="3185710"/>
              <a:chOff x="2966961" y="2857530"/>
              <a:chExt cx="1850466" cy="3750069"/>
            </a:xfrm>
          </p:grpSpPr>
          <p:cxnSp>
            <p:nvCxnSpPr>
              <p:cNvPr id="2083" name="Straight Connector 2082">
                <a:extLst>
                  <a:ext uri="{FF2B5EF4-FFF2-40B4-BE49-F238E27FC236}">
                    <a16:creationId xmlns:a16="http://schemas.microsoft.com/office/drawing/2014/main" id="{5E6540C9-931D-4EB1-2918-C6E806DEA018}"/>
                  </a:ext>
                </a:extLst>
              </p:cNvPr>
              <p:cNvCxnSpPr>
                <a:cxnSpLocks/>
              </p:cNvCxnSpPr>
              <p:nvPr/>
            </p:nvCxnSpPr>
            <p:spPr>
              <a:xfrm flipV="1">
                <a:off x="2966963" y="4732565"/>
                <a:ext cx="1850464" cy="7110"/>
              </a:xfrm>
              <a:prstGeom prst="line">
                <a:avLst/>
              </a:prstGeom>
              <a:ln w="38100" cap="sq" cmpd="sng">
                <a:solidFill>
                  <a:schemeClr val="tx1">
                    <a:alpha val="50000"/>
                  </a:schemeClr>
                </a:solidFill>
                <a:prstDash val="solid"/>
                <a:round/>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2084" name="Straight Connector 2083">
                <a:extLst>
                  <a:ext uri="{FF2B5EF4-FFF2-40B4-BE49-F238E27FC236}">
                    <a16:creationId xmlns:a16="http://schemas.microsoft.com/office/drawing/2014/main" id="{9D6C772A-D6C1-DF87-CCCA-5ED2986D78C5}"/>
                  </a:ext>
                </a:extLst>
              </p:cNvPr>
              <p:cNvCxnSpPr>
                <a:cxnSpLocks/>
              </p:cNvCxnSpPr>
              <p:nvPr/>
            </p:nvCxnSpPr>
            <p:spPr>
              <a:xfrm flipV="1">
                <a:off x="2966961" y="5501672"/>
                <a:ext cx="1850466" cy="1105927"/>
              </a:xfrm>
              <a:prstGeom prst="line">
                <a:avLst/>
              </a:prstGeom>
              <a:ln w="38100" cap="sq" cmpd="sng">
                <a:solidFill>
                  <a:schemeClr val="tx1">
                    <a:alpha val="50000"/>
                  </a:schemeClr>
                </a:solidFill>
                <a:prstDash val="solid"/>
                <a:round/>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2085" name="Straight Connector 2084">
                <a:extLst>
                  <a:ext uri="{FF2B5EF4-FFF2-40B4-BE49-F238E27FC236}">
                    <a16:creationId xmlns:a16="http://schemas.microsoft.com/office/drawing/2014/main" id="{C41B201A-61BF-029A-F788-A79F74185F5A}"/>
                  </a:ext>
                </a:extLst>
              </p:cNvPr>
              <p:cNvCxnSpPr>
                <a:cxnSpLocks/>
              </p:cNvCxnSpPr>
              <p:nvPr/>
            </p:nvCxnSpPr>
            <p:spPr>
              <a:xfrm>
                <a:off x="2966961" y="3977672"/>
                <a:ext cx="1850466" cy="386594"/>
              </a:xfrm>
              <a:prstGeom prst="line">
                <a:avLst/>
              </a:prstGeom>
              <a:ln w="38100" cap="sq" cmpd="sng">
                <a:solidFill>
                  <a:schemeClr val="tx1">
                    <a:alpha val="50000"/>
                  </a:schemeClr>
                </a:solidFill>
                <a:prstDash val="solid"/>
                <a:round/>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2086" name="Straight Connector 2085">
                <a:extLst>
                  <a:ext uri="{FF2B5EF4-FFF2-40B4-BE49-F238E27FC236}">
                    <a16:creationId xmlns:a16="http://schemas.microsoft.com/office/drawing/2014/main" id="{285A8EF4-E2C6-F99D-45DD-95260FB60A38}"/>
                  </a:ext>
                </a:extLst>
              </p:cNvPr>
              <p:cNvCxnSpPr>
                <a:cxnSpLocks/>
              </p:cNvCxnSpPr>
              <p:nvPr/>
            </p:nvCxnSpPr>
            <p:spPr>
              <a:xfrm flipV="1">
                <a:off x="2966961" y="5094516"/>
                <a:ext cx="1850466" cy="386594"/>
              </a:xfrm>
              <a:prstGeom prst="line">
                <a:avLst/>
              </a:prstGeom>
              <a:ln w="38100" cap="sq" cmpd="sng">
                <a:solidFill>
                  <a:schemeClr val="tx1">
                    <a:alpha val="50000"/>
                  </a:schemeClr>
                </a:solidFill>
                <a:prstDash val="solid"/>
                <a:round/>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2087" name="Straight Connector 2086">
                <a:extLst>
                  <a:ext uri="{FF2B5EF4-FFF2-40B4-BE49-F238E27FC236}">
                    <a16:creationId xmlns:a16="http://schemas.microsoft.com/office/drawing/2014/main" id="{2519F183-03A4-3FB6-E2A5-3CF946EA0ECE}"/>
                  </a:ext>
                </a:extLst>
              </p:cNvPr>
              <p:cNvCxnSpPr>
                <a:cxnSpLocks/>
              </p:cNvCxnSpPr>
              <p:nvPr/>
            </p:nvCxnSpPr>
            <p:spPr>
              <a:xfrm>
                <a:off x="2966961" y="2857530"/>
                <a:ext cx="1850466" cy="1120142"/>
              </a:xfrm>
              <a:prstGeom prst="line">
                <a:avLst/>
              </a:prstGeom>
              <a:ln w="38100" cap="sq" cmpd="sng">
                <a:solidFill>
                  <a:schemeClr val="tx1">
                    <a:alpha val="50000"/>
                  </a:schemeClr>
                </a:solidFill>
                <a:prstDash val="solid"/>
                <a:round/>
                <a:headEnd type="triangle" w="med" len="med"/>
                <a:tailEnd type="none" w="med" len="med"/>
              </a:ln>
            </p:spPr>
            <p:style>
              <a:lnRef idx="2">
                <a:schemeClr val="accent1"/>
              </a:lnRef>
              <a:fillRef idx="0">
                <a:schemeClr val="accent1"/>
              </a:fillRef>
              <a:effectRef idx="1">
                <a:schemeClr val="accent1"/>
              </a:effectRef>
              <a:fontRef idx="minor">
                <a:schemeClr val="tx1"/>
              </a:fontRef>
            </p:style>
          </p:cxnSp>
        </p:grpSp>
        <p:grpSp>
          <p:nvGrpSpPr>
            <p:cNvPr id="2130" name="Group 2129">
              <a:extLst>
                <a:ext uri="{FF2B5EF4-FFF2-40B4-BE49-F238E27FC236}">
                  <a16:creationId xmlns:a16="http://schemas.microsoft.com/office/drawing/2014/main" id="{67204DD3-7FAA-F1D2-6199-23DC54AF5682}"/>
                </a:ext>
              </a:extLst>
            </p:cNvPr>
            <p:cNvGrpSpPr/>
            <p:nvPr/>
          </p:nvGrpSpPr>
          <p:grpSpPr>
            <a:xfrm rot="10800000">
              <a:off x="7309878" y="3139709"/>
              <a:ext cx="1379328" cy="3185709"/>
              <a:chOff x="2966961" y="2857530"/>
              <a:chExt cx="1850466" cy="3750069"/>
            </a:xfrm>
          </p:grpSpPr>
          <p:cxnSp>
            <p:nvCxnSpPr>
              <p:cNvPr id="2131" name="Straight Connector 2130">
                <a:extLst>
                  <a:ext uri="{FF2B5EF4-FFF2-40B4-BE49-F238E27FC236}">
                    <a16:creationId xmlns:a16="http://schemas.microsoft.com/office/drawing/2014/main" id="{549846F2-DC3A-2D75-619E-062B84845E6D}"/>
                  </a:ext>
                </a:extLst>
              </p:cNvPr>
              <p:cNvCxnSpPr>
                <a:cxnSpLocks/>
              </p:cNvCxnSpPr>
              <p:nvPr/>
            </p:nvCxnSpPr>
            <p:spPr>
              <a:xfrm flipV="1">
                <a:off x="2966963" y="4732565"/>
                <a:ext cx="1850464" cy="7110"/>
              </a:xfrm>
              <a:prstGeom prst="line">
                <a:avLst/>
              </a:prstGeom>
              <a:ln w="38100" cap="sq" cmpd="sng">
                <a:solidFill>
                  <a:schemeClr val="tx1">
                    <a:alpha val="50000"/>
                  </a:schemeClr>
                </a:solidFill>
                <a:prstDash val="solid"/>
                <a:round/>
                <a:headEnd type="none" w="med" len="sm"/>
                <a:tailEnd type="triangle" w="med" len="med"/>
              </a:ln>
            </p:spPr>
            <p:style>
              <a:lnRef idx="2">
                <a:schemeClr val="accent1"/>
              </a:lnRef>
              <a:fillRef idx="0">
                <a:schemeClr val="accent1"/>
              </a:fillRef>
              <a:effectRef idx="1">
                <a:schemeClr val="accent1"/>
              </a:effectRef>
              <a:fontRef idx="minor">
                <a:schemeClr val="tx1"/>
              </a:fontRef>
            </p:style>
          </p:cxnSp>
          <p:cxnSp>
            <p:nvCxnSpPr>
              <p:cNvPr id="2132" name="Straight Connector 2131">
                <a:extLst>
                  <a:ext uri="{FF2B5EF4-FFF2-40B4-BE49-F238E27FC236}">
                    <a16:creationId xmlns:a16="http://schemas.microsoft.com/office/drawing/2014/main" id="{A2A32A48-322B-66C9-A511-C7C56DEF36ED}"/>
                  </a:ext>
                </a:extLst>
              </p:cNvPr>
              <p:cNvCxnSpPr>
                <a:cxnSpLocks/>
              </p:cNvCxnSpPr>
              <p:nvPr/>
            </p:nvCxnSpPr>
            <p:spPr>
              <a:xfrm flipV="1">
                <a:off x="2966961" y="5501672"/>
                <a:ext cx="1850466" cy="1105927"/>
              </a:xfrm>
              <a:prstGeom prst="line">
                <a:avLst/>
              </a:prstGeom>
              <a:ln w="38100" cap="sq" cmpd="sng">
                <a:solidFill>
                  <a:schemeClr val="tx1">
                    <a:alpha val="50000"/>
                  </a:schemeClr>
                </a:solidFill>
                <a:prstDash val="solid"/>
                <a:round/>
                <a:headEnd type="none" w="med" len="sm"/>
                <a:tailEnd type="triangle" w="med" len="med"/>
              </a:ln>
            </p:spPr>
            <p:style>
              <a:lnRef idx="2">
                <a:schemeClr val="accent1"/>
              </a:lnRef>
              <a:fillRef idx="0">
                <a:schemeClr val="accent1"/>
              </a:fillRef>
              <a:effectRef idx="1">
                <a:schemeClr val="accent1"/>
              </a:effectRef>
              <a:fontRef idx="minor">
                <a:schemeClr val="tx1"/>
              </a:fontRef>
            </p:style>
          </p:cxnSp>
          <p:cxnSp>
            <p:nvCxnSpPr>
              <p:cNvPr id="2133" name="Straight Connector 2132">
                <a:extLst>
                  <a:ext uri="{FF2B5EF4-FFF2-40B4-BE49-F238E27FC236}">
                    <a16:creationId xmlns:a16="http://schemas.microsoft.com/office/drawing/2014/main" id="{C96CBD14-EB88-9487-5936-672B47805CA3}"/>
                  </a:ext>
                </a:extLst>
              </p:cNvPr>
              <p:cNvCxnSpPr>
                <a:cxnSpLocks/>
              </p:cNvCxnSpPr>
              <p:nvPr/>
            </p:nvCxnSpPr>
            <p:spPr>
              <a:xfrm>
                <a:off x="2966961" y="3977672"/>
                <a:ext cx="1850466" cy="386594"/>
              </a:xfrm>
              <a:prstGeom prst="line">
                <a:avLst/>
              </a:prstGeom>
              <a:ln w="38100" cap="sq" cmpd="sng">
                <a:solidFill>
                  <a:schemeClr val="tx1">
                    <a:alpha val="50000"/>
                  </a:schemeClr>
                </a:solidFill>
                <a:prstDash val="solid"/>
                <a:round/>
                <a:headEnd type="none" w="med" len="sm"/>
                <a:tailEnd type="triangle" w="med" len="med"/>
              </a:ln>
            </p:spPr>
            <p:style>
              <a:lnRef idx="2">
                <a:schemeClr val="accent1"/>
              </a:lnRef>
              <a:fillRef idx="0">
                <a:schemeClr val="accent1"/>
              </a:fillRef>
              <a:effectRef idx="1">
                <a:schemeClr val="accent1"/>
              </a:effectRef>
              <a:fontRef idx="minor">
                <a:schemeClr val="tx1"/>
              </a:fontRef>
            </p:style>
          </p:cxnSp>
          <p:cxnSp>
            <p:nvCxnSpPr>
              <p:cNvPr id="2134" name="Straight Connector 2133">
                <a:extLst>
                  <a:ext uri="{FF2B5EF4-FFF2-40B4-BE49-F238E27FC236}">
                    <a16:creationId xmlns:a16="http://schemas.microsoft.com/office/drawing/2014/main" id="{4E69FA14-AAF3-E215-93C5-970D7AC09078}"/>
                  </a:ext>
                </a:extLst>
              </p:cNvPr>
              <p:cNvCxnSpPr>
                <a:cxnSpLocks/>
              </p:cNvCxnSpPr>
              <p:nvPr/>
            </p:nvCxnSpPr>
            <p:spPr>
              <a:xfrm flipV="1">
                <a:off x="2966961" y="5094516"/>
                <a:ext cx="1850466" cy="386594"/>
              </a:xfrm>
              <a:prstGeom prst="line">
                <a:avLst/>
              </a:prstGeom>
              <a:ln w="38100" cap="sq" cmpd="sng">
                <a:solidFill>
                  <a:schemeClr val="tx1">
                    <a:alpha val="50000"/>
                  </a:schemeClr>
                </a:solidFill>
                <a:prstDash val="solid"/>
                <a:round/>
                <a:headEnd type="none" w="med" len="sm"/>
                <a:tailEnd type="triangle" w="med" len="med"/>
              </a:ln>
            </p:spPr>
            <p:style>
              <a:lnRef idx="2">
                <a:schemeClr val="accent1"/>
              </a:lnRef>
              <a:fillRef idx="0">
                <a:schemeClr val="accent1"/>
              </a:fillRef>
              <a:effectRef idx="1">
                <a:schemeClr val="accent1"/>
              </a:effectRef>
              <a:fontRef idx="minor">
                <a:schemeClr val="tx1"/>
              </a:fontRef>
            </p:style>
          </p:cxnSp>
          <p:cxnSp>
            <p:nvCxnSpPr>
              <p:cNvPr id="2135" name="Straight Connector 2134">
                <a:extLst>
                  <a:ext uri="{FF2B5EF4-FFF2-40B4-BE49-F238E27FC236}">
                    <a16:creationId xmlns:a16="http://schemas.microsoft.com/office/drawing/2014/main" id="{E7337FA0-0028-AB00-85FC-7C1D44DC7678}"/>
                  </a:ext>
                </a:extLst>
              </p:cNvPr>
              <p:cNvCxnSpPr>
                <a:cxnSpLocks/>
              </p:cNvCxnSpPr>
              <p:nvPr/>
            </p:nvCxnSpPr>
            <p:spPr>
              <a:xfrm>
                <a:off x="2966961" y="2857530"/>
                <a:ext cx="1850466" cy="1120142"/>
              </a:xfrm>
              <a:prstGeom prst="line">
                <a:avLst/>
              </a:prstGeom>
              <a:ln w="38100" cap="sq" cmpd="sng">
                <a:solidFill>
                  <a:schemeClr val="tx1">
                    <a:alpha val="50000"/>
                  </a:schemeClr>
                </a:solidFill>
                <a:prstDash val="solid"/>
                <a:round/>
                <a:headEnd type="none" w="med" len="sm"/>
                <a:tailEnd type="triangle" w="med" len="med"/>
              </a:ln>
            </p:spPr>
            <p:style>
              <a:lnRef idx="2">
                <a:schemeClr val="accent1"/>
              </a:lnRef>
              <a:fillRef idx="0">
                <a:schemeClr val="accent1"/>
              </a:fillRef>
              <a:effectRef idx="1">
                <a:schemeClr val="accent1"/>
              </a:effectRef>
              <a:fontRef idx="minor">
                <a:schemeClr val="tx1"/>
              </a:fontRef>
            </p:style>
          </p:cxnSp>
        </p:grpSp>
        <p:sp>
          <p:nvSpPr>
            <p:cNvPr id="2137" name="Arc 2136">
              <a:extLst>
                <a:ext uri="{FF2B5EF4-FFF2-40B4-BE49-F238E27FC236}">
                  <a16:creationId xmlns:a16="http://schemas.microsoft.com/office/drawing/2014/main" id="{5877B865-F00E-A32C-0119-E0B150F66913}"/>
                </a:ext>
              </a:extLst>
            </p:cNvPr>
            <p:cNvSpPr/>
            <p:nvPr/>
          </p:nvSpPr>
          <p:spPr>
            <a:xfrm rot="5400000">
              <a:off x="5760120" y="1968289"/>
              <a:ext cx="683560" cy="2255310"/>
            </a:xfrm>
            <a:prstGeom prst="arc">
              <a:avLst>
                <a:gd name="adj1" fmla="val 16953070"/>
                <a:gd name="adj2" fmla="val 4676917"/>
              </a:avLst>
            </a:prstGeom>
            <a:noFill/>
            <a:ln w="38100">
              <a:solidFill>
                <a:schemeClr val="tx1">
                  <a:alpha val="50000"/>
                </a:schemeClr>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139" name="Arc 2138">
              <a:extLst>
                <a:ext uri="{FF2B5EF4-FFF2-40B4-BE49-F238E27FC236}">
                  <a16:creationId xmlns:a16="http://schemas.microsoft.com/office/drawing/2014/main" id="{3D77B724-3D30-39A2-E6FA-8424FE83AC4D}"/>
                </a:ext>
              </a:extLst>
            </p:cNvPr>
            <p:cNvSpPr/>
            <p:nvPr/>
          </p:nvSpPr>
          <p:spPr>
            <a:xfrm rot="16200000">
              <a:off x="5760120" y="5235615"/>
              <a:ext cx="683560" cy="2255310"/>
            </a:xfrm>
            <a:prstGeom prst="arc">
              <a:avLst>
                <a:gd name="adj1" fmla="val 16953070"/>
                <a:gd name="adj2" fmla="val 4676917"/>
              </a:avLst>
            </a:prstGeom>
            <a:noFill/>
            <a:ln w="38100">
              <a:solidFill>
                <a:schemeClr val="tx1">
                  <a:alpha val="50000"/>
                </a:schemeClr>
              </a:solidFill>
              <a:headEnd type="triangle"/>
              <a:tailEnd type="non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141" name="Arc 2140">
              <a:extLst>
                <a:ext uri="{FF2B5EF4-FFF2-40B4-BE49-F238E27FC236}">
                  <a16:creationId xmlns:a16="http://schemas.microsoft.com/office/drawing/2014/main" id="{9CF89F74-EE14-3121-28B9-A3CE81AA5089}"/>
                </a:ext>
              </a:extLst>
            </p:cNvPr>
            <p:cNvSpPr/>
            <p:nvPr/>
          </p:nvSpPr>
          <p:spPr>
            <a:xfrm rot="5400000">
              <a:off x="5760120" y="2631814"/>
              <a:ext cx="683560" cy="612998"/>
            </a:xfrm>
            <a:prstGeom prst="arc">
              <a:avLst>
                <a:gd name="adj1" fmla="val 16953070"/>
                <a:gd name="adj2" fmla="val 4676917"/>
              </a:avLst>
            </a:prstGeom>
            <a:noFill/>
            <a:ln w="38100">
              <a:solidFill>
                <a:schemeClr val="tx1">
                  <a:alpha val="50000"/>
                </a:schemeClr>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142" name="Arc 2141">
              <a:extLst>
                <a:ext uri="{FF2B5EF4-FFF2-40B4-BE49-F238E27FC236}">
                  <a16:creationId xmlns:a16="http://schemas.microsoft.com/office/drawing/2014/main" id="{96F89995-1698-AC6B-21A3-F4D7A72E3999}"/>
                </a:ext>
              </a:extLst>
            </p:cNvPr>
            <p:cNvSpPr/>
            <p:nvPr/>
          </p:nvSpPr>
          <p:spPr>
            <a:xfrm rot="5400000" flipH="1">
              <a:off x="5760120" y="6244241"/>
              <a:ext cx="683560" cy="612998"/>
            </a:xfrm>
            <a:prstGeom prst="arc">
              <a:avLst>
                <a:gd name="adj1" fmla="val 16953070"/>
                <a:gd name="adj2" fmla="val 4676917"/>
              </a:avLst>
            </a:prstGeom>
            <a:noFill/>
            <a:ln w="38100">
              <a:solidFill>
                <a:schemeClr val="tx1">
                  <a:alpha val="50000"/>
                </a:schemeClr>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grpSp>
      <p:pic>
        <p:nvPicPr>
          <p:cNvPr id="2148" name="Picture 2147">
            <a:extLst>
              <a:ext uri="{FF2B5EF4-FFF2-40B4-BE49-F238E27FC236}">
                <a16:creationId xmlns:a16="http://schemas.microsoft.com/office/drawing/2014/main" id="{A6800352-4CC8-C550-050D-FDEBB9D898E0}"/>
              </a:ext>
            </a:extLst>
          </p:cNvPr>
          <p:cNvPicPr>
            <a:picLocks noChangeAspect="1"/>
          </p:cNvPicPr>
          <p:nvPr/>
        </p:nvPicPr>
        <p:blipFill>
          <a:blip r:embed="rId3"/>
          <a:srcRect l="7063" t="4130" r="7061" b="3693"/>
          <a:stretch>
            <a:fillRect/>
          </a:stretch>
        </p:blipFill>
        <p:spPr>
          <a:xfrm>
            <a:off x="4942593" y="3560835"/>
            <a:ext cx="2286965" cy="2305087"/>
          </a:xfrm>
          <a:prstGeom prst="rect">
            <a:avLst/>
          </a:prstGeom>
        </p:spPr>
      </p:pic>
      <p:pic>
        <p:nvPicPr>
          <p:cNvPr id="2154" name="Picture 2153">
            <a:extLst>
              <a:ext uri="{FF2B5EF4-FFF2-40B4-BE49-F238E27FC236}">
                <a16:creationId xmlns:a16="http://schemas.microsoft.com/office/drawing/2014/main" id="{CFE91504-AFF5-2576-2652-590C1E4AB990}"/>
              </a:ext>
            </a:extLst>
          </p:cNvPr>
          <p:cNvPicPr>
            <a:picLocks noChangeAspect="1"/>
          </p:cNvPicPr>
          <p:nvPr/>
        </p:nvPicPr>
        <p:blipFill>
          <a:blip r:embed="rId4"/>
          <a:srcRect l="4536" t="5204" r="4875" b="4490"/>
          <a:stretch>
            <a:fillRect/>
          </a:stretch>
        </p:blipFill>
        <p:spPr>
          <a:xfrm>
            <a:off x="4922555" y="3538962"/>
            <a:ext cx="2316128" cy="2314132"/>
          </a:xfrm>
          <a:prstGeom prst="rect">
            <a:avLst/>
          </a:prstGeom>
        </p:spPr>
      </p:pic>
    </p:spTree>
    <p:extLst>
      <p:ext uri="{BB962C8B-B14F-4D97-AF65-F5344CB8AC3E}">
        <p14:creationId xmlns:p14="http://schemas.microsoft.com/office/powerpoint/2010/main" val="20257260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mph" presetSubtype="0" fill="hold" nodeType="clickEffect">
                                  <p:stCondLst>
                                    <p:cond delay="0"/>
                                  </p:stCondLst>
                                  <p:childTnLst>
                                    <p:animRot by="21600000">
                                      <p:cBhvr>
                                        <p:cTn id="6" dur="2000" fill="hold"/>
                                        <p:tgtEl>
                                          <p:spTgt spid="2082"/>
                                        </p:tgtEl>
                                        <p:attrNameLst>
                                          <p:attrName>r</p:attrName>
                                        </p:attrNameLst>
                                      </p:cBhvr>
                                    </p:animRot>
                                  </p:childTnLst>
                                </p:cTn>
                              </p:par>
                            </p:childTnLst>
                          </p:cTn>
                        </p:par>
                      </p:childTnLst>
                    </p:cTn>
                  </p:par>
                  <p:par>
                    <p:cTn id="7" fill="hold">
                      <p:stCondLst>
                        <p:cond delay="indefinite"/>
                      </p:stCondLst>
                      <p:childTnLst>
                        <p:par>
                          <p:cTn id="8" fill="hold">
                            <p:stCondLst>
                              <p:cond delay="0"/>
                            </p:stCondLst>
                            <p:childTnLst>
                              <p:par>
                                <p:cTn id="9" presetID="22" presetClass="entr" presetSubtype="2" fill="hold" nodeType="clickEffect">
                                  <p:stCondLst>
                                    <p:cond delay="0"/>
                                  </p:stCondLst>
                                  <p:childTnLst>
                                    <p:set>
                                      <p:cBhvr>
                                        <p:cTn id="10" dur="1" fill="hold">
                                          <p:stCondLst>
                                            <p:cond delay="0"/>
                                          </p:stCondLst>
                                        </p:cTn>
                                        <p:tgtEl>
                                          <p:spTgt spid="2144"/>
                                        </p:tgtEl>
                                        <p:attrNameLst>
                                          <p:attrName>style.visibility</p:attrName>
                                        </p:attrNameLst>
                                      </p:cBhvr>
                                      <p:to>
                                        <p:strVal val="visible"/>
                                      </p:to>
                                    </p:set>
                                    <p:animEffect transition="in" filter="wipe(right)">
                                      <p:cBhvr>
                                        <p:cTn id="11" dur="1000"/>
                                        <p:tgtEl>
                                          <p:spTgt spid="2144"/>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xit" presetSubtype="0" fill="hold" nodeType="clickEffect">
                                  <p:stCondLst>
                                    <p:cond delay="0"/>
                                  </p:stCondLst>
                                  <p:childTnLst>
                                    <p:animEffect transition="out" filter="fade">
                                      <p:cBhvr>
                                        <p:cTn id="15" dur="500"/>
                                        <p:tgtEl>
                                          <p:spTgt spid="2144"/>
                                        </p:tgtEl>
                                      </p:cBhvr>
                                    </p:animEffect>
                                    <p:set>
                                      <p:cBhvr>
                                        <p:cTn id="16" dur="1" fill="hold">
                                          <p:stCondLst>
                                            <p:cond delay="499"/>
                                          </p:stCondLst>
                                        </p:cTn>
                                        <p:tgtEl>
                                          <p:spTgt spid="2144"/>
                                        </p:tgtEl>
                                        <p:attrNameLst>
                                          <p:attrName>style.visibility</p:attrName>
                                        </p:attrNameLst>
                                      </p:cBhvr>
                                      <p:to>
                                        <p:strVal val="hidden"/>
                                      </p:to>
                                    </p:set>
                                  </p:childTnLst>
                                </p:cTn>
                              </p:par>
                              <p:par>
                                <p:cTn id="17" presetID="10" presetClass="entr" presetSubtype="0" fill="hold" nodeType="withEffect">
                                  <p:stCondLst>
                                    <p:cond delay="0"/>
                                  </p:stCondLst>
                                  <p:childTnLst>
                                    <p:set>
                                      <p:cBhvr>
                                        <p:cTn id="18" dur="1" fill="hold">
                                          <p:stCondLst>
                                            <p:cond delay="0"/>
                                          </p:stCondLst>
                                        </p:cTn>
                                        <p:tgtEl>
                                          <p:spTgt spid="2148"/>
                                        </p:tgtEl>
                                        <p:attrNameLst>
                                          <p:attrName>style.visibility</p:attrName>
                                        </p:attrNameLst>
                                      </p:cBhvr>
                                      <p:to>
                                        <p:strVal val="visible"/>
                                      </p:to>
                                    </p:set>
                                    <p:animEffect transition="in" filter="fade">
                                      <p:cBhvr>
                                        <p:cTn id="19" dur="500"/>
                                        <p:tgtEl>
                                          <p:spTgt spid="2148"/>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2154"/>
                                        </p:tgtEl>
                                        <p:attrNameLst>
                                          <p:attrName>style.visibility</p:attrName>
                                        </p:attrNameLst>
                                      </p:cBhvr>
                                      <p:to>
                                        <p:strVal val="visible"/>
                                      </p:to>
                                    </p:set>
                                    <p:animEffect transition="in" filter="fade">
                                      <p:cBhvr>
                                        <p:cTn id="24" dur="500"/>
                                        <p:tgtEl>
                                          <p:spTgt spid="21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018D10-AD97-D797-2DED-A8435AB1D96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9974379-AEA7-6BEB-E5BB-FA0B5F6B6F33}"/>
              </a:ext>
            </a:extLst>
          </p:cNvPr>
          <p:cNvSpPr>
            <a:spLocks noGrp="1"/>
          </p:cNvSpPr>
          <p:nvPr>
            <p:ph type="title"/>
          </p:nvPr>
        </p:nvSpPr>
        <p:spPr/>
        <p:txBody>
          <a:bodyPr/>
          <a:lstStyle/>
          <a:p>
            <a:r>
              <a:rPr lang="en-US" b="1" dirty="0"/>
              <a:t>Part I</a:t>
            </a:r>
            <a:r>
              <a:rPr lang="en-US" dirty="0"/>
              <a:t>: What the scanner does</a:t>
            </a:r>
          </a:p>
        </p:txBody>
      </p:sp>
      <p:sp>
        <p:nvSpPr>
          <p:cNvPr id="5" name="Content Placeholder 4">
            <a:extLst>
              <a:ext uri="{FF2B5EF4-FFF2-40B4-BE49-F238E27FC236}">
                <a16:creationId xmlns:a16="http://schemas.microsoft.com/office/drawing/2014/main" id="{CC295181-3525-A5A2-0317-EFC2CA5C7BB4}"/>
              </a:ext>
            </a:extLst>
          </p:cNvPr>
          <p:cNvSpPr>
            <a:spLocks noGrp="1"/>
          </p:cNvSpPr>
          <p:nvPr>
            <p:ph idx="1"/>
          </p:nvPr>
        </p:nvSpPr>
        <p:spPr/>
        <p:txBody>
          <a:bodyPr/>
          <a:lstStyle/>
          <a:p>
            <a:pPr marL="0" indent="0">
              <a:buNone/>
            </a:pPr>
            <a:r>
              <a:rPr lang="en-US"/>
              <a:t>EPI Nyquist ghost &amp; phase-correction</a:t>
            </a:r>
            <a:endParaRPr lang="en-US" dirty="0"/>
          </a:p>
        </p:txBody>
      </p:sp>
      <p:pic>
        <p:nvPicPr>
          <p:cNvPr id="3074" name="Picture 2">
            <a:extLst>
              <a:ext uri="{FF2B5EF4-FFF2-40B4-BE49-F238E27FC236}">
                <a16:creationId xmlns:a16="http://schemas.microsoft.com/office/drawing/2014/main" id="{0F17FAA6-640C-EDA4-2511-54DBEC27C2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26171" y="2790298"/>
            <a:ext cx="3246606" cy="3382963"/>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a:extLst>
              <a:ext uri="{FF2B5EF4-FFF2-40B4-BE49-F238E27FC236}">
                <a16:creationId xmlns:a16="http://schemas.microsoft.com/office/drawing/2014/main" id="{C7D9B872-8228-3BCD-1E91-5463181B1D0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72777" y="2790298"/>
            <a:ext cx="3081023" cy="3382963"/>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descr="Eddy Currents - Definition, Demonstration, Drawbacks, Application">
            <a:extLst>
              <a:ext uri="{FF2B5EF4-FFF2-40B4-BE49-F238E27FC236}">
                <a16:creationId xmlns:a16="http://schemas.microsoft.com/office/drawing/2014/main" id="{91212716-C6C7-5DCF-8C91-EA34B5C1B125}"/>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807" t="2058" r="1817" b="13791"/>
          <a:stretch>
            <a:fillRect/>
          </a:stretch>
        </p:blipFill>
        <p:spPr bwMode="auto">
          <a:xfrm>
            <a:off x="838200" y="2790298"/>
            <a:ext cx="3708400" cy="3386665"/>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DB1EB3B4-E23B-82C7-B683-A7DF48A751AF}"/>
              </a:ext>
            </a:extLst>
          </p:cNvPr>
          <p:cNvSpPr txBox="1"/>
          <p:nvPr/>
        </p:nvSpPr>
        <p:spPr>
          <a:xfrm>
            <a:off x="838200" y="2420966"/>
            <a:ext cx="1637308" cy="369332"/>
          </a:xfrm>
          <a:prstGeom prst="rect">
            <a:avLst/>
          </a:prstGeom>
          <a:noFill/>
        </p:spPr>
        <p:txBody>
          <a:bodyPr wrap="none" rtlCol="0">
            <a:spAutoFit/>
          </a:bodyPr>
          <a:lstStyle/>
          <a:p>
            <a:r>
              <a:rPr lang="en-US" b="1" dirty="0"/>
              <a:t>Eddy currents</a:t>
            </a:r>
          </a:p>
        </p:txBody>
      </p:sp>
    </p:spTree>
    <p:extLst>
      <p:ext uri="{BB962C8B-B14F-4D97-AF65-F5344CB8AC3E}">
        <p14:creationId xmlns:p14="http://schemas.microsoft.com/office/powerpoint/2010/main" val="13919060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animEffect transition="in" filter="fade">
                                      <p:cBhvr>
                                        <p:cTn id="7" dur="500"/>
                                        <p:tgtEl>
                                          <p:spTgt spid="307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076"/>
                                        </p:tgtEl>
                                        <p:attrNameLst>
                                          <p:attrName>style.visibility</p:attrName>
                                        </p:attrNameLst>
                                      </p:cBhvr>
                                      <p:to>
                                        <p:strVal val="visible"/>
                                      </p:to>
                                    </p:set>
                                    <p:animEffect transition="in" filter="fade">
                                      <p:cBhvr>
                                        <p:cTn id="12" dur="500"/>
                                        <p:tgtEl>
                                          <p:spTgt spid="30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941553-32D0-8811-11B4-DD5DFFB67A6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1A51A27-F05B-39C8-2087-3989E24D82D7}"/>
              </a:ext>
            </a:extLst>
          </p:cNvPr>
          <p:cNvSpPr>
            <a:spLocks noGrp="1"/>
          </p:cNvSpPr>
          <p:nvPr>
            <p:ph type="title"/>
          </p:nvPr>
        </p:nvSpPr>
        <p:spPr/>
        <p:txBody>
          <a:bodyPr/>
          <a:lstStyle/>
          <a:p>
            <a:r>
              <a:rPr lang="en-US" b="1" dirty="0"/>
              <a:t>Part I</a:t>
            </a:r>
            <a:r>
              <a:rPr lang="en-US" dirty="0"/>
              <a:t>: What the scanner does</a:t>
            </a:r>
          </a:p>
        </p:txBody>
      </p:sp>
      <p:sp>
        <p:nvSpPr>
          <p:cNvPr id="5" name="Content Placeholder 4">
            <a:extLst>
              <a:ext uri="{FF2B5EF4-FFF2-40B4-BE49-F238E27FC236}">
                <a16:creationId xmlns:a16="http://schemas.microsoft.com/office/drawing/2014/main" id="{5625FC89-DCC8-93B2-47AE-A2D5A8BF9A9F}"/>
              </a:ext>
            </a:extLst>
          </p:cNvPr>
          <p:cNvSpPr>
            <a:spLocks noGrp="1"/>
          </p:cNvSpPr>
          <p:nvPr>
            <p:ph idx="1"/>
          </p:nvPr>
        </p:nvSpPr>
        <p:spPr/>
        <p:txBody>
          <a:bodyPr/>
          <a:lstStyle/>
          <a:p>
            <a:pPr marL="0" indent="0">
              <a:buNone/>
            </a:pPr>
            <a:r>
              <a:rPr lang="en-US" dirty="0"/>
              <a:t>Pre-scan normalization (B1</a:t>
            </a:r>
            <a:r>
              <a:rPr lang="en-US" baseline="30000" dirty="0"/>
              <a:t>-</a:t>
            </a:r>
            <a:r>
              <a:rPr lang="en-US" dirty="0"/>
              <a:t> non-uniformity correction)</a:t>
            </a:r>
          </a:p>
        </p:txBody>
      </p:sp>
      <p:pic>
        <p:nvPicPr>
          <p:cNvPr id="3" name="Picture 2">
            <a:extLst>
              <a:ext uri="{FF2B5EF4-FFF2-40B4-BE49-F238E27FC236}">
                <a16:creationId xmlns:a16="http://schemas.microsoft.com/office/drawing/2014/main" id="{46C32C8F-59D8-A21B-6382-D3588B12B56B}"/>
              </a:ext>
            </a:extLst>
          </p:cNvPr>
          <p:cNvPicPr>
            <a:picLocks noChangeAspect="1"/>
          </p:cNvPicPr>
          <p:nvPr/>
        </p:nvPicPr>
        <p:blipFill>
          <a:blip r:embed="rId3"/>
          <a:stretch>
            <a:fillRect/>
          </a:stretch>
        </p:blipFill>
        <p:spPr>
          <a:xfrm>
            <a:off x="838198" y="2981802"/>
            <a:ext cx="5154859" cy="3195161"/>
          </a:xfrm>
          <a:prstGeom prst="rect">
            <a:avLst/>
          </a:prstGeom>
        </p:spPr>
      </p:pic>
      <p:sp>
        <p:nvSpPr>
          <p:cNvPr id="6" name="TextBox 5">
            <a:extLst>
              <a:ext uri="{FF2B5EF4-FFF2-40B4-BE49-F238E27FC236}">
                <a16:creationId xmlns:a16="http://schemas.microsoft.com/office/drawing/2014/main" id="{EE6307FD-6BC6-81E4-552C-21BD0F6BBFF3}"/>
              </a:ext>
            </a:extLst>
          </p:cNvPr>
          <p:cNvSpPr txBox="1"/>
          <p:nvPr/>
        </p:nvSpPr>
        <p:spPr>
          <a:xfrm>
            <a:off x="838198" y="2520137"/>
            <a:ext cx="3890680" cy="461665"/>
          </a:xfrm>
          <a:prstGeom prst="rect">
            <a:avLst/>
          </a:prstGeom>
          <a:noFill/>
        </p:spPr>
        <p:txBody>
          <a:bodyPr wrap="none" rtlCol="0">
            <a:spAutoFit/>
          </a:bodyPr>
          <a:lstStyle/>
          <a:p>
            <a:r>
              <a:rPr lang="en-US" sz="2400" dirty="0"/>
              <a:t>Surface-coil flare / bias field</a:t>
            </a:r>
          </a:p>
        </p:txBody>
      </p:sp>
      <p:sp>
        <p:nvSpPr>
          <p:cNvPr id="8" name="Rectangle 7">
            <a:extLst>
              <a:ext uri="{FF2B5EF4-FFF2-40B4-BE49-F238E27FC236}">
                <a16:creationId xmlns:a16="http://schemas.microsoft.com/office/drawing/2014/main" id="{BC751356-01B3-98EA-DBE5-037F0497B774}"/>
              </a:ext>
            </a:extLst>
          </p:cNvPr>
          <p:cNvSpPr/>
          <p:nvPr/>
        </p:nvSpPr>
        <p:spPr>
          <a:xfrm>
            <a:off x="6198941" y="2717800"/>
            <a:ext cx="5154859" cy="3459163"/>
          </a:xfrm>
          <a:prstGeom prst="rect">
            <a:avLst/>
          </a:prstGeom>
          <a:noFill/>
          <a:ln w="635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b="1" dirty="0">
                <a:solidFill>
                  <a:schemeClr val="tx1"/>
                </a:solidFill>
              </a:rPr>
              <a:t>TURN. IT. OFF.   </a:t>
            </a:r>
          </a:p>
        </p:txBody>
      </p:sp>
      <p:sp>
        <p:nvSpPr>
          <p:cNvPr id="10" name="TextBox 9">
            <a:extLst>
              <a:ext uri="{FF2B5EF4-FFF2-40B4-BE49-F238E27FC236}">
                <a16:creationId xmlns:a16="http://schemas.microsoft.com/office/drawing/2014/main" id="{3CFB4C18-98AA-AB95-838A-8E5A4AFE5EDF}"/>
              </a:ext>
            </a:extLst>
          </p:cNvPr>
          <p:cNvSpPr txBox="1"/>
          <p:nvPr/>
        </p:nvSpPr>
        <p:spPr>
          <a:xfrm>
            <a:off x="6232632" y="2750969"/>
            <a:ext cx="993413" cy="369332"/>
          </a:xfrm>
          <a:prstGeom prst="rect">
            <a:avLst/>
          </a:prstGeom>
          <a:noFill/>
        </p:spPr>
        <p:txBody>
          <a:bodyPr wrap="none" rtlCol="0">
            <a:spAutoFit/>
          </a:bodyPr>
          <a:lstStyle/>
          <a:p>
            <a:r>
              <a:rPr lang="en-US" b="1" dirty="0"/>
              <a:t>ADVICE</a:t>
            </a:r>
          </a:p>
        </p:txBody>
      </p:sp>
    </p:spTree>
    <p:extLst>
      <p:ext uri="{BB962C8B-B14F-4D97-AF65-F5344CB8AC3E}">
        <p14:creationId xmlns:p14="http://schemas.microsoft.com/office/powerpoint/2010/main" val="19429449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fltVal val="0"/>
                                          </p:val>
                                        </p:tav>
                                        <p:tav tm="100000">
                                          <p:val>
                                            <p:strVal val="#ppt_h"/>
                                          </p:val>
                                        </p:tav>
                                      </p:tavLst>
                                    </p:anim>
                                    <p:animEffect transition="in" filter="fade">
                                      <p:cBhvr>
                                        <p:cTn id="9" dur="500"/>
                                        <p:tgtEl>
                                          <p:spTgt spid="10"/>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iterate type="wd">
                                    <p:tmAbs val="500"/>
                                  </p:iterate>
                                  <p:childTnLst>
                                    <p:set>
                                      <p:cBhvr>
                                        <p:cTn id="13"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4FDDA0-3F26-BC33-1FAA-312373426F5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F056F94-A2F5-0E1D-5DCB-11CAD5B6133D}"/>
              </a:ext>
            </a:extLst>
          </p:cNvPr>
          <p:cNvSpPr>
            <a:spLocks noGrp="1"/>
          </p:cNvSpPr>
          <p:nvPr>
            <p:ph type="title"/>
          </p:nvPr>
        </p:nvSpPr>
        <p:spPr/>
        <p:txBody>
          <a:bodyPr/>
          <a:lstStyle/>
          <a:p>
            <a:r>
              <a:rPr lang="en-US" b="1" dirty="0"/>
              <a:t>Part I</a:t>
            </a:r>
            <a:r>
              <a:rPr lang="en-US" dirty="0"/>
              <a:t>: What the scanner does</a:t>
            </a:r>
          </a:p>
        </p:txBody>
      </p:sp>
      <p:sp>
        <p:nvSpPr>
          <p:cNvPr id="5" name="Content Placeholder 4">
            <a:extLst>
              <a:ext uri="{FF2B5EF4-FFF2-40B4-BE49-F238E27FC236}">
                <a16:creationId xmlns:a16="http://schemas.microsoft.com/office/drawing/2014/main" id="{8274E8D2-7A42-2AD3-7153-F6DC91852EFF}"/>
              </a:ext>
            </a:extLst>
          </p:cNvPr>
          <p:cNvSpPr>
            <a:spLocks noGrp="1"/>
          </p:cNvSpPr>
          <p:nvPr>
            <p:ph idx="1"/>
          </p:nvPr>
        </p:nvSpPr>
        <p:spPr/>
        <p:txBody>
          <a:bodyPr/>
          <a:lstStyle/>
          <a:p>
            <a:pPr marL="0" indent="0">
              <a:buNone/>
            </a:pPr>
            <a:r>
              <a:rPr lang="en-US" dirty="0"/>
              <a:t>Prospective motion correction</a:t>
            </a:r>
          </a:p>
        </p:txBody>
      </p:sp>
      <p:pic>
        <p:nvPicPr>
          <p:cNvPr id="2" name="Google Shape;390;p38">
            <a:extLst>
              <a:ext uri="{FF2B5EF4-FFF2-40B4-BE49-F238E27FC236}">
                <a16:creationId xmlns:a16="http://schemas.microsoft.com/office/drawing/2014/main" id="{DAF5A9DC-8849-2649-93DE-26137E63C0FA}"/>
              </a:ext>
            </a:extLst>
          </p:cNvPr>
          <p:cNvPicPr preferRelativeResize="0"/>
          <p:nvPr/>
        </p:nvPicPr>
        <p:blipFill rotWithShape="1">
          <a:blip r:embed="rId3">
            <a:alphaModFix/>
          </a:blip>
          <a:srcRect/>
          <a:stretch/>
        </p:blipFill>
        <p:spPr>
          <a:xfrm>
            <a:off x="1498105" y="2563823"/>
            <a:ext cx="6051514" cy="3613140"/>
          </a:xfrm>
          <a:prstGeom prst="rect">
            <a:avLst/>
          </a:prstGeom>
          <a:noFill/>
          <a:ln>
            <a:noFill/>
          </a:ln>
        </p:spPr>
      </p:pic>
      <p:pic>
        <p:nvPicPr>
          <p:cNvPr id="3" name="Google Shape;392;p38">
            <a:extLst>
              <a:ext uri="{FF2B5EF4-FFF2-40B4-BE49-F238E27FC236}">
                <a16:creationId xmlns:a16="http://schemas.microsoft.com/office/drawing/2014/main" id="{807DDBCE-5A56-463A-F8A0-9AA6712EF924}"/>
              </a:ext>
            </a:extLst>
          </p:cNvPr>
          <p:cNvPicPr preferRelativeResize="0"/>
          <p:nvPr/>
        </p:nvPicPr>
        <p:blipFill rotWithShape="1">
          <a:blip r:embed="rId4">
            <a:alphaModFix/>
          </a:blip>
          <a:srcRect l="66579" t="5503"/>
          <a:stretch>
            <a:fillRect/>
          </a:stretch>
        </p:blipFill>
        <p:spPr>
          <a:xfrm>
            <a:off x="8425281" y="2065105"/>
            <a:ext cx="2484371" cy="4111857"/>
          </a:xfrm>
          <a:prstGeom prst="rect">
            <a:avLst/>
          </a:prstGeom>
          <a:noFill/>
          <a:ln>
            <a:noFill/>
          </a:ln>
        </p:spPr>
      </p:pic>
      <p:sp>
        <p:nvSpPr>
          <p:cNvPr id="6" name="Rectangle 5">
            <a:extLst>
              <a:ext uri="{FF2B5EF4-FFF2-40B4-BE49-F238E27FC236}">
                <a16:creationId xmlns:a16="http://schemas.microsoft.com/office/drawing/2014/main" id="{818265D4-E3DE-73EF-9A32-A63C094FCB63}"/>
              </a:ext>
            </a:extLst>
          </p:cNvPr>
          <p:cNvSpPr/>
          <p:nvPr/>
        </p:nvSpPr>
        <p:spPr>
          <a:xfrm>
            <a:off x="993492" y="2758536"/>
            <a:ext cx="349321" cy="349321"/>
          </a:xfrm>
          <a:prstGeom prst="rect">
            <a:avLst/>
          </a:prstGeom>
          <a:solidFill>
            <a:srgbClr val="01FF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P1</a:t>
            </a:r>
            <a:endParaRPr lang="en-US" b="1" dirty="0">
              <a:solidFill>
                <a:schemeClr val="tx1"/>
              </a:solidFill>
            </a:endParaRPr>
          </a:p>
        </p:txBody>
      </p:sp>
      <p:sp>
        <p:nvSpPr>
          <p:cNvPr id="9" name="Rectangle 8">
            <a:extLst>
              <a:ext uri="{FF2B5EF4-FFF2-40B4-BE49-F238E27FC236}">
                <a16:creationId xmlns:a16="http://schemas.microsoft.com/office/drawing/2014/main" id="{7111C91A-F789-214A-4F33-88D075DC51E8}"/>
              </a:ext>
            </a:extLst>
          </p:cNvPr>
          <p:cNvSpPr/>
          <p:nvPr/>
        </p:nvSpPr>
        <p:spPr>
          <a:xfrm>
            <a:off x="993491" y="3207189"/>
            <a:ext cx="349321" cy="349321"/>
          </a:xfrm>
          <a:prstGeom prst="rect">
            <a:avLst/>
          </a:prstGeom>
          <a:solidFill>
            <a:srgbClr val="FFFF0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P2</a:t>
            </a:r>
            <a:endParaRPr lang="en-US" b="1" dirty="0">
              <a:solidFill>
                <a:schemeClr val="tx1"/>
              </a:solidFill>
            </a:endParaRPr>
          </a:p>
        </p:txBody>
      </p:sp>
      <p:sp>
        <p:nvSpPr>
          <p:cNvPr id="10" name="Rectangle 9">
            <a:extLst>
              <a:ext uri="{FF2B5EF4-FFF2-40B4-BE49-F238E27FC236}">
                <a16:creationId xmlns:a16="http://schemas.microsoft.com/office/drawing/2014/main" id="{74CA37B6-3291-94ED-9676-804823B0484C}"/>
              </a:ext>
            </a:extLst>
          </p:cNvPr>
          <p:cNvSpPr/>
          <p:nvPr/>
        </p:nvSpPr>
        <p:spPr>
          <a:xfrm>
            <a:off x="993490" y="3655842"/>
            <a:ext cx="349321" cy="349321"/>
          </a:xfrm>
          <a:prstGeom prst="rect">
            <a:avLst/>
          </a:prstGeom>
          <a:solidFill>
            <a:srgbClr val="FF2A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P3</a:t>
            </a:r>
            <a:endParaRPr lang="en-US" b="1" dirty="0">
              <a:solidFill>
                <a:schemeClr val="tx1"/>
              </a:solidFill>
            </a:endParaRPr>
          </a:p>
        </p:txBody>
      </p:sp>
    </p:spTree>
    <p:extLst>
      <p:ext uri="{BB962C8B-B14F-4D97-AF65-F5344CB8AC3E}">
        <p14:creationId xmlns:p14="http://schemas.microsoft.com/office/powerpoint/2010/main" val="9230318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6D8104-C877-B2DF-DE1B-EB6FE0B78A8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B0F2F5D-953D-0CD8-8FE4-34F163BFCBBB}"/>
              </a:ext>
            </a:extLst>
          </p:cNvPr>
          <p:cNvSpPr>
            <a:spLocks noGrp="1"/>
          </p:cNvSpPr>
          <p:nvPr>
            <p:ph type="title"/>
          </p:nvPr>
        </p:nvSpPr>
        <p:spPr/>
        <p:txBody>
          <a:bodyPr/>
          <a:lstStyle/>
          <a:p>
            <a:r>
              <a:rPr lang="en-US" b="1" dirty="0"/>
              <a:t>Part I</a:t>
            </a:r>
            <a:r>
              <a:rPr lang="en-US" dirty="0"/>
              <a:t>: What the scanner does</a:t>
            </a:r>
          </a:p>
        </p:txBody>
      </p:sp>
      <p:sp>
        <p:nvSpPr>
          <p:cNvPr id="5" name="Content Placeholder 4">
            <a:extLst>
              <a:ext uri="{FF2B5EF4-FFF2-40B4-BE49-F238E27FC236}">
                <a16:creationId xmlns:a16="http://schemas.microsoft.com/office/drawing/2014/main" id="{5E974A13-942E-37D2-AA67-C0729092EA74}"/>
              </a:ext>
            </a:extLst>
          </p:cNvPr>
          <p:cNvSpPr>
            <a:spLocks noGrp="1"/>
          </p:cNvSpPr>
          <p:nvPr>
            <p:ph idx="1"/>
          </p:nvPr>
        </p:nvSpPr>
        <p:spPr/>
        <p:txBody>
          <a:bodyPr/>
          <a:lstStyle/>
          <a:p>
            <a:pPr marL="0" indent="0">
              <a:buNone/>
            </a:pPr>
            <a:r>
              <a:rPr lang="en-US" b="1" u="sng" dirty="0"/>
              <a:t>Summary</a:t>
            </a:r>
          </a:p>
          <a:p>
            <a:r>
              <a:rPr lang="en-US" dirty="0"/>
              <a:t>Fourier transform</a:t>
            </a:r>
          </a:p>
          <a:p>
            <a:r>
              <a:rPr lang="en-US" dirty="0"/>
              <a:t>GNL warp correction</a:t>
            </a:r>
          </a:p>
          <a:p>
            <a:r>
              <a:rPr lang="en-US" dirty="0"/>
              <a:t>Eddy current correction</a:t>
            </a:r>
          </a:p>
          <a:p>
            <a:r>
              <a:rPr lang="en-US" dirty="0"/>
              <a:t>Intensity non-uniformity correction</a:t>
            </a:r>
          </a:p>
          <a:p>
            <a:r>
              <a:rPr lang="en-US" dirty="0"/>
              <a:t>And more!</a:t>
            </a:r>
          </a:p>
          <a:p>
            <a:endParaRPr lang="en-US" dirty="0"/>
          </a:p>
        </p:txBody>
      </p:sp>
      <p:pic>
        <p:nvPicPr>
          <p:cNvPr id="6" name="Graphic 5" descr="Checkmark with solid fill">
            <a:extLst>
              <a:ext uri="{FF2B5EF4-FFF2-40B4-BE49-F238E27FC236}">
                <a16:creationId xmlns:a16="http://schemas.microsoft.com/office/drawing/2014/main" id="{F825EA4A-D044-6819-1833-8C912D5AEA4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924729" y="2250040"/>
            <a:ext cx="347607" cy="510533"/>
          </a:xfrm>
          <a:prstGeom prst="rect">
            <a:avLst/>
          </a:prstGeom>
        </p:spPr>
      </p:pic>
      <p:pic>
        <p:nvPicPr>
          <p:cNvPr id="7" name="Graphic 6" descr="Checkmark with solid fill">
            <a:extLst>
              <a:ext uri="{FF2B5EF4-FFF2-40B4-BE49-F238E27FC236}">
                <a16:creationId xmlns:a16="http://schemas.microsoft.com/office/drawing/2014/main" id="{12E2B017-5FB8-ACDD-3DCD-CCF81D3638D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446999" y="2760573"/>
            <a:ext cx="347607" cy="510533"/>
          </a:xfrm>
          <a:prstGeom prst="rect">
            <a:avLst/>
          </a:prstGeom>
        </p:spPr>
      </p:pic>
      <p:pic>
        <p:nvPicPr>
          <p:cNvPr id="8" name="Graphic 7" descr="Checkmark with solid fill">
            <a:extLst>
              <a:ext uri="{FF2B5EF4-FFF2-40B4-BE49-F238E27FC236}">
                <a16:creationId xmlns:a16="http://schemas.microsoft.com/office/drawing/2014/main" id="{8EB093D6-E102-EC77-0369-F1FC5BB263D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868239" y="3271106"/>
            <a:ext cx="347607" cy="510533"/>
          </a:xfrm>
          <a:prstGeom prst="rect">
            <a:avLst/>
          </a:prstGeom>
        </p:spPr>
      </p:pic>
      <p:pic>
        <p:nvPicPr>
          <p:cNvPr id="11" name="Graphic 10" descr="Close with solid fill">
            <a:extLst>
              <a:ext uri="{FF2B5EF4-FFF2-40B4-BE49-F238E27FC236}">
                <a16:creationId xmlns:a16="http://schemas.microsoft.com/office/drawing/2014/main" id="{1072A869-24A2-BF81-51A1-CC0E5F7DC51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576922" y="3865651"/>
            <a:ext cx="510534" cy="510534"/>
          </a:xfrm>
          <a:prstGeom prst="rect">
            <a:avLst/>
          </a:prstGeom>
        </p:spPr>
      </p:pic>
    </p:spTree>
    <p:extLst>
      <p:ext uri="{BB962C8B-B14F-4D97-AF65-F5344CB8AC3E}">
        <p14:creationId xmlns:p14="http://schemas.microsoft.com/office/powerpoint/2010/main" val="30637385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
                                            <p:txEl>
                                              <p:pRg st="4" end="4"/>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EC8F58-7C75-EC16-66ED-8531A3D8A55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5548266-862D-2777-2C8B-96D82F847B75}"/>
              </a:ext>
            </a:extLst>
          </p:cNvPr>
          <p:cNvSpPr>
            <a:spLocks noGrp="1"/>
          </p:cNvSpPr>
          <p:nvPr>
            <p:ph type="title"/>
          </p:nvPr>
        </p:nvSpPr>
        <p:spPr/>
        <p:txBody>
          <a:bodyPr/>
          <a:lstStyle/>
          <a:p>
            <a:r>
              <a:rPr lang="en-US" b="1" dirty="0"/>
              <a:t>Part II</a:t>
            </a:r>
            <a:r>
              <a:rPr lang="en-US" dirty="0"/>
              <a:t>: What the scanner doesn’t do</a:t>
            </a:r>
          </a:p>
        </p:txBody>
      </p:sp>
      <p:pic>
        <p:nvPicPr>
          <p:cNvPr id="384" name="Google Shape;384;p37"/>
          <p:cNvPicPr preferRelativeResize="0"/>
          <p:nvPr/>
        </p:nvPicPr>
        <p:blipFill rotWithShape="1">
          <a:blip r:embed="rId3">
            <a:alphaModFix/>
          </a:blip>
          <a:srcRect/>
          <a:stretch/>
        </p:blipFill>
        <p:spPr>
          <a:xfrm>
            <a:off x="2698377" y="1457319"/>
            <a:ext cx="6795245" cy="5094632"/>
          </a:xfrm>
          <a:prstGeom prst="rect">
            <a:avLst/>
          </a:prstGeom>
          <a:noFill/>
          <a:ln>
            <a:noFill/>
          </a:ln>
        </p:spPr>
      </p:pic>
      <p:sp>
        <p:nvSpPr>
          <p:cNvPr id="11" name="Rectangle: Rounded Corners 10">
            <a:extLst>
              <a:ext uri="{FF2B5EF4-FFF2-40B4-BE49-F238E27FC236}">
                <a16:creationId xmlns:a16="http://schemas.microsoft.com/office/drawing/2014/main" id="{7F0C04A3-D69C-612E-45FE-A0D1E8E46235}"/>
              </a:ext>
            </a:extLst>
          </p:cNvPr>
          <p:cNvSpPr/>
          <p:nvPr/>
        </p:nvSpPr>
        <p:spPr>
          <a:xfrm>
            <a:off x="1559958" y="3044001"/>
            <a:ext cx="9072081" cy="1243173"/>
          </a:xfrm>
          <a:prstGeom prst="roundRect">
            <a:avLst/>
          </a:prstGeom>
          <a:solidFill>
            <a:schemeClr val="bg1">
              <a:alpha val="83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b="1" dirty="0">
                <a:solidFill>
                  <a:schemeClr val="tx1"/>
                </a:solidFill>
              </a:rPr>
              <a:t>Location. Location. Location.</a:t>
            </a:r>
          </a:p>
        </p:txBody>
      </p:sp>
      <p:pic>
        <p:nvPicPr>
          <p:cNvPr id="5126" name="Picture 6" descr="Location, Location, Location">
            <a:extLst>
              <a:ext uri="{FF2B5EF4-FFF2-40B4-BE49-F238E27FC236}">
                <a16:creationId xmlns:a16="http://schemas.microsoft.com/office/drawing/2014/main" id="{E2659263-E92A-CCC2-CCB4-E2AA4301A6D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05753" y="1457319"/>
            <a:ext cx="9980489" cy="51072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873247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32" presetClass="emph" presetSubtype="0" fill="hold" grpId="1" nodeType="afterEffect">
                                  <p:stCondLst>
                                    <p:cond delay="0"/>
                                  </p:stCondLst>
                                  <p:childTnLst>
                                    <p:animRot by="120000">
                                      <p:cBhvr>
                                        <p:cTn id="11" dur="100" fill="hold">
                                          <p:stCondLst>
                                            <p:cond delay="0"/>
                                          </p:stCondLst>
                                        </p:cTn>
                                        <p:tgtEl>
                                          <p:spTgt spid="11"/>
                                        </p:tgtEl>
                                        <p:attrNameLst>
                                          <p:attrName>r</p:attrName>
                                        </p:attrNameLst>
                                      </p:cBhvr>
                                    </p:animRot>
                                    <p:animRot by="-240000">
                                      <p:cBhvr>
                                        <p:cTn id="12" dur="200" fill="hold">
                                          <p:stCondLst>
                                            <p:cond delay="200"/>
                                          </p:stCondLst>
                                        </p:cTn>
                                        <p:tgtEl>
                                          <p:spTgt spid="11"/>
                                        </p:tgtEl>
                                        <p:attrNameLst>
                                          <p:attrName>r</p:attrName>
                                        </p:attrNameLst>
                                      </p:cBhvr>
                                    </p:animRot>
                                    <p:animRot by="240000">
                                      <p:cBhvr>
                                        <p:cTn id="13" dur="200" fill="hold">
                                          <p:stCondLst>
                                            <p:cond delay="400"/>
                                          </p:stCondLst>
                                        </p:cTn>
                                        <p:tgtEl>
                                          <p:spTgt spid="11"/>
                                        </p:tgtEl>
                                        <p:attrNameLst>
                                          <p:attrName>r</p:attrName>
                                        </p:attrNameLst>
                                      </p:cBhvr>
                                    </p:animRot>
                                    <p:animRot by="-240000">
                                      <p:cBhvr>
                                        <p:cTn id="14" dur="200" fill="hold">
                                          <p:stCondLst>
                                            <p:cond delay="600"/>
                                          </p:stCondLst>
                                        </p:cTn>
                                        <p:tgtEl>
                                          <p:spTgt spid="11"/>
                                        </p:tgtEl>
                                        <p:attrNameLst>
                                          <p:attrName>r</p:attrName>
                                        </p:attrNameLst>
                                      </p:cBhvr>
                                    </p:animRot>
                                    <p:animRot by="120000">
                                      <p:cBhvr>
                                        <p:cTn id="15" dur="200" fill="hold">
                                          <p:stCondLst>
                                            <p:cond delay="800"/>
                                          </p:stCondLst>
                                        </p:cTn>
                                        <p:tgtEl>
                                          <p:spTgt spid="11"/>
                                        </p:tgtEl>
                                        <p:attrNameLst>
                                          <p:attrName>r</p:attrName>
                                        </p:attrNameLst>
                                      </p:cBhvr>
                                    </p:animRo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5126"/>
                                        </p:tgtEl>
                                        <p:attrNameLst>
                                          <p:attrName>style.visibility</p:attrName>
                                        </p:attrNameLst>
                                      </p:cBhvr>
                                      <p:to>
                                        <p:strVal val="visible"/>
                                      </p:to>
                                    </p:set>
                                    <p:animEffect transition="in" filter="fade">
                                      <p:cBhvr>
                                        <p:cTn id="20" dur="3000"/>
                                        <p:tgtEl>
                                          <p:spTgt spid="51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1" grpId="1"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85ABE9-F037-FEA8-574A-8E215D19F507}"/>
              </a:ext>
            </a:extLst>
          </p:cNvPr>
          <p:cNvSpPr>
            <a:spLocks noGrp="1"/>
          </p:cNvSpPr>
          <p:nvPr>
            <p:ph type="title"/>
          </p:nvPr>
        </p:nvSpPr>
        <p:spPr/>
        <p:txBody>
          <a:bodyPr/>
          <a:lstStyle/>
          <a:p>
            <a:r>
              <a:rPr lang="en-US" b="1" dirty="0"/>
              <a:t>Part II</a:t>
            </a:r>
            <a:r>
              <a:rPr lang="en-US" dirty="0"/>
              <a:t>: What the scanner doesn’t do</a:t>
            </a:r>
          </a:p>
        </p:txBody>
      </p:sp>
      <p:sp>
        <p:nvSpPr>
          <p:cNvPr id="3" name="Content Placeholder 2">
            <a:extLst>
              <a:ext uri="{FF2B5EF4-FFF2-40B4-BE49-F238E27FC236}">
                <a16:creationId xmlns:a16="http://schemas.microsoft.com/office/drawing/2014/main" id="{1DAD7BDF-1EE3-7EDB-A24A-9D98451D6FA5}"/>
              </a:ext>
            </a:extLst>
          </p:cNvPr>
          <p:cNvSpPr>
            <a:spLocks noGrp="1"/>
          </p:cNvSpPr>
          <p:nvPr>
            <p:ph idx="1"/>
          </p:nvPr>
        </p:nvSpPr>
        <p:spPr/>
        <p:txBody>
          <a:bodyPr/>
          <a:lstStyle/>
          <a:p>
            <a:r>
              <a:rPr lang="en-US" dirty="0"/>
              <a:t>Convert </a:t>
            </a:r>
            <a:r>
              <a:rPr lang="en-US" b="1" dirty="0"/>
              <a:t>DICOM </a:t>
            </a:r>
            <a:r>
              <a:rPr lang="en-US" b="1" dirty="0">
                <a:sym typeface="Wingdings" panose="05000000000000000000" pitchFamily="2" charset="2"/>
              </a:rPr>
              <a:t></a:t>
            </a:r>
            <a:r>
              <a:rPr lang="en-US" b="1" dirty="0"/>
              <a:t> </a:t>
            </a:r>
            <a:r>
              <a:rPr lang="en-US" b="1" dirty="0" err="1"/>
              <a:t>NIfTI</a:t>
            </a:r>
            <a:r>
              <a:rPr lang="en-US" b="1" dirty="0"/>
              <a:t> </a:t>
            </a:r>
            <a:r>
              <a:rPr lang="en-US" dirty="0"/>
              <a:t>(discussed last week)</a:t>
            </a:r>
          </a:p>
        </p:txBody>
      </p:sp>
      <p:pic>
        <p:nvPicPr>
          <p:cNvPr id="6" name="Picture 5">
            <a:extLst>
              <a:ext uri="{FF2B5EF4-FFF2-40B4-BE49-F238E27FC236}">
                <a16:creationId xmlns:a16="http://schemas.microsoft.com/office/drawing/2014/main" id="{9520F101-9239-F91E-E32E-8FC608B3A3E7}"/>
              </a:ext>
            </a:extLst>
          </p:cNvPr>
          <p:cNvPicPr>
            <a:picLocks noChangeAspect="1"/>
          </p:cNvPicPr>
          <p:nvPr/>
        </p:nvPicPr>
        <p:blipFill>
          <a:blip r:embed="rId2"/>
          <a:stretch>
            <a:fillRect/>
          </a:stretch>
        </p:blipFill>
        <p:spPr>
          <a:xfrm>
            <a:off x="2581887" y="2798017"/>
            <a:ext cx="7028225" cy="3205658"/>
          </a:xfrm>
          <a:prstGeom prst="rect">
            <a:avLst/>
          </a:prstGeom>
        </p:spPr>
      </p:pic>
    </p:spTree>
    <p:extLst>
      <p:ext uri="{BB962C8B-B14F-4D97-AF65-F5344CB8AC3E}">
        <p14:creationId xmlns:p14="http://schemas.microsoft.com/office/powerpoint/2010/main" val="21828350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984C64-0626-632F-45AD-BC4D2CB1CC7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CB85B65-5E1A-57FE-EE27-B5C1A6A5054F}"/>
              </a:ext>
            </a:extLst>
          </p:cNvPr>
          <p:cNvSpPr>
            <a:spLocks noGrp="1"/>
          </p:cNvSpPr>
          <p:nvPr>
            <p:ph type="title"/>
          </p:nvPr>
        </p:nvSpPr>
        <p:spPr/>
        <p:txBody>
          <a:bodyPr/>
          <a:lstStyle/>
          <a:p>
            <a:r>
              <a:rPr lang="en-US" b="1" dirty="0"/>
              <a:t>Part II</a:t>
            </a:r>
            <a:r>
              <a:rPr lang="en-US" dirty="0"/>
              <a:t>: What the scanner doesn’t do</a:t>
            </a:r>
          </a:p>
        </p:txBody>
      </p:sp>
      <p:sp>
        <p:nvSpPr>
          <p:cNvPr id="2" name="Content Placeholder 1">
            <a:extLst>
              <a:ext uri="{FF2B5EF4-FFF2-40B4-BE49-F238E27FC236}">
                <a16:creationId xmlns:a16="http://schemas.microsoft.com/office/drawing/2014/main" id="{27355D8C-D087-4E96-03BC-9002591580DD}"/>
              </a:ext>
            </a:extLst>
          </p:cNvPr>
          <p:cNvSpPr>
            <a:spLocks noGrp="1"/>
          </p:cNvSpPr>
          <p:nvPr>
            <p:ph idx="1"/>
          </p:nvPr>
        </p:nvSpPr>
        <p:spPr>
          <a:xfrm>
            <a:off x="838200" y="1825625"/>
            <a:ext cx="5726987" cy="4351338"/>
          </a:xfrm>
        </p:spPr>
        <p:txBody>
          <a:bodyPr/>
          <a:lstStyle/>
          <a:p>
            <a:pPr marL="0" indent="0">
              <a:buNone/>
            </a:pPr>
            <a:r>
              <a:rPr lang="en-US" u="sng" dirty="0"/>
              <a:t>Structural</a:t>
            </a:r>
          </a:p>
          <a:p>
            <a:r>
              <a:rPr lang="en-US" b="1" dirty="0"/>
              <a:t>Bias-field correction </a:t>
            </a:r>
            <a:r>
              <a:rPr lang="en-US" dirty="0"/>
              <a:t>(N4ITK algo)</a:t>
            </a:r>
          </a:p>
          <a:p>
            <a:pPr lvl="1"/>
            <a:r>
              <a:rPr lang="en-US" dirty="0"/>
              <a:t>Don’t rely on the scanner!</a:t>
            </a:r>
          </a:p>
          <a:p>
            <a:pPr lvl="1"/>
            <a:r>
              <a:rPr lang="en-US" dirty="0"/>
              <a:t>Uncorrected bias inflates tissue-class overlap</a:t>
            </a:r>
          </a:p>
          <a:p>
            <a:pPr lvl="1"/>
            <a:r>
              <a:rPr lang="en-US" dirty="0"/>
              <a:t>Helps with future steps</a:t>
            </a:r>
          </a:p>
        </p:txBody>
      </p:sp>
      <p:pic>
        <p:nvPicPr>
          <p:cNvPr id="12290" name="Picture 2" descr="Fig. 1">
            <a:extLst>
              <a:ext uri="{FF2B5EF4-FFF2-40B4-BE49-F238E27FC236}">
                <a16:creationId xmlns:a16="http://schemas.microsoft.com/office/drawing/2014/main" id="{F284A822-8FE5-13B8-78CC-F5C19C0B85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23807" y="1573212"/>
            <a:ext cx="4273139" cy="48561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448281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64C685-72F6-0EA4-AFFF-14EEA174A48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89B5C46-BBB7-94A1-C693-3DBD4993B0B8}"/>
              </a:ext>
            </a:extLst>
          </p:cNvPr>
          <p:cNvSpPr>
            <a:spLocks noGrp="1"/>
          </p:cNvSpPr>
          <p:nvPr>
            <p:ph type="title"/>
          </p:nvPr>
        </p:nvSpPr>
        <p:spPr/>
        <p:txBody>
          <a:bodyPr/>
          <a:lstStyle/>
          <a:p>
            <a:r>
              <a:rPr lang="en-US" b="1" dirty="0"/>
              <a:t>Part II</a:t>
            </a:r>
            <a:r>
              <a:rPr lang="en-US" dirty="0"/>
              <a:t>: What the scanner doesn’t do</a:t>
            </a:r>
          </a:p>
        </p:txBody>
      </p:sp>
      <p:sp>
        <p:nvSpPr>
          <p:cNvPr id="5" name="Content Placeholder 4">
            <a:extLst>
              <a:ext uri="{FF2B5EF4-FFF2-40B4-BE49-F238E27FC236}">
                <a16:creationId xmlns:a16="http://schemas.microsoft.com/office/drawing/2014/main" id="{DB7A637A-6762-58D1-94EE-A2398B38C0B8}"/>
              </a:ext>
            </a:extLst>
          </p:cNvPr>
          <p:cNvSpPr>
            <a:spLocks noGrp="1"/>
          </p:cNvSpPr>
          <p:nvPr>
            <p:ph idx="1"/>
          </p:nvPr>
        </p:nvSpPr>
        <p:spPr>
          <a:xfrm>
            <a:off x="838200" y="1825625"/>
            <a:ext cx="10515600" cy="1193800"/>
          </a:xfrm>
        </p:spPr>
        <p:txBody>
          <a:bodyPr/>
          <a:lstStyle/>
          <a:p>
            <a:pPr marL="0" indent="0">
              <a:buNone/>
            </a:pPr>
            <a:r>
              <a:rPr lang="en-US" u="sng" dirty="0"/>
              <a:t>Structural</a:t>
            </a:r>
          </a:p>
          <a:p>
            <a:r>
              <a:rPr lang="en-US" b="1" dirty="0"/>
              <a:t>Skull-stripping</a:t>
            </a:r>
            <a:r>
              <a:rPr lang="en-US" dirty="0"/>
              <a:t> – gold standard is </a:t>
            </a:r>
            <a:r>
              <a:rPr lang="en-US" i="1" dirty="0"/>
              <a:t>manual</a:t>
            </a:r>
            <a:r>
              <a:rPr lang="en-US" dirty="0"/>
              <a:t> (yikes!)</a:t>
            </a:r>
          </a:p>
        </p:txBody>
      </p:sp>
      <p:pic>
        <p:nvPicPr>
          <p:cNvPr id="11266" name="Picture 2" descr="FreeSurfer Tutorial #13: SkullStripping and Pial Surface Errors — Andy's  Brain Book 1.0 documentation">
            <a:extLst>
              <a:ext uri="{FF2B5EF4-FFF2-40B4-BE49-F238E27FC236}">
                <a16:creationId xmlns:a16="http://schemas.microsoft.com/office/drawing/2014/main" id="{379D5549-1763-9EEE-AE01-582DFF2360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77195" y="3019425"/>
            <a:ext cx="6569573" cy="3150487"/>
          </a:xfrm>
          <a:prstGeom prst="rect">
            <a:avLst/>
          </a:prstGeom>
          <a:noFill/>
          <a:extLst>
            <a:ext uri="{909E8E84-426E-40DD-AFC4-6F175D3DCCD1}">
              <a14:hiddenFill xmlns:a14="http://schemas.microsoft.com/office/drawing/2010/main">
                <a:solidFill>
                  <a:srgbClr val="FFFFFF"/>
                </a:solidFill>
              </a14:hiddenFill>
            </a:ext>
          </a:extLst>
        </p:spPr>
      </p:pic>
      <p:pic>
        <p:nvPicPr>
          <p:cNvPr id="11268" name="Picture 4" descr="A general skull stripping of multiparametric brain MRIs using 3D  convolutional neural network | Scientific Reports">
            <a:extLst>
              <a:ext uri="{FF2B5EF4-FFF2-40B4-BE49-F238E27FC236}">
                <a16:creationId xmlns:a16="http://schemas.microsoft.com/office/drawing/2014/main" id="{DED99425-BFB4-C555-A9D5-7BD7151472E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32397" y="3019425"/>
            <a:ext cx="8814371" cy="33421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36725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268"/>
                                        </p:tgtEl>
                                        <p:attrNameLst>
                                          <p:attrName>style.visibility</p:attrName>
                                        </p:attrNameLst>
                                      </p:cBhvr>
                                      <p:to>
                                        <p:strVal val="visible"/>
                                      </p:to>
                                    </p:set>
                                    <p:animEffect transition="in" filter="fade">
                                      <p:cBhvr>
                                        <p:cTn id="7" dur="500"/>
                                        <p:tgtEl>
                                          <p:spTgt spid="112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1D6B1C-018D-5486-028C-B67EEDFEBAA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03B346A-9301-2AE3-2BDC-15412F609883}"/>
              </a:ext>
            </a:extLst>
          </p:cNvPr>
          <p:cNvSpPr>
            <a:spLocks noGrp="1"/>
          </p:cNvSpPr>
          <p:nvPr>
            <p:ph type="title"/>
          </p:nvPr>
        </p:nvSpPr>
        <p:spPr/>
        <p:txBody>
          <a:bodyPr/>
          <a:lstStyle/>
          <a:p>
            <a:r>
              <a:rPr lang="en-US" b="1" dirty="0"/>
              <a:t>Part II</a:t>
            </a:r>
            <a:r>
              <a:rPr lang="en-US" dirty="0"/>
              <a:t>: What the scanner doesn’t do</a:t>
            </a:r>
          </a:p>
        </p:txBody>
      </p:sp>
      <p:sp>
        <p:nvSpPr>
          <p:cNvPr id="5" name="Content Placeholder 4">
            <a:extLst>
              <a:ext uri="{FF2B5EF4-FFF2-40B4-BE49-F238E27FC236}">
                <a16:creationId xmlns:a16="http://schemas.microsoft.com/office/drawing/2014/main" id="{10AF617C-AF2C-944A-7226-94024E8E1578}"/>
              </a:ext>
            </a:extLst>
          </p:cNvPr>
          <p:cNvSpPr>
            <a:spLocks noGrp="1"/>
          </p:cNvSpPr>
          <p:nvPr>
            <p:ph idx="1"/>
          </p:nvPr>
        </p:nvSpPr>
        <p:spPr>
          <a:xfrm>
            <a:off x="838200" y="1825624"/>
            <a:ext cx="3887912" cy="4215580"/>
          </a:xfrm>
        </p:spPr>
        <p:txBody>
          <a:bodyPr>
            <a:normAutofit/>
          </a:bodyPr>
          <a:lstStyle/>
          <a:p>
            <a:pPr marL="0" indent="0">
              <a:buNone/>
            </a:pPr>
            <a:r>
              <a:rPr lang="en-US" u="sng" dirty="0"/>
              <a:t>Structural</a:t>
            </a:r>
          </a:p>
          <a:p>
            <a:r>
              <a:rPr lang="en-US" b="1" dirty="0"/>
              <a:t>Tissue segmentation</a:t>
            </a:r>
          </a:p>
          <a:p>
            <a:r>
              <a:rPr lang="en-US" dirty="0"/>
              <a:t>Expectation-Maximization with Markov random field smoothing</a:t>
            </a:r>
          </a:p>
          <a:p>
            <a:r>
              <a:rPr lang="en-US" dirty="0"/>
              <a:t>Often using an existing probabilistic tissue map as a prior</a:t>
            </a:r>
          </a:p>
        </p:txBody>
      </p:sp>
      <p:pic>
        <p:nvPicPr>
          <p:cNvPr id="2" name="Google Shape;232;p20">
            <a:extLst>
              <a:ext uri="{FF2B5EF4-FFF2-40B4-BE49-F238E27FC236}">
                <a16:creationId xmlns:a16="http://schemas.microsoft.com/office/drawing/2014/main" id="{8CFE3299-8294-5977-066C-4E286558D19F}"/>
              </a:ext>
            </a:extLst>
          </p:cNvPr>
          <p:cNvPicPr preferRelativeResize="0"/>
          <p:nvPr/>
        </p:nvPicPr>
        <p:blipFill rotWithShape="1">
          <a:blip r:embed="rId3">
            <a:alphaModFix/>
          </a:blip>
          <a:srcRect/>
          <a:stretch/>
        </p:blipFill>
        <p:spPr>
          <a:xfrm>
            <a:off x="5259467" y="2264702"/>
            <a:ext cx="3032160" cy="3922033"/>
          </a:xfrm>
          <a:prstGeom prst="rect">
            <a:avLst/>
          </a:prstGeom>
          <a:noFill/>
          <a:ln>
            <a:noFill/>
          </a:ln>
        </p:spPr>
      </p:pic>
      <p:pic>
        <p:nvPicPr>
          <p:cNvPr id="3" name="Google Shape;233;p20">
            <a:extLst>
              <a:ext uri="{FF2B5EF4-FFF2-40B4-BE49-F238E27FC236}">
                <a16:creationId xmlns:a16="http://schemas.microsoft.com/office/drawing/2014/main" id="{5CFB74F9-6AD3-0159-7819-95DFD963D979}"/>
              </a:ext>
            </a:extLst>
          </p:cNvPr>
          <p:cNvPicPr preferRelativeResize="0"/>
          <p:nvPr/>
        </p:nvPicPr>
        <p:blipFill rotWithShape="1">
          <a:blip r:embed="rId4">
            <a:alphaModFix/>
          </a:blip>
          <a:srcRect/>
          <a:stretch/>
        </p:blipFill>
        <p:spPr>
          <a:xfrm>
            <a:off x="8645817" y="2264700"/>
            <a:ext cx="2997883" cy="3922032"/>
          </a:xfrm>
          <a:prstGeom prst="rect">
            <a:avLst/>
          </a:prstGeom>
          <a:noFill/>
          <a:ln>
            <a:noFill/>
          </a:ln>
        </p:spPr>
      </p:pic>
      <p:pic>
        <p:nvPicPr>
          <p:cNvPr id="20482" name="Picture 2" descr="Tissue segmentation: qualitative analysis. Normalized tissue... | Download  Scientific Diagram">
            <a:extLst>
              <a:ext uri="{FF2B5EF4-FFF2-40B4-BE49-F238E27FC236}">
                <a16:creationId xmlns:a16="http://schemas.microsoft.com/office/drawing/2014/main" id="{F182650D-7148-9314-6AEB-08DC19870E8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16098" y="2956261"/>
            <a:ext cx="6740617" cy="27475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464165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0482"/>
                                        </p:tgtEl>
                                        <p:attrNameLst>
                                          <p:attrName>style.visibility</p:attrName>
                                        </p:attrNameLst>
                                      </p:cBhvr>
                                      <p:to>
                                        <p:strVal val="visible"/>
                                      </p:to>
                                    </p:set>
                                    <p:anim calcmode="lin" valueType="num">
                                      <p:cBhvr additive="base">
                                        <p:cTn id="7" dur="500" fill="hold"/>
                                        <p:tgtEl>
                                          <p:spTgt spid="20482"/>
                                        </p:tgtEl>
                                        <p:attrNameLst>
                                          <p:attrName>ppt_x</p:attrName>
                                        </p:attrNameLst>
                                      </p:cBhvr>
                                      <p:tavLst>
                                        <p:tav tm="0">
                                          <p:val>
                                            <p:strVal val="#ppt_x"/>
                                          </p:val>
                                        </p:tav>
                                        <p:tav tm="100000">
                                          <p:val>
                                            <p:strVal val="#ppt_x"/>
                                          </p:val>
                                        </p:tav>
                                      </p:tavLst>
                                    </p:anim>
                                    <p:anim calcmode="lin" valueType="num">
                                      <p:cBhvr additive="base">
                                        <p:cTn id="8" dur="500" fill="hold"/>
                                        <p:tgtEl>
                                          <p:spTgt spid="2048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816E27-3A46-7A09-4D2B-7E9318C6507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47601D6-380A-3CAE-B20D-660D28750E57}"/>
              </a:ext>
            </a:extLst>
          </p:cNvPr>
          <p:cNvSpPr>
            <a:spLocks noGrp="1"/>
          </p:cNvSpPr>
          <p:nvPr>
            <p:ph type="title"/>
          </p:nvPr>
        </p:nvSpPr>
        <p:spPr/>
        <p:txBody>
          <a:bodyPr/>
          <a:lstStyle/>
          <a:p>
            <a:r>
              <a:rPr lang="en-US" b="1" dirty="0"/>
              <a:t>Part II</a:t>
            </a:r>
            <a:r>
              <a:rPr lang="en-US" dirty="0"/>
              <a:t>: What the scanner doesn’t do</a:t>
            </a:r>
          </a:p>
        </p:txBody>
      </p:sp>
      <p:pic>
        <p:nvPicPr>
          <p:cNvPr id="3" name="Google Shape;401;p39">
            <a:extLst>
              <a:ext uri="{FF2B5EF4-FFF2-40B4-BE49-F238E27FC236}">
                <a16:creationId xmlns:a16="http://schemas.microsoft.com/office/drawing/2014/main" id="{9AE68CC2-27EA-F6AF-BB18-CDC35E8DC00C}"/>
              </a:ext>
            </a:extLst>
          </p:cNvPr>
          <p:cNvPicPr preferRelativeResize="0"/>
          <p:nvPr/>
        </p:nvPicPr>
        <p:blipFill rotWithShape="1">
          <a:blip r:embed="rId2">
            <a:alphaModFix/>
          </a:blip>
          <a:srcRect/>
          <a:stretch/>
        </p:blipFill>
        <p:spPr>
          <a:xfrm>
            <a:off x="838200" y="3449659"/>
            <a:ext cx="6123526" cy="2598316"/>
          </a:xfrm>
          <a:prstGeom prst="rect">
            <a:avLst/>
          </a:prstGeom>
          <a:noFill/>
          <a:ln>
            <a:noFill/>
          </a:ln>
        </p:spPr>
      </p:pic>
      <p:sp>
        <p:nvSpPr>
          <p:cNvPr id="7" name="Google Shape;403;p39">
            <a:extLst>
              <a:ext uri="{FF2B5EF4-FFF2-40B4-BE49-F238E27FC236}">
                <a16:creationId xmlns:a16="http://schemas.microsoft.com/office/drawing/2014/main" id="{AAC74391-91A4-9774-8E09-408C5B9C17C4}"/>
              </a:ext>
            </a:extLst>
          </p:cNvPr>
          <p:cNvSpPr txBox="1"/>
          <p:nvPr/>
        </p:nvSpPr>
        <p:spPr>
          <a:xfrm>
            <a:off x="-962025" y="6047975"/>
            <a:ext cx="5593800" cy="4449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dirty="0">
                <a:solidFill>
                  <a:srgbClr val="222222"/>
                </a:solidFill>
                <a:highlight>
                  <a:srgbClr val="FFFFFF"/>
                </a:highlight>
                <a:latin typeface="Arial"/>
                <a:ea typeface="Arial"/>
                <a:cs typeface="Arial"/>
                <a:sym typeface="Arial"/>
              </a:rPr>
              <a:t>Rokem, A., &amp; Yarkoni, T. (2023)</a:t>
            </a:r>
            <a:endParaRPr sz="1200" b="0" i="0" u="none" strike="noStrike" cap="none" dirty="0">
              <a:solidFill>
                <a:srgbClr val="000000"/>
              </a:solidFill>
              <a:latin typeface="Arial"/>
              <a:ea typeface="Arial"/>
              <a:cs typeface="Arial"/>
              <a:sym typeface="Arial"/>
            </a:endParaRPr>
          </a:p>
        </p:txBody>
      </p:sp>
      <p:pic>
        <p:nvPicPr>
          <p:cNvPr id="8" name="Google Shape;402;p39">
            <a:extLst>
              <a:ext uri="{FF2B5EF4-FFF2-40B4-BE49-F238E27FC236}">
                <a16:creationId xmlns:a16="http://schemas.microsoft.com/office/drawing/2014/main" id="{CB36EC90-A2CF-39C8-FC96-7DF472B0D116}"/>
              </a:ext>
            </a:extLst>
          </p:cNvPr>
          <p:cNvPicPr preferRelativeResize="0"/>
          <p:nvPr/>
        </p:nvPicPr>
        <p:blipFill rotWithShape="1">
          <a:blip r:embed="rId3">
            <a:alphaModFix/>
          </a:blip>
          <a:srcRect/>
          <a:stretch/>
        </p:blipFill>
        <p:spPr>
          <a:xfrm>
            <a:off x="838200" y="3449659"/>
            <a:ext cx="6123524" cy="2598316"/>
          </a:xfrm>
          <a:prstGeom prst="rect">
            <a:avLst/>
          </a:prstGeom>
          <a:noFill/>
          <a:ln>
            <a:noFill/>
          </a:ln>
        </p:spPr>
      </p:pic>
      <p:sp>
        <p:nvSpPr>
          <p:cNvPr id="14" name="TextBox 13">
            <a:extLst>
              <a:ext uri="{FF2B5EF4-FFF2-40B4-BE49-F238E27FC236}">
                <a16:creationId xmlns:a16="http://schemas.microsoft.com/office/drawing/2014/main" id="{BF9F7B29-A9BB-673D-8390-A9BB6B58F45E}"/>
              </a:ext>
            </a:extLst>
          </p:cNvPr>
          <p:cNvSpPr txBox="1"/>
          <p:nvPr/>
        </p:nvSpPr>
        <p:spPr>
          <a:xfrm>
            <a:off x="7827001" y="3963987"/>
            <a:ext cx="2609635" cy="1938992"/>
          </a:xfrm>
          <a:prstGeom prst="rect">
            <a:avLst/>
          </a:prstGeom>
          <a:noFill/>
          <a:ln>
            <a:solidFill>
              <a:schemeClr val="tx1"/>
            </a:solidFill>
          </a:ln>
        </p:spPr>
        <p:txBody>
          <a:bodyPr wrap="square" rtlCol="0">
            <a:spAutoFit/>
          </a:bodyPr>
          <a:lstStyle/>
          <a:p>
            <a:pPr marL="342900" indent="-342900">
              <a:buFont typeface="Wingdings" panose="05000000000000000000" pitchFamily="2" charset="2"/>
              <a:buChar char="§"/>
            </a:pPr>
            <a:r>
              <a:rPr lang="en-US" sz="2400" dirty="0"/>
              <a:t>Translation</a:t>
            </a:r>
          </a:p>
          <a:p>
            <a:pPr marL="342900" indent="-342900">
              <a:buFont typeface="Wingdings" panose="05000000000000000000" pitchFamily="2" charset="2"/>
              <a:buChar char="§"/>
            </a:pPr>
            <a:r>
              <a:rPr lang="en-US" sz="2400" dirty="0"/>
              <a:t>Scaling</a:t>
            </a:r>
          </a:p>
          <a:p>
            <a:pPr marL="342900" indent="-342900">
              <a:buFont typeface="Wingdings" panose="05000000000000000000" pitchFamily="2" charset="2"/>
              <a:buChar char="§"/>
            </a:pPr>
            <a:r>
              <a:rPr lang="en-US" sz="2400" dirty="0"/>
              <a:t>Rotation</a:t>
            </a:r>
          </a:p>
          <a:p>
            <a:pPr marL="342900" indent="-342900">
              <a:buFont typeface="Wingdings" panose="05000000000000000000" pitchFamily="2" charset="2"/>
              <a:buChar char="§"/>
            </a:pPr>
            <a:r>
              <a:rPr lang="en-US" sz="2400" dirty="0"/>
              <a:t>Shearing</a:t>
            </a:r>
          </a:p>
          <a:p>
            <a:pPr marL="342900" indent="-342900">
              <a:buFont typeface="Wingdings" panose="05000000000000000000" pitchFamily="2" charset="2"/>
              <a:buChar char="§"/>
            </a:pPr>
            <a:r>
              <a:rPr lang="en-US" sz="2400" dirty="0"/>
              <a:t>Reflection</a:t>
            </a:r>
          </a:p>
        </p:txBody>
      </p:sp>
      <p:sp>
        <p:nvSpPr>
          <p:cNvPr id="18" name="Content Placeholder 4">
            <a:extLst>
              <a:ext uri="{FF2B5EF4-FFF2-40B4-BE49-F238E27FC236}">
                <a16:creationId xmlns:a16="http://schemas.microsoft.com/office/drawing/2014/main" id="{B89C110F-78A3-1889-D7B9-C95B1C8501C2}"/>
              </a:ext>
            </a:extLst>
          </p:cNvPr>
          <p:cNvSpPr txBox="1">
            <a:spLocks/>
          </p:cNvSpPr>
          <p:nvPr/>
        </p:nvSpPr>
        <p:spPr>
          <a:xfrm>
            <a:off x="838200" y="1825626"/>
            <a:ext cx="10515600" cy="1179134"/>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u="sng" dirty="0"/>
              <a:t>Structural</a:t>
            </a:r>
          </a:p>
          <a:p>
            <a:pPr marL="0" indent="0">
              <a:buFont typeface="Arial" panose="020B0604020202020204" pitchFamily="34" charset="0"/>
              <a:buNone/>
            </a:pPr>
            <a:r>
              <a:rPr lang="en-US" b="1" dirty="0"/>
              <a:t>Spatial Normalization</a:t>
            </a:r>
            <a:endParaRPr lang="en-US" u="sng" dirty="0"/>
          </a:p>
          <a:p>
            <a:r>
              <a:rPr lang="en-US" dirty="0"/>
              <a:t>Rigid “affine” transformations</a:t>
            </a:r>
          </a:p>
        </p:txBody>
      </p:sp>
    </p:spTree>
    <p:extLst>
      <p:ext uri="{BB962C8B-B14F-4D97-AF65-F5344CB8AC3E}">
        <p14:creationId xmlns:p14="http://schemas.microsoft.com/office/powerpoint/2010/main" val="22589993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10A1B6-606E-B8BB-6741-A687E18A4FD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6C56539-0C9C-28F8-F6DE-561E9195DF59}"/>
              </a:ext>
            </a:extLst>
          </p:cNvPr>
          <p:cNvSpPr>
            <a:spLocks noGrp="1"/>
          </p:cNvSpPr>
          <p:nvPr>
            <p:ph type="title"/>
          </p:nvPr>
        </p:nvSpPr>
        <p:spPr/>
        <p:txBody>
          <a:bodyPr/>
          <a:lstStyle/>
          <a:p>
            <a:r>
              <a:rPr lang="en-US" b="1" dirty="0"/>
              <a:t>Part II</a:t>
            </a:r>
            <a:r>
              <a:rPr lang="en-US" dirty="0"/>
              <a:t>: What the scanner doesn’t do</a:t>
            </a:r>
          </a:p>
        </p:txBody>
      </p:sp>
      <p:pic>
        <p:nvPicPr>
          <p:cNvPr id="10" name="Picture 2">
            <a:extLst>
              <a:ext uri="{FF2B5EF4-FFF2-40B4-BE49-F238E27FC236}">
                <a16:creationId xmlns:a16="http://schemas.microsoft.com/office/drawing/2014/main" id="{8AA473BB-0AFA-0A4B-EF9F-EB6960EDD71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5300" y="3853241"/>
            <a:ext cx="8661400" cy="2499175"/>
          </a:xfrm>
          <a:prstGeom prst="rect">
            <a:avLst/>
          </a:prstGeom>
          <a:noFill/>
          <a:extLst>
            <a:ext uri="{909E8E84-426E-40DD-AFC4-6F175D3DCCD1}">
              <a14:hiddenFill xmlns:a14="http://schemas.microsoft.com/office/drawing/2010/main">
                <a:solidFill>
                  <a:srgbClr val="FFFFFF"/>
                </a:solidFill>
              </a14:hiddenFill>
            </a:ext>
          </a:extLst>
        </p:spPr>
      </p:pic>
      <p:sp>
        <p:nvSpPr>
          <p:cNvPr id="14" name="Content Placeholder 4">
            <a:extLst>
              <a:ext uri="{FF2B5EF4-FFF2-40B4-BE49-F238E27FC236}">
                <a16:creationId xmlns:a16="http://schemas.microsoft.com/office/drawing/2014/main" id="{AC58CDA3-7E69-F205-94CF-0877BBE501F2}"/>
              </a:ext>
            </a:extLst>
          </p:cNvPr>
          <p:cNvSpPr txBox="1">
            <a:spLocks/>
          </p:cNvSpPr>
          <p:nvPr/>
        </p:nvSpPr>
        <p:spPr>
          <a:xfrm>
            <a:off x="838200" y="1825626"/>
            <a:ext cx="10515600" cy="1179134"/>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u="sng" dirty="0"/>
              <a:t>Structural</a:t>
            </a:r>
          </a:p>
          <a:p>
            <a:pPr marL="0" indent="0">
              <a:buFont typeface="Arial" panose="020B0604020202020204" pitchFamily="34" charset="0"/>
              <a:buNone/>
            </a:pPr>
            <a:r>
              <a:rPr lang="en-US" b="1" dirty="0"/>
              <a:t>Spatial Normalization</a:t>
            </a:r>
            <a:endParaRPr lang="en-US" u="sng" dirty="0"/>
          </a:p>
          <a:p>
            <a:r>
              <a:rPr lang="en-US" dirty="0"/>
              <a:t>Rigid “affine” transformations</a:t>
            </a:r>
          </a:p>
        </p:txBody>
      </p:sp>
      <p:grpSp>
        <p:nvGrpSpPr>
          <p:cNvPr id="15" name="Group 14">
            <a:extLst>
              <a:ext uri="{FF2B5EF4-FFF2-40B4-BE49-F238E27FC236}">
                <a16:creationId xmlns:a16="http://schemas.microsoft.com/office/drawing/2014/main" id="{521EE5A2-A3C4-F986-8E87-25DFB4AC43C5}"/>
              </a:ext>
            </a:extLst>
          </p:cNvPr>
          <p:cNvGrpSpPr/>
          <p:nvPr/>
        </p:nvGrpSpPr>
        <p:grpSpPr>
          <a:xfrm>
            <a:off x="7654674" y="1474737"/>
            <a:ext cx="2654209" cy="2285606"/>
            <a:chOff x="4093458" y="2382947"/>
            <a:chExt cx="3689508" cy="3177129"/>
          </a:xfrm>
        </p:grpSpPr>
        <p:pic>
          <p:nvPicPr>
            <p:cNvPr id="16" name="Google Shape;400;p39">
              <a:extLst>
                <a:ext uri="{FF2B5EF4-FFF2-40B4-BE49-F238E27FC236}">
                  <a16:creationId xmlns:a16="http://schemas.microsoft.com/office/drawing/2014/main" id="{070F1EBA-3ECA-68A2-FB79-6532B6C03CF0}"/>
                </a:ext>
              </a:extLst>
            </p:cNvPr>
            <p:cNvPicPr preferRelativeResize="0"/>
            <p:nvPr/>
          </p:nvPicPr>
          <p:blipFill rotWithShape="1">
            <a:blip r:embed="rId3">
              <a:alphaModFix/>
            </a:blip>
            <a:srcRect/>
            <a:stretch/>
          </p:blipFill>
          <p:spPr>
            <a:xfrm>
              <a:off x="4449905" y="3033286"/>
              <a:ext cx="3333061" cy="2526790"/>
            </a:xfrm>
            <a:prstGeom prst="rect">
              <a:avLst/>
            </a:prstGeom>
            <a:noFill/>
            <a:ln>
              <a:noFill/>
            </a:ln>
          </p:spPr>
        </p:pic>
        <p:sp>
          <p:nvSpPr>
            <p:cNvPr id="17" name="TextBox 16">
              <a:extLst>
                <a:ext uri="{FF2B5EF4-FFF2-40B4-BE49-F238E27FC236}">
                  <a16:creationId xmlns:a16="http://schemas.microsoft.com/office/drawing/2014/main" id="{F70CC848-2181-5E94-B7C8-6883D14753F8}"/>
                </a:ext>
              </a:extLst>
            </p:cNvPr>
            <p:cNvSpPr txBox="1"/>
            <p:nvPr/>
          </p:nvSpPr>
          <p:spPr>
            <a:xfrm>
              <a:off x="4093458" y="2382947"/>
              <a:ext cx="2891111" cy="369332"/>
            </a:xfrm>
            <a:prstGeom prst="rect">
              <a:avLst/>
            </a:prstGeom>
            <a:noFill/>
          </p:spPr>
          <p:txBody>
            <a:bodyPr wrap="none" rtlCol="0">
              <a:spAutoFit/>
            </a:bodyPr>
            <a:lstStyle/>
            <a:p>
              <a:r>
                <a:rPr lang="en-US" dirty="0"/>
                <a:t>Common reference: AC/PC</a:t>
              </a:r>
            </a:p>
          </p:txBody>
        </p:sp>
      </p:grpSp>
    </p:spTree>
    <p:extLst>
      <p:ext uri="{BB962C8B-B14F-4D97-AF65-F5344CB8AC3E}">
        <p14:creationId xmlns:p14="http://schemas.microsoft.com/office/powerpoint/2010/main" val="14042159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2D904F-3A05-C92D-C5E9-064543998764}"/>
            </a:ext>
          </a:extLst>
        </p:cNvPr>
        <p:cNvGrpSpPr/>
        <p:nvPr/>
      </p:nvGrpSpPr>
      <p:grpSpPr>
        <a:xfrm>
          <a:off x="0" y="0"/>
          <a:ext cx="0" cy="0"/>
          <a:chOff x="0" y="0"/>
          <a:chExt cx="0" cy="0"/>
        </a:xfrm>
      </p:grpSpPr>
      <p:pic>
        <p:nvPicPr>
          <p:cNvPr id="3" name="Google Shape;402;p39">
            <a:extLst>
              <a:ext uri="{FF2B5EF4-FFF2-40B4-BE49-F238E27FC236}">
                <a16:creationId xmlns:a16="http://schemas.microsoft.com/office/drawing/2014/main" id="{CDA869EB-1591-31CE-75B1-5A2114DE42AA}"/>
              </a:ext>
            </a:extLst>
          </p:cNvPr>
          <p:cNvPicPr preferRelativeResize="0"/>
          <p:nvPr/>
        </p:nvPicPr>
        <p:blipFill rotWithShape="1">
          <a:blip r:embed="rId2">
            <a:alphaModFix/>
          </a:blip>
          <a:srcRect/>
          <a:stretch/>
        </p:blipFill>
        <p:spPr>
          <a:xfrm>
            <a:off x="838200" y="3449659"/>
            <a:ext cx="6123524" cy="2598316"/>
          </a:xfrm>
          <a:prstGeom prst="rect">
            <a:avLst/>
          </a:prstGeom>
          <a:noFill/>
          <a:ln>
            <a:noFill/>
          </a:ln>
        </p:spPr>
      </p:pic>
      <p:sp>
        <p:nvSpPr>
          <p:cNvPr id="4" name="Title 3">
            <a:extLst>
              <a:ext uri="{FF2B5EF4-FFF2-40B4-BE49-F238E27FC236}">
                <a16:creationId xmlns:a16="http://schemas.microsoft.com/office/drawing/2014/main" id="{327C2201-31CF-3B9E-C0D2-AFB112EEAA05}"/>
              </a:ext>
            </a:extLst>
          </p:cNvPr>
          <p:cNvSpPr>
            <a:spLocks noGrp="1"/>
          </p:cNvSpPr>
          <p:nvPr>
            <p:ph type="title"/>
          </p:nvPr>
        </p:nvSpPr>
        <p:spPr/>
        <p:txBody>
          <a:bodyPr/>
          <a:lstStyle/>
          <a:p>
            <a:r>
              <a:rPr lang="en-US" b="1" dirty="0"/>
              <a:t>Part II</a:t>
            </a:r>
            <a:r>
              <a:rPr lang="en-US" dirty="0"/>
              <a:t>: What the scanner doesn’t do</a:t>
            </a:r>
          </a:p>
        </p:txBody>
      </p:sp>
      <p:sp>
        <p:nvSpPr>
          <p:cNvPr id="5" name="Content Placeholder 4">
            <a:extLst>
              <a:ext uri="{FF2B5EF4-FFF2-40B4-BE49-F238E27FC236}">
                <a16:creationId xmlns:a16="http://schemas.microsoft.com/office/drawing/2014/main" id="{DA7C248F-A1E6-F914-4B08-1FABD9FD30A6}"/>
              </a:ext>
            </a:extLst>
          </p:cNvPr>
          <p:cNvSpPr>
            <a:spLocks noGrp="1"/>
          </p:cNvSpPr>
          <p:nvPr>
            <p:ph idx="1"/>
          </p:nvPr>
        </p:nvSpPr>
        <p:spPr>
          <a:xfrm>
            <a:off x="838200" y="1825625"/>
            <a:ext cx="10515600" cy="1624034"/>
          </a:xfrm>
        </p:spPr>
        <p:txBody>
          <a:bodyPr>
            <a:normAutofit fontScale="85000" lnSpcReduction="20000"/>
          </a:bodyPr>
          <a:lstStyle/>
          <a:p>
            <a:pPr marL="0" indent="0">
              <a:buNone/>
            </a:pPr>
            <a:r>
              <a:rPr lang="en-US" u="sng" dirty="0"/>
              <a:t>Structural</a:t>
            </a:r>
          </a:p>
          <a:p>
            <a:pPr marL="0" indent="0">
              <a:buNone/>
            </a:pPr>
            <a:r>
              <a:rPr lang="en-US" b="1" dirty="0"/>
              <a:t>Spatial Normalization</a:t>
            </a:r>
            <a:endParaRPr lang="en-US" u="sng" dirty="0"/>
          </a:p>
          <a:p>
            <a:r>
              <a:rPr lang="en-US" dirty="0"/>
              <a:t>Rigid “affine” transformations</a:t>
            </a:r>
          </a:p>
          <a:p>
            <a:r>
              <a:rPr lang="en-US" dirty="0"/>
              <a:t>Nonlinear “diffeomorphic” transformations</a:t>
            </a:r>
          </a:p>
        </p:txBody>
      </p:sp>
      <p:pic>
        <p:nvPicPr>
          <p:cNvPr id="2" name="Picture 2">
            <a:extLst>
              <a:ext uri="{FF2B5EF4-FFF2-40B4-BE49-F238E27FC236}">
                <a16:creationId xmlns:a16="http://schemas.microsoft.com/office/drawing/2014/main" id="{27F1FC51-B5B0-41CE-723A-EEE76CC7A1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0061" y="3428999"/>
            <a:ext cx="6198741" cy="2660293"/>
          </a:xfrm>
          <a:prstGeom prst="rect">
            <a:avLst/>
          </a:prstGeom>
          <a:noFill/>
          <a:extLst>
            <a:ext uri="{909E8E84-426E-40DD-AFC4-6F175D3DCCD1}">
              <a14:hiddenFill xmlns:a14="http://schemas.microsoft.com/office/drawing/2010/main">
                <a:solidFill>
                  <a:srgbClr val="FFFFFF"/>
                </a:solidFill>
              </a14:hiddenFill>
            </a:ext>
          </a:extLst>
        </p:spPr>
      </p:pic>
      <p:pic>
        <p:nvPicPr>
          <p:cNvPr id="8196" name="Picture 4">
            <a:extLst>
              <a:ext uri="{FF2B5EF4-FFF2-40B4-BE49-F238E27FC236}">
                <a16:creationId xmlns:a16="http://schemas.microsoft.com/office/drawing/2014/main" id="{900DD79D-E416-7E95-E4CF-A6138F3BA2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12744" y="1825625"/>
            <a:ext cx="3089195" cy="4060031"/>
          </a:xfrm>
          <a:prstGeom prst="rect">
            <a:avLst/>
          </a:prstGeom>
          <a:noFill/>
          <a:extLst>
            <a:ext uri="{909E8E84-426E-40DD-AFC4-6F175D3DCCD1}">
              <a14:hiddenFill xmlns:a14="http://schemas.microsoft.com/office/drawing/2010/main">
                <a:solidFill>
                  <a:srgbClr val="FFFFFF"/>
                </a:solidFill>
              </a14:hiddenFill>
            </a:ext>
          </a:extLst>
        </p:spPr>
      </p:pic>
      <p:sp>
        <p:nvSpPr>
          <p:cNvPr id="6" name="Google Shape;403;p39">
            <a:extLst>
              <a:ext uri="{FF2B5EF4-FFF2-40B4-BE49-F238E27FC236}">
                <a16:creationId xmlns:a16="http://schemas.microsoft.com/office/drawing/2014/main" id="{5EBDD575-D555-4C55-13F2-76C4110CF185}"/>
              </a:ext>
            </a:extLst>
          </p:cNvPr>
          <p:cNvSpPr txBox="1"/>
          <p:nvPr/>
        </p:nvSpPr>
        <p:spPr>
          <a:xfrm>
            <a:off x="-962025" y="6047975"/>
            <a:ext cx="5593800" cy="4449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dirty="0">
                <a:solidFill>
                  <a:srgbClr val="222222"/>
                </a:solidFill>
                <a:highlight>
                  <a:srgbClr val="FFFFFF"/>
                </a:highlight>
                <a:latin typeface="Arial"/>
                <a:ea typeface="Arial"/>
                <a:cs typeface="Arial"/>
                <a:sym typeface="Arial"/>
              </a:rPr>
              <a:t>Rokem, A., &amp; Yarkoni, T. (2023)</a:t>
            </a:r>
            <a:endParaRPr sz="12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5598660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8196"/>
                                        </p:tgtEl>
                                        <p:attrNameLst>
                                          <p:attrName>style.visibility</p:attrName>
                                        </p:attrNameLst>
                                      </p:cBhvr>
                                      <p:to>
                                        <p:strVal val="visible"/>
                                      </p:to>
                                    </p:set>
                                    <p:anim calcmode="lin" valueType="num">
                                      <p:cBhvr additive="base">
                                        <p:cTn id="12" dur="500" fill="hold"/>
                                        <p:tgtEl>
                                          <p:spTgt spid="8196"/>
                                        </p:tgtEl>
                                        <p:attrNameLst>
                                          <p:attrName>ppt_x</p:attrName>
                                        </p:attrNameLst>
                                      </p:cBhvr>
                                      <p:tavLst>
                                        <p:tav tm="0">
                                          <p:val>
                                            <p:strVal val="#ppt_x"/>
                                          </p:val>
                                        </p:tav>
                                        <p:tav tm="100000">
                                          <p:val>
                                            <p:strVal val="#ppt_x"/>
                                          </p:val>
                                        </p:tav>
                                      </p:tavLst>
                                    </p:anim>
                                    <p:anim calcmode="lin" valueType="num">
                                      <p:cBhvr additive="base">
                                        <p:cTn id="13" dur="500" fill="hold"/>
                                        <p:tgtEl>
                                          <p:spTgt spid="819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2CA5C8-BF6C-09D7-E45C-ECA881762F7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2B4F4D7-7BFD-E44B-2B32-9FE8B970B5CB}"/>
              </a:ext>
            </a:extLst>
          </p:cNvPr>
          <p:cNvSpPr>
            <a:spLocks noGrp="1"/>
          </p:cNvSpPr>
          <p:nvPr>
            <p:ph type="title"/>
          </p:nvPr>
        </p:nvSpPr>
        <p:spPr/>
        <p:txBody>
          <a:bodyPr/>
          <a:lstStyle/>
          <a:p>
            <a:r>
              <a:rPr lang="en-US" b="1" dirty="0"/>
              <a:t>Part II</a:t>
            </a:r>
            <a:r>
              <a:rPr lang="en-US" dirty="0"/>
              <a:t>: What the scanner doesn’t do</a:t>
            </a:r>
          </a:p>
        </p:txBody>
      </p:sp>
      <p:sp>
        <p:nvSpPr>
          <p:cNvPr id="5" name="Content Placeholder 4">
            <a:extLst>
              <a:ext uri="{FF2B5EF4-FFF2-40B4-BE49-F238E27FC236}">
                <a16:creationId xmlns:a16="http://schemas.microsoft.com/office/drawing/2014/main" id="{EDC384E6-8E8A-3C00-3F5F-7E220B15A029}"/>
              </a:ext>
            </a:extLst>
          </p:cNvPr>
          <p:cNvSpPr>
            <a:spLocks noGrp="1"/>
          </p:cNvSpPr>
          <p:nvPr>
            <p:ph idx="1"/>
          </p:nvPr>
        </p:nvSpPr>
        <p:spPr>
          <a:xfrm>
            <a:off x="838200" y="1825625"/>
            <a:ext cx="5881099" cy="4351338"/>
          </a:xfrm>
        </p:spPr>
        <p:txBody>
          <a:bodyPr/>
          <a:lstStyle/>
          <a:p>
            <a:pPr marL="0" indent="0">
              <a:buNone/>
            </a:pPr>
            <a:r>
              <a:rPr lang="en-US" u="sng" dirty="0"/>
              <a:t>Functional</a:t>
            </a:r>
          </a:p>
          <a:p>
            <a:pPr marL="0" indent="0">
              <a:buNone/>
            </a:pPr>
            <a:r>
              <a:rPr lang="en-US" b="1" dirty="0"/>
              <a:t>Susceptibility distortion correction</a:t>
            </a:r>
          </a:p>
          <a:p>
            <a:r>
              <a:rPr lang="en-US" dirty="0"/>
              <a:t>Air/tissue interfaces (sinuses, ear canals) disturb the main B₀ field</a:t>
            </a:r>
          </a:p>
          <a:p>
            <a:r>
              <a:rPr lang="en-US" dirty="0"/>
              <a:t>In single-shot EPI the off-resonance accumulates during the echo train</a:t>
            </a:r>
          </a:p>
          <a:p>
            <a:pPr lvl="1"/>
            <a:r>
              <a:rPr lang="en-US" b="1" dirty="0"/>
              <a:t>Causes geometric stretch/compression</a:t>
            </a:r>
            <a:r>
              <a:rPr lang="en-US" dirty="0"/>
              <a:t> along the </a:t>
            </a:r>
            <a:r>
              <a:rPr lang="en-US" b="1" dirty="0"/>
              <a:t>phase-encoding axis</a:t>
            </a:r>
            <a:r>
              <a:rPr lang="en-US" dirty="0"/>
              <a:t> (usually </a:t>
            </a:r>
            <a:r>
              <a:rPr lang="en-US" b="1" dirty="0"/>
              <a:t>y</a:t>
            </a:r>
            <a:r>
              <a:rPr lang="en-US" dirty="0"/>
              <a:t>)</a:t>
            </a:r>
          </a:p>
          <a:p>
            <a:r>
              <a:rPr lang="en-US" dirty="0">
                <a:solidFill>
                  <a:srgbClr val="FF0000"/>
                </a:solidFill>
              </a:rPr>
              <a:t>REQUIRES FIELD MAP </a:t>
            </a:r>
            <a:r>
              <a:rPr lang="en-US" dirty="0"/>
              <a:t>(sort of…)</a:t>
            </a:r>
          </a:p>
        </p:txBody>
      </p:sp>
      <p:pic>
        <p:nvPicPr>
          <p:cNvPr id="19458" name="Picture 2" descr="How to fieldmap correct | Caroline Nettekoven">
            <a:extLst>
              <a:ext uri="{FF2B5EF4-FFF2-40B4-BE49-F238E27FC236}">
                <a16:creationId xmlns:a16="http://schemas.microsoft.com/office/drawing/2014/main" id="{239813DA-A9E0-082D-E73B-3B9C698E84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04540" y="2875392"/>
            <a:ext cx="4592115" cy="25801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134266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623E48-788E-C292-D781-593345D9C00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1F382EE-DFC5-7ABD-A80B-73458D35C311}"/>
              </a:ext>
            </a:extLst>
          </p:cNvPr>
          <p:cNvSpPr txBox="1"/>
          <p:nvPr/>
        </p:nvSpPr>
        <p:spPr>
          <a:xfrm>
            <a:off x="3914453" y="2274838"/>
            <a:ext cx="7027525" cy="2308324"/>
          </a:xfrm>
          <a:prstGeom prst="rect">
            <a:avLst/>
          </a:prstGeom>
          <a:noFill/>
          <a:ln>
            <a:solidFill>
              <a:schemeClr val="tx1"/>
            </a:solidFill>
          </a:ln>
        </p:spPr>
        <p:txBody>
          <a:bodyPr wrap="square">
            <a:spAutoFit/>
          </a:bodyPr>
          <a:lstStyle/>
          <a:p>
            <a:pPr marL="457200" indent="-457200">
              <a:buFont typeface="+mj-lt"/>
              <a:buAutoNum type="arabicPeriod"/>
            </a:pPr>
            <a:r>
              <a:rPr lang="en-US" sz="2400" dirty="0"/>
              <a:t>Choose a reference time (common default is 0.5*TR, the volume midpoint)</a:t>
            </a:r>
          </a:p>
          <a:p>
            <a:endParaRPr lang="en-US" sz="2400" dirty="0"/>
          </a:p>
          <a:p>
            <a:pPr marL="457200" indent="-457200">
              <a:buFont typeface="+mj-lt"/>
              <a:buAutoNum type="arabicPeriod" startAt="2"/>
            </a:pPr>
            <a:r>
              <a:rPr lang="en-US" sz="2400" dirty="0"/>
              <a:t>Phase-shift each slice’s time-series by </a:t>
            </a:r>
            <a:r>
              <a:rPr lang="en-US" sz="2400" dirty="0" err="1"/>
              <a:t>sinc</a:t>
            </a:r>
            <a:r>
              <a:rPr lang="en-US" sz="2400" dirty="0"/>
              <a:t> interpolation so all voxels are aligned to that reference</a:t>
            </a:r>
          </a:p>
        </p:txBody>
      </p:sp>
      <p:sp>
        <p:nvSpPr>
          <p:cNvPr id="4" name="Title 3">
            <a:extLst>
              <a:ext uri="{FF2B5EF4-FFF2-40B4-BE49-F238E27FC236}">
                <a16:creationId xmlns:a16="http://schemas.microsoft.com/office/drawing/2014/main" id="{A5AC3644-29C3-2A85-CCA5-C72E5F533B2D}"/>
              </a:ext>
            </a:extLst>
          </p:cNvPr>
          <p:cNvSpPr>
            <a:spLocks noGrp="1"/>
          </p:cNvSpPr>
          <p:nvPr>
            <p:ph type="title"/>
          </p:nvPr>
        </p:nvSpPr>
        <p:spPr/>
        <p:txBody>
          <a:bodyPr/>
          <a:lstStyle/>
          <a:p>
            <a:r>
              <a:rPr lang="en-US" b="1" dirty="0"/>
              <a:t>Part II</a:t>
            </a:r>
            <a:r>
              <a:rPr lang="en-US" dirty="0"/>
              <a:t>: What the scanner doesn’t do</a:t>
            </a:r>
          </a:p>
        </p:txBody>
      </p:sp>
      <p:sp>
        <p:nvSpPr>
          <p:cNvPr id="5" name="Content Placeholder 4">
            <a:extLst>
              <a:ext uri="{FF2B5EF4-FFF2-40B4-BE49-F238E27FC236}">
                <a16:creationId xmlns:a16="http://schemas.microsoft.com/office/drawing/2014/main" id="{F4083C55-0096-F044-755D-1A3D3E56A25D}"/>
              </a:ext>
            </a:extLst>
          </p:cNvPr>
          <p:cNvSpPr>
            <a:spLocks noGrp="1"/>
          </p:cNvSpPr>
          <p:nvPr>
            <p:ph idx="1"/>
          </p:nvPr>
        </p:nvSpPr>
        <p:spPr>
          <a:xfrm>
            <a:off x="838200" y="1825625"/>
            <a:ext cx="2110483" cy="4351338"/>
          </a:xfrm>
        </p:spPr>
        <p:txBody>
          <a:bodyPr/>
          <a:lstStyle/>
          <a:p>
            <a:pPr marL="0" indent="0">
              <a:buNone/>
            </a:pPr>
            <a:r>
              <a:rPr lang="en-US" u="sng" dirty="0"/>
              <a:t>Functional</a:t>
            </a:r>
          </a:p>
          <a:p>
            <a:pPr marL="0" indent="0">
              <a:buNone/>
            </a:pPr>
            <a:r>
              <a:rPr lang="en-US" b="1" dirty="0"/>
              <a:t>Slice-Time Correction</a:t>
            </a:r>
          </a:p>
        </p:txBody>
      </p:sp>
      <p:sp>
        <p:nvSpPr>
          <p:cNvPr id="7" name="Rectangle 6">
            <a:extLst>
              <a:ext uri="{FF2B5EF4-FFF2-40B4-BE49-F238E27FC236}">
                <a16:creationId xmlns:a16="http://schemas.microsoft.com/office/drawing/2014/main" id="{B847B74D-DA96-28D0-77C7-8FC9E5C1A53B}"/>
              </a:ext>
            </a:extLst>
          </p:cNvPr>
          <p:cNvSpPr/>
          <p:nvPr/>
        </p:nvSpPr>
        <p:spPr>
          <a:xfrm>
            <a:off x="3389419" y="1973760"/>
            <a:ext cx="7768315" cy="4351337"/>
          </a:xfrm>
          <a:prstGeom prst="rect">
            <a:avLst/>
          </a:prstGeom>
          <a:solidFill>
            <a:schemeClr val="tx1">
              <a:alpha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VIDEO @ https://andysbrainbook.readthedocs.io/en/latest/_images/SliceTimingCorrection_Demo.gif</a:t>
            </a:r>
          </a:p>
        </p:txBody>
      </p:sp>
    </p:spTree>
    <p:extLst>
      <p:ext uri="{BB962C8B-B14F-4D97-AF65-F5344CB8AC3E}">
        <p14:creationId xmlns:p14="http://schemas.microsoft.com/office/powerpoint/2010/main" val="24888715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7"/>
                                        </p:tgtEl>
                                      </p:cBhvr>
                                    </p:animEffect>
                                    <p:set>
                                      <p:cBhvr>
                                        <p:cTn id="7" dur="1" fill="hold">
                                          <p:stCondLst>
                                            <p:cond delay="499"/>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513A75-5F15-CFF8-287F-CA9BD20254D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05D4DB4-958E-AE07-2D0B-F10C6AAF8907}"/>
              </a:ext>
            </a:extLst>
          </p:cNvPr>
          <p:cNvSpPr>
            <a:spLocks noGrp="1"/>
          </p:cNvSpPr>
          <p:nvPr>
            <p:ph type="title"/>
          </p:nvPr>
        </p:nvSpPr>
        <p:spPr/>
        <p:txBody>
          <a:bodyPr/>
          <a:lstStyle/>
          <a:p>
            <a:r>
              <a:rPr lang="en-US" b="1" dirty="0"/>
              <a:t>Part II</a:t>
            </a:r>
            <a:r>
              <a:rPr lang="en-US" dirty="0"/>
              <a:t>: What the scanner doesn’t do</a:t>
            </a:r>
          </a:p>
        </p:txBody>
      </p:sp>
      <p:sp>
        <p:nvSpPr>
          <p:cNvPr id="5" name="Content Placeholder 4">
            <a:extLst>
              <a:ext uri="{FF2B5EF4-FFF2-40B4-BE49-F238E27FC236}">
                <a16:creationId xmlns:a16="http://schemas.microsoft.com/office/drawing/2014/main" id="{F5C74E17-846D-F287-7501-5DB17DB5CBAE}"/>
              </a:ext>
            </a:extLst>
          </p:cNvPr>
          <p:cNvSpPr>
            <a:spLocks noGrp="1"/>
          </p:cNvSpPr>
          <p:nvPr>
            <p:ph idx="1"/>
          </p:nvPr>
        </p:nvSpPr>
        <p:spPr>
          <a:xfrm>
            <a:off x="838200" y="1825625"/>
            <a:ext cx="2110483" cy="4351338"/>
          </a:xfrm>
        </p:spPr>
        <p:txBody>
          <a:bodyPr>
            <a:normAutofit lnSpcReduction="10000"/>
          </a:bodyPr>
          <a:lstStyle/>
          <a:p>
            <a:pPr marL="0" indent="0">
              <a:buNone/>
            </a:pPr>
            <a:r>
              <a:rPr lang="en-US" u="sng" dirty="0"/>
              <a:t>Functional</a:t>
            </a:r>
          </a:p>
          <a:p>
            <a:pPr marL="0" indent="0">
              <a:buNone/>
            </a:pPr>
            <a:r>
              <a:rPr lang="en-US" b="1" dirty="0"/>
              <a:t>Rigid-body motion correction</a:t>
            </a:r>
          </a:p>
          <a:p>
            <a:pPr marL="0" indent="0">
              <a:buNone/>
            </a:pPr>
            <a:endParaRPr lang="en-US" dirty="0"/>
          </a:p>
          <a:p>
            <a:pPr marL="0" indent="0">
              <a:buNone/>
            </a:pPr>
            <a:r>
              <a:rPr lang="en-US" dirty="0"/>
              <a:t>Realign each volume to a reference (e.g., first volume)</a:t>
            </a:r>
          </a:p>
        </p:txBody>
      </p:sp>
      <p:sp>
        <p:nvSpPr>
          <p:cNvPr id="2" name="Rectangle 1">
            <a:extLst>
              <a:ext uri="{FF2B5EF4-FFF2-40B4-BE49-F238E27FC236}">
                <a16:creationId xmlns:a16="http://schemas.microsoft.com/office/drawing/2014/main" id="{53F09342-1DAC-9E36-AF84-4F3FB852DBBF}"/>
              </a:ext>
            </a:extLst>
          </p:cNvPr>
          <p:cNvSpPr/>
          <p:nvPr/>
        </p:nvSpPr>
        <p:spPr>
          <a:xfrm>
            <a:off x="3389419" y="1973760"/>
            <a:ext cx="7768315" cy="4351337"/>
          </a:xfrm>
          <a:prstGeom prst="rect">
            <a:avLst/>
          </a:prstGeom>
          <a:solidFill>
            <a:schemeClr val="tx1">
              <a:alpha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VIDEO @ https://andysbrainbook.readthedocs.io/en/latest/_images/MotionCorrectionExample.gif</a:t>
            </a:r>
          </a:p>
        </p:txBody>
      </p:sp>
    </p:spTree>
    <p:extLst>
      <p:ext uri="{BB962C8B-B14F-4D97-AF65-F5344CB8AC3E}">
        <p14:creationId xmlns:p14="http://schemas.microsoft.com/office/powerpoint/2010/main" val="13364198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D7353C-4622-FCAA-3A21-429D5935F080}"/>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394CA032-E408-A9F1-5D3F-60D9A854DBDA}"/>
              </a:ext>
            </a:extLst>
          </p:cNvPr>
          <p:cNvSpPr/>
          <p:nvPr/>
        </p:nvSpPr>
        <p:spPr>
          <a:xfrm>
            <a:off x="4061717" y="2078368"/>
            <a:ext cx="7292084" cy="4098595"/>
          </a:xfrm>
          <a:prstGeom prst="rect">
            <a:avLst/>
          </a:prstGeom>
          <a:solidFill>
            <a:schemeClr val="tx1">
              <a:alpha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VIDEO @ https://andysbrainbook.readthedocs.io/en/latest/_images/Registration_Normalization_Demo.gif</a:t>
            </a:r>
          </a:p>
        </p:txBody>
      </p:sp>
      <p:sp>
        <p:nvSpPr>
          <p:cNvPr id="4" name="Title 3">
            <a:extLst>
              <a:ext uri="{FF2B5EF4-FFF2-40B4-BE49-F238E27FC236}">
                <a16:creationId xmlns:a16="http://schemas.microsoft.com/office/drawing/2014/main" id="{7A6AE017-49FE-6D12-317D-A03F9A0E1489}"/>
              </a:ext>
            </a:extLst>
          </p:cNvPr>
          <p:cNvSpPr>
            <a:spLocks noGrp="1"/>
          </p:cNvSpPr>
          <p:nvPr>
            <p:ph type="title"/>
          </p:nvPr>
        </p:nvSpPr>
        <p:spPr/>
        <p:txBody>
          <a:bodyPr/>
          <a:lstStyle/>
          <a:p>
            <a:r>
              <a:rPr lang="en-US" b="1" dirty="0"/>
              <a:t>Part II</a:t>
            </a:r>
            <a:r>
              <a:rPr lang="en-US" dirty="0"/>
              <a:t>: What the scanner doesn’t do</a:t>
            </a:r>
          </a:p>
        </p:txBody>
      </p:sp>
      <p:sp>
        <p:nvSpPr>
          <p:cNvPr id="5" name="Content Placeholder 4">
            <a:extLst>
              <a:ext uri="{FF2B5EF4-FFF2-40B4-BE49-F238E27FC236}">
                <a16:creationId xmlns:a16="http://schemas.microsoft.com/office/drawing/2014/main" id="{EC41AFF4-C982-C905-22C7-A843D20FD151}"/>
              </a:ext>
            </a:extLst>
          </p:cNvPr>
          <p:cNvSpPr>
            <a:spLocks noGrp="1"/>
          </p:cNvSpPr>
          <p:nvPr>
            <p:ph idx="1"/>
          </p:nvPr>
        </p:nvSpPr>
        <p:spPr>
          <a:xfrm>
            <a:off x="838199" y="1825625"/>
            <a:ext cx="3158447" cy="4351338"/>
          </a:xfrm>
        </p:spPr>
        <p:txBody>
          <a:bodyPr>
            <a:normAutofit/>
          </a:bodyPr>
          <a:lstStyle/>
          <a:p>
            <a:pPr marL="0" indent="0">
              <a:buNone/>
            </a:pPr>
            <a:r>
              <a:rPr lang="en-US" u="sng" dirty="0"/>
              <a:t>Functional</a:t>
            </a:r>
          </a:p>
          <a:p>
            <a:pPr marL="0" indent="0">
              <a:buNone/>
            </a:pPr>
            <a:r>
              <a:rPr lang="en-US" b="1" dirty="0"/>
              <a:t>Co-registration with structural</a:t>
            </a:r>
          </a:p>
          <a:p>
            <a:pPr marL="0" indent="0">
              <a:buNone/>
            </a:pPr>
            <a:r>
              <a:rPr lang="en-US" b="1" dirty="0"/>
              <a:t>(+ normalization to standard atlas)</a:t>
            </a:r>
          </a:p>
        </p:txBody>
      </p:sp>
    </p:spTree>
    <p:extLst>
      <p:ext uri="{BB962C8B-B14F-4D97-AF65-F5344CB8AC3E}">
        <p14:creationId xmlns:p14="http://schemas.microsoft.com/office/powerpoint/2010/main" val="33447561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8E24D0-699E-19CB-6831-DEEEAD8C00C2}"/>
            </a:ext>
          </a:extLst>
        </p:cNvPr>
        <p:cNvGrpSpPr/>
        <p:nvPr/>
      </p:nvGrpSpPr>
      <p:grpSpPr>
        <a:xfrm>
          <a:off x="0" y="0"/>
          <a:ext cx="0" cy="0"/>
          <a:chOff x="0" y="0"/>
          <a:chExt cx="0" cy="0"/>
        </a:xfrm>
      </p:grpSpPr>
      <p:pic>
        <p:nvPicPr>
          <p:cNvPr id="17416" name="Picture 8" descr="After Warping Options - C-PAC 1.8.7.dev1 Beta documentation">
            <a:extLst>
              <a:ext uri="{FF2B5EF4-FFF2-40B4-BE49-F238E27FC236}">
                <a16:creationId xmlns:a16="http://schemas.microsoft.com/office/drawing/2014/main" id="{F0F81CE3-D693-9ECA-53B3-EA527018C31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70113" y="2121368"/>
            <a:ext cx="7833023" cy="3759851"/>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E1C15092-78D9-E142-1497-5F6DEF905C89}"/>
              </a:ext>
            </a:extLst>
          </p:cNvPr>
          <p:cNvSpPr/>
          <p:nvPr/>
        </p:nvSpPr>
        <p:spPr>
          <a:xfrm>
            <a:off x="3219451" y="1715294"/>
            <a:ext cx="8134350" cy="4572000"/>
          </a:xfrm>
          <a:prstGeom prst="rect">
            <a:avLst/>
          </a:prstGeom>
          <a:solidFill>
            <a:schemeClr val="tx1">
              <a:alpha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VIDEO @ https://andysbrainbook.readthedocs.io/en/latest/_images/Smoothing_Demo.gif</a:t>
            </a:r>
          </a:p>
        </p:txBody>
      </p:sp>
      <p:sp>
        <p:nvSpPr>
          <p:cNvPr id="4" name="Title 3">
            <a:extLst>
              <a:ext uri="{FF2B5EF4-FFF2-40B4-BE49-F238E27FC236}">
                <a16:creationId xmlns:a16="http://schemas.microsoft.com/office/drawing/2014/main" id="{76986EF7-F048-95D4-E53D-EC39F4A68BA7}"/>
              </a:ext>
            </a:extLst>
          </p:cNvPr>
          <p:cNvSpPr>
            <a:spLocks noGrp="1"/>
          </p:cNvSpPr>
          <p:nvPr>
            <p:ph type="title"/>
          </p:nvPr>
        </p:nvSpPr>
        <p:spPr/>
        <p:txBody>
          <a:bodyPr/>
          <a:lstStyle/>
          <a:p>
            <a:r>
              <a:rPr lang="en-US" b="1" dirty="0"/>
              <a:t>Part II</a:t>
            </a:r>
            <a:r>
              <a:rPr lang="en-US" dirty="0"/>
              <a:t>: What the scanner doesn’t do</a:t>
            </a:r>
          </a:p>
        </p:txBody>
      </p:sp>
      <p:sp>
        <p:nvSpPr>
          <p:cNvPr id="5" name="Content Placeholder 4">
            <a:extLst>
              <a:ext uri="{FF2B5EF4-FFF2-40B4-BE49-F238E27FC236}">
                <a16:creationId xmlns:a16="http://schemas.microsoft.com/office/drawing/2014/main" id="{910B34DF-6894-E3FA-6E72-58CF2F5DF267}"/>
              </a:ext>
            </a:extLst>
          </p:cNvPr>
          <p:cNvSpPr>
            <a:spLocks noGrp="1"/>
          </p:cNvSpPr>
          <p:nvPr>
            <p:ph idx="1"/>
          </p:nvPr>
        </p:nvSpPr>
        <p:spPr>
          <a:xfrm>
            <a:off x="838200" y="1825625"/>
            <a:ext cx="2172128" cy="4351338"/>
          </a:xfrm>
        </p:spPr>
        <p:txBody>
          <a:bodyPr/>
          <a:lstStyle/>
          <a:p>
            <a:pPr marL="0" indent="0">
              <a:buNone/>
            </a:pPr>
            <a:r>
              <a:rPr lang="en-US" u="sng" dirty="0"/>
              <a:t>Functional</a:t>
            </a:r>
            <a:endParaRPr lang="en-US" dirty="0"/>
          </a:p>
          <a:p>
            <a:pPr marL="0" indent="0">
              <a:buNone/>
            </a:pPr>
            <a:r>
              <a:rPr lang="en-US" dirty="0"/>
              <a:t>(Optional) </a:t>
            </a:r>
            <a:r>
              <a:rPr lang="en-US" b="1" dirty="0"/>
              <a:t>Smoothing</a:t>
            </a:r>
          </a:p>
        </p:txBody>
      </p:sp>
      <p:pic>
        <p:nvPicPr>
          <p:cNvPr id="17412" name="Picture 4" descr="The past and future of Random Field Theory for neuroimaging inference">
            <a:extLst>
              <a:ext uri="{FF2B5EF4-FFF2-40B4-BE49-F238E27FC236}">
                <a16:creationId xmlns:a16="http://schemas.microsoft.com/office/drawing/2014/main" id="{1854C4FC-AF78-FF57-6C11-3C14BD705E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9351" y="4391819"/>
            <a:ext cx="2409825" cy="1895475"/>
          </a:xfrm>
          <a:prstGeom prst="rect">
            <a:avLst/>
          </a:prstGeom>
          <a:noFill/>
          <a:extLst>
            <a:ext uri="{909E8E84-426E-40DD-AFC4-6F175D3DCCD1}">
              <a14:hiddenFill xmlns:a14="http://schemas.microsoft.com/office/drawing/2010/main">
                <a:solidFill>
                  <a:srgbClr val="FFFFFF"/>
                </a:solidFill>
              </a14:hiddenFill>
            </a:ext>
          </a:extLst>
        </p:spPr>
      </p:pic>
      <p:pic>
        <p:nvPicPr>
          <p:cNvPr id="17414" name="Picture 6" descr="A Gaussian random field with different levels of smoothness. The Graphs...  | Download Scientific Diagram">
            <a:extLst>
              <a:ext uri="{FF2B5EF4-FFF2-40B4-BE49-F238E27FC236}">
                <a16:creationId xmlns:a16="http://schemas.microsoft.com/office/drawing/2014/main" id="{F03B2E76-4D47-8261-6BFC-9F44ADDD4C9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6021" y="3242665"/>
            <a:ext cx="2196484" cy="11491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109100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BBEB83-C839-D88F-BCDD-D024F1A32BC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59C684F-6934-F213-E149-8A702E29A033}"/>
              </a:ext>
            </a:extLst>
          </p:cNvPr>
          <p:cNvSpPr>
            <a:spLocks noGrp="1"/>
          </p:cNvSpPr>
          <p:nvPr>
            <p:ph type="title"/>
          </p:nvPr>
        </p:nvSpPr>
        <p:spPr/>
        <p:txBody>
          <a:bodyPr/>
          <a:lstStyle/>
          <a:p>
            <a:r>
              <a:rPr lang="en-US" b="1" dirty="0"/>
              <a:t>Part II</a:t>
            </a:r>
            <a:r>
              <a:rPr lang="en-US" dirty="0"/>
              <a:t>: What the scanner doesn’t do</a:t>
            </a:r>
          </a:p>
        </p:txBody>
      </p:sp>
      <p:sp>
        <p:nvSpPr>
          <p:cNvPr id="5" name="Content Placeholder 4">
            <a:extLst>
              <a:ext uri="{FF2B5EF4-FFF2-40B4-BE49-F238E27FC236}">
                <a16:creationId xmlns:a16="http://schemas.microsoft.com/office/drawing/2014/main" id="{088A19A6-43A2-CDB4-E34B-FD321AFEE9BE}"/>
              </a:ext>
            </a:extLst>
          </p:cNvPr>
          <p:cNvSpPr>
            <a:spLocks noGrp="1"/>
          </p:cNvSpPr>
          <p:nvPr>
            <p:ph idx="1"/>
          </p:nvPr>
        </p:nvSpPr>
        <p:spPr>
          <a:xfrm>
            <a:off x="838200" y="1825625"/>
            <a:ext cx="5257800" cy="4351338"/>
          </a:xfrm>
        </p:spPr>
        <p:txBody>
          <a:bodyPr>
            <a:normAutofit lnSpcReduction="10000"/>
          </a:bodyPr>
          <a:lstStyle/>
          <a:p>
            <a:pPr marL="0" indent="0">
              <a:buNone/>
            </a:pPr>
            <a:r>
              <a:rPr lang="en-US" u="sng" dirty="0"/>
              <a:t>Structural</a:t>
            </a:r>
          </a:p>
          <a:p>
            <a:pPr marL="0" indent="0">
              <a:buNone/>
            </a:pPr>
            <a:r>
              <a:rPr lang="en-US" dirty="0"/>
              <a:t>(Optional-</a:t>
            </a:r>
            <a:r>
              <a:rPr lang="en-US" dirty="0" err="1"/>
              <a:t>ish</a:t>
            </a:r>
            <a:r>
              <a:rPr lang="en-US" dirty="0"/>
              <a:t>) </a:t>
            </a:r>
            <a:r>
              <a:rPr lang="en-US" b="1" dirty="0"/>
              <a:t>Defacing</a:t>
            </a:r>
          </a:p>
          <a:p>
            <a:r>
              <a:rPr lang="en-US" dirty="0"/>
              <a:t>If you plan to share your data outside your lab, you need to do this</a:t>
            </a:r>
          </a:p>
          <a:p>
            <a:r>
              <a:rPr lang="en-US" dirty="0" err="1"/>
              <a:t>NIfTIs</a:t>
            </a:r>
            <a:r>
              <a:rPr lang="en-US" dirty="0"/>
              <a:t> may contain less PHI than DICOMS, but </a:t>
            </a:r>
            <a:r>
              <a:rPr lang="en-US" i="1" dirty="0"/>
              <a:t>they can still contain identifying information</a:t>
            </a:r>
          </a:p>
          <a:p>
            <a:r>
              <a:rPr lang="en-US" dirty="0"/>
              <a:t>Structural images must be further anonymized</a:t>
            </a:r>
          </a:p>
        </p:txBody>
      </p:sp>
      <p:pic>
        <p:nvPicPr>
          <p:cNvPr id="3" name="Picture 2">
            <a:extLst>
              <a:ext uri="{FF2B5EF4-FFF2-40B4-BE49-F238E27FC236}">
                <a16:creationId xmlns:a16="http://schemas.microsoft.com/office/drawing/2014/main" id="{D2D6606F-00DE-A493-A906-2BE8165512ED}"/>
              </a:ext>
            </a:extLst>
          </p:cNvPr>
          <p:cNvPicPr>
            <a:picLocks noChangeAspect="1"/>
          </p:cNvPicPr>
          <p:nvPr/>
        </p:nvPicPr>
        <p:blipFill>
          <a:blip r:embed="rId2"/>
          <a:stretch>
            <a:fillRect/>
          </a:stretch>
        </p:blipFill>
        <p:spPr>
          <a:xfrm>
            <a:off x="7534382" y="2226317"/>
            <a:ext cx="2811433" cy="3573191"/>
          </a:xfrm>
          <a:prstGeom prst="rect">
            <a:avLst/>
          </a:prstGeom>
        </p:spPr>
      </p:pic>
      <p:pic>
        <p:nvPicPr>
          <p:cNvPr id="7" name="Picture 6">
            <a:extLst>
              <a:ext uri="{FF2B5EF4-FFF2-40B4-BE49-F238E27FC236}">
                <a16:creationId xmlns:a16="http://schemas.microsoft.com/office/drawing/2014/main" id="{22ECD92B-5912-935F-721B-11DAA92E68F2}"/>
              </a:ext>
            </a:extLst>
          </p:cNvPr>
          <p:cNvPicPr>
            <a:picLocks noChangeAspect="1"/>
          </p:cNvPicPr>
          <p:nvPr/>
        </p:nvPicPr>
        <p:blipFill>
          <a:blip r:embed="rId3"/>
          <a:stretch>
            <a:fillRect/>
          </a:stretch>
        </p:blipFill>
        <p:spPr>
          <a:xfrm>
            <a:off x="7534382" y="2155836"/>
            <a:ext cx="2762250" cy="3620042"/>
          </a:xfrm>
          <a:prstGeom prst="rect">
            <a:avLst/>
          </a:prstGeom>
        </p:spPr>
      </p:pic>
    </p:spTree>
    <p:extLst>
      <p:ext uri="{BB962C8B-B14F-4D97-AF65-F5344CB8AC3E}">
        <p14:creationId xmlns:p14="http://schemas.microsoft.com/office/powerpoint/2010/main" val="7236002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0A8C0C-F650-0F3D-0615-DE383D7FDA4A}"/>
              </a:ext>
            </a:extLst>
          </p:cNvPr>
          <p:cNvSpPr>
            <a:spLocks noGrp="1"/>
          </p:cNvSpPr>
          <p:nvPr>
            <p:ph type="title"/>
          </p:nvPr>
        </p:nvSpPr>
        <p:spPr/>
        <p:txBody>
          <a:bodyPr/>
          <a:lstStyle/>
          <a:p>
            <a:r>
              <a:rPr lang="en-US" b="1" u="sng" dirty="0"/>
              <a:t>Summary</a:t>
            </a:r>
          </a:p>
        </p:txBody>
      </p:sp>
      <p:sp>
        <p:nvSpPr>
          <p:cNvPr id="3" name="Content Placeholder 2">
            <a:extLst>
              <a:ext uri="{FF2B5EF4-FFF2-40B4-BE49-F238E27FC236}">
                <a16:creationId xmlns:a16="http://schemas.microsoft.com/office/drawing/2014/main" id="{AF943DFA-5B3C-70B3-C494-40C8EFD7FF65}"/>
              </a:ext>
            </a:extLst>
          </p:cNvPr>
          <p:cNvSpPr>
            <a:spLocks noGrp="1"/>
          </p:cNvSpPr>
          <p:nvPr>
            <p:ph idx="1"/>
          </p:nvPr>
        </p:nvSpPr>
        <p:spPr>
          <a:xfrm>
            <a:off x="838198" y="1596881"/>
            <a:ext cx="7679076" cy="4351338"/>
          </a:xfrm>
        </p:spPr>
        <p:txBody>
          <a:bodyPr>
            <a:normAutofit fontScale="85000" lnSpcReduction="20000"/>
          </a:bodyPr>
          <a:lstStyle/>
          <a:p>
            <a:r>
              <a:rPr lang="en-US" dirty="0"/>
              <a:t>GNL warp correction</a:t>
            </a:r>
          </a:p>
          <a:p>
            <a:r>
              <a:rPr lang="en-US" dirty="0"/>
              <a:t>Eddy current correction</a:t>
            </a:r>
            <a:r>
              <a:rPr lang="en-US" b="1" dirty="0"/>
              <a:t>*</a:t>
            </a:r>
          </a:p>
          <a:p>
            <a:r>
              <a:rPr lang="en-US" dirty="0"/>
              <a:t>Bias-field correction</a:t>
            </a:r>
            <a:r>
              <a:rPr lang="en-US" b="1" dirty="0"/>
              <a:t>**</a:t>
            </a:r>
          </a:p>
          <a:p>
            <a:r>
              <a:rPr lang="en-US" dirty="0"/>
              <a:t>Motion correction</a:t>
            </a:r>
            <a:r>
              <a:rPr lang="en-US" b="1" dirty="0"/>
              <a:t>*</a:t>
            </a:r>
          </a:p>
          <a:p>
            <a:r>
              <a:rPr lang="en-US" dirty="0"/>
              <a:t>Susceptibility distortion correction</a:t>
            </a:r>
          </a:p>
          <a:p>
            <a:r>
              <a:rPr lang="en-US" dirty="0"/>
              <a:t>Slice-time correction</a:t>
            </a:r>
          </a:p>
          <a:p>
            <a:r>
              <a:rPr lang="en-US" dirty="0"/>
              <a:t>Skull-stripping/tissue segmentation</a:t>
            </a:r>
          </a:p>
          <a:p>
            <a:r>
              <a:rPr lang="en-US" dirty="0"/>
              <a:t>Spatial normalization and functional-structural co-registration</a:t>
            </a:r>
          </a:p>
          <a:p>
            <a:r>
              <a:rPr lang="en-US" dirty="0"/>
              <a:t>Smoothing</a:t>
            </a:r>
          </a:p>
          <a:p>
            <a:r>
              <a:rPr lang="en-US" dirty="0"/>
              <a:t>Defacing</a:t>
            </a:r>
          </a:p>
          <a:p>
            <a:endParaRPr lang="en-US" dirty="0"/>
          </a:p>
          <a:p>
            <a:endParaRPr lang="en-US" dirty="0"/>
          </a:p>
        </p:txBody>
      </p:sp>
      <p:grpSp>
        <p:nvGrpSpPr>
          <p:cNvPr id="11" name="Group 10">
            <a:extLst>
              <a:ext uri="{FF2B5EF4-FFF2-40B4-BE49-F238E27FC236}">
                <a16:creationId xmlns:a16="http://schemas.microsoft.com/office/drawing/2014/main" id="{5F27DC8C-A4AC-B93D-8E22-C5B82CEDD5DF}"/>
              </a:ext>
            </a:extLst>
          </p:cNvPr>
          <p:cNvGrpSpPr/>
          <p:nvPr/>
        </p:nvGrpSpPr>
        <p:grpSpPr>
          <a:xfrm>
            <a:off x="8517274" y="1596881"/>
            <a:ext cx="2171480" cy="4051300"/>
            <a:chOff x="8293437" y="1825625"/>
            <a:chExt cx="2171480" cy="4051300"/>
          </a:xfrm>
        </p:grpSpPr>
        <p:sp>
          <p:nvSpPr>
            <p:cNvPr id="6" name="Right Brace 5">
              <a:extLst>
                <a:ext uri="{FF2B5EF4-FFF2-40B4-BE49-F238E27FC236}">
                  <a16:creationId xmlns:a16="http://schemas.microsoft.com/office/drawing/2014/main" id="{F53D59A9-D648-2C3D-F6A2-BE13101715E2}"/>
                </a:ext>
              </a:extLst>
            </p:cNvPr>
            <p:cNvSpPr/>
            <p:nvPr/>
          </p:nvSpPr>
          <p:spPr>
            <a:xfrm>
              <a:off x="8293437" y="1825625"/>
              <a:ext cx="447675" cy="1460500"/>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7" name="Right Brace 6">
              <a:extLst>
                <a:ext uri="{FF2B5EF4-FFF2-40B4-BE49-F238E27FC236}">
                  <a16:creationId xmlns:a16="http://schemas.microsoft.com/office/drawing/2014/main" id="{451B3EAE-B9E5-8D5B-3472-5674255AF06B}"/>
                </a:ext>
              </a:extLst>
            </p:cNvPr>
            <p:cNvSpPr/>
            <p:nvPr/>
          </p:nvSpPr>
          <p:spPr>
            <a:xfrm>
              <a:off x="8293438" y="3286125"/>
              <a:ext cx="447675" cy="2590800"/>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8" name="TextBox 7">
              <a:extLst>
                <a:ext uri="{FF2B5EF4-FFF2-40B4-BE49-F238E27FC236}">
                  <a16:creationId xmlns:a16="http://schemas.microsoft.com/office/drawing/2014/main" id="{CE4B2085-0D10-0461-BF93-F4249BF0AC4A}"/>
                </a:ext>
              </a:extLst>
            </p:cNvPr>
            <p:cNvSpPr txBox="1"/>
            <p:nvPr/>
          </p:nvSpPr>
          <p:spPr>
            <a:xfrm>
              <a:off x="8741112" y="2371209"/>
              <a:ext cx="1723805" cy="369332"/>
            </a:xfrm>
            <a:prstGeom prst="rect">
              <a:avLst/>
            </a:prstGeom>
            <a:noFill/>
          </p:spPr>
          <p:txBody>
            <a:bodyPr wrap="none" rtlCol="0">
              <a:spAutoFit/>
            </a:bodyPr>
            <a:lstStyle/>
            <a:p>
              <a:r>
                <a:rPr lang="en-US" dirty="0"/>
                <a:t>Scanner does it</a:t>
              </a:r>
            </a:p>
          </p:txBody>
        </p:sp>
        <p:sp>
          <p:nvSpPr>
            <p:cNvPr id="9" name="TextBox 8">
              <a:extLst>
                <a:ext uri="{FF2B5EF4-FFF2-40B4-BE49-F238E27FC236}">
                  <a16:creationId xmlns:a16="http://schemas.microsoft.com/office/drawing/2014/main" id="{E69B2976-59F1-4B31-B83E-696EF03E8A17}"/>
                </a:ext>
              </a:extLst>
            </p:cNvPr>
            <p:cNvSpPr txBox="1"/>
            <p:nvPr/>
          </p:nvSpPr>
          <p:spPr>
            <a:xfrm>
              <a:off x="8741112" y="4377293"/>
              <a:ext cx="1027782" cy="369332"/>
            </a:xfrm>
            <a:prstGeom prst="rect">
              <a:avLst/>
            </a:prstGeom>
            <a:noFill/>
          </p:spPr>
          <p:txBody>
            <a:bodyPr wrap="none" rtlCol="0">
              <a:spAutoFit/>
            </a:bodyPr>
            <a:lstStyle/>
            <a:p>
              <a:r>
                <a:rPr lang="en-US" dirty="0"/>
                <a:t>You do it</a:t>
              </a:r>
            </a:p>
          </p:txBody>
        </p:sp>
      </p:grpSp>
      <p:sp>
        <p:nvSpPr>
          <p:cNvPr id="10" name="TextBox 9">
            <a:extLst>
              <a:ext uri="{FF2B5EF4-FFF2-40B4-BE49-F238E27FC236}">
                <a16:creationId xmlns:a16="http://schemas.microsoft.com/office/drawing/2014/main" id="{440F6FF4-6319-56B4-531A-8F23C36D1C90}"/>
              </a:ext>
            </a:extLst>
          </p:cNvPr>
          <p:cNvSpPr txBox="1"/>
          <p:nvPr/>
        </p:nvSpPr>
        <p:spPr>
          <a:xfrm>
            <a:off x="838198" y="5909027"/>
            <a:ext cx="7511095" cy="584775"/>
          </a:xfrm>
          <a:prstGeom prst="rect">
            <a:avLst/>
          </a:prstGeom>
          <a:noFill/>
        </p:spPr>
        <p:txBody>
          <a:bodyPr wrap="none" rtlCol="0">
            <a:spAutoFit/>
          </a:bodyPr>
          <a:lstStyle/>
          <a:p>
            <a:r>
              <a:rPr lang="en-US" sz="1600" b="1" dirty="0"/>
              <a:t>*    </a:t>
            </a:r>
            <a:r>
              <a:rPr lang="en-US" sz="1600" dirty="0"/>
              <a:t>Scanner does it, but you need to do it too</a:t>
            </a:r>
          </a:p>
          <a:p>
            <a:r>
              <a:rPr lang="en-US" sz="1600" b="1" dirty="0"/>
              <a:t>**  </a:t>
            </a:r>
            <a:r>
              <a:rPr lang="en-US" sz="1600" dirty="0"/>
              <a:t>Scanner </a:t>
            </a:r>
            <a:r>
              <a:rPr lang="en-US" sz="1600" i="1" dirty="0"/>
              <a:t>can</a:t>
            </a:r>
            <a:r>
              <a:rPr lang="en-US" sz="1600" dirty="0"/>
              <a:t> do this, but you should do it yourself (</a:t>
            </a:r>
            <a:r>
              <a:rPr lang="en-US" sz="1600" i="1" dirty="0"/>
              <a:t>turn </a:t>
            </a:r>
            <a:r>
              <a:rPr lang="en-US" sz="1600" i="1" dirty="0" err="1"/>
              <a:t>Prescan</a:t>
            </a:r>
            <a:r>
              <a:rPr lang="en-US" sz="1600" i="1" dirty="0"/>
              <a:t> Normalize OFF!</a:t>
            </a:r>
            <a:r>
              <a:rPr lang="en-US" sz="1600" dirty="0"/>
              <a:t>)</a:t>
            </a:r>
          </a:p>
        </p:txBody>
      </p:sp>
    </p:spTree>
    <p:extLst>
      <p:ext uri="{BB962C8B-B14F-4D97-AF65-F5344CB8AC3E}">
        <p14:creationId xmlns:p14="http://schemas.microsoft.com/office/powerpoint/2010/main" val="307111798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423F205-B565-BD96-3138-988AE69BB084}"/>
              </a:ext>
            </a:extLst>
          </p:cNvPr>
          <p:cNvSpPr>
            <a:spLocks noGrp="1"/>
          </p:cNvSpPr>
          <p:nvPr>
            <p:ph type="ctrTitle"/>
          </p:nvPr>
        </p:nvSpPr>
        <p:spPr/>
        <p:txBody>
          <a:bodyPr/>
          <a:lstStyle/>
          <a:p>
            <a:r>
              <a:rPr lang="en-US" dirty="0" err="1"/>
              <a:t>fMRIPrep</a:t>
            </a:r>
            <a:endParaRPr lang="en-US" dirty="0"/>
          </a:p>
        </p:txBody>
      </p:sp>
      <p:sp>
        <p:nvSpPr>
          <p:cNvPr id="5" name="Subtitle 4">
            <a:extLst>
              <a:ext uri="{FF2B5EF4-FFF2-40B4-BE49-F238E27FC236}">
                <a16:creationId xmlns:a16="http://schemas.microsoft.com/office/drawing/2014/main" id="{D9E2D05F-4795-9921-9350-9747FA9F208C}"/>
              </a:ext>
            </a:extLst>
          </p:cNvPr>
          <p:cNvSpPr>
            <a:spLocks noGrp="1"/>
          </p:cNvSpPr>
          <p:nvPr>
            <p:ph type="subTitle" idx="1"/>
          </p:nvPr>
        </p:nvSpPr>
        <p:spPr/>
        <p:txBody>
          <a:bodyPr/>
          <a:lstStyle/>
          <a:p>
            <a:r>
              <a:rPr lang="en-US" dirty="0">
                <a:hlinkClick r:id="rId2"/>
              </a:rPr>
              <a:t>https://fmriprep.org/en/stable/</a:t>
            </a:r>
            <a:endParaRPr lang="en-US" dirty="0"/>
          </a:p>
        </p:txBody>
      </p:sp>
    </p:spTree>
    <p:extLst>
      <p:ext uri="{BB962C8B-B14F-4D97-AF65-F5344CB8AC3E}">
        <p14:creationId xmlns:p14="http://schemas.microsoft.com/office/powerpoint/2010/main" val="24057233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3ACB7B0-01D4-47C2-E8B2-DEF1B1991209}"/>
              </a:ext>
            </a:extLst>
          </p:cNvPr>
          <p:cNvSpPr>
            <a:spLocks noGrp="1"/>
          </p:cNvSpPr>
          <p:nvPr>
            <p:ph type="title"/>
          </p:nvPr>
        </p:nvSpPr>
        <p:spPr/>
        <p:txBody>
          <a:bodyPr/>
          <a:lstStyle/>
          <a:p>
            <a:r>
              <a:rPr lang="en-US" dirty="0" err="1"/>
              <a:t>fMRIPrep</a:t>
            </a:r>
            <a:r>
              <a:rPr lang="en-US" dirty="0"/>
              <a:t> Pipeline</a:t>
            </a:r>
          </a:p>
        </p:txBody>
      </p:sp>
      <p:pic>
        <p:nvPicPr>
          <p:cNvPr id="9" name="Picture 8">
            <a:extLst>
              <a:ext uri="{FF2B5EF4-FFF2-40B4-BE49-F238E27FC236}">
                <a16:creationId xmlns:a16="http://schemas.microsoft.com/office/drawing/2014/main" id="{BCB0037D-209D-B500-96C5-941536F0AC03}"/>
              </a:ext>
            </a:extLst>
          </p:cNvPr>
          <p:cNvPicPr>
            <a:picLocks noChangeAspect="1"/>
          </p:cNvPicPr>
          <p:nvPr/>
        </p:nvPicPr>
        <p:blipFill>
          <a:blip r:embed="rId2"/>
          <a:stretch>
            <a:fillRect/>
          </a:stretch>
        </p:blipFill>
        <p:spPr>
          <a:xfrm>
            <a:off x="1022373" y="1859671"/>
            <a:ext cx="10147253" cy="4396898"/>
          </a:xfrm>
          <a:prstGeom prst="rect">
            <a:avLst/>
          </a:prstGeom>
        </p:spPr>
      </p:pic>
      <p:grpSp>
        <p:nvGrpSpPr>
          <p:cNvPr id="11" name="Group 10">
            <a:extLst>
              <a:ext uri="{FF2B5EF4-FFF2-40B4-BE49-F238E27FC236}">
                <a16:creationId xmlns:a16="http://schemas.microsoft.com/office/drawing/2014/main" id="{273EE3AC-8392-BE8C-E25F-3A01A10DCF38}"/>
              </a:ext>
            </a:extLst>
          </p:cNvPr>
          <p:cNvGrpSpPr/>
          <p:nvPr/>
        </p:nvGrpSpPr>
        <p:grpSpPr>
          <a:xfrm>
            <a:off x="2438474" y="1571397"/>
            <a:ext cx="8731153" cy="1130706"/>
            <a:chOff x="2438474" y="1571397"/>
            <a:chExt cx="8731153" cy="1130706"/>
          </a:xfrm>
        </p:grpSpPr>
        <p:sp>
          <p:nvSpPr>
            <p:cNvPr id="6" name="Rectangle: Rounded Corners 5">
              <a:extLst>
                <a:ext uri="{FF2B5EF4-FFF2-40B4-BE49-F238E27FC236}">
                  <a16:creationId xmlns:a16="http://schemas.microsoft.com/office/drawing/2014/main" id="{6995840B-EB19-BBEF-CEC2-BA0FEFBF456E}"/>
                </a:ext>
              </a:extLst>
            </p:cNvPr>
            <p:cNvSpPr/>
            <p:nvPr/>
          </p:nvSpPr>
          <p:spPr>
            <a:xfrm>
              <a:off x="2856217" y="1821438"/>
              <a:ext cx="8313410" cy="880665"/>
            </a:xfrm>
            <a:prstGeom prst="roundRect">
              <a:avLst/>
            </a:prstGeom>
            <a:noFill/>
            <a:ln w="38100">
              <a:solidFill>
                <a:schemeClr val="accent6">
                  <a:lumMod val="60000"/>
                  <a:lumOff val="40000"/>
                </a:schemeClr>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ABAB081F-551C-AC08-E3C8-79DDE80F50BC}"/>
                </a:ext>
              </a:extLst>
            </p:cNvPr>
            <p:cNvSpPr txBox="1"/>
            <p:nvPr/>
          </p:nvSpPr>
          <p:spPr>
            <a:xfrm rot="19398533">
              <a:off x="2438474" y="1571397"/>
              <a:ext cx="835485" cy="369332"/>
            </a:xfrm>
            <a:prstGeom prst="rect">
              <a:avLst/>
            </a:prstGeom>
            <a:noFill/>
          </p:spPr>
          <p:txBody>
            <a:bodyPr wrap="none" rtlCol="0">
              <a:spAutoFit/>
            </a:bodyPr>
            <a:lstStyle/>
            <a:p>
              <a:r>
                <a:rPr lang="en-US" b="1" dirty="0"/>
                <a:t>INPUT</a:t>
              </a:r>
            </a:p>
          </p:txBody>
        </p:sp>
      </p:grpSp>
      <p:grpSp>
        <p:nvGrpSpPr>
          <p:cNvPr id="12" name="Group 11">
            <a:extLst>
              <a:ext uri="{FF2B5EF4-FFF2-40B4-BE49-F238E27FC236}">
                <a16:creationId xmlns:a16="http://schemas.microsoft.com/office/drawing/2014/main" id="{7C047892-B6A7-1A70-B0A5-E4195CBC5C1C}"/>
              </a:ext>
            </a:extLst>
          </p:cNvPr>
          <p:cNvGrpSpPr/>
          <p:nvPr/>
        </p:nvGrpSpPr>
        <p:grpSpPr>
          <a:xfrm>
            <a:off x="6096000" y="5067300"/>
            <a:ext cx="4380685" cy="1412168"/>
            <a:chOff x="6096000" y="5067300"/>
            <a:chExt cx="4380685" cy="1412168"/>
          </a:xfrm>
        </p:grpSpPr>
        <p:sp>
          <p:nvSpPr>
            <p:cNvPr id="8" name="Rectangle: Rounded Corners 7">
              <a:extLst>
                <a:ext uri="{FF2B5EF4-FFF2-40B4-BE49-F238E27FC236}">
                  <a16:creationId xmlns:a16="http://schemas.microsoft.com/office/drawing/2014/main" id="{1649A81D-0121-F3E4-0A84-D8BC72759F70}"/>
                </a:ext>
              </a:extLst>
            </p:cNvPr>
            <p:cNvSpPr/>
            <p:nvPr/>
          </p:nvSpPr>
          <p:spPr>
            <a:xfrm>
              <a:off x="6096000" y="5067300"/>
              <a:ext cx="3787740" cy="1189269"/>
            </a:xfrm>
            <a:prstGeom prst="roundRect">
              <a:avLst/>
            </a:prstGeom>
            <a:noFill/>
            <a:ln w="38100">
              <a:solidFill>
                <a:srgbClr val="C00000"/>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35AB7DF3-E105-1692-30E6-BA2FDE8EFCA9}"/>
                </a:ext>
              </a:extLst>
            </p:cNvPr>
            <p:cNvSpPr txBox="1"/>
            <p:nvPr/>
          </p:nvSpPr>
          <p:spPr>
            <a:xfrm rot="19398533">
              <a:off x="9428000" y="6110136"/>
              <a:ext cx="1048685" cy="369332"/>
            </a:xfrm>
            <a:prstGeom prst="rect">
              <a:avLst/>
            </a:prstGeom>
            <a:noFill/>
          </p:spPr>
          <p:txBody>
            <a:bodyPr wrap="none" rtlCol="0">
              <a:spAutoFit/>
            </a:bodyPr>
            <a:lstStyle/>
            <a:p>
              <a:r>
                <a:rPr lang="en-US" b="1" dirty="0"/>
                <a:t>OUTPUT</a:t>
              </a:r>
            </a:p>
          </p:txBody>
        </p:sp>
      </p:grpSp>
    </p:spTree>
    <p:extLst>
      <p:ext uri="{BB962C8B-B14F-4D97-AF65-F5344CB8AC3E}">
        <p14:creationId xmlns:p14="http://schemas.microsoft.com/office/powerpoint/2010/main" val="14702520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44A94-477A-CA19-45D3-E980B811D99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4075387-2976-B6D2-D10F-A183FF7C24D1}"/>
              </a:ext>
            </a:extLst>
          </p:cNvPr>
          <p:cNvSpPr>
            <a:spLocks noGrp="1"/>
          </p:cNvSpPr>
          <p:nvPr>
            <p:ph type="title"/>
          </p:nvPr>
        </p:nvSpPr>
        <p:spPr/>
        <p:txBody>
          <a:bodyPr/>
          <a:lstStyle/>
          <a:p>
            <a:r>
              <a:rPr lang="en-US" dirty="0" err="1"/>
              <a:t>fMRIPrep</a:t>
            </a:r>
            <a:r>
              <a:rPr lang="en-US" dirty="0"/>
              <a:t> Pipeline – copy and paste in </a:t>
            </a:r>
            <a:r>
              <a:rPr lang="en-US" dirty="0" err="1"/>
              <a:t>rivanna</a:t>
            </a:r>
            <a:endParaRPr lang="en-US" dirty="0"/>
          </a:p>
        </p:txBody>
      </p:sp>
      <p:sp>
        <p:nvSpPr>
          <p:cNvPr id="13" name="TextBox 12">
            <a:extLst>
              <a:ext uri="{FF2B5EF4-FFF2-40B4-BE49-F238E27FC236}">
                <a16:creationId xmlns:a16="http://schemas.microsoft.com/office/drawing/2014/main" id="{3360B0DD-F01F-C34F-11DA-389FB43C5793}"/>
              </a:ext>
            </a:extLst>
          </p:cNvPr>
          <p:cNvSpPr txBox="1"/>
          <p:nvPr/>
        </p:nvSpPr>
        <p:spPr>
          <a:xfrm>
            <a:off x="838200" y="1691561"/>
            <a:ext cx="10790432" cy="4801314"/>
          </a:xfrm>
          <a:prstGeom prst="rect">
            <a:avLst/>
          </a:prstGeom>
          <a:solidFill>
            <a:schemeClr val="tx1"/>
          </a:solidFill>
        </p:spPr>
        <p:txBody>
          <a:bodyPr wrap="square">
            <a:spAutoFit/>
          </a:bodyPr>
          <a:lstStyle/>
          <a:p>
            <a:r>
              <a:rPr lang="en-US" b="1" dirty="0">
                <a:solidFill>
                  <a:schemeClr val="bg1"/>
                </a:solidFill>
              </a:rPr>
              <a:t>export </a:t>
            </a:r>
            <a:r>
              <a:rPr lang="en-US" b="1" dirty="0">
                <a:solidFill>
                  <a:schemeClr val="accent1">
                    <a:lumMod val="40000"/>
                    <a:lumOff val="60000"/>
                  </a:schemeClr>
                </a:solidFill>
              </a:rPr>
              <a:t>NETID</a:t>
            </a:r>
            <a:r>
              <a:rPr lang="en-US" b="1" dirty="0">
                <a:solidFill>
                  <a:schemeClr val="bg1"/>
                </a:solidFill>
              </a:rPr>
              <a:t>=$(</a:t>
            </a:r>
            <a:r>
              <a:rPr lang="en-US" b="1" dirty="0" err="1">
                <a:solidFill>
                  <a:schemeClr val="bg1"/>
                </a:solidFill>
              </a:rPr>
              <a:t>whoami</a:t>
            </a:r>
            <a:r>
              <a:rPr lang="en-US" b="1" dirty="0">
                <a:solidFill>
                  <a:schemeClr val="bg1"/>
                </a:solidFill>
              </a:rPr>
              <a:t>) ; export </a:t>
            </a:r>
            <a:r>
              <a:rPr lang="en-US" b="1" dirty="0">
                <a:solidFill>
                  <a:schemeClr val="accent2"/>
                </a:solidFill>
              </a:rPr>
              <a:t>SUBID</a:t>
            </a:r>
            <a:r>
              <a:rPr lang="en-US" b="1" dirty="0">
                <a:solidFill>
                  <a:schemeClr val="bg1"/>
                </a:solidFill>
              </a:rPr>
              <a:t>="</a:t>
            </a:r>
            <a:r>
              <a:rPr lang="en-US" b="1" dirty="0" err="1">
                <a:solidFill>
                  <a:schemeClr val="bg1"/>
                </a:solidFill>
              </a:rPr>
              <a:t>rcg</a:t>
            </a:r>
            <a:r>
              <a:rPr lang="en-US" b="1" dirty="0">
                <a:solidFill>
                  <a:schemeClr val="bg1"/>
                </a:solidFill>
              </a:rPr>
              <a:t>"</a:t>
            </a:r>
          </a:p>
          <a:p>
            <a:endParaRPr lang="en-US" b="1" dirty="0">
              <a:solidFill>
                <a:schemeClr val="bg1"/>
              </a:solidFill>
            </a:endParaRPr>
          </a:p>
          <a:p>
            <a:r>
              <a:rPr lang="en-US" b="1" dirty="0">
                <a:solidFill>
                  <a:schemeClr val="bg1"/>
                </a:solidFill>
              </a:rPr>
              <a:t>if [[ ! –d /scratch/${</a:t>
            </a:r>
            <a:r>
              <a:rPr lang="en-US" b="1" dirty="0">
                <a:solidFill>
                  <a:schemeClr val="accent1">
                    <a:lumMod val="40000"/>
                    <a:lumOff val="60000"/>
                  </a:schemeClr>
                </a:solidFill>
              </a:rPr>
              <a:t>NETID</a:t>
            </a:r>
            <a:r>
              <a:rPr lang="en-US" b="1" dirty="0">
                <a:solidFill>
                  <a:schemeClr val="bg1"/>
                </a:solidFill>
              </a:rPr>
              <a:t>}/</a:t>
            </a:r>
            <a:r>
              <a:rPr lang="en-US" b="1" dirty="0" err="1">
                <a:solidFill>
                  <a:schemeClr val="bg1"/>
                </a:solidFill>
              </a:rPr>
              <a:t>brainhack</a:t>
            </a:r>
            <a:r>
              <a:rPr lang="en-US" b="1" dirty="0">
                <a:solidFill>
                  <a:schemeClr val="bg1"/>
                </a:solidFill>
              </a:rPr>
              <a:t> ]] ; then</a:t>
            </a:r>
          </a:p>
          <a:p>
            <a:r>
              <a:rPr lang="en-US" b="1" dirty="0">
                <a:solidFill>
                  <a:schemeClr val="bg1"/>
                </a:solidFill>
              </a:rPr>
              <a:t>	</a:t>
            </a:r>
            <a:r>
              <a:rPr lang="en-US" b="1" dirty="0" err="1">
                <a:solidFill>
                  <a:schemeClr val="bg1"/>
                </a:solidFill>
              </a:rPr>
              <a:t>mkdir</a:t>
            </a:r>
            <a:r>
              <a:rPr lang="en-US" b="1" dirty="0">
                <a:solidFill>
                  <a:schemeClr val="bg1"/>
                </a:solidFill>
              </a:rPr>
              <a:t> /scratch/${</a:t>
            </a:r>
            <a:r>
              <a:rPr lang="en-US" b="1" dirty="0">
                <a:solidFill>
                  <a:schemeClr val="accent1">
                    <a:lumMod val="40000"/>
                    <a:lumOff val="60000"/>
                  </a:schemeClr>
                </a:solidFill>
              </a:rPr>
              <a:t>NETID</a:t>
            </a:r>
            <a:r>
              <a:rPr lang="en-US" b="1" dirty="0">
                <a:solidFill>
                  <a:schemeClr val="bg1"/>
                </a:solidFill>
              </a:rPr>
              <a:t>}/</a:t>
            </a:r>
            <a:r>
              <a:rPr lang="en-US" b="1" dirty="0" err="1">
                <a:solidFill>
                  <a:schemeClr val="bg1"/>
                </a:solidFill>
              </a:rPr>
              <a:t>brainhack</a:t>
            </a:r>
            <a:endParaRPr lang="en-US" b="1" dirty="0">
              <a:solidFill>
                <a:schemeClr val="bg1"/>
              </a:solidFill>
            </a:endParaRPr>
          </a:p>
          <a:p>
            <a:r>
              <a:rPr lang="en-US" b="1" dirty="0">
                <a:solidFill>
                  <a:schemeClr val="bg1"/>
                </a:solidFill>
              </a:rPr>
              <a:t>fi</a:t>
            </a:r>
          </a:p>
          <a:p>
            <a:r>
              <a:rPr lang="en-US" b="1" dirty="0">
                <a:solidFill>
                  <a:schemeClr val="bg1"/>
                </a:solidFill>
              </a:rPr>
              <a:t>cd /scratch/${</a:t>
            </a:r>
            <a:r>
              <a:rPr lang="en-US" b="1" dirty="0">
                <a:solidFill>
                  <a:schemeClr val="accent1">
                    <a:lumMod val="40000"/>
                    <a:lumOff val="60000"/>
                  </a:schemeClr>
                </a:solidFill>
              </a:rPr>
              <a:t>NETID</a:t>
            </a:r>
            <a:r>
              <a:rPr lang="en-US" b="1" dirty="0">
                <a:solidFill>
                  <a:schemeClr val="bg1"/>
                </a:solidFill>
              </a:rPr>
              <a:t>}/</a:t>
            </a:r>
            <a:r>
              <a:rPr lang="en-US" b="1" dirty="0" err="1">
                <a:solidFill>
                  <a:schemeClr val="bg1"/>
                </a:solidFill>
              </a:rPr>
              <a:t>brainhack</a:t>
            </a:r>
            <a:endParaRPr lang="en-US" b="1" dirty="0">
              <a:solidFill>
                <a:schemeClr val="bg1"/>
              </a:solidFill>
            </a:endParaRPr>
          </a:p>
          <a:p>
            <a:r>
              <a:rPr lang="en-US" b="1" dirty="0">
                <a:solidFill>
                  <a:schemeClr val="bg1"/>
                </a:solidFill>
              </a:rPr>
              <a:t>cp -r /project/</a:t>
            </a:r>
            <a:r>
              <a:rPr lang="en-US" b="1" dirty="0" err="1">
                <a:solidFill>
                  <a:schemeClr val="bg1"/>
                </a:solidFill>
              </a:rPr>
              <a:t>morrislab</a:t>
            </a:r>
            <a:r>
              <a:rPr lang="en-US" b="1" dirty="0">
                <a:solidFill>
                  <a:schemeClr val="bg1"/>
                </a:solidFill>
              </a:rPr>
              <a:t>/Craig/</a:t>
            </a:r>
            <a:r>
              <a:rPr lang="en-US" b="1" dirty="0" err="1">
                <a:solidFill>
                  <a:schemeClr val="bg1"/>
                </a:solidFill>
              </a:rPr>
              <a:t>rcgBIDS</a:t>
            </a:r>
            <a:r>
              <a:rPr lang="en-US" b="1" dirty="0">
                <a:solidFill>
                  <a:schemeClr val="bg1"/>
                </a:solidFill>
              </a:rPr>
              <a:t> /scratch/${</a:t>
            </a:r>
            <a:r>
              <a:rPr lang="en-US" b="1" dirty="0">
                <a:solidFill>
                  <a:schemeClr val="accent1">
                    <a:lumMod val="40000"/>
                    <a:lumOff val="60000"/>
                  </a:schemeClr>
                </a:solidFill>
              </a:rPr>
              <a:t>NETID</a:t>
            </a:r>
            <a:r>
              <a:rPr lang="en-US" b="1" dirty="0">
                <a:solidFill>
                  <a:schemeClr val="bg1"/>
                </a:solidFill>
              </a:rPr>
              <a:t>}/</a:t>
            </a:r>
            <a:r>
              <a:rPr lang="en-US" b="1" dirty="0" err="1">
                <a:solidFill>
                  <a:schemeClr val="bg1"/>
                </a:solidFill>
              </a:rPr>
              <a:t>brainhack</a:t>
            </a:r>
            <a:endParaRPr lang="en-US" b="1" dirty="0">
              <a:solidFill>
                <a:schemeClr val="bg1"/>
              </a:solidFill>
            </a:endParaRPr>
          </a:p>
          <a:p>
            <a:endParaRPr lang="en-US" b="1" dirty="0">
              <a:solidFill>
                <a:schemeClr val="bg1"/>
              </a:solidFill>
            </a:endParaRPr>
          </a:p>
          <a:p>
            <a:r>
              <a:rPr lang="en-US" b="1" dirty="0">
                <a:solidFill>
                  <a:schemeClr val="bg1"/>
                </a:solidFill>
              </a:rPr>
              <a:t>module load </a:t>
            </a:r>
            <a:r>
              <a:rPr lang="en-US" b="1" dirty="0" err="1">
                <a:solidFill>
                  <a:schemeClr val="bg1"/>
                </a:solidFill>
              </a:rPr>
              <a:t>apptainer</a:t>
            </a:r>
            <a:r>
              <a:rPr lang="en-US" b="1" dirty="0">
                <a:solidFill>
                  <a:schemeClr val="bg1"/>
                </a:solidFill>
              </a:rPr>
              <a:t> </a:t>
            </a:r>
            <a:r>
              <a:rPr lang="en-US" b="1" dirty="0" err="1">
                <a:solidFill>
                  <a:schemeClr val="bg1"/>
                </a:solidFill>
              </a:rPr>
              <a:t>fmriprep</a:t>
            </a:r>
            <a:endParaRPr lang="en-US" b="1" dirty="0">
              <a:solidFill>
                <a:schemeClr val="bg1"/>
              </a:solidFill>
            </a:endParaRPr>
          </a:p>
          <a:p>
            <a:endParaRPr lang="en-US" b="1" dirty="0">
              <a:solidFill>
                <a:schemeClr val="bg1"/>
              </a:solidFill>
            </a:endParaRPr>
          </a:p>
          <a:p>
            <a:r>
              <a:rPr lang="en-US" b="1" dirty="0" err="1">
                <a:solidFill>
                  <a:schemeClr val="bg1"/>
                </a:solidFill>
              </a:rPr>
              <a:t>apptainer</a:t>
            </a:r>
            <a:r>
              <a:rPr lang="en-US" b="1" dirty="0">
                <a:solidFill>
                  <a:schemeClr val="bg1"/>
                </a:solidFill>
              </a:rPr>
              <a:t> run --</a:t>
            </a:r>
            <a:r>
              <a:rPr lang="en-US" b="1" dirty="0" err="1">
                <a:solidFill>
                  <a:schemeClr val="bg1"/>
                </a:solidFill>
              </a:rPr>
              <a:t>cleanenv</a:t>
            </a:r>
            <a:r>
              <a:rPr lang="en-US" b="1" dirty="0">
                <a:solidFill>
                  <a:schemeClr val="bg1"/>
                </a:solidFill>
              </a:rPr>
              <a:t> --bind /scratch/${</a:t>
            </a:r>
            <a:r>
              <a:rPr lang="en-US" b="1" dirty="0">
                <a:solidFill>
                  <a:schemeClr val="accent1">
                    <a:lumMod val="40000"/>
                    <a:lumOff val="60000"/>
                  </a:schemeClr>
                </a:solidFill>
              </a:rPr>
              <a:t>NETID</a:t>
            </a:r>
            <a:r>
              <a:rPr lang="en-US" b="1" dirty="0">
                <a:solidFill>
                  <a:schemeClr val="bg1"/>
                </a:solidFill>
              </a:rPr>
              <a:t>}/</a:t>
            </a:r>
            <a:r>
              <a:rPr lang="en-US" b="1" dirty="0" err="1">
                <a:solidFill>
                  <a:schemeClr val="bg1"/>
                </a:solidFill>
              </a:rPr>
              <a:t>brainhack</a:t>
            </a:r>
            <a:r>
              <a:rPr lang="en-US" b="1" dirty="0">
                <a:solidFill>
                  <a:schemeClr val="bg1"/>
                </a:solidFill>
              </a:rPr>
              <a:t>/</a:t>
            </a:r>
            <a:r>
              <a:rPr lang="en-US" b="1" dirty="0" err="1">
                <a:solidFill>
                  <a:schemeClr val="bg1"/>
                </a:solidFill>
              </a:rPr>
              <a:t>rcgBIDS</a:t>
            </a:r>
            <a:r>
              <a:rPr lang="en-US" b="1" dirty="0">
                <a:solidFill>
                  <a:schemeClr val="bg1"/>
                </a:solidFill>
              </a:rPr>
              <a:t>/:/</a:t>
            </a:r>
            <a:r>
              <a:rPr lang="en-US" b="1" dirty="0" err="1">
                <a:solidFill>
                  <a:schemeClr val="bg1"/>
                </a:solidFill>
              </a:rPr>
              <a:t>data:ro</a:t>
            </a:r>
            <a:r>
              <a:rPr lang="en-US" b="1" dirty="0">
                <a:solidFill>
                  <a:schemeClr val="bg1"/>
                </a:solidFill>
              </a:rPr>
              <a:t> --bind /scratch/${</a:t>
            </a:r>
            <a:r>
              <a:rPr lang="en-US" b="1" dirty="0">
                <a:solidFill>
                  <a:schemeClr val="accent1">
                    <a:lumMod val="40000"/>
                    <a:lumOff val="60000"/>
                  </a:schemeClr>
                </a:solidFill>
              </a:rPr>
              <a:t>NETID</a:t>
            </a:r>
            <a:r>
              <a:rPr lang="en-US" b="1" dirty="0">
                <a:solidFill>
                  <a:schemeClr val="bg1"/>
                </a:solidFill>
              </a:rPr>
              <a:t>}/</a:t>
            </a:r>
            <a:r>
              <a:rPr lang="en-US" b="1" dirty="0" err="1">
                <a:solidFill>
                  <a:schemeClr val="bg1"/>
                </a:solidFill>
              </a:rPr>
              <a:t>brainhack</a:t>
            </a:r>
            <a:r>
              <a:rPr lang="en-US" b="1" dirty="0">
                <a:solidFill>
                  <a:schemeClr val="bg1"/>
                </a:solidFill>
              </a:rPr>
              <a:t>/</a:t>
            </a:r>
            <a:r>
              <a:rPr lang="en-US" b="1" dirty="0" err="1">
                <a:solidFill>
                  <a:schemeClr val="bg1"/>
                </a:solidFill>
              </a:rPr>
              <a:t>rcgBIDS</a:t>
            </a:r>
            <a:r>
              <a:rPr lang="en-US" b="1" dirty="0">
                <a:solidFill>
                  <a:schemeClr val="bg1"/>
                </a:solidFill>
              </a:rPr>
              <a:t>/derivatives:/out /</a:t>
            </a:r>
            <a:r>
              <a:rPr lang="en-US" b="1" dirty="0" err="1">
                <a:solidFill>
                  <a:schemeClr val="bg1"/>
                </a:solidFill>
              </a:rPr>
              <a:t>sfs</a:t>
            </a:r>
            <a:r>
              <a:rPr lang="en-US" b="1" dirty="0">
                <a:solidFill>
                  <a:schemeClr val="bg1"/>
                </a:solidFill>
              </a:rPr>
              <a:t>/</a:t>
            </a:r>
            <a:r>
              <a:rPr lang="en-US" b="1" dirty="0" err="1">
                <a:solidFill>
                  <a:schemeClr val="bg1"/>
                </a:solidFill>
              </a:rPr>
              <a:t>weka</a:t>
            </a:r>
            <a:r>
              <a:rPr lang="en-US" b="1" dirty="0">
                <a:solidFill>
                  <a:schemeClr val="bg1"/>
                </a:solidFill>
              </a:rPr>
              <a:t>/applications/resources/containers/</a:t>
            </a:r>
            <a:r>
              <a:rPr lang="en-US" b="1" dirty="0" err="1">
                <a:solidFill>
                  <a:schemeClr val="bg1"/>
                </a:solidFill>
              </a:rPr>
              <a:t>apptainer</a:t>
            </a:r>
            <a:r>
              <a:rPr lang="en-US" b="1" dirty="0">
                <a:solidFill>
                  <a:schemeClr val="bg1"/>
                </a:solidFill>
              </a:rPr>
              <a:t>/fmriprep-23.1.4.sif /data /out participant --participant-label ${</a:t>
            </a:r>
            <a:r>
              <a:rPr lang="en-US" b="1" dirty="0">
                <a:solidFill>
                  <a:schemeClr val="accent2"/>
                </a:solidFill>
              </a:rPr>
              <a:t>SUBID</a:t>
            </a:r>
            <a:r>
              <a:rPr lang="en-US" b="1" dirty="0">
                <a:solidFill>
                  <a:schemeClr val="bg1"/>
                </a:solidFill>
              </a:rPr>
              <a:t>} --fs-license-file /scratch/${</a:t>
            </a:r>
            <a:r>
              <a:rPr lang="en-US" b="1" dirty="0">
                <a:solidFill>
                  <a:schemeClr val="accent1">
                    <a:lumMod val="40000"/>
                    <a:lumOff val="60000"/>
                  </a:schemeClr>
                </a:solidFill>
              </a:rPr>
              <a:t>NETID</a:t>
            </a:r>
            <a:r>
              <a:rPr lang="en-US" b="1" dirty="0">
                <a:solidFill>
                  <a:schemeClr val="bg1"/>
                </a:solidFill>
              </a:rPr>
              <a:t>}/</a:t>
            </a:r>
            <a:r>
              <a:rPr lang="en-US" b="1" dirty="0" err="1">
                <a:solidFill>
                  <a:schemeClr val="bg1"/>
                </a:solidFill>
              </a:rPr>
              <a:t>brainhack</a:t>
            </a:r>
            <a:r>
              <a:rPr lang="en-US" b="1" dirty="0">
                <a:solidFill>
                  <a:schemeClr val="bg1"/>
                </a:solidFill>
              </a:rPr>
              <a:t>/</a:t>
            </a:r>
            <a:r>
              <a:rPr lang="en-US" b="1" dirty="0" err="1">
                <a:solidFill>
                  <a:schemeClr val="bg1"/>
                </a:solidFill>
              </a:rPr>
              <a:t>rcgBIDS</a:t>
            </a:r>
            <a:r>
              <a:rPr lang="en-US" b="1" dirty="0">
                <a:solidFill>
                  <a:schemeClr val="bg1"/>
                </a:solidFill>
              </a:rPr>
              <a:t>/code/license.txt --output-spaces MNI152NLin2009cAsym:res-native:res-2 T1w </a:t>
            </a:r>
            <a:r>
              <a:rPr lang="en-US" b="1" dirty="0" err="1">
                <a:solidFill>
                  <a:schemeClr val="bg1"/>
                </a:solidFill>
              </a:rPr>
              <a:t>func</a:t>
            </a:r>
            <a:r>
              <a:rPr lang="en-US" b="1" dirty="0">
                <a:solidFill>
                  <a:schemeClr val="bg1"/>
                </a:solidFill>
              </a:rPr>
              <a:t> -w /scratch/${</a:t>
            </a:r>
            <a:r>
              <a:rPr lang="en-US" b="1" dirty="0">
                <a:solidFill>
                  <a:schemeClr val="accent1">
                    <a:lumMod val="40000"/>
                    <a:lumOff val="60000"/>
                  </a:schemeClr>
                </a:solidFill>
              </a:rPr>
              <a:t>NETID</a:t>
            </a:r>
            <a:r>
              <a:rPr lang="en-US" b="1" dirty="0">
                <a:solidFill>
                  <a:schemeClr val="bg1"/>
                </a:solidFill>
              </a:rPr>
              <a:t>}/</a:t>
            </a:r>
            <a:r>
              <a:rPr lang="en-US" b="1" dirty="0" err="1">
                <a:solidFill>
                  <a:schemeClr val="bg1"/>
                </a:solidFill>
              </a:rPr>
              <a:t>brainhack</a:t>
            </a:r>
            <a:r>
              <a:rPr lang="en-US" b="1" dirty="0">
                <a:solidFill>
                  <a:schemeClr val="bg1"/>
                </a:solidFill>
              </a:rPr>
              <a:t>/</a:t>
            </a:r>
            <a:r>
              <a:rPr lang="en-US" b="1" dirty="0" err="1">
                <a:solidFill>
                  <a:schemeClr val="bg1"/>
                </a:solidFill>
              </a:rPr>
              <a:t>fmriprep_work</a:t>
            </a:r>
            <a:r>
              <a:rPr lang="en-US" b="1" dirty="0">
                <a:solidFill>
                  <a:schemeClr val="bg1"/>
                </a:solidFill>
              </a:rPr>
              <a:t>/${</a:t>
            </a:r>
            <a:r>
              <a:rPr lang="en-US" b="1" dirty="0">
                <a:solidFill>
                  <a:schemeClr val="accent2"/>
                </a:solidFill>
              </a:rPr>
              <a:t>SUBID</a:t>
            </a:r>
            <a:r>
              <a:rPr lang="en-US" b="1" dirty="0">
                <a:solidFill>
                  <a:schemeClr val="bg1"/>
                </a:solidFill>
              </a:rPr>
              <a:t>} --</a:t>
            </a:r>
            <a:r>
              <a:rPr lang="en-US" b="1" dirty="0" err="1">
                <a:solidFill>
                  <a:schemeClr val="bg1"/>
                </a:solidFill>
              </a:rPr>
              <a:t>omp-nthreads</a:t>
            </a:r>
            <a:r>
              <a:rPr lang="en-US" b="1" dirty="0">
                <a:solidFill>
                  <a:schemeClr val="bg1"/>
                </a:solidFill>
              </a:rPr>
              <a:t> 16 --skip-bids-validation --fs-no-</a:t>
            </a:r>
            <a:r>
              <a:rPr lang="en-US" b="1" dirty="0" err="1">
                <a:solidFill>
                  <a:schemeClr val="bg1"/>
                </a:solidFill>
              </a:rPr>
              <a:t>reconall</a:t>
            </a:r>
            <a:r>
              <a:rPr lang="en-US" b="1" dirty="0">
                <a:solidFill>
                  <a:schemeClr val="bg1"/>
                </a:solidFill>
              </a:rPr>
              <a:t> --low-mem</a:t>
            </a:r>
            <a:endParaRPr lang="en-US" b="1" dirty="0">
              <a:solidFill>
                <a:schemeClr val="accent5">
                  <a:lumMod val="40000"/>
                  <a:lumOff val="60000"/>
                </a:schemeClr>
              </a:solidFill>
              <a:sym typeface="Wingdings" panose="05000000000000000000" pitchFamily="2" charset="2"/>
            </a:endParaRPr>
          </a:p>
        </p:txBody>
      </p:sp>
      <p:sp>
        <p:nvSpPr>
          <p:cNvPr id="2" name="TextBox 1">
            <a:extLst>
              <a:ext uri="{FF2B5EF4-FFF2-40B4-BE49-F238E27FC236}">
                <a16:creationId xmlns:a16="http://schemas.microsoft.com/office/drawing/2014/main" id="{DB6F7E47-AB00-B0F2-0CC8-46A33DEE6491}"/>
              </a:ext>
            </a:extLst>
          </p:cNvPr>
          <p:cNvSpPr txBox="1"/>
          <p:nvPr/>
        </p:nvSpPr>
        <p:spPr>
          <a:xfrm>
            <a:off x="689206" y="1383347"/>
            <a:ext cx="11088420" cy="307777"/>
          </a:xfrm>
          <a:prstGeom prst="rect">
            <a:avLst/>
          </a:prstGeom>
          <a:noFill/>
        </p:spPr>
        <p:txBody>
          <a:bodyPr wrap="none" rtlCol="0">
            <a:spAutoFit/>
          </a:bodyPr>
          <a:lstStyle/>
          <a:p>
            <a:r>
              <a:rPr lang="en-US" sz="1400" dirty="0"/>
              <a:t>No changes necessary! This should work on its own </a:t>
            </a:r>
            <a:r>
              <a:rPr lang="en-US" sz="1400" dirty="0">
                <a:sym typeface="Wingdings" panose="05000000000000000000" pitchFamily="2" charset="2"/>
              </a:rPr>
              <a:t> though it might take a while to run – next week we will discuss how to submit </a:t>
            </a:r>
            <a:r>
              <a:rPr lang="en-US" sz="1400" dirty="0" err="1">
                <a:sym typeface="Wingdings" panose="05000000000000000000" pitchFamily="2" charset="2"/>
              </a:rPr>
              <a:t>slurm</a:t>
            </a:r>
            <a:r>
              <a:rPr lang="en-US" sz="1400" dirty="0">
                <a:sym typeface="Wingdings" panose="05000000000000000000" pitchFamily="2" charset="2"/>
              </a:rPr>
              <a:t> jobs</a:t>
            </a:r>
            <a:endParaRPr lang="en-US" sz="1400" dirty="0"/>
          </a:p>
        </p:txBody>
      </p:sp>
    </p:spTree>
    <p:extLst>
      <p:ext uri="{BB962C8B-B14F-4D97-AF65-F5344CB8AC3E}">
        <p14:creationId xmlns:p14="http://schemas.microsoft.com/office/powerpoint/2010/main" val="274754207"/>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1190</TotalTime>
  <Words>1742</Words>
  <Application>Microsoft Office PowerPoint</Application>
  <PresentationFormat>Widescreen</PresentationFormat>
  <Paragraphs>224</Paragraphs>
  <Slides>29</Slides>
  <Notes>13</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29</vt:i4>
      </vt:variant>
    </vt:vector>
  </HeadingPairs>
  <TitlesOfParts>
    <vt:vector size="35" baseType="lpstr">
      <vt:lpstr>Aptos</vt:lpstr>
      <vt:lpstr>Aptos Display</vt:lpstr>
      <vt:lpstr>Arial</vt:lpstr>
      <vt:lpstr>Wingdings</vt:lpstr>
      <vt:lpstr>1_Office Theme</vt:lpstr>
      <vt:lpstr>Office Theme</vt:lpstr>
      <vt:lpstr>UVA Brainhack!</vt:lpstr>
      <vt:lpstr>Agenda</vt:lpstr>
      <vt:lpstr>Quick return to K-space</vt:lpstr>
      <vt:lpstr>MR Preprocessing</vt:lpstr>
      <vt:lpstr>Preamble</vt:lpstr>
      <vt:lpstr>Part I: What the scanner does</vt:lpstr>
      <vt:lpstr>Part I: What the scanner does</vt:lpstr>
      <vt:lpstr>Part I: What the scanner does</vt:lpstr>
      <vt:lpstr>Part I: What the scanner does</vt:lpstr>
      <vt:lpstr>Part I: What the scanner does</vt:lpstr>
      <vt:lpstr>Part I: What the scanner does</vt:lpstr>
      <vt:lpstr>Part II: What the scanner doesn’t do</vt:lpstr>
      <vt:lpstr>Part II: What the scanner doesn’t do</vt:lpstr>
      <vt:lpstr>Part II: What the scanner doesn’t do</vt:lpstr>
      <vt:lpstr>Part II: What the scanner doesn’t do</vt:lpstr>
      <vt:lpstr>Part II: What the scanner doesn’t do</vt:lpstr>
      <vt:lpstr>Part II: What the scanner doesn’t do</vt:lpstr>
      <vt:lpstr>Part II: What the scanner doesn’t do</vt:lpstr>
      <vt:lpstr>Part II: What the scanner doesn’t do</vt:lpstr>
      <vt:lpstr>Part II: What the scanner doesn’t do</vt:lpstr>
      <vt:lpstr>Part II: What the scanner doesn’t do</vt:lpstr>
      <vt:lpstr>Part II: What the scanner doesn’t do</vt:lpstr>
      <vt:lpstr>Part II: What the scanner doesn’t do</vt:lpstr>
      <vt:lpstr>Part II: What the scanner doesn’t do</vt:lpstr>
      <vt:lpstr>Part II: What the scanner doesn’t do</vt:lpstr>
      <vt:lpstr>Summary</vt:lpstr>
      <vt:lpstr>fMRIPrep</vt:lpstr>
      <vt:lpstr>fMRIPrep Pipeline</vt:lpstr>
      <vt:lpstr>fMRIPrep Pipeline – copy and paste in rivanna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Gallagher, Richard Craig (rcg7jb)</dc:creator>
  <cp:lastModifiedBy>Gallagher, Richard Craig (rcg7jb)</cp:lastModifiedBy>
  <cp:revision>17</cp:revision>
  <dcterms:created xsi:type="dcterms:W3CDTF">2025-06-19T20:32:55Z</dcterms:created>
  <dcterms:modified xsi:type="dcterms:W3CDTF">2025-06-23T01:45:12Z</dcterms:modified>
</cp:coreProperties>
</file>