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  <p:sldMasterId id="2147483660" r:id="rId2"/>
    <p:sldMasterId id="2147483664" r:id="rId3"/>
    <p:sldMasterId id="2147483662" r:id="rId4"/>
    <p:sldMasterId id="2147483648" r:id="rId5"/>
  </p:sldMasterIdLst>
  <p:notesMasterIdLst>
    <p:notesMasterId r:id="rId32"/>
  </p:notesMasterIdLst>
  <p:sldIdLst>
    <p:sldId id="257" r:id="rId6"/>
    <p:sldId id="259" r:id="rId7"/>
    <p:sldId id="264" r:id="rId8"/>
    <p:sldId id="268" r:id="rId9"/>
    <p:sldId id="274" r:id="rId10"/>
    <p:sldId id="273" r:id="rId11"/>
    <p:sldId id="271" r:id="rId12"/>
    <p:sldId id="266" r:id="rId13"/>
    <p:sldId id="265" r:id="rId14"/>
    <p:sldId id="260" r:id="rId15"/>
    <p:sldId id="261" r:id="rId16"/>
    <p:sldId id="262" r:id="rId17"/>
    <p:sldId id="270" r:id="rId18"/>
    <p:sldId id="263" r:id="rId19"/>
    <p:sldId id="269" r:id="rId20"/>
    <p:sldId id="275" r:id="rId21"/>
    <p:sldId id="276" r:id="rId22"/>
    <p:sldId id="280" r:id="rId23"/>
    <p:sldId id="283" r:id="rId24"/>
    <p:sldId id="284" r:id="rId25"/>
    <p:sldId id="277" r:id="rId26"/>
    <p:sldId id="278" r:id="rId27"/>
    <p:sldId id="285" r:id="rId28"/>
    <p:sldId id="279" r:id="rId29"/>
    <p:sldId id="286" r:id="rId30"/>
    <p:sldId id="28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8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C251A-1F1A-4B91-87FD-160883B7305C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64961-E66A-4A8D-B87B-3554F8460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41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applying </a:t>
            </a:r>
            <a:r>
              <a:rPr lang="en-US" dirty="0" err="1"/>
              <a:t>dynEGA</a:t>
            </a:r>
            <a:r>
              <a:rPr lang="en-US" dirty="0"/>
              <a:t> to real fMRI data, we want to ensure that it actually works, i.e., it can recover known dynamic network structures.</a:t>
            </a:r>
          </a:p>
          <a:p>
            <a:endParaRPr lang="en-US" dirty="0"/>
          </a:p>
          <a:p>
            <a:r>
              <a:rPr lang="en-US" dirty="0"/>
              <a:t>We can simulate resting-state fMRI with a known ground truth using </a:t>
            </a:r>
            <a:r>
              <a:rPr lang="en-US" b="1" dirty="0" err="1"/>
              <a:t>fmrisim</a:t>
            </a:r>
            <a:r>
              <a:rPr lang="en-US" dirty="0"/>
              <a:t> (part of the </a:t>
            </a:r>
            <a:r>
              <a:rPr lang="en-US" dirty="0" err="1"/>
              <a:t>BrainIAK</a:t>
            </a:r>
            <a:r>
              <a:rPr lang="en-US" dirty="0"/>
              <a:t> library), which allows us to generate artificial fMRI data that mimics the characteristics of real data, including realistic noise/SNR, autocorrelative structure,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113A0-66F0-4297-9656-FC3A0E24D30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014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BD17-7156-937C-A6F2-FF13F462C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C4EAA1-C9F9-9236-B2BE-CCD2CFC0A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8AABF-241E-AD45-5A6B-629E49C39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B17-60DC-4BE2-8392-97CCBA00DC5E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24671-73D4-AF3F-B355-310849B45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433D7-04D6-903C-A559-B4210292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8F2A-7B0B-42E8-B0A4-357B3A361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22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BC93C-60A7-81D4-1CD6-68656C1BB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083C5-1F9B-00C7-C43C-08E9C1816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1D747-26A9-DAA4-57A2-370AA1F32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B17-60DC-4BE2-8392-97CCBA00DC5E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DEBF5-02C1-6146-C1DB-1227B2AE4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C67AF-1AA8-3D54-3D48-B910D187D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8F2A-7B0B-42E8-B0A4-357B3A361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02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1F939-DE66-B828-B4BE-E152922FC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BA2A8-D217-BA23-D6CC-684749B89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F0CDB-86B0-B846-D02B-7641938C9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B17-60DC-4BE2-8392-97CCBA00DC5E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9B835-703A-8F8B-DC12-D01C53A4C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5718B-5460-1AE8-4BCC-0DFAD3737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8F2A-7B0B-42E8-B0A4-357B3A361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38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7DBB7-1DBF-A6DD-1FC4-CDCED5483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2C6FA-2A07-547B-F1EA-B684EE3AE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17CB93-A2ED-30CE-A3DE-5DA055C54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3850F-F1EE-B1A2-6563-84FE3726E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B17-60DC-4BE2-8392-97CCBA00DC5E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18AC6-9DA5-E318-5FCD-B6A800B5B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76ABF-EC79-B5B3-9E2E-2EBAC9DC1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8F2A-7B0B-42E8-B0A4-357B3A361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6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DCC09-CA6D-51A5-D789-32C30D97E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40254-A247-4E8D-C0A5-45A1091CB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AD95E-616C-0D63-D219-1CE0DFDDF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CDA08C-66AF-D323-B984-32C972CCF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52F8E-5E85-C8F5-B7B8-F9CE01F62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922E28-59DF-24A1-ADB4-8AAA374AD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B17-60DC-4BE2-8392-97CCBA00DC5E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C6FF53-3825-EA87-58DB-F7831CD97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39A8B6-CB1F-3268-EFBF-1F7FD7800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8F2A-7B0B-42E8-B0A4-357B3A361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15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80EC2-708B-7F70-C68B-AE173588B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90C9C3-7C2D-114D-007E-2D0275119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B17-60DC-4BE2-8392-97CCBA00DC5E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7A0D1-91F3-848A-F2E5-D829AE974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618F4-982E-A5CC-AC3F-E635B7BDA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8F2A-7B0B-42E8-B0A4-357B3A361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70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349D28-014F-3740-3F95-2B9E8BD19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B17-60DC-4BE2-8392-97CCBA00DC5E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81AAAA-AB42-A67E-7D6E-090737269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E6170-133B-384C-4EB4-3F5C7CA7B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8F2A-7B0B-42E8-B0A4-357B3A361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195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D8C53-5DBA-D94A-BC1B-0492FDFF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A67D9-7DD3-071C-4C1C-F07092E41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EAD58-D144-C62F-4577-8C761B152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75E00-266C-C281-2279-E6D0F7FCD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B17-60DC-4BE2-8392-97CCBA00DC5E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1A67F-C352-94BA-02EC-3491AE9F3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FC9EC-351A-617F-B5BB-DB61CE094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8F2A-7B0B-42E8-B0A4-357B3A361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19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CB1C2-29FC-D977-EBFA-294A0C4B6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D771AE-F45B-C426-FD50-629ECA8531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540DD-0B57-DC94-60EF-80DDF665E8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4F575-307F-F75F-2FAB-E941277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B17-60DC-4BE2-8392-97CCBA00DC5E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5B098-AC17-CE93-2AF2-464B156C0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F8389-B06F-EC08-9CAB-FA69961B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8F2A-7B0B-42E8-B0A4-357B3A361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787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6804F-A03F-8085-7869-97405D74C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50C8FE-977E-8CBC-DD36-8FFAEE0B3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58128-0246-BFA1-737F-E716EEBF6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B17-60DC-4BE2-8392-97CCBA00DC5E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01265-07E3-44D7-4CF5-BAD37B8B0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0F22F-21D5-93A3-7E33-89BFD0780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8F2A-7B0B-42E8-B0A4-357B3A361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61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B09917-310B-EB55-41D4-0A6642848D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82A1FD-340F-4333-F329-80A377718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262E3-A5DE-DA75-1CC2-1B56AC2B7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B17-60DC-4BE2-8392-97CCBA00DC5E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B9922-671A-81C3-6C04-DC7276DA8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D095D-21BE-33A1-BAE0-F3366E5BF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98F2A-7B0B-42E8-B0A4-357B3A361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312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13E1-6B18-668E-B11B-E8831FBB6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2C340-9253-61BD-C68B-149F0C28C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7D0B2-9443-B9EC-7A90-D47A97A2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7FCB0-C154-4AC2-8FB1-CED0B549503C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63D1F-85EA-3804-8C36-DC3BBCB6B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4E6F6-B413-34BC-371C-BB627AAD4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7CF5-9678-47F9-9B3F-FC35A2EE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87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FE3EB-A309-7095-E65D-D4232BF7E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56E85-D05A-FCB9-2165-A1829D18E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51543-0F83-588A-94F6-70FF3A123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DCC2D-24E8-4D19-A3D4-BF5D7547EDA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D2ADB-87BD-C48D-D497-78A9CE6A6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01428-CFA6-46CB-E4F8-0D0E5945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64C6-7476-4DDF-AE74-1E71E8908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861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E6BC0-E443-FDE4-DEB7-08E32EE75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9102B-2E3A-906F-E4AD-4A6DFBD2E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2446A-5463-4914-0FC0-8781B2EC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BB19-2299-49C9-A838-84182D89A2BB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4C2AB-AEBD-160F-DFE6-FDF6D7DA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7F88-73BA-3D5D-911D-2469FD6DA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A72FE-8635-4B58-AB42-ED1700E9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0961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1301A-A0A4-4390-C69C-57687117A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F3DCF-8D90-4CEA-382B-0084E3164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A70B0-317F-C520-2716-8AFA3118C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EDA3-5168-4C65-9DB5-090288B50EBC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C8D27-775A-A613-2C4B-70F2ADD1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A12AA-E43C-A5B0-D233-B357699B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A7128-9529-4FE7-AE28-6F3CF2379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6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307072-12AE-A567-147A-2EC0E0DA3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9AB85-D768-CB36-4244-97853594B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8B81D-3520-E3B5-9136-9C73AEDC6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7BB17-60DC-4BE2-8392-97CCBA00DC5E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A7622-DA67-6174-50E5-0C7F171BA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0D992-4022-BB4A-1A96-842537333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698F2A-7B0B-42E8-B0A4-357B3A361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71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8784C3-1790-12B5-E837-F108EF8B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8925C-5DD3-0B3F-3153-C8088EB3F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36B0A-DA2A-87FB-E81D-BF5F2B739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97FCB0-C154-4AC2-8FB1-CED0B549503C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EB7BD-9500-39CF-AF68-35BB85FCA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174DC-2A0A-E174-D33C-5F9264B14B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57CF5-9678-47F9-9B3F-FC35A2EE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76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EC6C6E-FACC-4737-DA84-4933F8367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D3C38-1D60-0BB4-765D-DF524761A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72A44-EDB5-51A5-814A-47EBF2AEB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1DCC2D-24E8-4D19-A3D4-BF5D7547EDA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04F52-E9AF-55DC-F905-B07D0BB09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B978E-8C5A-D991-BC3F-55C82CAC0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764C6-7476-4DDF-AE74-1E71E8908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75B2BA-05AF-E6BF-2A2D-66351DF87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83CDA-1783-9148-3BFF-A987D82C5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54E23-20EF-1350-1944-508073994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CBB19-2299-49C9-A838-84182D89A2BB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F48CA-2ADE-709A-C95D-149691FB6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9FBFE-29F0-6366-8DAF-D2E2E1C9C5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CA72FE-8635-4B58-AB42-ED1700E9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19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CD82C2-BD54-2A87-365F-70346E429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CA9B-2D17-6634-816F-B89A6CBD9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6325B-72F8-C946-B8F1-BF2D34EF96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B3EDA3-5168-4C65-9DB5-090288B50EBC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BC0A9-9BBC-AF6D-4910-7A7070F914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D9C32-C47F-0CFA-0F20-E9AA152E9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9A7128-9529-4FE7-AE28-6F3CF2379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65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hyperlink" Target="../../NeuroApps/my_brain/rcgNii/BIDS_2/derivatives/sub-rcg.html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12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notesSlide" Target="../notesSlides/notesSlid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nilearn.github.io/stable/auto_examples/00_tutorials/plot_single_subject_single_run.html#sphx-glr-auto-examples-00-tutorials-plot-single-subject-single-run-p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6354C4B-A321-2406-7D6C-7EB884DDCC2C}"/>
              </a:ext>
            </a:extLst>
          </p:cNvPr>
          <p:cNvGrpSpPr/>
          <p:nvPr/>
        </p:nvGrpSpPr>
        <p:grpSpPr>
          <a:xfrm>
            <a:off x="110703" y="49488"/>
            <a:ext cx="11995595" cy="6441663"/>
            <a:chOff x="110703" y="49488"/>
            <a:chExt cx="11995595" cy="6441663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2144F7E5-A3DE-C3B4-B75A-D4849B684F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3969542" y="1880350"/>
              <a:ext cx="4651538" cy="4606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07928141-054E-BD22-A501-161BE96F1BB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3476244" y="5139447"/>
              <a:ext cx="1360344" cy="1347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F21624BD-DEFD-549C-EE49-339704C186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2750734" y="3594575"/>
              <a:ext cx="1460214" cy="1445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6B52F817-82BE-23EC-0964-310D34AEBD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375396" y="3183805"/>
              <a:ext cx="2354756" cy="2331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5186EF19-31E3-3BF4-4499-6329F183C1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110703" y="1122597"/>
              <a:ext cx="1242102" cy="12299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">
              <a:extLst>
                <a:ext uri="{FF2B5EF4-FFF2-40B4-BE49-F238E27FC236}">
                  <a16:creationId xmlns:a16="http://schemas.microsoft.com/office/drawing/2014/main" id="{6FD863E0-829E-4606-63D8-A25D9164B7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1597155" y="49488"/>
              <a:ext cx="1933784" cy="19149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">
              <a:extLst>
                <a:ext uri="{FF2B5EF4-FFF2-40B4-BE49-F238E27FC236}">
                  <a16:creationId xmlns:a16="http://schemas.microsoft.com/office/drawing/2014/main" id="{5829CFD8-D81A-7AF1-04D7-E416B33A2F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2720896" y="2119790"/>
              <a:ext cx="1205645" cy="1193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">
              <a:extLst>
                <a:ext uri="{FF2B5EF4-FFF2-40B4-BE49-F238E27FC236}">
                  <a16:creationId xmlns:a16="http://schemas.microsoft.com/office/drawing/2014/main" id="{81ECEA6B-DD5B-2267-2284-016B8FB1E9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4014376" y="1684198"/>
              <a:ext cx="620864" cy="614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AD4023EC-E81F-6627-D025-83E80B14FF6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1330527" y="2120264"/>
              <a:ext cx="873353" cy="864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01BBE522-8701-2265-A668-C58A02E1D3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8356801" y="1150710"/>
              <a:ext cx="1610592" cy="15948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">
              <a:extLst>
                <a:ext uri="{FF2B5EF4-FFF2-40B4-BE49-F238E27FC236}">
                  <a16:creationId xmlns:a16="http://schemas.microsoft.com/office/drawing/2014/main" id="{2EB0F1FA-6FF9-4CC7-65E7-9B21AC2FD76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9816480" y="169770"/>
              <a:ext cx="1064045" cy="10536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03D8D9A5-BF5A-BEAB-2787-489E3E0175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9905375" y="2162381"/>
              <a:ext cx="1014697" cy="10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545F69C3-08C3-C3EA-5D47-B9EFC2AAE7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8141249" y="3010732"/>
              <a:ext cx="844774" cy="836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D7383249-1E68-FDB7-B515-0CC7180F0C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10135975" y="4540042"/>
              <a:ext cx="1970323" cy="19511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CA5ADDA8-A3CE-C5BA-ACF9-B4E28EE4E0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8240783" y="5124462"/>
              <a:ext cx="1360345" cy="1347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99A36D67-C077-E252-A4BC-0C9842E67B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10763153" y="3010732"/>
              <a:ext cx="1320626" cy="1307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F84C7FEE-0431-655A-E762-902A736117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8950335" y="3479528"/>
              <a:ext cx="1483563" cy="14690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93C7D5-9357-0BE6-37B8-E0C51C8AF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797" y="666352"/>
            <a:ext cx="10558405" cy="3044335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UVA Brainhack!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B5031-D951-D78E-CF2A-18BF4B0D5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8" y="3866064"/>
            <a:ext cx="10558405" cy="2234485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===== Week 7 =====</a:t>
            </a:r>
          </a:p>
          <a:p>
            <a:r>
              <a:rPr lang="en-US" dirty="0">
                <a:solidFill>
                  <a:schemeClr val="bg1"/>
                </a:solidFill>
              </a:rPr>
              <a:t>7/11/2025</a:t>
            </a:r>
          </a:p>
        </p:txBody>
      </p:sp>
    </p:spTree>
    <p:extLst>
      <p:ext uri="{BB962C8B-B14F-4D97-AF65-F5344CB8AC3E}">
        <p14:creationId xmlns:p14="http://schemas.microsoft.com/office/powerpoint/2010/main" val="292325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4" presetClass="emph" presetSubtype="0" repeatCount="indefinite" fill="hold" grpId="1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25000"/>
                                  </p:iterate>
                                  <p:childTnLst>
                                    <p:animMotion origin="layout" path="M 0 -1.48148E-6 L 0 -0.10347 " pathEditMode="relative" rAng="0" ptsTypes="AA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85"/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34" presetClass="emph" presetSubtype="0" repeatCount="indefinite" fill="hold" grpId="1" nodeType="withEffect">
                                  <p:stCondLst>
                                    <p:cond delay="4700"/>
                                  </p:stCondLst>
                                  <p:iterate type="lt">
                                    <p:tmPct val="25000"/>
                                  </p:iterate>
                                  <p:childTnLst>
                                    <p:animMotion origin="layout" path="M -4.16667E-7 -2.96296E-6 L -0.00026 -0.05324 " pathEditMode="relative" rAng="0" ptsTypes="AA">
                                      <p:cBhvr>
                                        <p:cTn id="21" dur="10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2662"/>
                                    </p:animMotion>
                                    <p:animRot by="1500000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4" dur="5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5" dur="500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34" presetClass="emph" presetSubtype="0" repeatCount="indefinite" fill="hold" nodeType="withEffect">
                                  <p:stCondLst>
                                    <p:cond delay="12500"/>
                                  </p:stCondLst>
                                  <p:iterate type="lt">
                                    <p:tmPct val="25000"/>
                                  </p:iterate>
                                  <p:childTnLst>
                                    <p:animMotion origin="layout" path="M -2.08333E-7 -3.7037E-7 L -0.00013 -0.01343 " pathEditMode="relative" rAng="0" ptsTypes="AA">
                                      <p:cBhvr>
                                        <p:cTn id="27" dur="1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671"/>
                                    </p:animMotion>
                                    <p:animRot by="1500000">
                                      <p:cBhvr>
                                        <p:cTn id="2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9" dur="7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0" dur="750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1" dur="750" fill="hold">
                                          <p:stCondLst>
                                            <p:cond delay="2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uiExpand="1" build="p"/>
      <p:bldP spid="3" grpId="1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58B9B6-F811-B299-F5B1-F469CB6E3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 b="1"/>
              <a:t>Agenda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A03BC01-DDFC-2D25-A5E3-E6EBCA972D6A}"/>
              </a:ext>
            </a:extLst>
          </p:cNvPr>
          <p:cNvGrpSpPr/>
          <p:nvPr/>
        </p:nvGrpSpPr>
        <p:grpSpPr>
          <a:xfrm>
            <a:off x="836675" y="1912761"/>
            <a:ext cx="10515600" cy="474974"/>
            <a:chOff x="0" y="37268"/>
            <a:chExt cx="10515600" cy="9828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04F23B0-C585-A519-43C0-BA23017149CF}"/>
                </a:ext>
              </a:extLst>
            </p:cNvPr>
            <p:cNvSpPr/>
            <p:nvPr/>
          </p:nvSpPr>
          <p:spPr>
            <a:xfrm>
              <a:off x="0" y="37268"/>
              <a:ext cx="10515600" cy="982800"/>
            </a:xfrm>
            <a:prstGeom prst="roundRect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5000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ED0174B2-9756-D3B9-233E-37EEC5B02B09}"/>
                </a:ext>
              </a:extLst>
            </p:cNvPr>
            <p:cNvSpPr txBox="1"/>
            <p:nvPr/>
          </p:nvSpPr>
          <p:spPr>
            <a:xfrm>
              <a:off x="47976" y="85244"/>
              <a:ext cx="9231806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 dirty="0">
                  <a:solidFill>
                    <a:schemeClr val="tx1"/>
                  </a:solidFill>
                </a:rPr>
                <a:t>Review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987EE89-A3FC-B9BB-5F2E-C5CD4B0EDA86}"/>
              </a:ext>
            </a:extLst>
          </p:cNvPr>
          <p:cNvGrpSpPr/>
          <p:nvPr/>
        </p:nvGrpSpPr>
        <p:grpSpPr>
          <a:xfrm>
            <a:off x="1578391" y="3365962"/>
            <a:ext cx="9766706" cy="474973"/>
            <a:chOff x="0" y="1135269"/>
            <a:chExt cx="10515600" cy="98280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A93C4F3F-4D7B-07A8-4DAA-9093A449A4EE}"/>
                </a:ext>
              </a:extLst>
            </p:cNvPr>
            <p:cNvSpPr/>
            <p:nvPr/>
          </p:nvSpPr>
          <p:spPr>
            <a:xfrm>
              <a:off x="0" y="1135269"/>
              <a:ext cx="10515600" cy="982800"/>
            </a:xfrm>
            <a:prstGeom prst="roundRect">
              <a:avLst/>
            </a:prstGeom>
            <a:gradFill>
              <a:gsLst>
                <a:gs pos="0">
                  <a:srgbClr val="FFFF00"/>
                </a:gs>
                <a:gs pos="50000">
                  <a:srgbClr val="FFFF00"/>
                </a:gs>
                <a:gs pos="100000">
                  <a:srgbClr val="FFFF99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4" name="Rectangle: Rounded Corners 4">
              <a:extLst>
                <a:ext uri="{FF2B5EF4-FFF2-40B4-BE49-F238E27FC236}">
                  <a16:creationId xmlns:a16="http://schemas.microsoft.com/office/drawing/2014/main" id="{FF8190A1-87C8-CBC4-89A4-CF9B904C3F32}"/>
                </a:ext>
              </a:extLst>
            </p:cNvPr>
            <p:cNvSpPr txBox="1"/>
            <p:nvPr/>
          </p:nvSpPr>
          <p:spPr>
            <a:xfrm>
              <a:off x="47976" y="1183245"/>
              <a:ext cx="9449520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 dirty="0">
                  <a:solidFill>
                    <a:schemeClr val="tx1"/>
                  </a:solidFill>
                </a:rPr>
                <a:t>Week 5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B89E1B3-7DA3-61AF-F3BA-8CB422DE6862}"/>
              </a:ext>
            </a:extLst>
          </p:cNvPr>
          <p:cNvGrpSpPr/>
          <p:nvPr/>
        </p:nvGrpSpPr>
        <p:grpSpPr>
          <a:xfrm>
            <a:off x="1578391" y="4781966"/>
            <a:ext cx="9789165" cy="474972"/>
            <a:chOff x="0" y="2233269"/>
            <a:chExt cx="10515600" cy="98280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155CD7FD-CF50-51A0-4C14-093728B3C602}"/>
                </a:ext>
              </a:extLst>
            </p:cNvPr>
            <p:cNvSpPr/>
            <p:nvPr/>
          </p:nvSpPr>
          <p:spPr>
            <a:xfrm>
              <a:off x="0" y="2233269"/>
              <a:ext cx="10515600" cy="982800"/>
            </a:xfrm>
            <a:prstGeom prst="roundRect">
              <a:avLst/>
            </a:prstGeom>
            <a:gradFill>
              <a:gsLst>
                <a:gs pos="0">
                  <a:srgbClr val="FFC000"/>
                </a:gs>
                <a:gs pos="50000">
                  <a:srgbClr val="FFCC00"/>
                </a:gs>
                <a:gs pos="100000">
                  <a:srgbClr val="FFCC00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8" name="Rectangle: Rounded Corners 4">
              <a:extLst>
                <a:ext uri="{FF2B5EF4-FFF2-40B4-BE49-F238E27FC236}">
                  <a16:creationId xmlns:a16="http://schemas.microsoft.com/office/drawing/2014/main" id="{2CCD40DA-E508-D96F-7662-8528143775A0}"/>
                </a:ext>
              </a:extLst>
            </p:cNvPr>
            <p:cNvSpPr txBox="1"/>
            <p:nvPr/>
          </p:nvSpPr>
          <p:spPr>
            <a:xfrm>
              <a:off x="47976" y="2281245"/>
              <a:ext cx="9972035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 dirty="0">
                  <a:solidFill>
                    <a:schemeClr val="tx1"/>
                  </a:solidFill>
                </a:rPr>
                <a:t>Group-level stats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448856C-684D-0FB0-625F-312F4859B0B5}"/>
              </a:ext>
            </a:extLst>
          </p:cNvPr>
          <p:cNvGrpSpPr/>
          <p:nvPr/>
        </p:nvGrpSpPr>
        <p:grpSpPr>
          <a:xfrm>
            <a:off x="836675" y="5506019"/>
            <a:ext cx="10515600" cy="474971"/>
            <a:chOff x="0" y="3368538"/>
            <a:chExt cx="10515600" cy="98280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633A8BE7-5A45-01F1-2CC7-D9D0D28E1F4B}"/>
                </a:ext>
              </a:extLst>
            </p:cNvPr>
            <p:cNvSpPr/>
            <p:nvPr/>
          </p:nvSpPr>
          <p:spPr>
            <a:xfrm>
              <a:off x="0" y="3368538"/>
              <a:ext cx="10515600" cy="982800"/>
            </a:xfrm>
            <a:prstGeom prst="roundRect">
              <a:avLst/>
            </a:prstGeom>
            <a:gradFill>
              <a:gsLst>
                <a:gs pos="0">
                  <a:srgbClr val="FF5050"/>
                </a:gs>
                <a:gs pos="50000">
                  <a:srgbClr val="CC0000"/>
                </a:gs>
                <a:gs pos="100000">
                  <a:srgbClr val="CC0000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36" name="Rectangle: Rounded Corners 4">
              <a:extLst>
                <a:ext uri="{FF2B5EF4-FFF2-40B4-BE49-F238E27FC236}">
                  <a16:creationId xmlns:a16="http://schemas.microsoft.com/office/drawing/2014/main" id="{D93FAA92-EDBB-B28B-34A5-2392107F2AEC}"/>
                </a:ext>
              </a:extLst>
            </p:cNvPr>
            <p:cNvSpPr txBox="1"/>
            <p:nvPr/>
          </p:nvSpPr>
          <p:spPr>
            <a:xfrm>
              <a:off x="47976" y="3416514"/>
              <a:ext cx="9696263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 dirty="0">
                  <a:solidFill>
                    <a:schemeClr val="tx1"/>
                  </a:solidFill>
                </a:rPr>
                <a:t>Hacking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742DAE9-D134-CBFA-07A7-91F2E303CD4F}"/>
              </a:ext>
            </a:extLst>
          </p:cNvPr>
          <p:cNvGrpSpPr/>
          <p:nvPr/>
        </p:nvGrpSpPr>
        <p:grpSpPr>
          <a:xfrm>
            <a:off x="1578391" y="2636814"/>
            <a:ext cx="9766706" cy="474974"/>
            <a:chOff x="0" y="37268"/>
            <a:chExt cx="10515600" cy="9828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167C5D2-0F4A-D223-52B6-13DC35CA4116}"/>
                </a:ext>
              </a:extLst>
            </p:cNvPr>
            <p:cNvSpPr/>
            <p:nvPr/>
          </p:nvSpPr>
          <p:spPr>
            <a:xfrm>
              <a:off x="0" y="37268"/>
              <a:ext cx="10515600" cy="982800"/>
            </a:xfrm>
            <a:prstGeom prst="roundRect">
              <a:avLst/>
            </a:prstGeom>
            <a:gradFill>
              <a:gsLst>
                <a:gs pos="0">
                  <a:schemeClr val="tx2">
                    <a:lumMod val="50000"/>
                    <a:lumOff val="50000"/>
                  </a:schemeClr>
                </a:gs>
                <a:gs pos="50000">
                  <a:schemeClr val="tx2">
                    <a:lumMod val="50000"/>
                    <a:lumOff val="5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96782766-A12B-8DF2-D986-3641AF85E895}"/>
                </a:ext>
              </a:extLst>
            </p:cNvPr>
            <p:cNvSpPr txBox="1"/>
            <p:nvPr/>
          </p:nvSpPr>
          <p:spPr>
            <a:xfrm>
              <a:off x="47976" y="85244"/>
              <a:ext cx="9231806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 dirty="0">
                  <a:solidFill>
                    <a:schemeClr val="tx1"/>
                  </a:solidFill>
                </a:rPr>
                <a:t>Weeks 1-4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6295ED6-1917-55E6-AEDF-E8EEE16F1039}"/>
              </a:ext>
            </a:extLst>
          </p:cNvPr>
          <p:cNvGrpSpPr/>
          <p:nvPr/>
        </p:nvGrpSpPr>
        <p:grpSpPr>
          <a:xfrm>
            <a:off x="836675" y="4057911"/>
            <a:ext cx="10470674" cy="474974"/>
            <a:chOff x="0" y="37268"/>
            <a:chExt cx="10515600" cy="98280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D9160BB-2012-9C31-4211-8AA4BB461591}"/>
                </a:ext>
              </a:extLst>
            </p:cNvPr>
            <p:cNvSpPr/>
            <p:nvPr/>
          </p:nvSpPr>
          <p:spPr>
            <a:xfrm>
              <a:off x="0" y="37268"/>
              <a:ext cx="10515600" cy="982800"/>
            </a:xfrm>
            <a:prstGeom prst="roundRect">
              <a:avLst/>
            </a:pr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50000">
                  <a:schemeClr val="accent6">
                    <a:lumMod val="60000"/>
                    <a:lumOff val="40000"/>
                  </a:schemeClr>
                </a:gs>
                <a:gs pos="100000">
                  <a:schemeClr val="accent6">
                    <a:lumMod val="40000"/>
                    <a:lumOff val="60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5A6574FE-5D20-C1C6-5204-9E6BC1C47C13}"/>
                </a:ext>
              </a:extLst>
            </p:cNvPr>
            <p:cNvSpPr txBox="1"/>
            <p:nvPr/>
          </p:nvSpPr>
          <p:spPr>
            <a:xfrm>
              <a:off x="47976" y="85244"/>
              <a:ext cx="9231806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dirty="0">
                  <a:solidFill>
                    <a:schemeClr val="tx1"/>
                  </a:solidFill>
                </a:rPr>
                <a:t>More Analysis!</a:t>
              </a:r>
              <a:endParaRPr lang="en-US" sz="4000" kern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715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"/>
                            </p:stCondLst>
                            <p:childTnLst>
                              <p:par>
                                <p:cTn id="3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029CA3-8578-E996-8100-09DF24CB2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Weeks 1-4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3C8936-3082-7E8E-CBA9-C33B5A10E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MR fundamentals</a:t>
            </a:r>
          </a:p>
        </p:txBody>
      </p:sp>
    </p:spTree>
    <p:extLst>
      <p:ext uri="{BB962C8B-B14F-4D97-AF65-F5344CB8AC3E}">
        <p14:creationId xmlns:p14="http://schemas.microsoft.com/office/powerpoint/2010/main" val="910126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F406F-09DC-C778-ECBB-97B5FDAB3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4D40-13B5-95BE-8454-0B7E3D1DA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MR physics</a:t>
            </a:r>
          </a:p>
          <a:p>
            <a:pPr marL="457200" lvl="1" indent="0">
              <a:buNone/>
            </a:pPr>
            <a:r>
              <a:rPr lang="en-US" dirty="0"/>
              <a:t>Strong magnet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nuclear precession</a:t>
            </a:r>
          </a:p>
          <a:p>
            <a:pPr marL="457200" lvl="1" indent="0">
              <a:buNone/>
            </a:pPr>
            <a:r>
              <a:rPr lang="en-US" dirty="0"/>
              <a:t>RF pulse + magnetic gradients</a:t>
            </a:r>
          </a:p>
          <a:p>
            <a:r>
              <a:rPr lang="en-US" b="1" dirty="0"/>
              <a:t>BOLD fMRI</a:t>
            </a:r>
          </a:p>
          <a:p>
            <a:pPr marL="457200" lvl="1" indent="0">
              <a:buNone/>
            </a:pPr>
            <a:r>
              <a:rPr lang="en-US" dirty="0" err="1"/>
              <a:t>Diamag</a:t>
            </a:r>
            <a:r>
              <a:rPr lang="en-US" dirty="0"/>
              <a:t>. Hb displaces </a:t>
            </a:r>
            <a:r>
              <a:rPr lang="en-US" dirty="0" err="1"/>
              <a:t>paramag</a:t>
            </a:r>
            <a:r>
              <a:rPr lang="en-US" dirty="0"/>
              <a:t>. </a:t>
            </a:r>
            <a:r>
              <a:rPr lang="en-US" dirty="0" err="1"/>
              <a:t>dHb</a:t>
            </a:r>
            <a:endParaRPr lang="en-US" dirty="0"/>
          </a:p>
          <a:p>
            <a:r>
              <a:rPr lang="en-US" b="1" dirty="0"/>
              <a:t>Image generation</a:t>
            </a:r>
          </a:p>
          <a:p>
            <a:pPr marL="457200" lvl="1" indent="0">
              <a:buNone/>
            </a:pPr>
            <a:r>
              <a:rPr lang="en-US" dirty="0"/>
              <a:t>Traversing K-space</a:t>
            </a:r>
          </a:p>
          <a:p>
            <a:r>
              <a:rPr lang="en-US" b="1" dirty="0"/>
              <a:t>Data organization (BIDS)</a:t>
            </a:r>
          </a:p>
          <a:p>
            <a:pPr marL="457200" lvl="1" indent="0">
              <a:buNone/>
            </a:pPr>
            <a:r>
              <a:rPr lang="en-US" dirty="0"/>
              <a:t>DICOM vs. </a:t>
            </a:r>
            <a:r>
              <a:rPr lang="en-US" dirty="0" err="1"/>
              <a:t>NIfTI</a:t>
            </a:r>
            <a:endParaRPr lang="en-US" dirty="0"/>
          </a:p>
          <a:p>
            <a:r>
              <a:rPr lang="en-US" b="1" dirty="0"/>
              <a:t>Preprocessing</a:t>
            </a:r>
          </a:p>
          <a:p>
            <a:pPr marL="457200" lvl="1" indent="0">
              <a:buNone/>
            </a:pPr>
            <a:r>
              <a:rPr lang="en-US" dirty="0"/>
              <a:t>Motion is bad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marL="457200" lvl="1" indent="0">
              <a:buNone/>
            </a:pPr>
            <a:r>
              <a:rPr lang="en-US" dirty="0" err="1">
                <a:sym typeface="Wingdings" panose="05000000000000000000" pitchFamily="2" charset="2"/>
              </a:rPr>
              <a:t>fMRIPrep</a:t>
            </a:r>
            <a:endParaRPr lang="en-US" dirty="0"/>
          </a:p>
        </p:txBody>
      </p:sp>
      <p:grpSp>
        <p:nvGrpSpPr>
          <p:cNvPr id="4120" name="Group 4119">
            <a:extLst>
              <a:ext uri="{FF2B5EF4-FFF2-40B4-BE49-F238E27FC236}">
                <a16:creationId xmlns:a16="http://schemas.microsoft.com/office/drawing/2014/main" id="{AD6FD796-B810-BD3F-EB30-9E400F8FAFD7}"/>
              </a:ext>
            </a:extLst>
          </p:cNvPr>
          <p:cNvGrpSpPr/>
          <p:nvPr/>
        </p:nvGrpSpPr>
        <p:grpSpPr>
          <a:xfrm>
            <a:off x="6696783" y="495497"/>
            <a:ext cx="4787859" cy="6111681"/>
            <a:chOff x="6696783" y="495497"/>
            <a:chExt cx="4787859" cy="6111681"/>
          </a:xfrm>
        </p:grpSpPr>
        <p:sp>
          <p:nvSpPr>
            <p:cNvPr id="4096" name="Arrow: Down 4095">
              <a:extLst>
                <a:ext uri="{FF2B5EF4-FFF2-40B4-BE49-F238E27FC236}">
                  <a16:creationId xmlns:a16="http://schemas.microsoft.com/office/drawing/2014/main" id="{4BF90BE3-3D56-B407-CD47-544A551E585E}"/>
                </a:ext>
              </a:extLst>
            </p:cNvPr>
            <p:cNvSpPr/>
            <p:nvPr/>
          </p:nvSpPr>
          <p:spPr>
            <a:xfrm flipV="1">
              <a:off x="8779944" y="1690688"/>
              <a:ext cx="484632" cy="3574823"/>
            </a:xfrm>
            <a:prstGeom prst="down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7" name="Arc 4096">
              <a:extLst>
                <a:ext uri="{FF2B5EF4-FFF2-40B4-BE49-F238E27FC236}">
                  <a16:creationId xmlns:a16="http://schemas.microsoft.com/office/drawing/2014/main" id="{CA1E403C-2C49-ED07-3673-FCE293529A77}"/>
                </a:ext>
              </a:extLst>
            </p:cNvPr>
            <p:cNvSpPr/>
            <p:nvPr/>
          </p:nvSpPr>
          <p:spPr>
            <a:xfrm rot="5400000" flipV="1">
              <a:off x="8823026" y="2374139"/>
              <a:ext cx="398469" cy="2226518"/>
            </a:xfrm>
            <a:prstGeom prst="arc">
              <a:avLst>
                <a:gd name="adj1" fmla="val 15655299"/>
                <a:gd name="adj2" fmla="val 5983627"/>
              </a:avLst>
            </a:prstGeom>
            <a:ln w="57150" cap="rnd">
              <a:headEnd type="none" w="sm" len="sm"/>
              <a:tailEnd type="triangle" w="lg" len="sm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02" name="Group 4101">
              <a:extLst>
                <a:ext uri="{FF2B5EF4-FFF2-40B4-BE49-F238E27FC236}">
                  <a16:creationId xmlns:a16="http://schemas.microsoft.com/office/drawing/2014/main" id="{9DCD3617-74F1-353F-0FC7-671B78D6D992}"/>
                </a:ext>
              </a:extLst>
            </p:cNvPr>
            <p:cNvGrpSpPr/>
            <p:nvPr/>
          </p:nvGrpSpPr>
          <p:grpSpPr>
            <a:xfrm>
              <a:off x="6696783" y="495497"/>
              <a:ext cx="4787859" cy="6111681"/>
              <a:chOff x="6696783" y="495497"/>
              <a:chExt cx="4787859" cy="6111681"/>
            </a:xfrm>
          </p:grpSpPr>
          <p:grpSp>
            <p:nvGrpSpPr>
              <p:cNvPr id="4098" name="Group 4097">
                <a:extLst>
                  <a:ext uri="{FF2B5EF4-FFF2-40B4-BE49-F238E27FC236}">
                    <a16:creationId xmlns:a16="http://schemas.microsoft.com/office/drawing/2014/main" id="{62FB05A5-9132-D800-A7BD-303E7CED354A}"/>
                  </a:ext>
                </a:extLst>
              </p:cNvPr>
              <p:cNvGrpSpPr/>
              <p:nvPr/>
            </p:nvGrpSpPr>
            <p:grpSpPr>
              <a:xfrm>
                <a:off x="8252798" y="2659536"/>
                <a:ext cx="1538927" cy="1538927"/>
                <a:chOff x="9187544" y="2148113"/>
                <a:chExt cx="1553028" cy="1553028"/>
              </a:xfrm>
            </p:grpSpPr>
            <p:sp>
              <p:nvSpPr>
                <p:cNvPr id="4179" name="Oval 4178">
                  <a:extLst>
                    <a:ext uri="{FF2B5EF4-FFF2-40B4-BE49-F238E27FC236}">
                      <a16:creationId xmlns:a16="http://schemas.microsoft.com/office/drawing/2014/main" id="{FA235499-1AF6-64C2-A192-97ABEC60BE89}"/>
                    </a:ext>
                  </a:extLst>
                </p:cNvPr>
                <p:cNvSpPr/>
                <p:nvPr/>
              </p:nvSpPr>
              <p:spPr>
                <a:xfrm>
                  <a:off x="9187544" y="2148113"/>
                  <a:ext cx="1553028" cy="1553028"/>
                </a:xfrm>
                <a:prstGeom prst="ellipse">
                  <a:avLst/>
                </a:prstGeom>
                <a:gradFill flip="none" rotWithShape="1">
                  <a:gsLst>
                    <a:gs pos="65000">
                      <a:srgbClr val="0070C0">
                        <a:shade val="30000"/>
                        <a:satMod val="115000"/>
                      </a:srgbClr>
                    </a:gs>
                    <a:gs pos="36000">
                      <a:srgbClr val="0070C0">
                        <a:shade val="67500"/>
                        <a:satMod val="115000"/>
                      </a:srgbClr>
                    </a:gs>
                    <a:gs pos="13000">
                      <a:srgbClr val="0070C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80" name="Cross 4179">
                  <a:extLst>
                    <a:ext uri="{FF2B5EF4-FFF2-40B4-BE49-F238E27FC236}">
                      <a16:creationId xmlns:a16="http://schemas.microsoft.com/office/drawing/2014/main" id="{AA40BE76-8B1F-B54F-0C18-02218C77CDDB}"/>
                    </a:ext>
                  </a:extLst>
                </p:cNvPr>
                <p:cNvSpPr/>
                <p:nvPr/>
              </p:nvSpPr>
              <p:spPr>
                <a:xfrm>
                  <a:off x="9579428" y="2539997"/>
                  <a:ext cx="769258" cy="769258"/>
                </a:xfrm>
                <a:prstGeom prst="plus">
                  <a:avLst>
                    <a:gd name="adj" fmla="val 35389"/>
                  </a:avLst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4099" name="Group 4098">
                <a:extLst>
                  <a:ext uri="{FF2B5EF4-FFF2-40B4-BE49-F238E27FC236}">
                    <a16:creationId xmlns:a16="http://schemas.microsoft.com/office/drawing/2014/main" id="{2E7D5A5C-0100-7DE0-90A9-517DA8A6DEC4}"/>
                  </a:ext>
                </a:extLst>
              </p:cNvPr>
              <p:cNvGrpSpPr/>
              <p:nvPr/>
            </p:nvGrpSpPr>
            <p:grpSpPr>
              <a:xfrm rot="18086582">
                <a:off x="6980628" y="3403084"/>
                <a:ext cx="937455" cy="1505146"/>
                <a:chOff x="8061402" y="1843088"/>
                <a:chExt cx="2226518" cy="3574823"/>
              </a:xfrm>
            </p:grpSpPr>
            <p:sp>
              <p:nvSpPr>
                <p:cNvPr id="4174" name="Arrow: Down 4173">
                  <a:extLst>
                    <a:ext uri="{FF2B5EF4-FFF2-40B4-BE49-F238E27FC236}">
                      <a16:creationId xmlns:a16="http://schemas.microsoft.com/office/drawing/2014/main" id="{CE18F1B4-940E-DF43-C5C5-9AC401C96378}"/>
                    </a:ext>
                  </a:extLst>
                </p:cNvPr>
                <p:cNvSpPr/>
                <p:nvPr/>
              </p:nvSpPr>
              <p:spPr>
                <a:xfrm flipV="1">
                  <a:off x="8932344" y="1843088"/>
                  <a:ext cx="484632" cy="3574823"/>
                </a:xfrm>
                <a:prstGeom prst="down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175" name="Group 4174">
                  <a:extLst>
                    <a:ext uri="{FF2B5EF4-FFF2-40B4-BE49-F238E27FC236}">
                      <a16:creationId xmlns:a16="http://schemas.microsoft.com/office/drawing/2014/main" id="{DE4AACD3-655C-4D50-8D9A-73FC5914E252}"/>
                    </a:ext>
                  </a:extLst>
                </p:cNvPr>
                <p:cNvGrpSpPr/>
                <p:nvPr/>
              </p:nvGrpSpPr>
              <p:grpSpPr>
                <a:xfrm>
                  <a:off x="8405198" y="2811936"/>
                  <a:ext cx="1538927" cy="1538927"/>
                  <a:chOff x="9187544" y="2148113"/>
                  <a:chExt cx="1553028" cy="1553028"/>
                </a:xfrm>
              </p:grpSpPr>
              <p:sp>
                <p:nvSpPr>
                  <p:cNvPr id="4177" name="Oval 4176">
                    <a:extLst>
                      <a:ext uri="{FF2B5EF4-FFF2-40B4-BE49-F238E27FC236}">
                        <a16:creationId xmlns:a16="http://schemas.microsoft.com/office/drawing/2014/main" id="{4C4FE9FC-9C19-7C27-B0C5-B6A5DCA97B53}"/>
                      </a:ext>
                    </a:extLst>
                  </p:cNvPr>
                  <p:cNvSpPr/>
                  <p:nvPr/>
                </p:nvSpPr>
                <p:spPr>
                  <a:xfrm>
                    <a:off x="9187544" y="2148113"/>
                    <a:ext cx="1553028" cy="1553028"/>
                  </a:xfrm>
                  <a:prstGeom prst="ellipse">
                    <a:avLst/>
                  </a:prstGeom>
                  <a:gradFill flip="none" rotWithShape="1">
                    <a:gsLst>
                      <a:gs pos="65000">
                        <a:srgbClr val="0070C0">
                          <a:shade val="30000"/>
                          <a:satMod val="115000"/>
                        </a:srgbClr>
                      </a:gs>
                      <a:gs pos="36000">
                        <a:srgbClr val="0070C0">
                          <a:shade val="67500"/>
                          <a:satMod val="115000"/>
                        </a:srgbClr>
                      </a:gs>
                      <a:gs pos="13000">
                        <a:srgbClr val="0070C0">
                          <a:shade val="100000"/>
                          <a:satMod val="11500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178" name="Cross 4177">
                    <a:extLst>
                      <a:ext uri="{FF2B5EF4-FFF2-40B4-BE49-F238E27FC236}">
                        <a16:creationId xmlns:a16="http://schemas.microsoft.com/office/drawing/2014/main" id="{B33C1DDB-ED1B-3C0D-74E6-62C96FDE7D0D}"/>
                      </a:ext>
                    </a:extLst>
                  </p:cNvPr>
                  <p:cNvSpPr/>
                  <p:nvPr/>
                </p:nvSpPr>
                <p:spPr>
                  <a:xfrm>
                    <a:off x="9579428" y="2539997"/>
                    <a:ext cx="769258" cy="769258"/>
                  </a:xfrm>
                  <a:prstGeom prst="plus">
                    <a:avLst>
                      <a:gd name="adj" fmla="val 35389"/>
                    </a:avLst>
                  </a:prstGeom>
                  <a:solidFill>
                    <a:schemeClr val="tx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4176" name="Arc 4175">
                  <a:extLst>
                    <a:ext uri="{FF2B5EF4-FFF2-40B4-BE49-F238E27FC236}">
                      <a16:creationId xmlns:a16="http://schemas.microsoft.com/office/drawing/2014/main" id="{BCE917E5-B00E-A826-E23D-580B991B8974}"/>
                    </a:ext>
                  </a:extLst>
                </p:cNvPr>
                <p:cNvSpPr/>
                <p:nvPr/>
              </p:nvSpPr>
              <p:spPr>
                <a:xfrm rot="5400000" flipV="1">
                  <a:off x="8975426" y="2526539"/>
                  <a:ext cx="398469" cy="2226518"/>
                </a:xfrm>
                <a:prstGeom prst="arc">
                  <a:avLst>
                    <a:gd name="adj1" fmla="val 15655299"/>
                    <a:gd name="adj2" fmla="val 5983627"/>
                  </a:avLst>
                </a:prstGeom>
                <a:ln w="57150" cap="rnd">
                  <a:headEnd type="none" w="sm" len="sm"/>
                  <a:tailEnd type="triangle" w="lg" len="sm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100" name="Group 4099">
                <a:extLst>
                  <a:ext uri="{FF2B5EF4-FFF2-40B4-BE49-F238E27FC236}">
                    <a16:creationId xmlns:a16="http://schemas.microsoft.com/office/drawing/2014/main" id="{2A18D2E4-A985-1A47-7581-F780095BB02E}"/>
                  </a:ext>
                </a:extLst>
              </p:cNvPr>
              <p:cNvGrpSpPr/>
              <p:nvPr/>
            </p:nvGrpSpPr>
            <p:grpSpPr>
              <a:xfrm rot="4445251">
                <a:off x="7035089" y="1666770"/>
                <a:ext cx="937455" cy="1505146"/>
                <a:chOff x="8061402" y="1843088"/>
                <a:chExt cx="2226518" cy="3574823"/>
              </a:xfrm>
            </p:grpSpPr>
            <p:sp>
              <p:nvSpPr>
                <p:cNvPr id="4169" name="Arrow: Down 4168">
                  <a:extLst>
                    <a:ext uri="{FF2B5EF4-FFF2-40B4-BE49-F238E27FC236}">
                      <a16:creationId xmlns:a16="http://schemas.microsoft.com/office/drawing/2014/main" id="{6E582D5E-B953-1F01-C10A-C573D78BE3E9}"/>
                    </a:ext>
                  </a:extLst>
                </p:cNvPr>
                <p:cNvSpPr/>
                <p:nvPr/>
              </p:nvSpPr>
              <p:spPr>
                <a:xfrm flipV="1">
                  <a:off x="8932344" y="1843088"/>
                  <a:ext cx="484632" cy="3574823"/>
                </a:xfrm>
                <a:prstGeom prst="down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170" name="Group 4169">
                  <a:extLst>
                    <a:ext uri="{FF2B5EF4-FFF2-40B4-BE49-F238E27FC236}">
                      <a16:creationId xmlns:a16="http://schemas.microsoft.com/office/drawing/2014/main" id="{35AE6B60-0D4A-6154-2D52-3E4F3D4C73AD}"/>
                    </a:ext>
                  </a:extLst>
                </p:cNvPr>
                <p:cNvGrpSpPr/>
                <p:nvPr/>
              </p:nvGrpSpPr>
              <p:grpSpPr>
                <a:xfrm>
                  <a:off x="8405198" y="2811936"/>
                  <a:ext cx="1538927" cy="1538927"/>
                  <a:chOff x="9187544" y="2148113"/>
                  <a:chExt cx="1553028" cy="1553028"/>
                </a:xfrm>
              </p:grpSpPr>
              <p:sp>
                <p:nvSpPr>
                  <p:cNvPr id="4172" name="Oval 4171">
                    <a:extLst>
                      <a:ext uri="{FF2B5EF4-FFF2-40B4-BE49-F238E27FC236}">
                        <a16:creationId xmlns:a16="http://schemas.microsoft.com/office/drawing/2014/main" id="{890A4ABA-CCF3-49D6-D9DF-C45937C35DE5}"/>
                      </a:ext>
                    </a:extLst>
                  </p:cNvPr>
                  <p:cNvSpPr/>
                  <p:nvPr/>
                </p:nvSpPr>
                <p:spPr>
                  <a:xfrm>
                    <a:off x="9187544" y="2148113"/>
                    <a:ext cx="1553028" cy="1553028"/>
                  </a:xfrm>
                  <a:prstGeom prst="ellipse">
                    <a:avLst/>
                  </a:prstGeom>
                  <a:gradFill flip="none" rotWithShape="1">
                    <a:gsLst>
                      <a:gs pos="65000">
                        <a:srgbClr val="0070C0">
                          <a:shade val="30000"/>
                          <a:satMod val="115000"/>
                        </a:srgbClr>
                      </a:gs>
                      <a:gs pos="36000">
                        <a:srgbClr val="0070C0">
                          <a:shade val="67500"/>
                          <a:satMod val="115000"/>
                        </a:srgbClr>
                      </a:gs>
                      <a:gs pos="13000">
                        <a:srgbClr val="0070C0">
                          <a:shade val="100000"/>
                          <a:satMod val="11500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173" name="Cross 4172">
                    <a:extLst>
                      <a:ext uri="{FF2B5EF4-FFF2-40B4-BE49-F238E27FC236}">
                        <a16:creationId xmlns:a16="http://schemas.microsoft.com/office/drawing/2014/main" id="{A810A09A-4F2D-B7C2-DEAB-F9DDABE81B72}"/>
                      </a:ext>
                    </a:extLst>
                  </p:cNvPr>
                  <p:cNvSpPr/>
                  <p:nvPr/>
                </p:nvSpPr>
                <p:spPr>
                  <a:xfrm>
                    <a:off x="9579428" y="2539997"/>
                    <a:ext cx="769258" cy="769258"/>
                  </a:xfrm>
                  <a:prstGeom prst="plus">
                    <a:avLst>
                      <a:gd name="adj" fmla="val 35389"/>
                    </a:avLst>
                  </a:prstGeom>
                  <a:solidFill>
                    <a:schemeClr val="tx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4171" name="Arc 4170">
                  <a:extLst>
                    <a:ext uri="{FF2B5EF4-FFF2-40B4-BE49-F238E27FC236}">
                      <a16:creationId xmlns:a16="http://schemas.microsoft.com/office/drawing/2014/main" id="{14A723DF-326C-2D59-6916-7EDA1DC73AE8}"/>
                    </a:ext>
                  </a:extLst>
                </p:cNvPr>
                <p:cNvSpPr/>
                <p:nvPr/>
              </p:nvSpPr>
              <p:spPr>
                <a:xfrm rot="5400000" flipV="1">
                  <a:off x="8975426" y="2526539"/>
                  <a:ext cx="398469" cy="2226518"/>
                </a:xfrm>
                <a:prstGeom prst="arc">
                  <a:avLst>
                    <a:gd name="adj1" fmla="val 15655299"/>
                    <a:gd name="adj2" fmla="val 5983627"/>
                  </a:avLst>
                </a:prstGeom>
                <a:ln w="57150" cap="rnd">
                  <a:headEnd type="none" w="sm" len="sm"/>
                  <a:tailEnd type="triangle" w="lg" len="sm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101" name="Group 4100">
                <a:extLst>
                  <a:ext uri="{FF2B5EF4-FFF2-40B4-BE49-F238E27FC236}">
                    <a16:creationId xmlns:a16="http://schemas.microsoft.com/office/drawing/2014/main" id="{76B93587-98AB-7988-38E5-7385D9EFF541}"/>
                  </a:ext>
                </a:extLst>
              </p:cNvPr>
              <p:cNvGrpSpPr/>
              <p:nvPr/>
            </p:nvGrpSpPr>
            <p:grpSpPr>
              <a:xfrm rot="19605701">
                <a:off x="9325685" y="522445"/>
                <a:ext cx="937455" cy="1505146"/>
                <a:chOff x="8061402" y="1843088"/>
                <a:chExt cx="2226518" cy="3574823"/>
              </a:xfrm>
            </p:grpSpPr>
            <p:sp>
              <p:nvSpPr>
                <p:cNvPr id="4164" name="Arrow: Down 4163">
                  <a:extLst>
                    <a:ext uri="{FF2B5EF4-FFF2-40B4-BE49-F238E27FC236}">
                      <a16:creationId xmlns:a16="http://schemas.microsoft.com/office/drawing/2014/main" id="{15B6EB0B-8D53-79A1-5DDE-6F23C7D3194A}"/>
                    </a:ext>
                  </a:extLst>
                </p:cNvPr>
                <p:cNvSpPr/>
                <p:nvPr/>
              </p:nvSpPr>
              <p:spPr>
                <a:xfrm flipV="1">
                  <a:off x="8932344" y="1843088"/>
                  <a:ext cx="484632" cy="3574823"/>
                </a:xfrm>
                <a:prstGeom prst="down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165" name="Group 4164">
                  <a:extLst>
                    <a:ext uri="{FF2B5EF4-FFF2-40B4-BE49-F238E27FC236}">
                      <a16:creationId xmlns:a16="http://schemas.microsoft.com/office/drawing/2014/main" id="{23D54B1E-71CC-CEAF-9F0C-65D296A14EC9}"/>
                    </a:ext>
                  </a:extLst>
                </p:cNvPr>
                <p:cNvGrpSpPr/>
                <p:nvPr/>
              </p:nvGrpSpPr>
              <p:grpSpPr>
                <a:xfrm>
                  <a:off x="8405198" y="2811936"/>
                  <a:ext cx="1538927" cy="1538927"/>
                  <a:chOff x="9187544" y="2148113"/>
                  <a:chExt cx="1553028" cy="1553028"/>
                </a:xfrm>
              </p:grpSpPr>
              <p:sp>
                <p:nvSpPr>
                  <p:cNvPr id="4167" name="Oval 4166">
                    <a:extLst>
                      <a:ext uri="{FF2B5EF4-FFF2-40B4-BE49-F238E27FC236}">
                        <a16:creationId xmlns:a16="http://schemas.microsoft.com/office/drawing/2014/main" id="{F1575988-45DA-DC0C-4748-8CACB308F673}"/>
                      </a:ext>
                    </a:extLst>
                  </p:cNvPr>
                  <p:cNvSpPr/>
                  <p:nvPr/>
                </p:nvSpPr>
                <p:spPr>
                  <a:xfrm>
                    <a:off x="9187544" y="2148113"/>
                    <a:ext cx="1553028" cy="1553028"/>
                  </a:xfrm>
                  <a:prstGeom prst="ellipse">
                    <a:avLst/>
                  </a:prstGeom>
                  <a:gradFill flip="none" rotWithShape="1">
                    <a:gsLst>
                      <a:gs pos="65000">
                        <a:srgbClr val="0070C0">
                          <a:shade val="30000"/>
                          <a:satMod val="115000"/>
                        </a:srgbClr>
                      </a:gs>
                      <a:gs pos="36000">
                        <a:srgbClr val="0070C0">
                          <a:shade val="67500"/>
                          <a:satMod val="115000"/>
                        </a:srgbClr>
                      </a:gs>
                      <a:gs pos="13000">
                        <a:srgbClr val="0070C0">
                          <a:shade val="100000"/>
                          <a:satMod val="11500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168" name="Cross 4167">
                    <a:extLst>
                      <a:ext uri="{FF2B5EF4-FFF2-40B4-BE49-F238E27FC236}">
                        <a16:creationId xmlns:a16="http://schemas.microsoft.com/office/drawing/2014/main" id="{D627A26C-3519-A509-C387-799C62330764}"/>
                      </a:ext>
                    </a:extLst>
                  </p:cNvPr>
                  <p:cNvSpPr/>
                  <p:nvPr/>
                </p:nvSpPr>
                <p:spPr>
                  <a:xfrm>
                    <a:off x="9579428" y="2539997"/>
                    <a:ext cx="769258" cy="769258"/>
                  </a:xfrm>
                  <a:prstGeom prst="plus">
                    <a:avLst>
                      <a:gd name="adj" fmla="val 35389"/>
                    </a:avLst>
                  </a:prstGeom>
                  <a:solidFill>
                    <a:schemeClr val="tx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4166" name="Arc 4165">
                  <a:extLst>
                    <a:ext uri="{FF2B5EF4-FFF2-40B4-BE49-F238E27FC236}">
                      <a16:creationId xmlns:a16="http://schemas.microsoft.com/office/drawing/2014/main" id="{8FA9AF7F-861D-8A1C-D7A0-2D381F88235B}"/>
                    </a:ext>
                  </a:extLst>
                </p:cNvPr>
                <p:cNvSpPr/>
                <p:nvPr/>
              </p:nvSpPr>
              <p:spPr>
                <a:xfrm rot="5400000" flipV="1">
                  <a:off x="8975426" y="2526539"/>
                  <a:ext cx="398469" cy="2226518"/>
                </a:xfrm>
                <a:prstGeom prst="arc">
                  <a:avLst>
                    <a:gd name="adj1" fmla="val 15655299"/>
                    <a:gd name="adj2" fmla="val 5983627"/>
                  </a:avLst>
                </a:prstGeom>
                <a:ln w="57150" cap="rnd">
                  <a:headEnd type="none" w="sm" len="sm"/>
                  <a:tailEnd type="triangle" w="lg" len="sm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103" name="Group 4102">
                <a:extLst>
                  <a:ext uri="{FF2B5EF4-FFF2-40B4-BE49-F238E27FC236}">
                    <a16:creationId xmlns:a16="http://schemas.microsoft.com/office/drawing/2014/main" id="{9C258868-432B-9564-B090-F3E5AEE674FB}"/>
                  </a:ext>
                </a:extLst>
              </p:cNvPr>
              <p:cNvGrpSpPr/>
              <p:nvPr/>
            </p:nvGrpSpPr>
            <p:grpSpPr>
              <a:xfrm rot="12619432">
                <a:off x="10437328" y="1699015"/>
                <a:ext cx="937455" cy="1505146"/>
                <a:chOff x="8061402" y="1843088"/>
                <a:chExt cx="2226518" cy="3574823"/>
              </a:xfrm>
            </p:grpSpPr>
            <p:sp>
              <p:nvSpPr>
                <p:cNvPr id="4159" name="Arrow: Down 4158">
                  <a:extLst>
                    <a:ext uri="{FF2B5EF4-FFF2-40B4-BE49-F238E27FC236}">
                      <a16:creationId xmlns:a16="http://schemas.microsoft.com/office/drawing/2014/main" id="{DE6D2DB8-832F-EE2B-10E9-6138CAD4DBD2}"/>
                    </a:ext>
                  </a:extLst>
                </p:cNvPr>
                <p:cNvSpPr/>
                <p:nvPr/>
              </p:nvSpPr>
              <p:spPr>
                <a:xfrm flipV="1">
                  <a:off x="8932344" y="1843088"/>
                  <a:ext cx="484632" cy="3574823"/>
                </a:xfrm>
                <a:prstGeom prst="down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160" name="Group 4159">
                  <a:extLst>
                    <a:ext uri="{FF2B5EF4-FFF2-40B4-BE49-F238E27FC236}">
                      <a16:creationId xmlns:a16="http://schemas.microsoft.com/office/drawing/2014/main" id="{9BD6448F-A22D-932F-9E41-7EB55370604C}"/>
                    </a:ext>
                  </a:extLst>
                </p:cNvPr>
                <p:cNvGrpSpPr/>
                <p:nvPr/>
              </p:nvGrpSpPr>
              <p:grpSpPr>
                <a:xfrm>
                  <a:off x="8405198" y="2811936"/>
                  <a:ext cx="1538927" cy="1538927"/>
                  <a:chOff x="9187544" y="2148113"/>
                  <a:chExt cx="1553028" cy="1553028"/>
                </a:xfrm>
              </p:grpSpPr>
              <p:sp>
                <p:nvSpPr>
                  <p:cNvPr id="4162" name="Oval 4161">
                    <a:extLst>
                      <a:ext uri="{FF2B5EF4-FFF2-40B4-BE49-F238E27FC236}">
                        <a16:creationId xmlns:a16="http://schemas.microsoft.com/office/drawing/2014/main" id="{71EE5BAC-3F04-2C9C-DE94-73EA1F8F57B8}"/>
                      </a:ext>
                    </a:extLst>
                  </p:cNvPr>
                  <p:cNvSpPr/>
                  <p:nvPr/>
                </p:nvSpPr>
                <p:spPr>
                  <a:xfrm>
                    <a:off x="9187544" y="2148113"/>
                    <a:ext cx="1553028" cy="1553028"/>
                  </a:xfrm>
                  <a:prstGeom prst="ellipse">
                    <a:avLst/>
                  </a:prstGeom>
                  <a:gradFill flip="none" rotWithShape="1">
                    <a:gsLst>
                      <a:gs pos="65000">
                        <a:srgbClr val="0070C0">
                          <a:shade val="30000"/>
                          <a:satMod val="115000"/>
                        </a:srgbClr>
                      </a:gs>
                      <a:gs pos="36000">
                        <a:srgbClr val="0070C0">
                          <a:shade val="67500"/>
                          <a:satMod val="115000"/>
                        </a:srgbClr>
                      </a:gs>
                      <a:gs pos="13000">
                        <a:srgbClr val="0070C0">
                          <a:shade val="100000"/>
                          <a:satMod val="11500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163" name="Cross 4162">
                    <a:extLst>
                      <a:ext uri="{FF2B5EF4-FFF2-40B4-BE49-F238E27FC236}">
                        <a16:creationId xmlns:a16="http://schemas.microsoft.com/office/drawing/2014/main" id="{B35BEDEC-48DE-5CE0-FD24-0523B1AE0992}"/>
                      </a:ext>
                    </a:extLst>
                  </p:cNvPr>
                  <p:cNvSpPr/>
                  <p:nvPr/>
                </p:nvSpPr>
                <p:spPr>
                  <a:xfrm>
                    <a:off x="9579428" y="2539997"/>
                    <a:ext cx="769258" cy="769258"/>
                  </a:xfrm>
                  <a:prstGeom prst="plus">
                    <a:avLst>
                      <a:gd name="adj" fmla="val 35389"/>
                    </a:avLst>
                  </a:prstGeom>
                  <a:solidFill>
                    <a:schemeClr val="tx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4161" name="Arc 4160">
                  <a:extLst>
                    <a:ext uri="{FF2B5EF4-FFF2-40B4-BE49-F238E27FC236}">
                      <a16:creationId xmlns:a16="http://schemas.microsoft.com/office/drawing/2014/main" id="{E5567F0C-94DC-68B9-86B1-FCABAE57BD3E}"/>
                    </a:ext>
                  </a:extLst>
                </p:cNvPr>
                <p:cNvSpPr/>
                <p:nvPr/>
              </p:nvSpPr>
              <p:spPr>
                <a:xfrm rot="5400000" flipV="1">
                  <a:off x="8975426" y="2526539"/>
                  <a:ext cx="398469" cy="2226518"/>
                </a:xfrm>
                <a:prstGeom prst="arc">
                  <a:avLst>
                    <a:gd name="adj1" fmla="val 15655299"/>
                    <a:gd name="adj2" fmla="val 5983627"/>
                  </a:avLst>
                </a:prstGeom>
                <a:ln w="57150" cap="rnd">
                  <a:headEnd type="none" w="sm" len="sm"/>
                  <a:tailEnd type="triangle" w="lg" len="sm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104" name="Group 4103">
                <a:extLst>
                  <a:ext uri="{FF2B5EF4-FFF2-40B4-BE49-F238E27FC236}">
                    <a16:creationId xmlns:a16="http://schemas.microsoft.com/office/drawing/2014/main" id="{680C64DB-5DD4-4D21-87B5-ADC7FE4AFD73}"/>
                  </a:ext>
                </a:extLst>
              </p:cNvPr>
              <p:cNvGrpSpPr/>
              <p:nvPr/>
            </p:nvGrpSpPr>
            <p:grpSpPr>
              <a:xfrm rot="5818168">
                <a:off x="10057183" y="4080356"/>
                <a:ext cx="937455" cy="1505146"/>
                <a:chOff x="8061402" y="1843088"/>
                <a:chExt cx="2226518" cy="3574823"/>
              </a:xfrm>
            </p:grpSpPr>
            <p:sp>
              <p:nvSpPr>
                <p:cNvPr id="4154" name="Arrow: Down 4153">
                  <a:extLst>
                    <a:ext uri="{FF2B5EF4-FFF2-40B4-BE49-F238E27FC236}">
                      <a16:creationId xmlns:a16="http://schemas.microsoft.com/office/drawing/2014/main" id="{E557EDEB-9B0F-261A-5F33-ADB678CC80EA}"/>
                    </a:ext>
                  </a:extLst>
                </p:cNvPr>
                <p:cNvSpPr/>
                <p:nvPr/>
              </p:nvSpPr>
              <p:spPr>
                <a:xfrm flipV="1">
                  <a:off x="8932344" y="1843088"/>
                  <a:ext cx="484632" cy="3574823"/>
                </a:xfrm>
                <a:prstGeom prst="down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155" name="Group 4154">
                  <a:extLst>
                    <a:ext uri="{FF2B5EF4-FFF2-40B4-BE49-F238E27FC236}">
                      <a16:creationId xmlns:a16="http://schemas.microsoft.com/office/drawing/2014/main" id="{F70F711C-D17B-EAF2-0B2A-B04AABED13EB}"/>
                    </a:ext>
                  </a:extLst>
                </p:cNvPr>
                <p:cNvGrpSpPr/>
                <p:nvPr/>
              </p:nvGrpSpPr>
              <p:grpSpPr>
                <a:xfrm>
                  <a:off x="8405198" y="2811936"/>
                  <a:ext cx="1538927" cy="1538927"/>
                  <a:chOff x="9187544" y="2148113"/>
                  <a:chExt cx="1553028" cy="1553028"/>
                </a:xfrm>
              </p:grpSpPr>
              <p:sp>
                <p:nvSpPr>
                  <p:cNvPr id="4157" name="Oval 4156">
                    <a:extLst>
                      <a:ext uri="{FF2B5EF4-FFF2-40B4-BE49-F238E27FC236}">
                        <a16:creationId xmlns:a16="http://schemas.microsoft.com/office/drawing/2014/main" id="{500846CE-857A-5142-77B3-7AC17B6CC845}"/>
                      </a:ext>
                    </a:extLst>
                  </p:cNvPr>
                  <p:cNvSpPr/>
                  <p:nvPr/>
                </p:nvSpPr>
                <p:spPr>
                  <a:xfrm>
                    <a:off x="9187544" y="2148113"/>
                    <a:ext cx="1553028" cy="1553028"/>
                  </a:xfrm>
                  <a:prstGeom prst="ellipse">
                    <a:avLst/>
                  </a:prstGeom>
                  <a:gradFill flip="none" rotWithShape="1">
                    <a:gsLst>
                      <a:gs pos="65000">
                        <a:srgbClr val="0070C0">
                          <a:shade val="30000"/>
                          <a:satMod val="115000"/>
                        </a:srgbClr>
                      </a:gs>
                      <a:gs pos="36000">
                        <a:srgbClr val="0070C0">
                          <a:shade val="67500"/>
                          <a:satMod val="115000"/>
                        </a:srgbClr>
                      </a:gs>
                      <a:gs pos="13000">
                        <a:srgbClr val="0070C0">
                          <a:shade val="100000"/>
                          <a:satMod val="11500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158" name="Cross 4157">
                    <a:extLst>
                      <a:ext uri="{FF2B5EF4-FFF2-40B4-BE49-F238E27FC236}">
                        <a16:creationId xmlns:a16="http://schemas.microsoft.com/office/drawing/2014/main" id="{43A3739E-83A9-CE12-AFD5-131B30057A85}"/>
                      </a:ext>
                    </a:extLst>
                  </p:cNvPr>
                  <p:cNvSpPr/>
                  <p:nvPr/>
                </p:nvSpPr>
                <p:spPr>
                  <a:xfrm>
                    <a:off x="9579428" y="2539997"/>
                    <a:ext cx="769258" cy="769258"/>
                  </a:xfrm>
                  <a:prstGeom prst="plus">
                    <a:avLst>
                      <a:gd name="adj" fmla="val 35389"/>
                    </a:avLst>
                  </a:prstGeom>
                  <a:solidFill>
                    <a:schemeClr val="tx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4156" name="Arc 4155">
                  <a:extLst>
                    <a:ext uri="{FF2B5EF4-FFF2-40B4-BE49-F238E27FC236}">
                      <a16:creationId xmlns:a16="http://schemas.microsoft.com/office/drawing/2014/main" id="{6F595A9A-D82B-94D7-FB5F-1F642AA57539}"/>
                    </a:ext>
                  </a:extLst>
                </p:cNvPr>
                <p:cNvSpPr/>
                <p:nvPr/>
              </p:nvSpPr>
              <p:spPr>
                <a:xfrm rot="5400000" flipV="1">
                  <a:off x="8975426" y="2526539"/>
                  <a:ext cx="398469" cy="2226518"/>
                </a:xfrm>
                <a:prstGeom prst="arc">
                  <a:avLst>
                    <a:gd name="adj1" fmla="val 15655299"/>
                    <a:gd name="adj2" fmla="val 5983627"/>
                  </a:avLst>
                </a:prstGeom>
                <a:ln w="57150" cap="rnd">
                  <a:headEnd type="none" w="sm" len="sm"/>
                  <a:tailEnd type="triangle" w="lg" len="sm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105" name="Group 4104">
                <a:extLst>
                  <a:ext uri="{FF2B5EF4-FFF2-40B4-BE49-F238E27FC236}">
                    <a16:creationId xmlns:a16="http://schemas.microsoft.com/office/drawing/2014/main" id="{1F30F1EA-64E7-C3FD-9957-A401A23F11D4}"/>
                  </a:ext>
                </a:extLst>
              </p:cNvPr>
              <p:cNvGrpSpPr/>
              <p:nvPr/>
            </p:nvGrpSpPr>
            <p:grpSpPr>
              <a:xfrm rot="2386247">
                <a:off x="10881736" y="3340544"/>
                <a:ext cx="594519" cy="954540"/>
                <a:chOff x="8061402" y="1843088"/>
                <a:chExt cx="2226518" cy="3574823"/>
              </a:xfrm>
            </p:grpSpPr>
            <p:sp>
              <p:nvSpPr>
                <p:cNvPr id="4149" name="Arrow: Down 4148">
                  <a:extLst>
                    <a:ext uri="{FF2B5EF4-FFF2-40B4-BE49-F238E27FC236}">
                      <a16:creationId xmlns:a16="http://schemas.microsoft.com/office/drawing/2014/main" id="{A9B60B9E-5629-5577-CC63-FBB0F423E64C}"/>
                    </a:ext>
                  </a:extLst>
                </p:cNvPr>
                <p:cNvSpPr/>
                <p:nvPr/>
              </p:nvSpPr>
              <p:spPr>
                <a:xfrm flipV="1">
                  <a:off x="8932344" y="1843088"/>
                  <a:ext cx="484632" cy="3574823"/>
                </a:xfrm>
                <a:prstGeom prst="down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150" name="Group 4149">
                  <a:extLst>
                    <a:ext uri="{FF2B5EF4-FFF2-40B4-BE49-F238E27FC236}">
                      <a16:creationId xmlns:a16="http://schemas.microsoft.com/office/drawing/2014/main" id="{2A0C7696-0B11-D3FD-12F2-5FDCBA155F32}"/>
                    </a:ext>
                  </a:extLst>
                </p:cNvPr>
                <p:cNvGrpSpPr/>
                <p:nvPr/>
              </p:nvGrpSpPr>
              <p:grpSpPr>
                <a:xfrm>
                  <a:off x="8405198" y="2811936"/>
                  <a:ext cx="1538927" cy="1538927"/>
                  <a:chOff x="9187544" y="2148113"/>
                  <a:chExt cx="1553028" cy="1553028"/>
                </a:xfrm>
              </p:grpSpPr>
              <p:sp>
                <p:nvSpPr>
                  <p:cNvPr id="4152" name="Oval 4151">
                    <a:extLst>
                      <a:ext uri="{FF2B5EF4-FFF2-40B4-BE49-F238E27FC236}">
                        <a16:creationId xmlns:a16="http://schemas.microsoft.com/office/drawing/2014/main" id="{60A2A8C8-726A-0A33-D825-150B1B453EC5}"/>
                      </a:ext>
                    </a:extLst>
                  </p:cNvPr>
                  <p:cNvSpPr/>
                  <p:nvPr/>
                </p:nvSpPr>
                <p:spPr>
                  <a:xfrm>
                    <a:off x="9187544" y="2148113"/>
                    <a:ext cx="1553028" cy="1553028"/>
                  </a:xfrm>
                  <a:prstGeom prst="ellipse">
                    <a:avLst/>
                  </a:prstGeom>
                  <a:gradFill flip="none" rotWithShape="1">
                    <a:gsLst>
                      <a:gs pos="65000">
                        <a:srgbClr val="0070C0">
                          <a:shade val="30000"/>
                          <a:satMod val="115000"/>
                        </a:srgbClr>
                      </a:gs>
                      <a:gs pos="36000">
                        <a:srgbClr val="0070C0">
                          <a:shade val="67500"/>
                          <a:satMod val="115000"/>
                        </a:srgbClr>
                      </a:gs>
                      <a:gs pos="13000">
                        <a:srgbClr val="0070C0">
                          <a:shade val="100000"/>
                          <a:satMod val="11500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153" name="Cross 4152">
                    <a:extLst>
                      <a:ext uri="{FF2B5EF4-FFF2-40B4-BE49-F238E27FC236}">
                        <a16:creationId xmlns:a16="http://schemas.microsoft.com/office/drawing/2014/main" id="{750EF115-504B-6367-7851-14A2E283BFB3}"/>
                      </a:ext>
                    </a:extLst>
                  </p:cNvPr>
                  <p:cNvSpPr/>
                  <p:nvPr/>
                </p:nvSpPr>
                <p:spPr>
                  <a:xfrm>
                    <a:off x="9579428" y="2539997"/>
                    <a:ext cx="769258" cy="769258"/>
                  </a:xfrm>
                  <a:prstGeom prst="plus">
                    <a:avLst>
                      <a:gd name="adj" fmla="val 35389"/>
                    </a:avLst>
                  </a:prstGeom>
                  <a:solidFill>
                    <a:schemeClr val="tx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4151" name="Arc 4150">
                  <a:extLst>
                    <a:ext uri="{FF2B5EF4-FFF2-40B4-BE49-F238E27FC236}">
                      <a16:creationId xmlns:a16="http://schemas.microsoft.com/office/drawing/2014/main" id="{9E53A315-31A6-3495-F7BC-AEFC3F99FB10}"/>
                    </a:ext>
                  </a:extLst>
                </p:cNvPr>
                <p:cNvSpPr/>
                <p:nvPr/>
              </p:nvSpPr>
              <p:spPr>
                <a:xfrm rot="5400000" flipV="1">
                  <a:off x="8975426" y="2526539"/>
                  <a:ext cx="398469" cy="2226518"/>
                </a:xfrm>
                <a:prstGeom prst="arc">
                  <a:avLst>
                    <a:gd name="adj1" fmla="val 15655299"/>
                    <a:gd name="adj2" fmla="val 5983627"/>
                  </a:avLst>
                </a:prstGeom>
                <a:ln w="57150" cap="rnd">
                  <a:headEnd type="none" w="sm" len="sm"/>
                  <a:tailEnd type="triangle" w="lg" len="sm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106" name="Group 4105">
                <a:extLst>
                  <a:ext uri="{FF2B5EF4-FFF2-40B4-BE49-F238E27FC236}">
                    <a16:creationId xmlns:a16="http://schemas.microsoft.com/office/drawing/2014/main" id="{E93B30D0-5819-F2FF-906D-D3B4A1D60C3D}"/>
                  </a:ext>
                </a:extLst>
              </p:cNvPr>
              <p:cNvGrpSpPr/>
              <p:nvPr/>
            </p:nvGrpSpPr>
            <p:grpSpPr>
              <a:xfrm rot="9757513">
                <a:off x="7955358" y="549630"/>
                <a:ext cx="594519" cy="954540"/>
                <a:chOff x="8061402" y="1843088"/>
                <a:chExt cx="2226518" cy="3574823"/>
              </a:xfrm>
            </p:grpSpPr>
            <p:sp>
              <p:nvSpPr>
                <p:cNvPr id="4144" name="Arrow: Down 4143">
                  <a:extLst>
                    <a:ext uri="{FF2B5EF4-FFF2-40B4-BE49-F238E27FC236}">
                      <a16:creationId xmlns:a16="http://schemas.microsoft.com/office/drawing/2014/main" id="{54F91233-1374-FA7A-9EAF-A7661288D389}"/>
                    </a:ext>
                  </a:extLst>
                </p:cNvPr>
                <p:cNvSpPr/>
                <p:nvPr/>
              </p:nvSpPr>
              <p:spPr>
                <a:xfrm flipV="1">
                  <a:off x="8932344" y="1843088"/>
                  <a:ext cx="484632" cy="3574823"/>
                </a:xfrm>
                <a:prstGeom prst="down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145" name="Group 4144">
                  <a:extLst>
                    <a:ext uri="{FF2B5EF4-FFF2-40B4-BE49-F238E27FC236}">
                      <a16:creationId xmlns:a16="http://schemas.microsoft.com/office/drawing/2014/main" id="{7A7AEC54-238A-0B9C-01AB-E928998CECAB}"/>
                    </a:ext>
                  </a:extLst>
                </p:cNvPr>
                <p:cNvGrpSpPr/>
                <p:nvPr/>
              </p:nvGrpSpPr>
              <p:grpSpPr>
                <a:xfrm>
                  <a:off x="8405198" y="2811936"/>
                  <a:ext cx="1538927" cy="1538927"/>
                  <a:chOff x="9187544" y="2148113"/>
                  <a:chExt cx="1553028" cy="1553028"/>
                </a:xfrm>
              </p:grpSpPr>
              <p:sp>
                <p:nvSpPr>
                  <p:cNvPr id="4147" name="Oval 4146">
                    <a:extLst>
                      <a:ext uri="{FF2B5EF4-FFF2-40B4-BE49-F238E27FC236}">
                        <a16:creationId xmlns:a16="http://schemas.microsoft.com/office/drawing/2014/main" id="{B32563B3-DA6D-6CD3-0268-1270E75B419C}"/>
                      </a:ext>
                    </a:extLst>
                  </p:cNvPr>
                  <p:cNvSpPr/>
                  <p:nvPr/>
                </p:nvSpPr>
                <p:spPr>
                  <a:xfrm>
                    <a:off x="9187544" y="2148113"/>
                    <a:ext cx="1553028" cy="1553028"/>
                  </a:xfrm>
                  <a:prstGeom prst="ellipse">
                    <a:avLst/>
                  </a:prstGeom>
                  <a:gradFill flip="none" rotWithShape="1">
                    <a:gsLst>
                      <a:gs pos="65000">
                        <a:srgbClr val="0070C0">
                          <a:shade val="30000"/>
                          <a:satMod val="115000"/>
                        </a:srgbClr>
                      </a:gs>
                      <a:gs pos="36000">
                        <a:srgbClr val="0070C0">
                          <a:shade val="67500"/>
                          <a:satMod val="115000"/>
                        </a:srgbClr>
                      </a:gs>
                      <a:gs pos="13000">
                        <a:srgbClr val="0070C0">
                          <a:shade val="100000"/>
                          <a:satMod val="11500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148" name="Cross 4147">
                    <a:extLst>
                      <a:ext uri="{FF2B5EF4-FFF2-40B4-BE49-F238E27FC236}">
                        <a16:creationId xmlns:a16="http://schemas.microsoft.com/office/drawing/2014/main" id="{3E1ECC00-2479-17DB-7C8B-4030850B2BB1}"/>
                      </a:ext>
                    </a:extLst>
                  </p:cNvPr>
                  <p:cNvSpPr/>
                  <p:nvPr/>
                </p:nvSpPr>
                <p:spPr>
                  <a:xfrm>
                    <a:off x="9579428" y="2539997"/>
                    <a:ext cx="769258" cy="769258"/>
                  </a:xfrm>
                  <a:prstGeom prst="plus">
                    <a:avLst>
                      <a:gd name="adj" fmla="val 35389"/>
                    </a:avLst>
                  </a:prstGeom>
                  <a:solidFill>
                    <a:schemeClr val="tx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4146" name="Arc 4145">
                  <a:extLst>
                    <a:ext uri="{FF2B5EF4-FFF2-40B4-BE49-F238E27FC236}">
                      <a16:creationId xmlns:a16="http://schemas.microsoft.com/office/drawing/2014/main" id="{B81F8216-F633-A811-7F7D-3D5E09160B8F}"/>
                    </a:ext>
                  </a:extLst>
                </p:cNvPr>
                <p:cNvSpPr/>
                <p:nvPr/>
              </p:nvSpPr>
              <p:spPr>
                <a:xfrm rot="5400000" flipV="1">
                  <a:off x="8975426" y="2526539"/>
                  <a:ext cx="398469" cy="2226518"/>
                </a:xfrm>
                <a:prstGeom prst="arc">
                  <a:avLst>
                    <a:gd name="adj1" fmla="val 15655299"/>
                    <a:gd name="adj2" fmla="val 5983627"/>
                  </a:avLst>
                </a:prstGeom>
                <a:ln w="57150" cap="rnd">
                  <a:headEnd type="none" w="sm" len="sm"/>
                  <a:tailEnd type="triangle" w="lg" len="sm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107" name="Group 4106">
                <a:extLst>
                  <a:ext uri="{FF2B5EF4-FFF2-40B4-BE49-F238E27FC236}">
                    <a16:creationId xmlns:a16="http://schemas.microsoft.com/office/drawing/2014/main" id="{35B2FBC0-7566-6817-5FE4-308219734EA9}"/>
                  </a:ext>
                </a:extLst>
              </p:cNvPr>
              <p:cNvGrpSpPr/>
              <p:nvPr/>
            </p:nvGrpSpPr>
            <p:grpSpPr>
              <a:xfrm rot="11864508">
                <a:off x="9305866" y="5166874"/>
                <a:ext cx="885862" cy="1422312"/>
                <a:chOff x="8061402" y="1843088"/>
                <a:chExt cx="2226518" cy="3574823"/>
              </a:xfrm>
            </p:grpSpPr>
            <p:sp>
              <p:nvSpPr>
                <p:cNvPr id="4139" name="Arrow: Down 4138">
                  <a:extLst>
                    <a:ext uri="{FF2B5EF4-FFF2-40B4-BE49-F238E27FC236}">
                      <a16:creationId xmlns:a16="http://schemas.microsoft.com/office/drawing/2014/main" id="{174CD5DC-F90F-55B7-A1E3-3419CB094EFC}"/>
                    </a:ext>
                  </a:extLst>
                </p:cNvPr>
                <p:cNvSpPr/>
                <p:nvPr/>
              </p:nvSpPr>
              <p:spPr>
                <a:xfrm flipV="1">
                  <a:off x="8932344" y="1843088"/>
                  <a:ext cx="484632" cy="3574823"/>
                </a:xfrm>
                <a:prstGeom prst="down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140" name="Group 4139">
                  <a:extLst>
                    <a:ext uri="{FF2B5EF4-FFF2-40B4-BE49-F238E27FC236}">
                      <a16:creationId xmlns:a16="http://schemas.microsoft.com/office/drawing/2014/main" id="{223F0200-50F0-2F22-9227-7D3652815CEB}"/>
                    </a:ext>
                  </a:extLst>
                </p:cNvPr>
                <p:cNvGrpSpPr/>
                <p:nvPr/>
              </p:nvGrpSpPr>
              <p:grpSpPr>
                <a:xfrm>
                  <a:off x="8405198" y="2811936"/>
                  <a:ext cx="1538927" cy="1538927"/>
                  <a:chOff x="9187544" y="2148113"/>
                  <a:chExt cx="1553028" cy="1553028"/>
                </a:xfrm>
              </p:grpSpPr>
              <p:sp>
                <p:nvSpPr>
                  <p:cNvPr id="4142" name="Oval 4141">
                    <a:extLst>
                      <a:ext uri="{FF2B5EF4-FFF2-40B4-BE49-F238E27FC236}">
                        <a16:creationId xmlns:a16="http://schemas.microsoft.com/office/drawing/2014/main" id="{DCE5438C-5438-FF31-7943-5B269B1EE383}"/>
                      </a:ext>
                    </a:extLst>
                  </p:cNvPr>
                  <p:cNvSpPr/>
                  <p:nvPr/>
                </p:nvSpPr>
                <p:spPr>
                  <a:xfrm>
                    <a:off x="9187544" y="2148113"/>
                    <a:ext cx="1553028" cy="1553028"/>
                  </a:xfrm>
                  <a:prstGeom prst="ellipse">
                    <a:avLst/>
                  </a:prstGeom>
                  <a:gradFill flip="none" rotWithShape="1">
                    <a:gsLst>
                      <a:gs pos="65000">
                        <a:srgbClr val="0070C0">
                          <a:shade val="30000"/>
                          <a:satMod val="115000"/>
                        </a:srgbClr>
                      </a:gs>
                      <a:gs pos="36000">
                        <a:srgbClr val="0070C0">
                          <a:shade val="67500"/>
                          <a:satMod val="115000"/>
                        </a:srgbClr>
                      </a:gs>
                      <a:gs pos="13000">
                        <a:srgbClr val="0070C0">
                          <a:shade val="100000"/>
                          <a:satMod val="11500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143" name="Cross 4142">
                    <a:extLst>
                      <a:ext uri="{FF2B5EF4-FFF2-40B4-BE49-F238E27FC236}">
                        <a16:creationId xmlns:a16="http://schemas.microsoft.com/office/drawing/2014/main" id="{D03E8EF8-31B4-DFA9-DCE6-41B670755043}"/>
                      </a:ext>
                    </a:extLst>
                  </p:cNvPr>
                  <p:cNvSpPr/>
                  <p:nvPr/>
                </p:nvSpPr>
                <p:spPr>
                  <a:xfrm>
                    <a:off x="9579428" y="2539997"/>
                    <a:ext cx="769258" cy="769258"/>
                  </a:xfrm>
                  <a:prstGeom prst="plus">
                    <a:avLst>
                      <a:gd name="adj" fmla="val 35389"/>
                    </a:avLst>
                  </a:prstGeom>
                  <a:solidFill>
                    <a:schemeClr val="tx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4141" name="Arc 4140">
                  <a:extLst>
                    <a:ext uri="{FF2B5EF4-FFF2-40B4-BE49-F238E27FC236}">
                      <a16:creationId xmlns:a16="http://schemas.microsoft.com/office/drawing/2014/main" id="{A0A7A042-0DB8-B8A3-ACBC-3E02E2A7C638}"/>
                    </a:ext>
                  </a:extLst>
                </p:cNvPr>
                <p:cNvSpPr/>
                <p:nvPr/>
              </p:nvSpPr>
              <p:spPr>
                <a:xfrm rot="5400000" flipV="1">
                  <a:off x="8975426" y="2526539"/>
                  <a:ext cx="398469" cy="2226518"/>
                </a:xfrm>
                <a:prstGeom prst="arc">
                  <a:avLst>
                    <a:gd name="adj1" fmla="val 15655299"/>
                    <a:gd name="adj2" fmla="val 5983627"/>
                  </a:avLst>
                </a:prstGeom>
                <a:ln w="57150" cap="rnd">
                  <a:headEnd type="none" w="sm" len="sm"/>
                  <a:tailEnd type="triangle" w="lg" len="sm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108" name="Group 4107">
                <a:extLst>
                  <a:ext uri="{FF2B5EF4-FFF2-40B4-BE49-F238E27FC236}">
                    <a16:creationId xmlns:a16="http://schemas.microsoft.com/office/drawing/2014/main" id="{7FBC1975-98FA-9C0D-F311-4ADDC5AE747C}"/>
                  </a:ext>
                </a:extLst>
              </p:cNvPr>
              <p:cNvGrpSpPr/>
              <p:nvPr/>
            </p:nvGrpSpPr>
            <p:grpSpPr>
              <a:xfrm rot="14808701">
                <a:off x="8292204" y="5392718"/>
                <a:ext cx="547624" cy="879247"/>
                <a:chOff x="8061402" y="1843088"/>
                <a:chExt cx="2226518" cy="3574823"/>
              </a:xfrm>
            </p:grpSpPr>
            <p:sp>
              <p:nvSpPr>
                <p:cNvPr id="4134" name="Arrow: Down 4133">
                  <a:extLst>
                    <a:ext uri="{FF2B5EF4-FFF2-40B4-BE49-F238E27FC236}">
                      <a16:creationId xmlns:a16="http://schemas.microsoft.com/office/drawing/2014/main" id="{FCBA1B86-FD47-63BF-F679-71D1508AB359}"/>
                    </a:ext>
                  </a:extLst>
                </p:cNvPr>
                <p:cNvSpPr/>
                <p:nvPr/>
              </p:nvSpPr>
              <p:spPr>
                <a:xfrm flipV="1">
                  <a:off x="8932344" y="1843088"/>
                  <a:ext cx="484632" cy="3574823"/>
                </a:xfrm>
                <a:prstGeom prst="down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135" name="Group 4134">
                  <a:extLst>
                    <a:ext uri="{FF2B5EF4-FFF2-40B4-BE49-F238E27FC236}">
                      <a16:creationId xmlns:a16="http://schemas.microsoft.com/office/drawing/2014/main" id="{DCB19A46-F188-F14B-16F7-9042840B04E1}"/>
                    </a:ext>
                  </a:extLst>
                </p:cNvPr>
                <p:cNvGrpSpPr/>
                <p:nvPr/>
              </p:nvGrpSpPr>
              <p:grpSpPr>
                <a:xfrm>
                  <a:off x="8405198" y="2811936"/>
                  <a:ext cx="1538927" cy="1538927"/>
                  <a:chOff x="9187544" y="2148113"/>
                  <a:chExt cx="1553028" cy="1553028"/>
                </a:xfrm>
              </p:grpSpPr>
              <p:sp>
                <p:nvSpPr>
                  <p:cNvPr id="4137" name="Oval 4136">
                    <a:extLst>
                      <a:ext uri="{FF2B5EF4-FFF2-40B4-BE49-F238E27FC236}">
                        <a16:creationId xmlns:a16="http://schemas.microsoft.com/office/drawing/2014/main" id="{27003050-9D53-22DB-B85D-6069D7162BFC}"/>
                      </a:ext>
                    </a:extLst>
                  </p:cNvPr>
                  <p:cNvSpPr/>
                  <p:nvPr/>
                </p:nvSpPr>
                <p:spPr>
                  <a:xfrm>
                    <a:off x="9187544" y="2148113"/>
                    <a:ext cx="1553028" cy="1553028"/>
                  </a:xfrm>
                  <a:prstGeom prst="ellipse">
                    <a:avLst/>
                  </a:prstGeom>
                  <a:gradFill flip="none" rotWithShape="1">
                    <a:gsLst>
                      <a:gs pos="65000">
                        <a:srgbClr val="0070C0">
                          <a:shade val="30000"/>
                          <a:satMod val="115000"/>
                        </a:srgbClr>
                      </a:gs>
                      <a:gs pos="36000">
                        <a:srgbClr val="0070C0">
                          <a:shade val="67500"/>
                          <a:satMod val="115000"/>
                        </a:srgbClr>
                      </a:gs>
                      <a:gs pos="13000">
                        <a:srgbClr val="0070C0">
                          <a:shade val="100000"/>
                          <a:satMod val="11500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138" name="Cross 4137">
                    <a:extLst>
                      <a:ext uri="{FF2B5EF4-FFF2-40B4-BE49-F238E27FC236}">
                        <a16:creationId xmlns:a16="http://schemas.microsoft.com/office/drawing/2014/main" id="{B51C97E6-3CCD-3893-286F-89B2AAB1E015}"/>
                      </a:ext>
                    </a:extLst>
                  </p:cNvPr>
                  <p:cNvSpPr/>
                  <p:nvPr/>
                </p:nvSpPr>
                <p:spPr>
                  <a:xfrm>
                    <a:off x="9579428" y="2539997"/>
                    <a:ext cx="769258" cy="769258"/>
                  </a:xfrm>
                  <a:prstGeom prst="plus">
                    <a:avLst>
                      <a:gd name="adj" fmla="val 35389"/>
                    </a:avLst>
                  </a:prstGeom>
                  <a:solidFill>
                    <a:schemeClr val="tx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4136" name="Arc 4135">
                  <a:extLst>
                    <a:ext uri="{FF2B5EF4-FFF2-40B4-BE49-F238E27FC236}">
                      <a16:creationId xmlns:a16="http://schemas.microsoft.com/office/drawing/2014/main" id="{203057CC-3A9A-0E34-3104-53DD64AD967D}"/>
                    </a:ext>
                  </a:extLst>
                </p:cNvPr>
                <p:cNvSpPr/>
                <p:nvPr/>
              </p:nvSpPr>
              <p:spPr>
                <a:xfrm rot="5400000" flipV="1">
                  <a:off x="8975426" y="2526539"/>
                  <a:ext cx="398469" cy="2226518"/>
                </a:xfrm>
                <a:prstGeom prst="arc">
                  <a:avLst>
                    <a:gd name="adj1" fmla="val 15655299"/>
                    <a:gd name="adj2" fmla="val 5983627"/>
                  </a:avLst>
                </a:prstGeom>
                <a:ln w="57150" cap="rnd">
                  <a:headEnd type="none" w="sm" len="sm"/>
                  <a:tailEnd type="triangle" w="lg" len="sm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109" name="Group 4108">
                <a:extLst>
                  <a:ext uri="{FF2B5EF4-FFF2-40B4-BE49-F238E27FC236}">
                    <a16:creationId xmlns:a16="http://schemas.microsoft.com/office/drawing/2014/main" id="{A4937E28-41C7-ED8E-5F7C-8970837CD88E}"/>
                  </a:ext>
                </a:extLst>
              </p:cNvPr>
              <p:cNvGrpSpPr/>
              <p:nvPr/>
            </p:nvGrpSpPr>
            <p:grpSpPr>
              <a:xfrm rot="1459332">
                <a:off x="6829755" y="574534"/>
                <a:ext cx="594519" cy="954540"/>
                <a:chOff x="8061402" y="1843088"/>
                <a:chExt cx="2226518" cy="3574823"/>
              </a:xfrm>
            </p:grpSpPr>
            <p:sp>
              <p:nvSpPr>
                <p:cNvPr id="4129" name="Arrow: Down 4128">
                  <a:extLst>
                    <a:ext uri="{FF2B5EF4-FFF2-40B4-BE49-F238E27FC236}">
                      <a16:creationId xmlns:a16="http://schemas.microsoft.com/office/drawing/2014/main" id="{C30F25E3-80AC-A919-DB8C-22A7A5E6C9B0}"/>
                    </a:ext>
                  </a:extLst>
                </p:cNvPr>
                <p:cNvSpPr/>
                <p:nvPr/>
              </p:nvSpPr>
              <p:spPr>
                <a:xfrm flipV="1">
                  <a:off x="8932344" y="1843088"/>
                  <a:ext cx="484632" cy="3574823"/>
                </a:xfrm>
                <a:prstGeom prst="down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130" name="Group 4129">
                  <a:extLst>
                    <a:ext uri="{FF2B5EF4-FFF2-40B4-BE49-F238E27FC236}">
                      <a16:creationId xmlns:a16="http://schemas.microsoft.com/office/drawing/2014/main" id="{4EC05F2E-134A-B6BD-AADC-6194AC72766C}"/>
                    </a:ext>
                  </a:extLst>
                </p:cNvPr>
                <p:cNvGrpSpPr/>
                <p:nvPr/>
              </p:nvGrpSpPr>
              <p:grpSpPr>
                <a:xfrm>
                  <a:off x="8405198" y="2811936"/>
                  <a:ext cx="1538927" cy="1538927"/>
                  <a:chOff x="9187544" y="2148113"/>
                  <a:chExt cx="1553028" cy="1553028"/>
                </a:xfrm>
              </p:grpSpPr>
              <p:sp>
                <p:nvSpPr>
                  <p:cNvPr id="4132" name="Oval 4131">
                    <a:extLst>
                      <a:ext uri="{FF2B5EF4-FFF2-40B4-BE49-F238E27FC236}">
                        <a16:creationId xmlns:a16="http://schemas.microsoft.com/office/drawing/2014/main" id="{D77A0105-E0A4-8A74-CE46-D6A1BE97B198}"/>
                      </a:ext>
                    </a:extLst>
                  </p:cNvPr>
                  <p:cNvSpPr/>
                  <p:nvPr/>
                </p:nvSpPr>
                <p:spPr>
                  <a:xfrm>
                    <a:off x="9187544" y="2148113"/>
                    <a:ext cx="1553028" cy="1553028"/>
                  </a:xfrm>
                  <a:prstGeom prst="ellipse">
                    <a:avLst/>
                  </a:prstGeom>
                  <a:gradFill flip="none" rotWithShape="1">
                    <a:gsLst>
                      <a:gs pos="65000">
                        <a:srgbClr val="0070C0">
                          <a:shade val="30000"/>
                          <a:satMod val="115000"/>
                        </a:srgbClr>
                      </a:gs>
                      <a:gs pos="36000">
                        <a:srgbClr val="0070C0">
                          <a:shade val="67500"/>
                          <a:satMod val="115000"/>
                        </a:srgbClr>
                      </a:gs>
                      <a:gs pos="13000">
                        <a:srgbClr val="0070C0">
                          <a:shade val="100000"/>
                          <a:satMod val="11500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133" name="Cross 4132">
                    <a:extLst>
                      <a:ext uri="{FF2B5EF4-FFF2-40B4-BE49-F238E27FC236}">
                        <a16:creationId xmlns:a16="http://schemas.microsoft.com/office/drawing/2014/main" id="{AA79F65F-4AD5-F7D8-496A-105ADD45FCB2}"/>
                      </a:ext>
                    </a:extLst>
                  </p:cNvPr>
                  <p:cNvSpPr/>
                  <p:nvPr/>
                </p:nvSpPr>
                <p:spPr>
                  <a:xfrm>
                    <a:off x="9579428" y="2539997"/>
                    <a:ext cx="769258" cy="769258"/>
                  </a:xfrm>
                  <a:prstGeom prst="plus">
                    <a:avLst>
                      <a:gd name="adj" fmla="val 35389"/>
                    </a:avLst>
                  </a:prstGeom>
                  <a:solidFill>
                    <a:schemeClr val="tx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4131" name="Arc 4130">
                  <a:extLst>
                    <a:ext uri="{FF2B5EF4-FFF2-40B4-BE49-F238E27FC236}">
                      <a16:creationId xmlns:a16="http://schemas.microsoft.com/office/drawing/2014/main" id="{D57A8880-CEC6-AD0B-6C25-1F5512655DB4}"/>
                    </a:ext>
                  </a:extLst>
                </p:cNvPr>
                <p:cNvSpPr/>
                <p:nvPr/>
              </p:nvSpPr>
              <p:spPr>
                <a:xfrm rot="5400000" flipV="1">
                  <a:off x="8975426" y="2526539"/>
                  <a:ext cx="398469" cy="2226518"/>
                </a:xfrm>
                <a:prstGeom prst="arc">
                  <a:avLst>
                    <a:gd name="adj1" fmla="val 15655299"/>
                    <a:gd name="adj2" fmla="val 5983627"/>
                  </a:avLst>
                </a:prstGeom>
                <a:ln w="57150" cap="rnd">
                  <a:headEnd type="none" w="sm" len="sm"/>
                  <a:tailEnd type="triangle" w="lg" len="sm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110" name="Group 4109">
                <a:extLst>
                  <a:ext uri="{FF2B5EF4-FFF2-40B4-BE49-F238E27FC236}">
                    <a16:creationId xmlns:a16="http://schemas.microsoft.com/office/drawing/2014/main" id="{6EEE5961-FB58-681D-6FA9-45819ECFFFF4}"/>
                  </a:ext>
                </a:extLst>
              </p:cNvPr>
              <p:cNvGrpSpPr/>
              <p:nvPr/>
            </p:nvGrpSpPr>
            <p:grpSpPr>
              <a:xfrm rot="19752719">
                <a:off x="10890123" y="5551543"/>
                <a:ext cx="594519" cy="954540"/>
                <a:chOff x="8061402" y="1843088"/>
                <a:chExt cx="2226518" cy="3574823"/>
              </a:xfrm>
            </p:grpSpPr>
            <p:sp>
              <p:nvSpPr>
                <p:cNvPr id="4124" name="Arrow: Down 4123">
                  <a:extLst>
                    <a:ext uri="{FF2B5EF4-FFF2-40B4-BE49-F238E27FC236}">
                      <a16:creationId xmlns:a16="http://schemas.microsoft.com/office/drawing/2014/main" id="{25F100D1-555B-90AE-6309-784A8549FA25}"/>
                    </a:ext>
                  </a:extLst>
                </p:cNvPr>
                <p:cNvSpPr/>
                <p:nvPr/>
              </p:nvSpPr>
              <p:spPr>
                <a:xfrm flipV="1">
                  <a:off x="8932344" y="1843088"/>
                  <a:ext cx="484632" cy="3574823"/>
                </a:xfrm>
                <a:prstGeom prst="down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125" name="Group 4124">
                  <a:extLst>
                    <a:ext uri="{FF2B5EF4-FFF2-40B4-BE49-F238E27FC236}">
                      <a16:creationId xmlns:a16="http://schemas.microsoft.com/office/drawing/2014/main" id="{B7FFA717-D45E-D771-B6ED-97F4DFC84DC3}"/>
                    </a:ext>
                  </a:extLst>
                </p:cNvPr>
                <p:cNvGrpSpPr/>
                <p:nvPr/>
              </p:nvGrpSpPr>
              <p:grpSpPr>
                <a:xfrm>
                  <a:off x="8405198" y="2811936"/>
                  <a:ext cx="1538927" cy="1538927"/>
                  <a:chOff x="9187544" y="2148113"/>
                  <a:chExt cx="1553028" cy="1553028"/>
                </a:xfrm>
              </p:grpSpPr>
              <p:sp>
                <p:nvSpPr>
                  <p:cNvPr id="4127" name="Oval 4126">
                    <a:extLst>
                      <a:ext uri="{FF2B5EF4-FFF2-40B4-BE49-F238E27FC236}">
                        <a16:creationId xmlns:a16="http://schemas.microsoft.com/office/drawing/2014/main" id="{8387C1D0-74A4-83E7-F70D-E872C71F727B}"/>
                      </a:ext>
                    </a:extLst>
                  </p:cNvPr>
                  <p:cNvSpPr/>
                  <p:nvPr/>
                </p:nvSpPr>
                <p:spPr>
                  <a:xfrm>
                    <a:off x="9187544" y="2148113"/>
                    <a:ext cx="1553028" cy="1553028"/>
                  </a:xfrm>
                  <a:prstGeom prst="ellipse">
                    <a:avLst/>
                  </a:prstGeom>
                  <a:gradFill flip="none" rotWithShape="1">
                    <a:gsLst>
                      <a:gs pos="65000">
                        <a:srgbClr val="0070C0">
                          <a:shade val="30000"/>
                          <a:satMod val="115000"/>
                        </a:srgbClr>
                      </a:gs>
                      <a:gs pos="36000">
                        <a:srgbClr val="0070C0">
                          <a:shade val="67500"/>
                          <a:satMod val="115000"/>
                        </a:srgbClr>
                      </a:gs>
                      <a:gs pos="13000">
                        <a:srgbClr val="0070C0">
                          <a:shade val="100000"/>
                          <a:satMod val="11500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128" name="Cross 4127">
                    <a:extLst>
                      <a:ext uri="{FF2B5EF4-FFF2-40B4-BE49-F238E27FC236}">
                        <a16:creationId xmlns:a16="http://schemas.microsoft.com/office/drawing/2014/main" id="{E165E741-45DD-FE1E-7A1F-49875CEC3A46}"/>
                      </a:ext>
                    </a:extLst>
                  </p:cNvPr>
                  <p:cNvSpPr/>
                  <p:nvPr/>
                </p:nvSpPr>
                <p:spPr>
                  <a:xfrm>
                    <a:off x="9579428" y="2539997"/>
                    <a:ext cx="769258" cy="769258"/>
                  </a:xfrm>
                  <a:prstGeom prst="plus">
                    <a:avLst>
                      <a:gd name="adj" fmla="val 35389"/>
                    </a:avLst>
                  </a:prstGeom>
                  <a:solidFill>
                    <a:schemeClr val="tx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4126" name="Arc 4125">
                  <a:extLst>
                    <a:ext uri="{FF2B5EF4-FFF2-40B4-BE49-F238E27FC236}">
                      <a16:creationId xmlns:a16="http://schemas.microsoft.com/office/drawing/2014/main" id="{AA4EBEAE-7744-382F-FBA3-C5B3E662C426}"/>
                    </a:ext>
                  </a:extLst>
                </p:cNvPr>
                <p:cNvSpPr/>
                <p:nvPr/>
              </p:nvSpPr>
              <p:spPr>
                <a:xfrm rot="5400000" flipV="1">
                  <a:off x="8975426" y="2526539"/>
                  <a:ext cx="398469" cy="2226518"/>
                </a:xfrm>
                <a:prstGeom prst="arc">
                  <a:avLst>
                    <a:gd name="adj1" fmla="val 15655299"/>
                    <a:gd name="adj2" fmla="val 5983627"/>
                  </a:avLst>
                </a:prstGeom>
                <a:ln w="57150" cap="rnd">
                  <a:headEnd type="none" w="sm" len="sm"/>
                  <a:tailEnd type="triangle" w="lg" len="sm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111" name="Group 4110">
                <a:extLst>
                  <a:ext uri="{FF2B5EF4-FFF2-40B4-BE49-F238E27FC236}">
                    <a16:creationId xmlns:a16="http://schemas.microsoft.com/office/drawing/2014/main" id="{A06F3C0B-98E9-F429-2557-5A97F164A758}"/>
                  </a:ext>
                </a:extLst>
              </p:cNvPr>
              <p:cNvGrpSpPr/>
              <p:nvPr/>
            </p:nvGrpSpPr>
            <p:grpSpPr>
              <a:xfrm rot="19752719">
                <a:off x="10761800" y="495497"/>
                <a:ext cx="594519" cy="954540"/>
                <a:chOff x="8061402" y="1843088"/>
                <a:chExt cx="2226518" cy="3574823"/>
              </a:xfrm>
            </p:grpSpPr>
            <p:sp>
              <p:nvSpPr>
                <p:cNvPr id="4112" name="Arrow: Down 4111">
                  <a:extLst>
                    <a:ext uri="{FF2B5EF4-FFF2-40B4-BE49-F238E27FC236}">
                      <a16:creationId xmlns:a16="http://schemas.microsoft.com/office/drawing/2014/main" id="{6845BA5D-A56C-4FC9-0B44-734BF6819C6E}"/>
                    </a:ext>
                  </a:extLst>
                </p:cNvPr>
                <p:cNvSpPr/>
                <p:nvPr/>
              </p:nvSpPr>
              <p:spPr>
                <a:xfrm flipV="1">
                  <a:off x="8932344" y="1843088"/>
                  <a:ext cx="484632" cy="3574823"/>
                </a:xfrm>
                <a:prstGeom prst="down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113" name="Group 4112">
                  <a:extLst>
                    <a:ext uri="{FF2B5EF4-FFF2-40B4-BE49-F238E27FC236}">
                      <a16:creationId xmlns:a16="http://schemas.microsoft.com/office/drawing/2014/main" id="{60722AAF-3B3C-A99A-F2B2-38D7861065D1}"/>
                    </a:ext>
                  </a:extLst>
                </p:cNvPr>
                <p:cNvGrpSpPr/>
                <p:nvPr/>
              </p:nvGrpSpPr>
              <p:grpSpPr>
                <a:xfrm>
                  <a:off x="8405198" y="2811936"/>
                  <a:ext cx="1538927" cy="1538927"/>
                  <a:chOff x="9187544" y="2148113"/>
                  <a:chExt cx="1553028" cy="1553028"/>
                </a:xfrm>
              </p:grpSpPr>
              <p:sp>
                <p:nvSpPr>
                  <p:cNvPr id="4122" name="Oval 4121">
                    <a:extLst>
                      <a:ext uri="{FF2B5EF4-FFF2-40B4-BE49-F238E27FC236}">
                        <a16:creationId xmlns:a16="http://schemas.microsoft.com/office/drawing/2014/main" id="{10B62646-2ADF-9905-AABD-E5F1BCB630F9}"/>
                      </a:ext>
                    </a:extLst>
                  </p:cNvPr>
                  <p:cNvSpPr/>
                  <p:nvPr/>
                </p:nvSpPr>
                <p:spPr>
                  <a:xfrm>
                    <a:off x="9187544" y="2148113"/>
                    <a:ext cx="1553028" cy="1553028"/>
                  </a:xfrm>
                  <a:prstGeom prst="ellipse">
                    <a:avLst/>
                  </a:prstGeom>
                  <a:gradFill flip="none" rotWithShape="1">
                    <a:gsLst>
                      <a:gs pos="65000">
                        <a:srgbClr val="0070C0">
                          <a:shade val="30000"/>
                          <a:satMod val="115000"/>
                        </a:srgbClr>
                      </a:gs>
                      <a:gs pos="36000">
                        <a:srgbClr val="0070C0">
                          <a:shade val="67500"/>
                          <a:satMod val="115000"/>
                        </a:srgbClr>
                      </a:gs>
                      <a:gs pos="13000">
                        <a:srgbClr val="0070C0">
                          <a:shade val="100000"/>
                          <a:satMod val="11500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123" name="Cross 4122">
                    <a:extLst>
                      <a:ext uri="{FF2B5EF4-FFF2-40B4-BE49-F238E27FC236}">
                        <a16:creationId xmlns:a16="http://schemas.microsoft.com/office/drawing/2014/main" id="{FAC05793-51CD-08B9-DC75-900ED5AE87ED}"/>
                      </a:ext>
                    </a:extLst>
                  </p:cNvPr>
                  <p:cNvSpPr/>
                  <p:nvPr/>
                </p:nvSpPr>
                <p:spPr>
                  <a:xfrm>
                    <a:off x="9579428" y="2539997"/>
                    <a:ext cx="769258" cy="769258"/>
                  </a:xfrm>
                  <a:prstGeom prst="plus">
                    <a:avLst>
                      <a:gd name="adj" fmla="val 35389"/>
                    </a:avLst>
                  </a:prstGeom>
                  <a:solidFill>
                    <a:schemeClr val="tx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4121" name="Arc 4120">
                  <a:extLst>
                    <a:ext uri="{FF2B5EF4-FFF2-40B4-BE49-F238E27FC236}">
                      <a16:creationId xmlns:a16="http://schemas.microsoft.com/office/drawing/2014/main" id="{3F89E754-B8FD-7E4A-486C-EA8C1696CFF7}"/>
                    </a:ext>
                  </a:extLst>
                </p:cNvPr>
                <p:cNvSpPr/>
                <p:nvPr/>
              </p:nvSpPr>
              <p:spPr>
                <a:xfrm rot="5400000" flipV="1">
                  <a:off x="8975426" y="2526539"/>
                  <a:ext cx="398469" cy="2226518"/>
                </a:xfrm>
                <a:prstGeom prst="arc">
                  <a:avLst>
                    <a:gd name="adj1" fmla="val 15655299"/>
                    <a:gd name="adj2" fmla="val 5983627"/>
                  </a:avLst>
                </a:prstGeom>
                <a:ln w="57150" cap="rnd">
                  <a:headEnd type="none" w="sm" len="sm"/>
                  <a:tailEnd type="triangle" w="lg" len="sm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114" name="Group 4113">
                <a:extLst>
                  <a:ext uri="{FF2B5EF4-FFF2-40B4-BE49-F238E27FC236}">
                    <a16:creationId xmlns:a16="http://schemas.microsoft.com/office/drawing/2014/main" id="{9AEFFCFB-D63A-F16B-46E7-9A3FE281B48F}"/>
                  </a:ext>
                </a:extLst>
              </p:cNvPr>
              <p:cNvGrpSpPr/>
              <p:nvPr/>
            </p:nvGrpSpPr>
            <p:grpSpPr>
              <a:xfrm rot="19685814">
                <a:off x="6900605" y="5055703"/>
                <a:ext cx="966310" cy="1551475"/>
                <a:chOff x="8061402" y="1843088"/>
                <a:chExt cx="2226518" cy="3574823"/>
              </a:xfrm>
            </p:grpSpPr>
            <p:sp>
              <p:nvSpPr>
                <p:cNvPr id="4115" name="Arrow: Down 4114">
                  <a:extLst>
                    <a:ext uri="{FF2B5EF4-FFF2-40B4-BE49-F238E27FC236}">
                      <a16:creationId xmlns:a16="http://schemas.microsoft.com/office/drawing/2014/main" id="{DEA7B4BA-9672-0452-4EDD-6AC700E3B98D}"/>
                    </a:ext>
                  </a:extLst>
                </p:cNvPr>
                <p:cNvSpPr/>
                <p:nvPr/>
              </p:nvSpPr>
              <p:spPr>
                <a:xfrm flipV="1">
                  <a:off x="8932344" y="1843088"/>
                  <a:ext cx="484632" cy="3574823"/>
                </a:xfrm>
                <a:prstGeom prst="down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116" name="Group 4115">
                  <a:extLst>
                    <a:ext uri="{FF2B5EF4-FFF2-40B4-BE49-F238E27FC236}">
                      <a16:creationId xmlns:a16="http://schemas.microsoft.com/office/drawing/2014/main" id="{45AAAD41-8BE8-007A-A776-10BF03765D7F}"/>
                    </a:ext>
                  </a:extLst>
                </p:cNvPr>
                <p:cNvGrpSpPr/>
                <p:nvPr/>
              </p:nvGrpSpPr>
              <p:grpSpPr>
                <a:xfrm>
                  <a:off x="8405198" y="2811936"/>
                  <a:ext cx="1538927" cy="1538927"/>
                  <a:chOff x="9187544" y="2148113"/>
                  <a:chExt cx="1553028" cy="1553028"/>
                </a:xfrm>
              </p:grpSpPr>
              <p:sp>
                <p:nvSpPr>
                  <p:cNvPr id="4118" name="Oval 4117">
                    <a:extLst>
                      <a:ext uri="{FF2B5EF4-FFF2-40B4-BE49-F238E27FC236}">
                        <a16:creationId xmlns:a16="http://schemas.microsoft.com/office/drawing/2014/main" id="{7AD08D08-1BCF-E423-4116-13763B8659E3}"/>
                      </a:ext>
                    </a:extLst>
                  </p:cNvPr>
                  <p:cNvSpPr/>
                  <p:nvPr/>
                </p:nvSpPr>
                <p:spPr>
                  <a:xfrm>
                    <a:off x="9187544" y="2148113"/>
                    <a:ext cx="1553028" cy="1553028"/>
                  </a:xfrm>
                  <a:prstGeom prst="ellipse">
                    <a:avLst/>
                  </a:prstGeom>
                  <a:gradFill flip="none" rotWithShape="1">
                    <a:gsLst>
                      <a:gs pos="65000">
                        <a:srgbClr val="0070C0">
                          <a:shade val="30000"/>
                          <a:satMod val="115000"/>
                        </a:srgbClr>
                      </a:gs>
                      <a:gs pos="36000">
                        <a:srgbClr val="0070C0">
                          <a:shade val="67500"/>
                          <a:satMod val="115000"/>
                        </a:srgbClr>
                      </a:gs>
                      <a:gs pos="13000">
                        <a:srgbClr val="0070C0">
                          <a:shade val="100000"/>
                          <a:satMod val="11500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119" name="Cross 4118">
                    <a:extLst>
                      <a:ext uri="{FF2B5EF4-FFF2-40B4-BE49-F238E27FC236}">
                        <a16:creationId xmlns:a16="http://schemas.microsoft.com/office/drawing/2014/main" id="{AAC7481E-9A51-BDAE-42E8-9553637DADE8}"/>
                      </a:ext>
                    </a:extLst>
                  </p:cNvPr>
                  <p:cNvSpPr/>
                  <p:nvPr/>
                </p:nvSpPr>
                <p:spPr>
                  <a:xfrm>
                    <a:off x="9579428" y="2539997"/>
                    <a:ext cx="769258" cy="769258"/>
                  </a:xfrm>
                  <a:prstGeom prst="plus">
                    <a:avLst>
                      <a:gd name="adj" fmla="val 35389"/>
                    </a:avLst>
                  </a:prstGeom>
                  <a:solidFill>
                    <a:schemeClr val="tx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4117" name="Arc 4116">
                  <a:extLst>
                    <a:ext uri="{FF2B5EF4-FFF2-40B4-BE49-F238E27FC236}">
                      <a16:creationId xmlns:a16="http://schemas.microsoft.com/office/drawing/2014/main" id="{F585A01A-A182-AB63-1AB9-92AB8A279126}"/>
                    </a:ext>
                  </a:extLst>
                </p:cNvPr>
                <p:cNvSpPr/>
                <p:nvPr/>
              </p:nvSpPr>
              <p:spPr>
                <a:xfrm rot="5400000" flipV="1">
                  <a:off x="8975426" y="2526539"/>
                  <a:ext cx="398469" cy="2226518"/>
                </a:xfrm>
                <a:prstGeom prst="arc">
                  <a:avLst>
                    <a:gd name="adj1" fmla="val 15655299"/>
                    <a:gd name="adj2" fmla="val 5983627"/>
                  </a:avLst>
                </a:prstGeom>
                <a:ln w="57150" cap="rnd">
                  <a:headEnd type="none" w="sm" len="sm"/>
                  <a:tailEnd type="triangle" w="lg" len="sm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97858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E77AB-9593-7824-7CD8-6E5928E32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DDC08-1866-E780-0673-C70E1723C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decisions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D114F-A48B-EC80-5573-506A03027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/>
          </a:bodyPr>
          <a:lstStyle/>
          <a:p>
            <a:r>
              <a:rPr lang="en-US" b="1" dirty="0"/>
              <a:t>RF pulse sequences</a:t>
            </a:r>
          </a:p>
          <a:p>
            <a:pPr marL="457200" lvl="1" indent="0">
              <a:buNone/>
            </a:pPr>
            <a:r>
              <a:rPr lang="en-US" dirty="0"/>
              <a:t>Structural + functional + field maps, etc.</a:t>
            </a:r>
          </a:p>
          <a:p>
            <a:pPr marL="457200" lvl="1" indent="0">
              <a:buNone/>
            </a:pPr>
            <a:r>
              <a:rPr lang="en-US" dirty="0"/>
              <a:t>Scan parameters: TR, TE, Flip Angle, etc.</a:t>
            </a:r>
          </a:p>
          <a:p>
            <a:pPr marL="457200" lvl="1" indent="0">
              <a:buNone/>
            </a:pPr>
            <a:r>
              <a:rPr lang="en-US" dirty="0"/>
              <a:t>FOV </a:t>
            </a:r>
            <a:r>
              <a:rPr lang="en-US" dirty="0">
                <a:sym typeface="Wingdings" panose="05000000000000000000" pitchFamily="2" charset="2"/>
              </a:rPr>
              <a:t> K-space resolution  Image resolution</a:t>
            </a:r>
            <a:endParaRPr lang="en-US" b="1" dirty="0"/>
          </a:p>
          <a:p>
            <a:r>
              <a:rPr lang="en-US" b="1" dirty="0"/>
              <a:t>Task design</a:t>
            </a:r>
          </a:p>
          <a:p>
            <a:pPr marL="457200" lvl="1" indent="0">
              <a:buNone/>
            </a:pPr>
            <a:r>
              <a:rPr lang="en-US" dirty="0"/>
              <a:t>Blocked vs. event-related (vs. mixed)</a:t>
            </a:r>
          </a:p>
          <a:p>
            <a:pPr marL="457200" lvl="1" indent="0">
              <a:buNone/>
            </a:pPr>
            <a:r>
              <a:rPr lang="en-US" dirty="0"/>
              <a:t>SNR vs. efficiency</a:t>
            </a:r>
          </a:p>
          <a:p>
            <a:r>
              <a:rPr lang="en-US" b="1" dirty="0"/>
              <a:t> Preprocessing</a:t>
            </a:r>
          </a:p>
          <a:p>
            <a:pPr marL="457200" lvl="1" indent="0">
              <a:buNone/>
            </a:pPr>
            <a:r>
              <a:rPr lang="en-US" dirty="0" err="1"/>
              <a:t>Preproc</a:t>
            </a:r>
            <a:r>
              <a:rPr lang="en-US" dirty="0"/>
              <a:t> </a:t>
            </a:r>
            <a:r>
              <a:rPr lang="en-US" i="1" dirty="0"/>
              <a:t>on</a:t>
            </a:r>
            <a:r>
              <a:rPr lang="en-US" dirty="0"/>
              <a:t> the scanner</a:t>
            </a:r>
          </a:p>
          <a:p>
            <a:pPr marL="457200" lvl="1" indent="0">
              <a:buNone/>
            </a:pPr>
            <a:r>
              <a:rPr lang="en-US" dirty="0" err="1"/>
              <a:t>Preproc</a:t>
            </a:r>
            <a:r>
              <a:rPr lang="en-US" dirty="0"/>
              <a:t> </a:t>
            </a:r>
            <a:r>
              <a:rPr lang="en-US" i="1" dirty="0"/>
              <a:t>off</a:t>
            </a:r>
            <a:r>
              <a:rPr lang="en-US" dirty="0"/>
              <a:t> the scanner</a:t>
            </a:r>
          </a:p>
          <a:p>
            <a:pPr marL="457200" lvl="1" indent="0">
              <a:buNone/>
            </a:pPr>
            <a:endParaRPr lang="en-US" b="1" dirty="0"/>
          </a:p>
        </p:txBody>
      </p:sp>
      <p:pic>
        <p:nvPicPr>
          <p:cNvPr id="4" name="Google Shape;392;p38">
            <a:extLst>
              <a:ext uri="{FF2B5EF4-FFF2-40B4-BE49-F238E27FC236}">
                <a16:creationId xmlns:a16="http://schemas.microsoft.com/office/drawing/2014/main" id="{0093E6DE-977F-7FFF-7D74-36DFDF5F75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66579" t="5503"/>
          <a:stretch>
            <a:fillRect/>
          </a:stretch>
        </p:blipFill>
        <p:spPr>
          <a:xfrm>
            <a:off x="8111164" y="1027906"/>
            <a:ext cx="3242636" cy="53668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0215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ACB7B0-01D4-47C2-E8B2-DEF1B1991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fMRIPrep</a:t>
            </a:r>
            <a:r>
              <a:rPr lang="en-US" dirty="0"/>
              <a:t> Pipeline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B0037D-209D-B500-96C5-941536F0A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73" y="1859671"/>
            <a:ext cx="10147253" cy="439689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73EE3AC-8392-BE8C-E25F-3A01A10DCF38}"/>
              </a:ext>
            </a:extLst>
          </p:cNvPr>
          <p:cNvGrpSpPr/>
          <p:nvPr/>
        </p:nvGrpSpPr>
        <p:grpSpPr>
          <a:xfrm>
            <a:off x="2438474" y="1571397"/>
            <a:ext cx="8731153" cy="1130706"/>
            <a:chOff x="2438474" y="1571397"/>
            <a:chExt cx="8731153" cy="113070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995840B-EB19-BBEF-CEC2-BA0FEFBF456E}"/>
                </a:ext>
              </a:extLst>
            </p:cNvPr>
            <p:cNvSpPr/>
            <p:nvPr/>
          </p:nvSpPr>
          <p:spPr>
            <a:xfrm>
              <a:off x="2856217" y="1821438"/>
              <a:ext cx="8313410" cy="880665"/>
            </a:xfrm>
            <a:prstGeom prst="roundRect">
              <a:avLst/>
            </a:pr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BAB081F-551C-AC08-E3C8-79DDE80F50BC}"/>
                </a:ext>
              </a:extLst>
            </p:cNvPr>
            <p:cNvSpPr txBox="1"/>
            <p:nvPr/>
          </p:nvSpPr>
          <p:spPr>
            <a:xfrm rot="19398533">
              <a:off x="2438474" y="1571397"/>
              <a:ext cx="8354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INPUT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047892-B6A7-1A70-B0A5-E4195CBC5C1C}"/>
              </a:ext>
            </a:extLst>
          </p:cNvPr>
          <p:cNvGrpSpPr/>
          <p:nvPr/>
        </p:nvGrpSpPr>
        <p:grpSpPr>
          <a:xfrm>
            <a:off x="6096000" y="5067300"/>
            <a:ext cx="4380685" cy="1412168"/>
            <a:chOff x="6096000" y="5067300"/>
            <a:chExt cx="4380685" cy="1412168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649A81D-0121-F3E4-0A84-D8BC72759F70}"/>
                </a:ext>
              </a:extLst>
            </p:cNvPr>
            <p:cNvSpPr/>
            <p:nvPr/>
          </p:nvSpPr>
          <p:spPr>
            <a:xfrm>
              <a:off x="6096000" y="5067300"/>
              <a:ext cx="3787740" cy="1189269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5AB7DF3-E105-1692-30E6-BA2FDE8EFCA9}"/>
                </a:ext>
              </a:extLst>
            </p:cNvPr>
            <p:cNvSpPr txBox="1"/>
            <p:nvPr/>
          </p:nvSpPr>
          <p:spPr>
            <a:xfrm rot="19398533">
              <a:off x="9428000" y="6110136"/>
              <a:ext cx="1048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025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A8530-737F-05BE-E481-05C02DD74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4C997-1E69-24C3-36F1-BB2AA0F09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fMRIPrep</a:t>
            </a:r>
            <a:r>
              <a:rPr lang="en-US" dirty="0"/>
              <a:t> Output</a:t>
            </a:r>
          </a:p>
        </p:txBody>
      </p:sp>
      <p:sp>
        <p:nvSpPr>
          <p:cNvPr id="23" name="Rectangle 22">
            <a:hlinkClick r:id="rId2" action="ppaction://hlinkfile"/>
            <a:extLst>
              <a:ext uri="{FF2B5EF4-FFF2-40B4-BE49-F238E27FC236}">
                <a16:creationId xmlns:a16="http://schemas.microsoft.com/office/drawing/2014/main" id="{E06DAD39-7564-0741-3D11-74B42EB15240}"/>
              </a:ext>
            </a:extLst>
          </p:cNvPr>
          <p:cNvSpPr/>
          <p:nvPr/>
        </p:nvSpPr>
        <p:spPr>
          <a:xfrm>
            <a:off x="838200" y="1689860"/>
            <a:ext cx="1917838" cy="3532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sub-rcg.html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B88E660-7424-71A6-0FC6-2D7504F61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39608"/>
            <a:ext cx="3119378" cy="133687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3DC0CA4-0939-D405-C385-6977A4C57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3576484"/>
            <a:ext cx="3119379" cy="133223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CF53EA6-6957-81DA-7A6A-BEC92C20A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908719"/>
            <a:ext cx="3119378" cy="132386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30A8EAD-4E10-AFBD-86D6-E4228F804D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7047" y="2238556"/>
            <a:ext cx="4676645" cy="399402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167FEC3-6FE1-492D-D7D9-A6BCCCB60BC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49945"/>
          <a:stretch>
            <a:fillRect/>
          </a:stretch>
        </p:blipFill>
        <p:spPr>
          <a:xfrm>
            <a:off x="9193161" y="2239606"/>
            <a:ext cx="2320413" cy="192402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8C7CC3E-E485-7C78-2D99-C68D8E8F6B4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0388" r="-443"/>
          <a:stretch>
            <a:fillRect/>
          </a:stretch>
        </p:blipFill>
        <p:spPr>
          <a:xfrm>
            <a:off x="9193162" y="4308563"/>
            <a:ext cx="2320412" cy="192402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0F7BE89-7B2F-8649-A132-AED775CDAC70}"/>
              </a:ext>
            </a:extLst>
          </p:cNvPr>
          <p:cNvSpPr txBox="1"/>
          <p:nvPr/>
        </p:nvSpPr>
        <p:spPr>
          <a:xfrm rot="16200000">
            <a:off x="304079" y="2777241"/>
            <a:ext cx="8066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Skull-strip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E6C4E2E-33F2-C847-1086-EFAA8A75F4D8}"/>
              </a:ext>
            </a:extLst>
          </p:cNvPr>
          <p:cNvSpPr txBox="1"/>
          <p:nvPr/>
        </p:nvSpPr>
        <p:spPr>
          <a:xfrm rot="16200000">
            <a:off x="301675" y="4114117"/>
            <a:ext cx="8114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Normalize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CC9380-1431-FC01-466E-1DD11FF51166}"/>
              </a:ext>
            </a:extLst>
          </p:cNvPr>
          <p:cNvSpPr txBox="1"/>
          <p:nvPr/>
        </p:nvSpPr>
        <p:spPr>
          <a:xfrm rot="16200000">
            <a:off x="258709" y="5439847"/>
            <a:ext cx="9044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Co-Register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140F69-D5FC-8FB7-BC37-9228527F3972}"/>
              </a:ext>
            </a:extLst>
          </p:cNvPr>
          <p:cNvSpPr/>
          <p:nvPr/>
        </p:nvSpPr>
        <p:spPr>
          <a:xfrm>
            <a:off x="4146036" y="1922584"/>
            <a:ext cx="7704587" cy="45702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97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5C919-1811-9F35-0101-83C82CE7A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9B1B1-263C-2FF9-5632-6F931C8C3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Intro. to Analysis</a:t>
            </a:r>
          </a:p>
        </p:txBody>
      </p:sp>
    </p:spTree>
    <p:extLst>
      <p:ext uri="{BB962C8B-B14F-4D97-AF65-F5344CB8AC3E}">
        <p14:creationId xmlns:p14="http://schemas.microsoft.com/office/powerpoint/2010/main" val="1314764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972019-9255-4D78-BD36-FE01C8A95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 Univariate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F3FB5F-D262-0D63-1158-24E853649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Fitting a separate model for </a:t>
            </a:r>
            <a:r>
              <a:rPr lang="en-US" b="1" i="1" dirty="0"/>
              <a:t>each voxel</a:t>
            </a:r>
          </a:p>
        </p:txBody>
      </p:sp>
      <p:pic>
        <p:nvPicPr>
          <p:cNvPr id="8" name="Google Shape;241;p21">
            <a:extLst>
              <a:ext uri="{FF2B5EF4-FFF2-40B4-BE49-F238E27FC236}">
                <a16:creationId xmlns:a16="http://schemas.microsoft.com/office/drawing/2014/main" id="{5C26578C-308C-C393-98D4-B7F73D3CAE5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27795" y="2408978"/>
            <a:ext cx="3220639" cy="416583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42;p21">
            <a:extLst>
              <a:ext uri="{FF2B5EF4-FFF2-40B4-BE49-F238E27FC236}">
                <a16:creationId xmlns:a16="http://schemas.microsoft.com/office/drawing/2014/main" id="{1D689B6B-ED8A-5A25-0BF6-8FA920C5D1F9}"/>
              </a:ext>
            </a:extLst>
          </p:cNvPr>
          <p:cNvSpPr/>
          <p:nvPr/>
        </p:nvSpPr>
        <p:spPr>
          <a:xfrm>
            <a:off x="1452831" y="3659310"/>
            <a:ext cx="864400" cy="1142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" name="Google Shape;243;p21">
            <a:extLst>
              <a:ext uri="{FF2B5EF4-FFF2-40B4-BE49-F238E27FC236}">
                <a16:creationId xmlns:a16="http://schemas.microsoft.com/office/drawing/2014/main" id="{E7E57ACE-7B68-6CE1-A95B-0645F640DB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39014" y="2408978"/>
            <a:ext cx="3113971" cy="416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244;p21">
            <a:extLst>
              <a:ext uri="{FF2B5EF4-FFF2-40B4-BE49-F238E27FC236}">
                <a16:creationId xmlns:a16="http://schemas.microsoft.com/office/drawing/2014/main" id="{DF5938E4-6BD6-6D43-ABC1-E97C1A6B9B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43596" y="2408978"/>
            <a:ext cx="3035621" cy="416583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45;p21">
            <a:extLst>
              <a:ext uri="{FF2B5EF4-FFF2-40B4-BE49-F238E27FC236}">
                <a16:creationId xmlns:a16="http://schemas.microsoft.com/office/drawing/2014/main" id="{829AC551-B88E-A82A-9C5A-326BAD6339F9}"/>
              </a:ext>
            </a:extLst>
          </p:cNvPr>
          <p:cNvSpPr/>
          <p:nvPr/>
        </p:nvSpPr>
        <p:spPr>
          <a:xfrm>
            <a:off x="5781347" y="3345110"/>
            <a:ext cx="396400" cy="524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" name="Picture 2" descr="General Linear model">
            <a:extLst>
              <a:ext uri="{FF2B5EF4-FFF2-40B4-BE49-F238E27FC236}">
                <a16:creationId xmlns:a16="http://schemas.microsoft.com/office/drawing/2014/main" id="{F5FC7792-A27F-C4AF-EF7E-18DDAB345C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07" r="84843"/>
          <a:stretch>
            <a:fillRect/>
          </a:stretch>
        </p:blipFill>
        <p:spPr bwMode="auto">
          <a:xfrm rot="16200000">
            <a:off x="9399229" y="-556582"/>
            <a:ext cx="873271" cy="352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91CB8C-E169-A3D4-54DE-534AFDE10AA7}"/>
              </a:ext>
            </a:extLst>
          </p:cNvPr>
          <p:cNvCxnSpPr>
            <a:stCxn id="14" idx="0"/>
          </p:cNvCxnSpPr>
          <p:nvPr/>
        </p:nvCxnSpPr>
        <p:spPr>
          <a:xfrm flipV="1">
            <a:off x="8319594" y="1825625"/>
            <a:ext cx="431214" cy="9503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Google Shape;245;p21">
            <a:extLst>
              <a:ext uri="{FF2B5EF4-FFF2-40B4-BE49-F238E27FC236}">
                <a16:creationId xmlns:a16="http://schemas.microsoft.com/office/drawing/2014/main" id="{131283BF-2426-A341-38EA-F0EBA1E517ED}"/>
              </a:ext>
            </a:extLst>
          </p:cNvPr>
          <p:cNvSpPr/>
          <p:nvPr/>
        </p:nvSpPr>
        <p:spPr>
          <a:xfrm>
            <a:off x="8144412" y="2775936"/>
            <a:ext cx="350364" cy="387888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8E265E-644B-3103-C885-2C087563D6C4}"/>
              </a:ext>
            </a:extLst>
          </p:cNvPr>
          <p:cNvSpPr txBox="1"/>
          <p:nvPr/>
        </p:nvSpPr>
        <p:spPr>
          <a:xfrm>
            <a:off x="9184565" y="1825625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~ 500,000</a:t>
            </a:r>
          </a:p>
        </p:txBody>
      </p:sp>
    </p:spTree>
    <p:extLst>
      <p:ext uri="{BB962C8B-B14F-4D97-AF65-F5344CB8AC3E}">
        <p14:creationId xmlns:p14="http://schemas.microsoft.com/office/powerpoint/2010/main" val="400164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9" grpId="0" animBg="1"/>
      <p:bldP spid="12" grpId="0" animBg="1"/>
      <p:bldP spid="14" grpId="0" animBg="1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C722D-344D-7124-0F58-349D99A52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Linear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82310F-6F26-8ECE-8656-F307D67C6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858" y="2535549"/>
            <a:ext cx="5656284" cy="893451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FE36358B-B047-0433-8252-3C638B70D1C4}"/>
              </a:ext>
            </a:extLst>
          </p:cNvPr>
          <p:cNvGrpSpPr/>
          <p:nvPr/>
        </p:nvGrpSpPr>
        <p:grpSpPr>
          <a:xfrm>
            <a:off x="1149292" y="3329700"/>
            <a:ext cx="2691188" cy="1192291"/>
            <a:chOff x="1149292" y="3329700"/>
            <a:chExt cx="2691188" cy="119229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DFD1C9-9371-A8DC-433D-E3F187268DB3}"/>
                </a:ext>
              </a:extLst>
            </p:cNvPr>
            <p:cNvSpPr txBox="1"/>
            <p:nvPr/>
          </p:nvSpPr>
          <p:spPr>
            <a:xfrm>
              <a:off x="1149292" y="4152659"/>
              <a:ext cx="1813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Measured signal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C7C18EF-8842-159A-F1AE-A4DB9E0B7108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2055983" y="3520440"/>
              <a:ext cx="1047659" cy="6322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350E287-3745-D42F-8EE4-C02CDD0EB38F}"/>
                </a:ext>
              </a:extLst>
            </p:cNvPr>
            <p:cNvSpPr/>
            <p:nvPr/>
          </p:nvSpPr>
          <p:spPr>
            <a:xfrm>
              <a:off x="3267858" y="3329700"/>
              <a:ext cx="572622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D94AE90-03CB-EB11-CD2A-0D72B2DF3EFD}"/>
              </a:ext>
            </a:extLst>
          </p:cNvPr>
          <p:cNvGrpSpPr/>
          <p:nvPr/>
        </p:nvGrpSpPr>
        <p:grpSpPr>
          <a:xfrm>
            <a:off x="3360137" y="3329699"/>
            <a:ext cx="2309607" cy="2275869"/>
            <a:chOff x="3360137" y="3329699"/>
            <a:chExt cx="2309607" cy="227586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DEF383-C07C-D19E-3E55-D797C823A448}"/>
                </a:ext>
              </a:extLst>
            </p:cNvPr>
            <p:cNvSpPr txBox="1"/>
            <p:nvPr/>
          </p:nvSpPr>
          <p:spPr>
            <a:xfrm>
              <a:off x="3360137" y="5236236"/>
              <a:ext cx="2309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Amplitude (unknown)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405DA96-A5F4-6170-F15D-5110884A09B1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4514941" y="3520440"/>
              <a:ext cx="274777" cy="17157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309EC7-19FC-D4F7-F6FE-F483547FEFA3}"/>
                </a:ext>
              </a:extLst>
            </p:cNvPr>
            <p:cNvSpPr/>
            <p:nvPr/>
          </p:nvSpPr>
          <p:spPr>
            <a:xfrm>
              <a:off x="4598040" y="3329699"/>
              <a:ext cx="572622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DBF1BB8-2991-6396-3A16-2ECF09B02542}"/>
              </a:ext>
            </a:extLst>
          </p:cNvPr>
          <p:cNvGrpSpPr/>
          <p:nvPr/>
        </p:nvGrpSpPr>
        <p:grpSpPr>
          <a:xfrm>
            <a:off x="5138602" y="3329698"/>
            <a:ext cx="3045001" cy="1351806"/>
            <a:chOff x="5138602" y="3329698"/>
            <a:chExt cx="3045001" cy="135180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D11E01-FAC3-F9C6-FA30-1409F6595CA9}"/>
                </a:ext>
              </a:extLst>
            </p:cNvPr>
            <p:cNvSpPr txBox="1"/>
            <p:nvPr/>
          </p:nvSpPr>
          <p:spPr>
            <a:xfrm>
              <a:off x="5138602" y="4035173"/>
              <a:ext cx="30450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Design matrix</a:t>
              </a:r>
            </a:p>
            <a:p>
              <a:pPr algn="ctr"/>
              <a:r>
                <a:rPr lang="en-US" dirty="0"/>
                <a:t>(events </a:t>
              </a:r>
              <a:r>
                <a:rPr lang="en-US" b="1" dirty="0"/>
                <a:t>convolved</a:t>
              </a:r>
              <a:r>
                <a:rPr lang="en-US" dirty="0"/>
                <a:t> with HRF)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B07F5EE-5857-B31F-4A1A-C332EF6254F8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H="1" flipV="1">
              <a:off x="6661102" y="3520440"/>
              <a:ext cx="1" cy="5147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FFCEA9B-1340-F8D9-1A46-F19E8D7A831F}"/>
                </a:ext>
              </a:extLst>
            </p:cNvPr>
            <p:cNvSpPr/>
            <p:nvPr/>
          </p:nvSpPr>
          <p:spPr>
            <a:xfrm>
              <a:off x="5503445" y="3329698"/>
              <a:ext cx="1976845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3D438DB-45F9-009C-2F80-F32A040D96C0}"/>
              </a:ext>
            </a:extLst>
          </p:cNvPr>
          <p:cNvGrpSpPr/>
          <p:nvPr/>
        </p:nvGrpSpPr>
        <p:grpSpPr>
          <a:xfrm>
            <a:off x="7486992" y="3329697"/>
            <a:ext cx="3741986" cy="2275871"/>
            <a:chOff x="7486992" y="3329697"/>
            <a:chExt cx="3741986" cy="227587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2DEDC4-2A5A-5867-34D0-496AD4E0CCC6}"/>
                </a:ext>
              </a:extLst>
            </p:cNvPr>
            <p:cNvSpPr txBox="1"/>
            <p:nvPr/>
          </p:nvSpPr>
          <p:spPr>
            <a:xfrm>
              <a:off x="7486992" y="5236236"/>
              <a:ext cx="37419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Normally distributed random noise</a:t>
              </a:r>
              <a:endParaRPr lang="en-US" b="1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7918382-9561-F038-DF19-941FE8AC5E83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H="1" flipV="1">
              <a:off x="8860335" y="3520440"/>
              <a:ext cx="497650" cy="17157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70C657D-3A05-9301-713F-91488B1D8A7F}"/>
                </a:ext>
              </a:extLst>
            </p:cNvPr>
            <p:cNvSpPr/>
            <p:nvPr/>
          </p:nvSpPr>
          <p:spPr>
            <a:xfrm>
              <a:off x="8399145" y="3329697"/>
              <a:ext cx="572622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98" name="Picture 2" descr="linear regression">
            <a:extLst>
              <a:ext uri="{FF2B5EF4-FFF2-40B4-BE49-F238E27FC236}">
                <a16:creationId xmlns:a16="http://schemas.microsoft.com/office/drawing/2014/main" id="{C348235F-389F-CD52-5984-3647450C1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1767" y="205721"/>
            <a:ext cx="2847975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348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EC4A1-D0C4-4404-71DB-9B48EDE29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0F5AC7-F838-6005-73F4-B4C1A4A03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Matrix</a:t>
            </a:r>
          </a:p>
        </p:txBody>
      </p:sp>
      <p:pic>
        <p:nvPicPr>
          <p:cNvPr id="5122" name="Picture 2" descr="General Linear model">
            <a:extLst>
              <a:ext uri="{FF2B5EF4-FFF2-40B4-BE49-F238E27FC236}">
                <a16:creationId xmlns:a16="http://schemas.microsoft.com/office/drawing/2014/main" id="{C508A2E0-7FCD-5571-8AB4-E5648296F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37134"/>
            <a:ext cx="6777037" cy="4817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7B242F2-6DBF-0D95-3008-24917C84CD84}"/>
              </a:ext>
            </a:extLst>
          </p:cNvPr>
          <p:cNvGrpSpPr/>
          <p:nvPr/>
        </p:nvGrpSpPr>
        <p:grpSpPr>
          <a:xfrm>
            <a:off x="8458200" y="1267802"/>
            <a:ext cx="2755900" cy="2535478"/>
            <a:chOff x="8458200" y="1267802"/>
            <a:chExt cx="2755900" cy="2535478"/>
          </a:xfrm>
        </p:grpSpPr>
        <p:pic>
          <p:nvPicPr>
            <p:cNvPr id="3074" name="Picture 2" descr="Picture">
              <a:extLst>
                <a:ext uri="{FF2B5EF4-FFF2-40B4-BE49-F238E27FC236}">
                  <a16:creationId xmlns:a16="http://schemas.microsoft.com/office/drawing/2014/main" id="{BEF40201-CFE6-7375-7CD7-CE3BC2F1D6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8200" y="1690688"/>
              <a:ext cx="2755900" cy="21125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9FD917-2DD0-57D8-F85E-97B4F0453A72}"/>
                </a:ext>
              </a:extLst>
            </p:cNvPr>
            <p:cNvSpPr txBox="1"/>
            <p:nvPr/>
          </p:nvSpPr>
          <p:spPr>
            <a:xfrm>
              <a:off x="8458200" y="1267802"/>
              <a:ext cx="13454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Recall: HRF</a:t>
              </a:r>
            </a:p>
          </p:txBody>
        </p:sp>
      </p:grpSp>
      <p:pic>
        <p:nvPicPr>
          <p:cNvPr id="5124" name="Picture 4" descr="modeled HRF for a task in GLM">
            <a:extLst>
              <a:ext uri="{FF2B5EF4-FFF2-40B4-BE49-F238E27FC236}">
                <a16:creationId xmlns:a16="http://schemas.microsoft.com/office/drawing/2014/main" id="{AF6E5C4B-3C3F-0C90-0B24-5367CA300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5525" y="4020716"/>
            <a:ext cx="2381250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2F46549-C826-9791-9C32-5356547A8411}"/>
              </a:ext>
            </a:extLst>
          </p:cNvPr>
          <p:cNvSpPr/>
          <p:nvPr/>
        </p:nvSpPr>
        <p:spPr>
          <a:xfrm>
            <a:off x="3831336" y="2260599"/>
            <a:ext cx="2334851" cy="4232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0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293DC-9EAE-61A7-DD63-9209231E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FF4802-C569-C494-9B03-7D994BC0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Matrix</a:t>
            </a:r>
          </a:p>
        </p:txBody>
      </p:sp>
      <p:pic>
        <p:nvPicPr>
          <p:cNvPr id="5122" name="Picture 2" descr="General Linear model">
            <a:extLst>
              <a:ext uri="{FF2B5EF4-FFF2-40B4-BE49-F238E27FC236}">
                <a16:creationId xmlns:a16="http://schemas.microsoft.com/office/drawing/2014/main" id="{C0CF5DE7-C411-AB87-94A9-1BCC50A14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37134"/>
            <a:ext cx="6777037" cy="4817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4C02D33-698B-02DB-A8B1-CE5AE18F11A9}"/>
              </a:ext>
            </a:extLst>
          </p:cNvPr>
          <p:cNvGrpSpPr/>
          <p:nvPr/>
        </p:nvGrpSpPr>
        <p:grpSpPr>
          <a:xfrm>
            <a:off x="8458200" y="1267802"/>
            <a:ext cx="2755900" cy="2535478"/>
            <a:chOff x="8458200" y="1267802"/>
            <a:chExt cx="2755900" cy="2535478"/>
          </a:xfrm>
        </p:grpSpPr>
        <p:pic>
          <p:nvPicPr>
            <p:cNvPr id="3074" name="Picture 2" descr="Picture">
              <a:extLst>
                <a:ext uri="{FF2B5EF4-FFF2-40B4-BE49-F238E27FC236}">
                  <a16:creationId xmlns:a16="http://schemas.microsoft.com/office/drawing/2014/main" id="{883DBA2A-FBBB-627A-F0F6-9EBCC88566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8200" y="1690688"/>
              <a:ext cx="2755900" cy="21125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C2D3D65-B6CC-BFA2-1877-F1EAC0D9B206}"/>
                </a:ext>
              </a:extLst>
            </p:cNvPr>
            <p:cNvSpPr txBox="1"/>
            <p:nvPr/>
          </p:nvSpPr>
          <p:spPr>
            <a:xfrm>
              <a:off x="8458200" y="1267802"/>
              <a:ext cx="13454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Recall: HRF</a:t>
              </a:r>
            </a:p>
          </p:txBody>
        </p:sp>
      </p:grpSp>
      <p:pic>
        <p:nvPicPr>
          <p:cNvPr id="6" name="Picture 4" descr="modeled HRF for a task in GLM">
            <a:extLst>
              <a:ext uri="{FF2B5EF4-FFF2-40B4-BE49-F238E27FC236}">
                <a16:creationId xmlns:a16="http://schemas.microsoft.com/office/drawing/2014/main" id="{E37A1B9C-6E3D-2FCE-C16E-C200172C2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19246" y="3710149"/>
            <a:ext cx="3718399" cy="1434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0FA57F-55B2-E4A3-D875-DD8DE3A74ECB}"/>
              </a:ext>
            </a:extLst>
          </p:cNvPr>
          <p:cNvSpPr txBox="1"/>
          <p:nvPr/>
        </p:nvSpPr>
        <p:spPr>
          <a:xfrm>
            <a:off x="2019300" y="6454775"/>
            <a:ext cx="164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          B           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CBFDE2-AE16-2A97-5D51-49AC81B56EB9}"/>
              </a:ext>
            </a:extLst>
          </p:cNvPr>
          <p:cNvSpPr/>
          <p:nvPr/>
        </p:nvSpPr>
        <p:spPr>
          <a:xfrm>
            <a:off x="1187450" y="2260599"/>
            <a:ext cx="514350" cy="42322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4" descr="modeled HRF for a task in GLM">
            <a:extLst>
              <a:ext uri="{FF2B5EF4-FFF2-40B4-BE49-F238E27FC236}">
                <a16:creationId xmlns:a16="http://schemas.microsoft.com/office/drawing/2014/main" id="{935B6002-C5F5-8406-5409-A3D0DBE6DA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22" b="39044"/>
          <a:stretch>
            <a:fillRect/>
          </a:stretch>
        </p:blipFill>
        <p:spPr bwMode="auto">
          <a:xfrm>
            <a:off x="7976950" y="4224102"/>
            <a:ext cx="3718399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modeled HRF for a task in GLM">
            <a:extLst>
              <a:ext uri="{FF2B5EF4-FFF2-40B4-BE49-F238E27FC236}">
                <a16:creationId xmlns:a16="http://schemas.microsoft.com/office/drawing/2014/main" id="{F2E82A2D-7F56-9D2F-9BC9-C29057E0AC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22" b="39044"/>
          <a:stretch>
            <a:fillRect/>
          </a:stretch>
        </p:blipFill>
        <p:spPr bwMode="auto">
          <a:xfrm>
            <a:off x="7976950" y="3856834"/>
            <a:ext cx="3718399" cy="94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modeled HRF for a task in GLM">
            <a:extLst>
              <a:ext uri="{FF2B5EF4-FFF2-40B4-BE49-F238E27FC236}">
                <a16:creationId xmlns:a16="http://schemas.microsoft.com/office/drawing/2014/main" id="{A9811179-4DEB-A7C7-EBC0-1D6F66ACC3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22" b="39044"/>
          <a:stretch>
            <a:fillRect/>
          </a:stretch>
        </p:blipFill>
        <p:spPr bwMode="auto">
          <a:xfrm>
            <a:off x="7976950" y="4328717"/>
            <a:ext cx="3718399" cy="235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1AC967E-6468-C2F4-CCFB-48F6C569B69A}"/>
              </a:ext>
            </a:extLst>
          </p:cNvPr>
          <p:cNvSpPr/>
          <p:nvPr/>
        </p:nvSpPr>
        <p:spPr>
          <a:xfrm>
            <a:off x="6464300" y="3347802"/>
            <a:ext cx="533400" cy="2159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6DD0B77-4C0B-3332-0777-4EB369B1D1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3350" y="4854154"/>
            <a:ext cx="3845598" cy="15495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B787CF3-58F4-A267-5C62-914A1600D81C}"/>
              </a:ext>
            </a:extLst>
          </p:cNvPr>
          <p:cNvSpPr/>
          <p:nvPr/>
        </p:nvSpPr>
        <p:spPr>
          <a:xfrm>
            <a:off x="3831336" y="2260599"/>
            <a:ext cx="2334851" cy="4232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B88B57-F572-67D6-E743-B01C917CBD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058" y="1044722"/>
            <a:ext cx="7479890" cy="562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708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Figure 1">
            <a:extLst>
              <a:ext uri="{FF2B5EF4-FFF2-40B4-BE49-F238E27FC236}">
                <a16:creationId xmlns:a16="http://schemas.microsoft.com/office/drawing/2014/main" id="{59E2455E-8E85-4A8C-EA98-E3E6473F9E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89"/>
          <a:stretch>
            <a:fillRect/>
          </a:stretch>
        </p:blipFill>
        <p:spPr bwMode="auto">
          <a:xfrm>
            <a:off x="5303520" y="1186504"/>
            <a:ext cx="5865723" cy="2208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F72552-4954-EF9C-C11A-5F7AC3691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Noise</a:t>
            </a:r>
          </a:p>
        </p:txBody>
      </p:sp>
      <p:pic>
        <p:nvPicPr>
          <p:cNvPr id="7" name="template - Made with Clipchamp">
            <a:hlinkClick r:id="" action="ppaction://media"/>
            <a:extLst>
              <a:ext uri="{FF2B5EF4-FFF2-40B4-BE49-F238E27FC236}">
                <a16:creationId xmlns:a16="http://schemas.microsoft.com/office/drawing/2014/main" id="{5326DBC2-32B3-22E6-669C-3517C32D8BA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" y="1690688"/>
            <a:ext cx="3908425" cy="39084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35B1CB-0D2F-6901-856C-818403FA39BE}"/>
              </a:ext>
            </a:extLst>
          </p:cNvPr>
          <p:cNvSpPr txBox="1"/>
          <p:nvPr/>
        </p:nvSpPr>
        <p:spPr>
          <a:xfrm>
            <a:off x="5425440" y="4925464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 Motion</a:t>
            </a:r>
          </a:p>
        </p:txBody>
      </p:sp>
      <p:pic>
        <p:nvPicPr>
          <p:cNvPr id="5" name="Picture 4" descr="Figure 1">
            <a:extLst>
              <a:ext uri="{FF2B5EF4-FFF2-40B4-BE49-F238E27FC236}">
                <a16:creationId xmlns:a16="http://schemas.microsoft.com/office/drawing/2014/main" id="{369E24C4-7CB4-1AF1-F3AA-52DAB7250F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647"/>
          <a:stretch>
            <a:fillRect/>
          </a:stretch>
        </p:blipFill>
        <p:spPr bwMode="auto">
          <a:xfrm>
            <a:off x="5303519" y="3371098"/>
            <a:ext cx="5865723" cy="114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General Linear model">
            <a:extLst>
              <a:ext uri="{FF2B5EF4-FFF2-40B4-BE49-F238E27FC236}">
                <a16:creationId xmlns:a16="http://schemas.microsoft.com/office/drawing/2014/main" id="{46F62B8E-139C-42F2-C52F-D44F344C52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19" t="18024" r="26555" b="6055"/>
          <a:stretch>
            <a:fillRect/>
          </a:stretch>
        </p:blipFill>
        <p:spPr bwMode="auto">
          <a:xfrm rot="16200000">
            <a:off x="7436601" y="4137796"/>
            <a:ext cx="1599559" cy="3136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5035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04BDF-FF56-D63A-F95E-41C70148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D74358-893E-22FC-5EEA-4BAAF86A8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out structured noise</a:t>
            </a:r>
          </a:p>
        </p:txBody>
      </p:sp>
      <p:pic>
        <p:nvPicPr>
          <p:cNvPr id="5122" name="Picture 2" descr="General Linear model">
            <a:extLst>
              <a:ext uri="{FF2B5EF4-FFF2-40B4-BE49-F238E27FC236}">
                <a16:creationId xmlns:a16="http://schemas.microsoft.com/office/drawing/2014/main" id="{0EF07888-6992-B634-BE93-8130A6B80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37134"/>
            <a:ext cx="6777037" cy="4817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CB3FFFE2-0E79-36DD-72E8-4D84490FA8F4}"/>
              </a:ext>
            </a:extLst>
          </p:cNvPr>
          <p:cNvGrpSpPr/>
          <p:nvPr/>
        </p:nvGrpSpPr>
        <p:grpSpPr>
          <a:xfrm>
            <a:off x="3980198" y="6483993"/>
            <a:ext cx="1965090" cy="422985"/>
            <a:chOff x="3980198" y="6483993"/>
            <a:chExt cx="1965090" cy="422985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FED4773D-5CCA-55FB-D2C1-3A9B939F2CEA}"/>
                </a:ext>
              </a:extLst>
            </p:cNvPr>
            <p:cNvSpPr/>
            <p:nvPr/>
          </p:nvSpPr>
          <p:spPr>
            <a:xfrm rot="5400000">
              <a:off x="4844745" y="5619446"/>
              <a:ext cx="107307" cy="1836401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56B16BB-4A1C-ED39-CB95-81AE1D66AF07}"/>
                </a:ext>
              </a:extLst>
            </p:cNvPr>
            <p:cNvSpPr txBox="1"/>
            <p:nvPr/>
          </p:nvSpPr>
          <p:spPr>
            <a:xfrm>
              <a:off x="3980198" y="6537646"/>
              <a:ext cx="19650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Motion regressors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8497DC3-B319-21F9-35AF-B7662FF73FF9}"/>
              </a:ext>
            </a:extLst>
          </p:cNvPr>
          <p:cNvSpPr/>
          <p:nvPr/>
        </p:nvSpPr>
        <p:spPr>
          <a:xfrm>
            <a:off x="3831336" y="2260599"/>
            <a:ext cx="2334851" cy="4232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56C4CFB-016F-B2FB-0040-51C0781DD024}"/>
              </a:ext>
            </a:extLst>
          </p:cNvPr>
          <p:cNvGrpSpPr/>
          <p:nvPr/>
        </p:nvGrpSpPr>
        <p:grpSpPr>
          <a:xfrm>
            <a:off x="6246714" y="2851386"/>
            <a:ext cx="5387157" cy="3934971"/>
            <a:chOff x="6246714" y="2851386"/>
            <a:chExt cx="5387157" cy="3934971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9822545-62AC-021A-FB3A-062ACD484AE4}"/>
                </a:ext>
              </a:extLst>
            </p:cNvPr>
            <p:cNvSpPr/>
            <p:nvPr/>
          </p:nvSpPr>
          <p:spPr>
            <a:xfrm>
              <a:off x="6246714" y="5220866"/>
              <a:ext cx="3794760" cy="1565491"/>
            </a:xfrm>
            <a:custGeom>
              <a:avLst/>
              <a:gdLst>
                <a:gd name="connsiteX0" fmla="*/ 0 w 3794760"/>
                <a:gd name="connsiteY0" fmla="*/ 1325880 h 1565491"/>
                <a:gd name="connsiteX1" fmla="*/ 1828800 w 3794760"/>
                <a:gd name="connsiteY1" fmla="*/ 1463040 h 1565491"/>
                <a:gd name="connsiteX2" fmla="*/ 3794760 w 3794760"/>
                <a:gd name="connsiteY2" fmla="*/ 0 h 156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94760" h="1565491">
                  <a:moveTo>
                    <a:pt x="0" y="1325880"/>
                  </a:moveTo>
                  <a:cubicBezTo>
                    <a:pt x="598170" y="1504950"/>
                    <a:pt x="1196340" y="1684020"/>
                    <a:pt x="1828800" y="1463040"/>
                  </a:cubicBezTo>
                  <a:cubicBezTo>
                    <a:pt x="2461260" y="1242060"/>
                    <a:pt x="3128010" y="621030"/>
                    <a:pt x="3794760" y="0"/>
                  </a:cubicBez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CF646E9-E019-D5E4-A74F-601A561878D5}"/>
                </a:ext>
              </a:extLst>
            </p:cNvPr>
            <p:cNvGrpSpPr/>
            <p:nvPr/>
          </p:nvGrpSpPr>
          <p:grpSpPr>
            <a:xfrm>
              <a:off x="8415339" y="2851386"/>
              <a:ext cx="3218532" cy="1957255"/>
              <a:chOff x="8415339" y="2851386"/>
              <a:chExt cx="3218532" cy="1957255"/>
            </a:xfrm>
          </p:grpSpPr>
          <p:pic>
            <p:nvPicPr>
              <p:cNvPr id="9218" name="Picture 2" descr="fmri temporal filtering">
                <a:extLst>
                  <a:ext uri="{FF2B5EF4-FFF2-40B4-BE49-F238E27FC236}">
                    <a16:creationId xmlns:a16="http://schemas.microsoft.com/office/drawing/2014/main" id="{883258E3-823C-1814-7C26-C36F1638C8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15339" y="3220718"/>
                <a:ext cx="3218532" cy="15879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B18278-6941-1A85-43A8-8C0A6697884E}"/>
                  </a:ext>
                </a:extLst>
              </p:cNvPr>
              <p:cNvSpPr txBox="1"/>
              <p:nvPr/>
            </p:nvSpPr>
            <p:spPr>
              <a:xfrm>
                <a:off x="8452283" y="2851386"/>
                <a:ext cx="31446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Temporal filtering / detrending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160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B5372-52FA-B3EB-AF37-9E88F4D90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56093-EE81-1B44-D44F-C88122956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coefficient weights</a:t>
            </a:r>
          </a:p>
        </p:txBody>
      </p:sp>
      <p:pic>
        <p:nvPicPr>
          <p:cNvPr id="6146" name="Picture 2" descr="Picture">
            <a:extLst>
              <a:ext uri="{FF2B5EF4-FFF2-40B4-BE49-F238E27FC236}">
                <a16:creationId xmlns:a16="http://schemas.microsoft.com/office/drawing/2014/main" id="{D7A109A9-8479-E1DC-DEC4-B937A0CE3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435" y="2132266"/>
            <a:ext cx="9661365" cy="194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icture">
            <a:extLst>
              <a:ext uri="{FF2B5EF4-FFF2-40B4-BE49-F238E27FC236}">
                <a16:creationId xmlns:a16="http://schemas.microsoft.com/office/drawing/2014/main" id="{5CD1696C-445D-8D43-8EBC-155BA92FB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434" y="4078541"/>
            <a:ext cx="9661365" cy="196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F5052F-0DFF-550E-FA06-1973E052A377}"/>
              </a:ext>
            </a:extLst>
          </p:cNvPr>
          <p:cNvSpPr txBox="1"/>
          <p:nvPr/>
        </p:nvSpPr>
        <p:spPr>
          <a:xfrm>
            <a:off x="622204" y="1624648"/>
            <a:ext cx="6126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Individual statistical map </a:t>
            </a:r>
            <a:r>
              <a:rPr lang="en-US" u="sng" dirty="0" err="1"/>
              <a:t>thresholded</a:t>
            </a:r>
            <a:r>
              <a:rPr lang="en-US" u="sng" dirty="0"/>
              <a:t> by significance (p-</a:t>
            </a:r>
            <a:r>
              <a:rPr lang="en-US" u="sng" dirty="0" err="1"/>
              <a:t>val</a:t>
            </a:r>
            <a:r>
              <a:rPr lang="en-US" u="sng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823043-D52D-EF56-1C6E-01CD5639D85D}"/>
              </a:ext>
            </a:extLst>
          </p:cNvPr>
          <p:cNvSpPr txBox="1"/>
          <p:nvPr/>
        </p:nvSpPr>
        <p:spPr>
          <a:xfrm>
            <a:off x="622204" y="4439091"/>
            <a:ext cx="10702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Adjusted</a:t>
            </a:r>
          </a:p>
          <a:p>
            <a:pPr algn="ctr"/>
            <a:r>
              <a:rPr lang="en-US" dirty="0"/>
              <a:t>p-</a:t>
            </a:r>
            <a:r>
              <a:rPr lang="en-US" dirty="0" err="1"/>
              <a:t>val</a:t>
            </a:r>
            <a:endParaRPr lang="en-US" dirty="0"/>
          </a:p>
          <a:p>
            <a:pPr algn="ctr"/>
            <a:r>
              <a:rPr lang="en-US" dirty="0"/>
              <a:t>(</a:t>
            </a:r>
            <a:r>
              <a:rPr lang="en-US" dirty="0" err="1"/>
              <a:t>Bonf</a:t>
            </a:r>
            <a:r>
              <a:rPr lang="en-US" dirty="0"/>
              <a:t>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B00504-3EB5-4FC5-EB58-B2C157624F3E}"/>
              </a:ext>
            </a:extLst>
          </p:cNvPr>
          <p:cNvSpPr txBox="1"/>
          <p:nvPr/>
        </p:nvSpPr>
        <p:spPr>
          <a:xfrm>
            <a:off x="484416" y="2569513"/>
            <a:ext cx="13458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Original</a:t>
            </a:r>
          </a:p>
          <a:p>
            <a:pPr algn="ctr"/>
            <a:r>
              <a:rPr lang="en-US" dirty="0"/>
              <a:t>p-</a:t>
            </a:r>
            <a:r>
              <a:rPr lang="en-US" dirty="0" err="1"/>
              <a:t>val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068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6E87-8597-CE16-E12D-77308324C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Analysis!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27EDD-1A45-639F-EE9D-E9401AF26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Group-level inference</a:t>
            </a:r>
          </a:p>
        </p:txBody>
      </p:sp>
    </p:spTree>
    <p:extLst>
      <p:ext uri="{BB962C8B-B14F-4D97-AF65-F5344CB8AC3E}">
        <p14:creationId xmlns:p14="http://schemas.microsoft.com/office/powerpoint/2010/main" val="504093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81232-A74D-DE67-D5CB-8CB582C2B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Group-level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D094D-F352-7CD1-302C-D8BA69264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go from </a:t>
            </a:r>
            <a:r>
              <a:rPr lang="en-US" b="1" dirty="0"/>
              <a:t>subject-level</a:t>
            </a:r>
            <a:r>
              <a:rPr lang="en-US" dirty="0"/>
              <a:t> maps to </a:t>
            </a:r>
            <a:r>
              <a:rPr lang="en-US" b="1" dirty="0"/>
              <a:t>population-level</a:t>
            </a:r>
            <a:r>
              <a:rPr lang="en-US" dirty="0"/>
              <a:t> inferences?</a:t>
            </a:r>
          </a:p>
          <a:p>
            <a:r>
              <a:rPr lang="en-US" dirty="0"/>
              <a:t>How do we determine where in the brain activations are </a:t>
            </a:r>
            <a:r>
              <a:rPr lang="en-US" i="1" dirty="0"/>
              <a:t>statistically meaningful</a:t>
            </a:r>
            <a:r>
              <a:rPr lang="en-US" dirty="0"/>
              <a:t>?</a:t>
            </a:r>
          </a:p>
        </p:txBody>
      </p:sp>
      <p:pic>
        <p:nvPicPr>
          <p:cNvPr id="5" name="Google Shape;241;p21">
            <a:extLst>
              <a:ext uri="{FF2B5EF4-FFF2-40B4-BE49-F238E27FC236}">
                <a16:creationId xmlns:a16="http://schemas.microsoft.com/office/drawing/2014/main" id="{4E004471-C572-BCB5-8DF4-54736655CE7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1651227" y="3974313"/>
            <a:ext cx="1845174" cy="2415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482B17-F080-CBEC-EA37-3602F6757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026241">
            <a:off x="464035" y="4034631"/>
            <a:ext cx="1354942" cy="2140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165F76-8026-50D9-3E5B-DAB6BEA8D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7933794">
            <a:off x="3728132" y="5074876"/>
            <a:ext cx="1354943" cy="2140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CA81F4-4541-AAA6-E69A-8656103D2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37730">
            <a:off x="809139" y="6276009"/>
            <a:ext cx="1354943" cy="21402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2D221B-C374-E398-110D-352747069310}"/>
              </a:ext>
            </a:extLst>
          </p:cNvPr>
          <p:cNvCxnSpPr>
            <a:stCxn id="6" idx="2"/>
          </p:cNvCxnSpPr>
          <p:nvPr/>
        </p:nvCxnSpPr>
        <p:spPr>
          <a:xfrm>
            <a:off x="1188801" y="4237635"/>
            <a:ext cx="981086" cy="4461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F6595E7-64EE-0D2E-29ED-0C80EC7799B8}"/>
              </a:ext>
            </a:extLst>
          </p:cNvPr>
          <p:cNvCxnSpPr>
            <a:stCxn id="7" idx="0"/>
          </p:cNvCxnSpPr>
          <p:nvPr/>
        </p:nvCxnSpPr>
        <p:spPr>
          <a:xfrm flipH="1">
            <a:off x="3373120" y="5130176"/>
            <a:ext cx="938796" cy="3359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C710BA0-4EA1-9493-B844-AC2E22581AF0}"/>
              </a:ext>
            </a:extLst>
          </p:cNvPr>
          <p:cNvCxnSpPr>
            <a:stCxn id="8" idx="0"/>
          </p:cNvCxnSpPr>
          <p:nvPr/>
        </p:nvCxnSpPr>
        <p:spPr>
          <a:xfrm flipV="1">
            <a:off x="1512431" y="5588000"/>
            <a:ext cx="570369" cy="691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139BB19-C6E7-3D19-2BB7-5E703F35ED05}"/>
              </a:ext>
            </a:extLst>
          </p:cNvPr>
          <p:cNvGrpSpPr/>
          <p:nvPr/>
        </p:nvGrpSpPr>
        <p:grpSpPr>
          <a:xfrm>
            <a:off x="3946540" y="4037474"/>
            <a:ext cx="4048580" cy="2455401"/>
            <a:chOff x="4290174" y="4034631"/>
            <a:chExt cx="4048580" cy="2455401"/>
          </a:xfrm>
        </p:grpSpPr>
        <p:pic>
          <p:nvPicPr>
            <p:cNvPr id="19" name="Google Shape;241;p21">
              <a:extLst>
                <a:ext uri="{FF2B5EF4-FFF2-40B4-BE49-F238E27FC236}">
                  <a16:creationId xmlns:a16="http://schemas.microsoft.com/office/drawing/2014/main" id="{C940AE35-BBAA-980D-632D-6D3CA8F849C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 rot="5400000">
              <a:off x="5477366" y="3974313"/>
              <a:ext cx="1845174" cy="24151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4A25380-F5C8-1009-BCBA-6B0F53B5A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0026241">
              <a:off x="4290174" y="4034631"/>
              <a:ext cx="1354942" cy="21402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7B9A2CC-C56B-3150-FE1E-76DE768B0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7933794">
              <a:off x="7554271" y="5074876"/>
              <a:ext cx="1354943" cy="21402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0CF574F-9200-B7FB-81CF-A938820DD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837730">
              <a:off x="4635278" y="6276009"/>
              <a:ext cx="1354943" cy="214023"/>
            </a:xfrm>
            <a:prstGeom prst="rect">
              <a:avLst/>
            </a:prstGeom>
          </p:spPr>
        </p:pic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BD060E3-A220-4F4B-F776-797EE6BA50A2}"/>
                </a:ext>
              </a:extLst>
            </p:cNvPr>
            <p:cNvCxnSpPr>
              <a:stCxn id="20" idx="2"/>
            </p:cNvCxnSpPr>
            <p:nvPr/>
          </p:nvCxnSpPr>
          <p:spPr>
            <a:xfrm>
              <a:off x="5014940" y="4237635"/>
              <a:ext cx="981086" cy="44612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5A882A3-BFFD-85D0-2D5E-B130DDD8E24A}"/>
                </a:ext>
              </a:extLst>
            </p:cNvPr>
            <p:cNvCxnSpPr>
              <a:stCxn id="21" idx="0"/>
            </p:cNvCxnSpPr>
            <p:nvPr/>
          </p:nvCxnSpPr>
          <p:spPr>
            <a:xfrm flipH="1">
              <a:off x="7199259" y="5130176"/>
              <a:ext cx="938796" cy="33590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C1C005B-49E7-16FF-3DE6-6D4E48DE9958}"/>
                </a:ext>
              </a:extLst>
            </p:cNvPr>
            <p:cNvCxnSpPr>
              <a:stCxn id="22" idx="0"/>
            </p:cNvCxnSpPr>
            <p:nvPr/>
          </p:nvCxnSpPr>
          <p:spPr>
            <a:xfrm flipV="1">
              <a:off x="5338570" y="5588000"/>
              <a:ext cx="570369" cy="69117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CFEA4FC-36BA-DFF9-36F5-B045E93FE8D1}"/>
              </a:ext>
            </a:extLst>
          </p:cNvPr>
          <p:cNvGrpSpPr/>
          <p:nvPr/>
        </p:nvGrpSpPr>
        <p:grpSpPr>
          <a:xfrm>
            <a:off x="7467046" y="4037474"/>
            <a:ext cx="4048580" cy="2455401"/>
            <a:chOff x="4290174" y="4034631"/>
            <a:chExt cx="4048580" cy="2455401"/>
          </a:xfrm>
        </p:grpSpPr>
        <p:pic>
          <p:nvPicPr>
            <p:cNvPr id="28" name="Google Shape;241;p21">
              <a:extLst>
                <a:ext uri="{FF2B5EF4-FFF2-40B4-BE49-F238E27FC236}">
                  <a16:creationId xmlns:a16="http://schemas.microsoft.com/office/drawing/2014/main" id="{5A5B7D07-716C-7C18-D376-3CE209FCE7C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rcRect/>
            <a:stretch/>
          </p:blipFill>
          <p:spPr>
            <a:xfrm rot="5400000">
              <a:off x="5477366" y="3974313"/>
              <a:ext cx="1845174" cy="24151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F293FA0-49F5-F8B8-FAA1-86E5E218D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0026241">
              <a:off x="4290174" y="4034631"/>
              <a:ext cx="1354942" cy="214023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C9FBC0EA-0502-3EEB-D5A3-3476BF834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7933794">
              <a:off x="7554271" y="5074876"/>
              <a:ext cx="1354943" cy="214023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5CE9C58-3961-D2E4-9A00-1B7D45EDE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837730">
              <a:off x="4635278" y="6276009"/>
              <a:ext cx="1354943" cy="214023"/>
            </a:xfrm>
            <a:prstGeom prst="rect">
              <a:avLst/>
            </a:prstGeom>
          </p:spPr>
        </p:pic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A8B2A29-7AF1-74F9-5EA6-4C1768BD47AD}"/>
                </a:ext>
              </a:extLst>
            </p:cNvPr>
            <p:cNvCxnSpPr>
              <a:stCxn id="29" idx="2"/>
            </p:cNvCxnSpPr>
            <p:nvPr/>
          </p:nvCxnSpPr>
          <p:spPr>
            <a:xfrm>
              <a:off x="5014940" y="4237635"/>
              <a:ext cx="981086" cy="44612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5E1B207-FA89-EE6F-7A9C-652D133D948E}"/>
                </a:ext>
              </a:extLst>
            </p:cNvPr>
            <p:cNvCxnSpPr>
              <a:stCxn id="30" idx="0"/>
            </p:cNvCxnSpPr>
            <p:nvPr/>
          </p:nvCxnSpPr>
          <p:spPr>
            <a:xfrm flipH="1">
              <a:off x="7199259" y="5130176"/>
              <a:ext cx="938796" cy="33590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DB3A38F-58CA-5EAB-A454-4536F92C1932}"/>
                </a:ext>
              </a:extLst>
            </p:cNvPr>
            <p:cNvCxnSpPr>
              <a:stCxn id="31" idx="0"/>
            </p:cNvCxnSpPr>
            <p:nvPr/>
          </p:nvCxnSpPr>
          <p:spPr>
            <a:xfrm flipV="1">
              <a:off x="5338570" y="5588000"/>
              <a:ext cx="570369" cy="69117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4243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0A1B6-606E-B8BB-6741-A687E18A4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C56539-0C9C-28F8-F6DE-561E9195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Normalization + Co-Registration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AA473BB-0AFA-0A4B-EF9F-EB6960EDD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300" y="3853241"/>
            <a:ext cx="8661400" cy="249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AC58CDA3-7E69-F205-94CF-0877BBE501F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603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Structural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Spatial Normalization</a:t>
            </a:r>
            <a:endParaRPr lang="en-US" u="sng" dirty="0"/>
          </a:p>
          <a:p>
            <a:r>
              <a:rPr lang="en-US" dirty="0"/>
              <a:t>Rigid “affine” transformations</a:t>
            </a:r>
          </a:p>
          <a:p>
            <a:r>
              <a:rPr lang="en-US" dirty="0"/>
              <a:t>Non-linear “diffeomorphic” transformations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1EE5A2-A3C4-F986-8E87-25DFB4AC43C5}"/>
              </a:ext>
            </a:extLst>
          </p:cNvPr>
          <p:cNvGrpSpPr/>
          <p:nvPr/>
        </p:nvGrpSpPr>
        <p:grpSpPr>
          <a:xfrm>
            <a:off x="7654674" y="1474737"/>
            <a:ext cx="2654209" cy="2285606"/>
            <a:chOff x="4093458" y="2382947"/>
            <a:chExt cx="3689508" cy="3177129"/>
          </a:xfrm>
        </p:grpSpPr>
        <p:pic>
          <p:nvPicPr>
            <p:cNvPr id="16" name="Google Shape;400;p39">
              <a:extLst>
                <a:ext uri="{FF2B5EF4-FFF2-40B4-BE49-F238E27FC236}">
                  <a16:creationId xmlns:a16="http://schemas.microsoft.com/office/drawing/2014/main" id="{070F1EBA-3ECA-68A2-FB79-6532B6C03CF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49905" y="3033286"/>
              <a:ext cx="3333061" cy="25267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70CC848-2181-5E94-B7C8-6883D14753F8}"/>
                </a:ext>
              </a:extLst>
            </p:cNvPr>
            <p:cNvSpPr txBox="1"/>
            <p:nvPr/>
          </p:nvSpPr>
          <p:spPr>
            <a:xfrm>
              <a:off x="4093458" y="2382947"/>
              <a:ext cx="28911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Common reference: AC/PC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421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BE955-0D77-5656-BB78-56910EDD3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983B2B-8DBF-5D16-7BA3-D042F26AC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Normalization + Co-Registration</a:t>
            </a:r>
          </a:p>
        </p:txBody>
      </p:sp>
      <p:pic>
        <p:nvPicPr>
          <p:cNvPr id="2" name="Google Shape;244;p21">
            <a:extLst>
              <a:ext uri="{FF2B5EF4-FFF2-40B4-BE49-F238E27FC236}">
                <a16:creationId xmlns:a16="http://schemas.microsoft.com/office/drawing/2014/main" id="{DDC5FEEC-20C0-2DB2-F1BF-14D42D07F2E7}"/>
              </a:ext>
            </a:extLst>
          </p:cNvPr>
          <p:cNvPicPr preferRelativeResize="0"/>
          <p:nvPr/>
        </p:nvPicPr>
        <p:blipFill rotWithShape="1">
          <a:blip r:embed="rId2">
            <a:alphaModFix amt="50000"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 rot="20279499">
            <a:off x="1278839" y="2011063"/>
            <a:ext cx="3035621" cy="416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44;p21">
            <a:extLst>
              <a:ext uri="{FF2B5EF4-FFF2-40B4-BE49-F238E27FC236}">
                <a16:creationId xmlns:a16="http://schemas.microsoft.com/office/drawing/2014/main" id="{5A8368B7-027F-BD8A-E080-A44404219962}"/>
              </a:ext>
            </a:extLst>
          </p:cNvPr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 rot="521265">
            <a:off x="1449526" y="2011064"/>
            <a:ext cx="3035621" cy="416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44;p21">
            <a:extLst>
              <a:ext uri="{FF2B5EF4-FFF2-40B4-BE49-F238E27FC236}">
                <a16:creationId xmlns:a16="http://schemas.microsoft.com/office/drawing/2014/main" id="{968FD885-EDF5-7012-A792-E4A8764CF9D2}"/>
              </a:ext>
            </a:extLst>
          </p:cNvPr>
          <p:cNvPicPr preferRelativeResize="0"/>
          <p:nvPr/>
        </p:nvPicPr>
        <p:blipFill rotWithShape="1">
          <a:blip r:embed="rId2">
            <a:alphaModFix amt="50000"/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/>
        </p:blipFill>
        <p:spPr>
          <a:xfrm rot="1747879">
            <a:off x="1971680" y="2007516"/>
            <a:ext cx="3035621" cy="41658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FB8353-AC14-2A06-D8E1-D3A775B42C0A}"/>
              </a:ext>
            </a:extLst>
          </p:cNvPr>
          <p:cNvSpPr txBox="1"/>
          <p:nvPr/>
        </p:nvSpPr>
        <p:spPr>
          <a:xfrm>
            <a:off x="6786315" y="3309152"/>
            <a:ext cx="36131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Brains must be aligned in order to compare statistical maps across individuals!</a:t>
            </a:r>
          </a:p>
        </p:txBody>
      </p:sp>
    </p:spTree>
    <p:extLst>
      <p:ext uri="{BB962C8B-B14F-4D97-AF65-F5344CB8AC3E}">
        <p14:creationId xmlns:p14="http://schemas.microsoft.com/office/powerpoint/2010/main" val="220523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D9A04-F666-C889-E9F4-FD00EB583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87DD12-15FA-C326-6698-EE8ECDAF7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Normalization + Co-Registration</a:t>
            </a:r>
          </a:p>
        </p:txBody>
      </p:sp>
      <p:pic>
        <p:nvPicPr>
          <p:cNvPr id="6" name="Google Shape;244;p21">
            <a:extLst>
              <a:ext uri="{FF2B5EF4-FFF2-40B4-BE49-F238E27FC236}">
                <a16:creationId xmlns:a16="http://schemas.microsoft.com/office/drawing/2014/main" id="{1A13FDD1-6914-700D-DB63-CCA0656FAD91}"/>
              </a:ext>
            </a:extLst>
          </p:cNvPr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6747484" y="1941601"/>
            <a:ext cx="3035621" cy="416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4;p21">
            <a:extLst>
              <a:ext uri="{FF2B5EF4-FFF2-40B4-BE49-F238E27FC236}">
                <a16:creationId xmlns:a16="http://schemas.microsoft.com/office/drawing/2014/main" id="{D9C5A516-F21E-1DF8-698B-E0223E1DF0AF}"/>
              </a:ext>
            </a:extLst>
          </p:cNvPr>
          <p:cNvPicPr preferRelativeResize="0"/>
          <p:nvPr/>
        </p:nvPicPr>
        <p:blipFill rotWithShape="1">
          <a:blip r:embed="rId2">
            <a:alphaModFix amt="50000"/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747484" y="1941601"/>
            <a:ext cx="3035621" cy="416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44;p21">
            <a:extLst>
              <a:ext uri="{FF2B5EF4-FFF2-40B4-BE49-F238E27FC236}">
                <a16:creationId xmlns:a16="http://schemas.microsoft.com/office/drawing/2014/main" id="{A892F0AE-BDD2-B63E-4F99-46513BA1EF3A}"/>
              </a:ext>
            </a:extLst>
          </p:cNvPr>
          <p:cNvPicPr preferRelativeResize="0"/>
          <p:nvPr/>
        </p:nvPicPr>
        <p:blipFill rotWithShape="1">
          <a:blip r:embed="rId2">
            <a:alphaModFix amt="50000"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747484" y="1941600"/>
            <a:ext cx="3035621" cy="416583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BB4F5E-064C-C296-18E0-4F175CDE19B2}"/>
              </a:ext>
            </a:extLst>
          </p:cNvPr>
          <p:cNvSpPr txBox="1"/>
          <p:nvPr/>
        </p:nvSpPr>
        <p:spPr>
          <a:xfrm>
            <a:off x="1906827" y="3055021"/>
            <a:ext cx="36131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Now we have a distribution of effect sizes for each location (voxel) in a standard coordinate space</a:t>
            </a:r>
          </a:p>
        </p:txBody>
      </p:sp>
    </p:spTree>
    <p:extLst>
      <p:ext uri="{BB962C8B-B14F-4D97-AF65-F5344CB8AC3E}">
        <p14:creationId xmlns:p14="http://schemas.microsoft.com/office/powerpoint/2010/main" val="29436629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5E392-936C-D8FC-5D38-E3238CA99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Group-level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760CC-2FDC-F08B-5C2B-FD5B6D7C2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Fixed Effects</a:t>
            </a:r>
          </a:p>
          <a:p>
            <a:pPr marL="457200" lvl="1" indent="0">
              <a:buNone/>
            </a:pPr>
            <a:r>
              <a:rPr lang="en-US" dirty="0"/>
              <a:t>- Sample-specific</a:t>
            </a:r>
          </a:p>
          <a:p>
            <a:pPr lvl="1">
              <a:buFontTx/>
              <a:buChar char="-"/>
            </a:pPr>
            <a:r>
              <a:rPr lang="en-US" dirty="0"/>
              <a:t>Assume results are only relevant to </a:t>
            </a:r>
            <a:r>
              <a:rPr lang="en-US" i="1" dirty="0"/>
              <a:t>these exact subjects</a:t>
            </a:r>
          </a:p>
          <a:p>
            <a:pPr marL="457200" lvl="1" indent="0">
              <a:buNone/>
            </a:pPr>
            <a:r>
              <a:rPr lang="en-US" dirty="0"/>
              <a:t>- Not really used for publication-level inference…</a:t>
            </a:r>
          </a:p>
          <a:p>
            <a:r>
              <a:rPr lang="en-US" b="1" dirty="0"/>
              <a:t>Random Effects</a:t>
            </a:r>
          </a:p>
          <a:p>
            <a:pPr marL="457200" lvl="1" indent="0">
              <a:buNone/>
            </a:pPr>
            <a:r>
              <a:rPr lang="en-US" dirty="0"/>
              <a:t>Assume:</a:t>
            </a:r>
          </a:p>
          <a:p>
            <a:pPr marL="457200" lvl="1" indent="0">
              <a:buNone/>
            </a:pPr>
            <a:r>
              <a:rPr lang="en-US" dirty="0"/>
              <a:t>  - subject-specific effects are drawn from a population distribution</a:t>
            </a:r>
          </a:p>
          <a:p>
            <a:pPr marL="457200" lvl="1" indent="0">
              <a:buNone/>
            </a:pPr>
            <a:r>
              <a:rPr lang="en-US" dirty="0"/>
              <a:t>  - individual effect sizes are normally distributed</a:t>
            </a:r>
          </a:p>
          <a:p>
            <a:pPr marL="457200" lvl="1" indent="0">
              <a:buNone/>
            </a:pPr>
            <a:r>
              <a:rPr lang="en-US" dirty="0"/>
              <a:t>**We want to estimate the mean and variance </a:t>
            </a:r>
            <a:r>
              <a:rPr lang="en-US" i="1" dirty="0"/>
              <a:t>of the pop. distribution</a:t>
            </a:r>
            <a:r>
              <a:rPr lang="en-US" dirty="0"/>
              <a:t>**</a:t>
            </a:r>
          </a:p>
        </p:txBody>
      </p:sp>
    </p:spTree>
    <p:extLst>
      <p:ext uri="{BB962C8B-B14F-4D97-AF65-F5344CB8AC3E}">
        <p14:creationId xmlns:p14="http://schemas.microsoft.com/office/powerpoint/2010/main" val="564488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881B-FC80-3A48-574F-398C398D4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Group-level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4C92D-5BF6-319D-0D6A-6CC318627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Goal</a:t>
            </a:r>
            <a:r>
              <a:rPr lang="en-US" dirty="0"/>
              <a:t>: Estimate the average effect and variability in the population</a:t>
            </a:r>
          </a:p>
          <a:p>
            <a:pPr marL="0" indent="0">
              <a:buNone/>
            </a:pPr>
            <a:r>
              <a:rPr lang="en-US" dirty="0"/>
              <a:t>“First-level” (within-subject)</a:t>
            </a:r>
          </a:p>
          <a:p>
            <a:pPr lvl="1"/>
            <a:r>
              <a:rPr lang="en-US" dirty="0"/>
              <a:t>Generate statistical maps for each subject (</a:t>
            </a:r>
            <a:r>
              <a:rPr lang="el-GR" b="1" dirty="0"/>
              <a:t>β</a:t>
            </a:r>
            <a:r>
              <a:rPr lang="en-US" b="1" dirty="0"/>
              <a:t> weights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Each predictor (task condition) has a corresponding statistical map</a:t>
            </a:r>
          </a:p>
          <a:p>
            <a:pPr lvl="1"/>
            <a:r>
              <a:rPr lang="en-US" dirty="0"/>
              <a:t>Generate contrast image</a:t>
            </a:r>
          </a:p>
          <a:p>
            <a:pPr lvl="2"/>
            <a:r>
              <a:rPr lang="en-US" i="1" dirty="0"/>
              <a:t>Contrasts are linear combinations of the </a:t>
            </a:r>
            <a:r>
              <a:rPr lang="el-GR" i="1" dirty="0"/>
              <a:t>β</a:t>
            </a:r>
            <a:r>
              <a:rPr lang="en-US" i="1" dirty="0"/>
              <a:t> weights</a:t>
            </a:r>
          </a:p>
          <a:p>
            <a:pPr lvl="2"/>
            <a:r>
              <a:rPr lang="en-US" dirty="0"/>
              <a:t>E.g., Faces &gt; Houses = +1*Faces -1*Houses</a:t>
            </a:r>
          </a:p>
          <a:p>
            <a:pPr lvl="1"/>
            <a:r>
              <a:rPr lang="en-US" dirty="0"/>
              <a:t>Result:</a:t>
            </a:r>
          </a:p>
          <a:p>
            <a:pPr marL="914400" lvl="2" indent="0">
              <a:buNone/>
            </a:pPr>
            <a:r>
              <a:rPr lang="en-US" b="1" dirty="0"/>
              <a:t>Contrast estimate + standard error for each voxel</a:t>
            </a:r>
          </a:p>
          <a:p>
            <a:pPr marL="914400" lvl="2" indent="0">
              <a:buNone/>
            </a:pPr>
            <a:r>
              <a:rPr lang="en-US" dirty="0"/>
              <a:t>(Within-subject variance = Residual SS / 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1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A95FB-563C-0997-ACD2-CC0F96049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D2371-46B8-BB39-580E-43CA13A57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Group-level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00B02-6780-6503-6759-5E8E40E7C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Goal</a:t>
            </a:r>
            <a:r>
              <a:rPr lang="en-US" dirty="0"/>
              <a:t>: Estimate the average effect and variability in the population</a:t>
            </a:r>
          </a:p>
          <a:p>
            <a:pPr marL="0" indent="0">
              <a:buNone/>
            </a:pPr>
            <a:r>
              <a:rPr lang="en-US" dirty="0"/>
              <a:t>“Second-level” (between-subject)</a:t>
            </a:r>
          </a:p>
          <a:p>
            <a:pPr lvl="1"/>
            <a:r>
              <a:rPr lang="en-US" dirty="0"/>
              <a:t>Combine contrast estimates @each location</a:t>
            </a:r>
          </a:p>
          <a:p>
            <a:pPr lvl="2"/>
            <a:r>
              <a:rPr lang="en-US" dirty="0"/>
              <a:t>Each voxel location now has a distribution of effect sizes from our sample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C9CC7D-9274-2D87-D8C6-8BBB40D1B8FF}"/>
              </a:ext>
            </a:extLst>
          </p:cNvPr>
          <p:cNvSpPr txBox="1"/>
          <p:nvPr/>
        </p:nvSpPr>
        <p:spPr>
          <a:xfrm>
            <a:off x="4787435" y="3936258"/>
            <a:ext cx="26171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Y = </a:t>
            </a:r>
            <a:r>
              <a:rPr lang="el-GR" sz="4400" b="1" dirty="0"/>
              <a:t>β</a:t>
            </a:r>
            <a:r>
              <a:rPr lang="en-US" sz="4400" b="1" dirty="0"/>
              <a:t>X </a:t>
            </a:r>
            <a:r>
              <a:rPr lang="el-GR" sz="4400" b="1" dirty="0"/>
              <a:t>+</a:t>
            </a:r>
            <a:r>
              <a:rPr lang="en-US" sz="4400" b="1" dirty="0"/>
              <a:t> </a:t>
            </a:r>
            <a:r>
              <a:rPr lang="el-GR" sz="4400" b="1" dirty="0"/>
              <a:t>ε</a:t>
            </a:r>
            <a:endParaRPr lang="en-US" sz="4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F17E05-D741-061C-51C2-193E3CD39AE4}"/>
              </a:ext>
            </a:extLst>
          </p:cNvPr>
          <p:cNvSpPr txBox="1"/>
          <p:nvPr/>
        </p:nvSpPr>
        <p:spPr>
          <a:xfrm>
            <a:off x="2940731" y="4928813"/>
            <a:ext cx="2089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Contrast estimates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0AF4A2-F4FD-3549-B19D-07BBADF2A6BE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3985280" y="4489404"/>
            <a:ext cx="897616" cy="4394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27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D0E2C-8D08-358A-5029-A4F88C56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4755C-BF2B-05C3-2FB6-5586BB59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Group-level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3C1070-88CF-BF1E-C362-89DC189E7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609" y="1862592"/>
            <a:ext cx="9236782" cy="426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9395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E3F74-079B-A96E-E0F4-E8F20A9A3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6DC20-9E08-0AAF-3CF9-33D031083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Group-level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98E59-DE91-6980-5D72-3C7F588CB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Goal</a:t>
            </a:r>
            <a:r>
              <a:rPr lang="en-US" dirty="0"/>
              <a:t>: Estimate the average effect and variability in the population</a:t>
            </a:r>
          </a:p>
          <a:p>
            <a:pPr marL="0" indent="0">
              <a:buNone/>
            </a:pPr>
            <a:r>
              <a:rPr lang="en-US" b="1" u="sng" dirty="0"/>
              <a:t>OLS vs. GLS</a:t>
            </a:r>
          </a:p>
          <a:p>
            <a:pPr>
              <a:buFontTx/>
              <a:buChar char="-"/>
            </a:pPr>
            <a:r>
              <a:rPr lang="en-US" b="1" dirty="0"/>
              <a:t>Ordinary</a:t>
            </a:r>
          </a:p>
          <a:p>
            <a:pPr lvl="1">
              <a:buFontTx/>
              <a:buChar char="-"/>
            </a:pPr>
            <a:r>
              <a:rPr lang="en-US" dirty="0"/>
              <a:t>Each subject contributes equally to the group estimate</a:t>
            </a:r>
          </a:p>
          <a:p>
            <a:pPr lvl="1">
              <a:buFontTx/>
              <a:buChar char="-"/>
            </a:pPr>
            <a:r>
              <a:rPr lang="en-US" b="1" dirty="0"/>
              <a:t>Assume within-subject variance is the same for all subjects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Never true... and it INFLATES FALSE POS RATE!</a:t>
            </a:r>
          </a:p>
          <a:p>
            <a:pPr lvl="1">
              <a:buFontTx/>
              <a:buChar char="-"/>
            </a:pPr>
            <a:r>
              <a:rPr lang="en-US" dirty="0"/>
              <a:t>SPM default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>
              <a:buFontTx/>
              <a:buChar char="-"/>
            </a:pPr>
            <a:r>
              <a:rPr lang="en-US" b="1" dirty="0"/>
              <a:t>Generalized / weighted</a:t>
            </a:r>
          </a:p>
          <a:p>
            <a:pPr lvl="1">
              <a:buFontTx/>
              <a:buChar char="-"/>
            </a:pPr>
            <a:r>
              <a:rPr lang="en-US" dirty="0"/>
              <a:t>Scale individual contributions by within-subject error variance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CA6950-BFC6-D137-5B8F-F45D3C087967}"/>
              </a:ext>
            </a:extLst>
          </p:cNvPr>
          <p:cNvSpPr txBox="1"/>
          <p:nvPr/>
        </p:nvSpPr>
        <p:spPr>
          <a:xfrm>
            <a:off x="1521714" y="5803250"/>
            <a:ext cx="6835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 err="1"/>
              <a:t>Group</a:t>
            </a:r>
            <a:r>
              <a:rPr lang="es-ES" b="1" dirty="0"/>
              <a:t> </a:t>
            </a:r>
            <a:r>
              <a:rPr lang="es-ES" b="1" dirty="0" err="1"/>
              <a:t>effect</a:t>
            </a:r>
            <a:r>
              <a:rPr lang="es-ES" b="1" dirty="0"/>
              <a:t> </a:t>
            </a:r>
            <a:r>
              <a:rPr lang="es-ES" b="1" dirty="0" err="1"/>
              <a:t>size</a:t>
            </a:r>
            <a:r>
              <a:rPr lang="es-ES" b="1" dirty="0"/>
              <a:t> ​= (</a:t>
            </a:r>
            <a:r>
              <a:rPr lang="es-ES" b="1" i="1" dirty="0"/>
              <a:t>X</a:t>
            </a:r>
            <a:r>
              <a:rPr lang="es-ES" b="1" baseline="30000" dirty="0"/>
              <a:t>T</a:t>
            </a:r>
            <a:r>
              <a:rPr lang="es-ES" b="1" dirty="0"/>
              <a:t>Σ</a:t>
            </a:r>
            <a:r>
              <a:rPr lang="es-ES" b="1" baseline="30000" dirty="0"/>
              <a:t>−1</a:t>
            </a:r>
            <a:r>
              <a:rPr lang="es-ES" b="1" i="1" dirty="0"/>
              <a:t>X</a:t>
            </a:r>
            <a:r>
              <a:rPr lang="es-ES" b="1" dirty="0"/>
              <a:t>)</a:t>
            </a:r>
            <a:r>
              <a:rPr lang="es-ES" b="1" baseline="30000" dirty="0"/>
              <a:t>−1</a:t>
            </a:r>
            <a:r>
              <a:rPr lang="es-ES" b="1" i="1" dirty="0"/>
              <a:t>X</a:t>
            </a:r>
            <a:r>
              <a:rPr lang="es-ES" b="1" baseline="30000" dirty="0"/>
              <a:t>T</a:t>
            </a:r>
            <a:r>
              <a:rPr lang="es-ES" b="1" dirty="0"/>
              <a:t>Σ</a:t>
            </a:r>
            <a:r>
              <a:rPr lang="es-ES" b="1" baseline="30000" dirty="0"/>
              <a:t>−1</a:t>
            </a:r>
            <a:r>
              <a:rPr lang="es-ES" b="1" dirty="0"/>
              <a:t>y     and </a:t>
            </a:r>
            <a:r>
              <a:rPr lang="es-ES" b="1" dirty="0" err="1"/>
              <a:t>variance</a:t>
            </a:r>
            <a:r>
              <a:rPr lang="es-ES" b="1" dirty="0"/>
              <a:t> = (</a:t>
            </a:r>
            <a:r>
              <a:rPr lang="es-ES" b="1" i="1" dirty="0"/>
              <a:t>X</a:t>
            </a:r>
            <a:r>
              <a:rPr lang="es-ES" b="1" baseline="30000" dirty="0"/>
              <a:t>T</a:t>
            </a:r>
            <a:r>
              <a:rPr lang="es-ES" b="1" dirty="0"/>
              <a:t>Σ</a:t>
            </a:r>
            <a:r>
              <a:rPr lang="es-ES" b="1" baseline="30000" dirty="0"/>
              <a:t>−1</a:t>
            </a:r>
            <a:r>
              <a:rPr lang="es-ES" b="1" i="1" dirty="0"/>
              <a:t>X</a:t>
            </a:r>
            <a:r>
              <a:rPr lang="es-ES" b="1" dirty="0"/>
              <a:t>)</a:t>
            </a:r>
            <a:r>
              <a:rPr lang="es-ES" b="1" baseline="30000" dirty="0"/>
              <a:t>−1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9312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234F3-AFCD-5671-4F5B-0CB2B5741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it yourself!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FD6E4-C9F9-C492-C151-32BE1C0D1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Week7 / analysis.py</a:t>
            </a:r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https://nilearn.github.io/stable/auto_examples/00_tutorials/plot_single_subject_single_run.html#sphx-glr-auto-examples-00-tutorials-plot-single-subject-single-run-py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NiLearn</a:t>
            </a:r>
            <a:r>
              <a:rPr lang="en-US" dirty="0"/>
              <a:t> Tutorial)</a:t>
            </a:r>
          </a:p>
        </p:txBody>
      </p:sp>
      <p:pic>
        <p:nvPicPr>
          <p:cNvPr id="4098" name="Picture 2" descr="Logo">
            <a:extLst>
              <a:ext uri="{FF2B5EF4-FFF2-40B4-BE49-F238E27FC236}">
                <a16:creationId xmlns:a16="http://schemas.microsoft.com/office/drawing/2014/main" id="{96210055-6705-C9D3-6579-B0799C5E2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9345" y="252825"/>
            <a:ext cx="1787272" cy="15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655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716</Words>
  <Application>Microsoft Office PowerPoint</Application>
  <PresentationFormat>Widescreen</PresentationFormat>
  <Paragraphs>136</Paragraphs>
  <Slides>26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Aptos</vt:lpstr>
      <vt:lpstr>Aptos Display</vt:lpstr>
      <vt:lpstr>Arial</vt:lpstr>
      <vt:lpstr>Georgia</vt:lpstr>
      <vt:lpstr>Wingdings</vt:lpstr>
      <vt:lpstr>Office Theme</vt:lpstr>
      <vt:lpstr>1_Office Theme</vt:lpstr>
      <vt:lpstr>Office Theme</vt:lpstr>
      <vt:lpstr>Office Theme</vt:lpstr>
      <vt:lpstr>Office Theme</vt:lpstr>
      <vt:lpstr>UVA Brainhack!</vt:lpstr>
      <vt:lpstr>Agenda</vt:lpstr>
      <vt:lpstr>Weeks 1-4</vt:lpstr>
      <vt:lpstr>Overview</vt:lpstr>
      <vt:lpstr>Big decisions so far</vt:lpstr>
      <vt:lpstr>fMRIPrep Pipeline</vt:lpstr>
      <vt:lpstr>fMRIPrep Output</vt:lpstr>
      <vt:lpstr>Week 5</vt:lpstr>
      <vt:lpstr>Mass Univariate Analysis</vt:lpstr>
      <vt:lpstr>Generalized Linear Model</vt:lpstr>
      <vt:lpstr>Design Matrix</vt:lpstr>
      <vt:lpstr>Design Matrix</vt:lpstr>
      <vt:lpstr>Structured Noise</vt:lpstr>
      <vt:lpstr>Modeling out structured noise</vt:lpstr>
      <vt:lpstr>Beta coefficient weights</vt:lpstr>
      <vt:lpstr>More Analysis!</vt:lpstr>
      <vt:lpstr>Group-level analysis</vt:lpstr>
      <vt:lpstr>Recall: Normalization + Co-Registration</vt:lpstr>
      <vt:lpstr>Recall: Normalization + Co-Registration</vt:lpstr>
      <vt:lpstr>Recall: Normalization + Co-Registration</vt:lpstr>
      <vt:lpstr>Group-level analysis</vt:lpstr>
      <vt:lpstr>Group-level analysis</vt:lpstr>
      <vt:lpstr>Group-level analysis</vt:lpstr>
      <vt:lpstr>Group-level analysis</vt:lpstr>
      <vt:lpstr>Group-level analysis</vt:lpstr>
      <vt:lpstr>Try it yourself!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Gallagher, Richard Craig (rcg7jb)</dc:creator>
  <cp:lastModifiedBy>Gallagher, Richard Craig (rcg7jb)</cp:lastModifiedBy>
  <cp:revision>3</cp:revision>
  <dcterms:created xsi:type="dcterms:W3CDTF">2025-07-11T11:08:23Z</dcterms:created>
  <dcterms:modified xsi:type="dcterms:W3CDTF">2025-07-11T16:15:42Z</dcterms:modified>
</cp:coreProperties>
</file>