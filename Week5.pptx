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  <p:sldMasterId id="2147483660" r:id="rId2"/>
    <p:sldMasterId id="2147483664" r:id="rId3"/>
    <p:sldMasterId id="2147483648" r:id="rId4"/>
  </p:sldMasterIdLst>
  <p:notesMasterIdLst>
    <p:notesMasterId r:id="rId31"/>
  </p:notesMasterIdLst>
  <p:sldIdLst>
    <p:sldId id="258" r:id="rId5"/>
    <p:sldId id="259" r:id="rId6"/>
    <p:sldId id="256" r:id="rId7"/>
    <p:sldId id="260" r:id="rId8"/>
    <p:sldId id="261" r:id="rId9"/>
    <p:sldId id="266" r:id="rId10"/>
    <p:sldId id="267" r:id="rId11"/>
    <p:sldId id="268" r:id="rId12"/>
    <p:sldId id="269" r:id="rId13"/>
    <p:sldId id="273" r:id="rId14"/>
    <p:sldId id="271" r:id="rId15"/>
    <p:sldId id="274" r:id="rId16"/>
    <p:sldId id="272" r:id="rId17"/>
    <p:sldId id="275" r:id="rId18"/>
    <p:sldId id="276" r:id="rId19"/>
    <p:sldId id="277" r:id="rId20"/>
    <p:sldId id="282" r:id="rId21"/>
    <p:sldId id="278" r:id="rId22"/>
    <p:sldId id="279" r:id="rId23"/>
    <p:sldId id="285" r:id="rId24"/>
    <p:sldId id="270" r:id="rId25"/>
    <p:sldId id="280" r:id="rId26"/>
    <p:sldId id="283" r:id="rId27"/>
    <p:sldId id="284" r:id="rId28"/>
    <p:sldId id="263" r:id="rId29"/>
    <p:sldId id="262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396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EC5EC0-821D-42A5-A580-10DB17FCBAFA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8C2723-5172-4A81-8483-3D215FF19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378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applying </a:t>
            </a:r>
            <a:r>
              <a:rPr lang="en-US" dirty="0" err="1"/>
              <a:t>dynEGA</a:t>
            </a:r>
            <a:r>
              <a:rPr lang="en-US" dirty="0"/>
              <a:t> to real fMRI data, we want to ensure that it actually works, i.e., it can recover known dynamic network structures.</a:t>
            </a:r>
          </a:p>
          <a:p>
            <a:endParaRPr lang="en-US" dirty="0"/>
          </a:p>
          <a:p>
            <a:r>
              <a:rPr lang="en-US" dirty="0"/>
              <a:t>We can simulate resting-state fMRI with a known ground truth using </a:t>
            </a:r>
            <a:r>
              <a:rPr lang="en-US" b="1" dirty="0" err="1"/>
              <a:t>fmrisim</a:t>
            </a:r>
            <a:r>
              <a:rPr lang="en-US" dirty="0"/>
              <a:t> (part of the </a:t>
            </a:r>
            <a:r>
              <a:rPr lang="en-US" dirty="0" err="1"/>
              <a:t>BrainIAK</a:t>
            </a:r>
            <a:r>
              <a:rPr lang="en-US" dirty="0"/>
              <a:t> library), which allows us to generate artificial fMRI data that mimics the characteristics of real data, including realistic noise/SNR, autocorrelative structure,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4113A0-66F0-4297-9656-FC3A0E24D30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0142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F7E97-0759-541A-597A-8CFDEDD1FF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170E85-EDCE-F273-7EB7-5AFD1812DD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1D2AA6-DDC1-61D2-F32B-4C6548BE0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CBB19-2299-49C9-A838-84182D89A2BB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DC940A-229A-D976-1F52-714DF694E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46538-154D-A35A-9F6B-58D3ABA7D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A72FE-8635-4B58-AB42-ED1700E94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280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E6BC0-E443-FDE4-DEB7-08E32EE75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9102B-2E3A-906F-E4AD-4A6DFBD2E2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92446A-5463-4914-0FC0-8781B2EC3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CBB19-2299-49C9-A838-84182D89A2BB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54C2AB-AEBD-160F-DFE6-FDF6D7DAE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27F88-73BA-3D5D-911D-2469FD6DA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A72FE-8635-4B58-AB42-ED1700E94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096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2398E-79C7-7950-6738-4CFDB8F4A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E52469-F5CF-32AB-8D5B-4B8FFD456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7F920F-3F47-AA2C-2975-0D07FBD2F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CBB19-2299-49C9-A838-84182D89A2BB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3048E-7F6D-EBF9-D644-92CF6B5AC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FD3A18-4B9D-5D5A-7DF0-50B458472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A72FE-8635-4B58-AB42-ED1700E94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984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8ACC8-6FD8-4631-39D2-F5211FEA9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44648-9BFF-C0F2-E7B8-D78848B47B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564CEF-6AD3-20F0-AF07-6C412CD177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9DE45F-BDC8-E206-9F55-F525B841E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CBB19-2299-49C9-A838-84182D89A2BB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855389-6E54-D92A-F38B-9F35BAB54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314717-E9D6-15BB-6083-50B5129D6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A72FE-8635-4B58-AB42-ED1700E94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640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3DC01-D596-1CD7-CCBC-80BEA3B07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FD9A2B-2064-8E80-27F1-98786AE488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BA4B76-1A34-BC83-983D-FFE7ECC3D6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D8398C-1044-4C5F-A0FD-CAF8C3AC0C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6BAC56-1942-90F6-3E7E-3BFA463235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CAD657-1B89-128A-74C8-C46977D49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CBB19-2299-49C9-A838-84182D89A2BB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D91AF7-1014-E7A0-DF57-3947866D6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949B8D-EA42-4325-9F3A-FFCD12713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A72FE-8635-4B58-AB42-ED1700E94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583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E524E-6D43-2F80-3AFB-261DEF35E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3F608B-D53E-A10F-3803-132FF98D7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CBB19-2299-49C9-A838-84182D89A2BB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53C0CE-8BDD-CADB-67C0-6EF009755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890DB3-F760-34EC-8153-65A84DDCE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A72FE-8635-4B58-AB42-ED1700E94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08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900FAF-0BA7-EA7E-651E-4E6D79BEA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CBB19-2299-49C9-A838-84182D89A2BB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877331-8077-7BFE-AA04-611BE783E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EFD3F6-8AA6-AB14-4488-446F4562E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A72FE-8635-4B58-AB42-ED1700E94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046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1E8BF-9305-36FE-D2B7-4DA751385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A58E9-ADDC-20BA-C14A-2D73A47AA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21929B-1EDC-C9D8-9236-77C8C05DF3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023D86-1B3B-C9C0-DFF7-23B801A5B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CBB19-2299-49C9-A838-84182D89A2BB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FB6A59-8187-8A85-543C-B70B5514E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955AB2-5A7D-F574-5B4F-DEA3A86B4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A72FE-8635-4B58-AB42-ED1700E94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535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2C167-918B-267B-4935-60FE613B1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686268-5AC0-CCA7-C1FB-D79A5F3A4E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50DF51-2F74-0256-5370-85284DF4BE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E7A9EF-F972-6083-57AC-25372948A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CBB19-2299-49C9-A838-84182D89A2BB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D513D8-F128-22C3-694A-9EBD93AE0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45E6CF-6EB1-A538-6C30-514B7BF35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A72FE-8635-4B58-AB42-ED1700E94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191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A181D-56E7-244D-254E-7A45F1C39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49FEF7-F4AB-94F9-97CD-F68911332A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48B20-873C-E630-9E42-F04AF5D05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CBB19-2299-49C9-A838-84182D89A2BB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2DE7A9-FF8F-7E4B-F8D5-9A1A1F2B7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207C1C-0446-C5A3-7B47-6B8F0EAF2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A72FE-8635-4B58-AB42-ED1700E94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002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AECE69-07E0-D1D4-A495-431B32761B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CFBDEC-9FFF-90A9-3E55-93C14E1538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27DDBA-9170-611E-2CCE-5063A6E24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CBB19-2299-49C9-A838-84182D89A2BB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06554-2434-CC96-CEC4-D524376F1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53EB-A86A-BDF6-B513-5109D63C4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A72FE-8635-4B58-AB42-ED1700E94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1700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E13E1-6B18-668E-B11B-E8831FBB64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A2C340-9253-61BD-C68B-149F0C28C6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57D0B2-9443-B9EC-7A90-D47A97A27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7FCB0-C154-4AC2-8FB1-CED0B549503C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863D1F-85EA-3804-8C36-DC3BBCB6B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4E6F6-B413-34BC-371C-BB627AAD4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57CF5-9678-47F9-9B3F-FC35A2EE3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3870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FE3EB-A309-7095-E65D-D4232BF7E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56E85-D05A-FCB9-2165-A1829D18E7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51543-0F83-588A-94F6-70FF3A123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DCC2D-24E8-4D19-A3D4-BF5D7547EDA2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BD2ADB-87BD-C48D-D497-78A9CE6A6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01428-CFA6-46CB-E4F8-0D0E59450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764C6-7476-4DDF-AE74-1E71E8908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8619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1301A-A0A4-4390-C69C-57687117A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F3DCF-8D90-4CEA-382B-0084E3164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A70B0-317F-C520-2716-8AFA3118C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3EDA3-5168-4C65-9DB5-090288B50EBC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2C8D27-775A-A613-2C4B-70F2ADD1B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A12AA-E43C-A5B0-D233-B357699B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A7128-9529-4FE7-AE28-6F3CF2379D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567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75B2BA-05AF-E6BF-2A2D-66351DF87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83CDA-1783-9148-3BFF-A987D82C58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154E23-20EF-1350-1944-508073994B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ECBB19-2299-49C9-A838-84182D89A2BB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1F48CA-2ADE-709A-C95D-149691FB6A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9FBFE-29F0-6366-8DAF-D2E2E1C9C5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CA72FE-8635-4B58-AB42-ED1700E94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197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8784C3-1790-12B5-E837-F108EF8B2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8925C-5DD3-0B3F-3153-C8088EB3F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436B0A-DA2A-87FB-E81D-BF5F2B7395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97FCB0-C154-4AC2-8FB1-CED0B549503C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EB7BD-9500-39CF-AF68-35BB85FCA4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174DC-2A0A-E174-D33C-5F9264B14B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557CF5-9678-47F9-9B3F-FC35A2EE3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676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EC6C6E-FACC-4737-DA84-4933F8367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8D3C38-1D60-0BB4-765D-DF524761AD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672A44-EDB5-51A5-814A-47EBF2AEBC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1DCC2D-24E8-4D19-A3D4-BF5D7547EDA2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304F52-E9AF-55DC-F905-B07D0BB091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B978E-8C5A-D991-BC3F-55C82CAC0E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3764C6-7476-4DDF-AE74-1E71E8908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21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CD82C2-BD54-2A87-365F-70346E429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CA9B-2D17-6634-816F-B89A6CBD90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36325B-72F8-C946-B8F1-BF2D34EF96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B3EDA3-5168-4C65-9DB5-090288B50EBC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BC0A9-9BBC-AF6D-4910-7A7070F914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AD9C32-C47F-0CFA-0F20-E9AA152E9F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9A7128-9529-4FE7-AE28-6F3CF2379D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565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hyperlink" Target="../../NeuroApps/my_brain/rcgNii/BIDS_2/derivatives/sub-rcg.html" TargetMode="Externa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7.png"/><Relationship Id="rId5" Type="http://schemas.openxmlformats.org/officeDocument/2006/relationships/image" Target="../media/image26.jpeg"/><Relationship Id="rId4" Type="http://schemas.openxmlformats.org/officeDocument/2006/relationships/notesSlide" Target="../notesSlides/notesSlide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gif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hyperlink" Target="../../NeuroApps/my_brain/rcgNii/BIDS_2/derivatives/sub-rcg.html" TargetMode="Externa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FEC590B-3306-47E9-BD67-97F3F7616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11" name="Color">
              <a:extLst>
                <a:ext uri="{FF2B5EF4-FFF2-40B4-BE49-F238E27FC236}">
                  <a16:creationId xmlns:a16="http://schemas.microsoft.com/office/drawing/2014/main" id="{54F87DBC-E43C-4CE4-A8C5-61E3D68194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" name="Color">
              <a:extLst>
                <a:ext uri="{FF2B5EF4-FFF2-40B4-BE49-F238E27FC236}">
                  <a16:creationId xmlns:a16="http://schemas.microsoft.com/office/drawing/2014/main" id="{CD39A88A-7F84-4ACA-877B-E28BC26CD8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47AAF5E-1692-48C9-98FB-6432BF0B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F36A26D-E71D-4663-B197-8B7BFA37AD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A821CEB-DA96-4952-93B9-81F9C42BAD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C8EDE0-D69B-4F65-9AB7-DDE7EAD78E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46F0982-BF10-4BF6-842A-F631654FF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B313509-2128-42CA-81B6-C9EC23E44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589188C-E06E-4F8A-BDD1-02ADF140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B4E610F-FCD0-483F-B9F2-6DF2C28FE8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6354C4B-A321-2406-7D6C-7EB884DDCC2C}"/>
              </a:ext>
            </a:extLst>
          </p:cNvPr>
          <p:cNvGrpSpPr/>
          <p:nvPr/>
        </p:nvGrpSpPr>
        <p:grpSpPr>
          <a:xfrm>
            <a:off x="110703" y="49488"/>
            <a:ext cx="11995595" cy="6441663"/>
            <a:chOff x="110703" y="49488"/>
            <a:chExt cx="11995595" cy="6441663"/>
          </a:xfrm>
        </p:grpSpPr>
        <p:pic>
          <p:nvPicPr>
            <p:cNvPr id="4" name="Picture 2">
              <a:extLst>
                <a:ext uri="{FF2B5EF4-FFF2-40B4-BE49-F238E27FC236}">
                  <a16:creationId xmlns:a16="http://schemas.microsoft.com/office/drawing/2014/main" id="{2144F7E5-A3DE-C3B4-B75A-D4849B684F7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975"/>
            <a:stretch>
              <a:fillRect/>
            </a:stretch>
          </p:blipFill>
          <p:spPr bwMode="auto">
            <a:xfrm flipH="1">
              <a:off x="3969542" y="1880350"/>
              <a:ext cx="4651538" cy="46061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07928141-054E-BD22-A501-161BE96F1BB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975"/>
            <a:stretch>
              <a:fillRect/>
            </a:stretch>
          </p:blipFill>
          <p:spPr bwMode="auto">
            <a:xfrm>
              <a:off x="3476244" y="5139447"/>
              <a:ext cx="1360344" cy="1347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F21624BD-DEFD-549C-EE49-339704C1861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975"/>
            <a:stretch>
              <a:fillRect/>
            </a:stretch>
          </p:blipFill>
          <p:spPr bwMode="auto">
            <a:xfrm flipH="1">
              <a:off x="2750734" y="3594575"/>
              <a:ext cx="1460214" cy="14459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6B52F817-82BE-23EC-0964-310D34AEBD8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975"/>
            <a:stretch>
              <a:fillRect/>
            </a:stretch>
          </p:blipFill>
          <p:spPr bwMode="auto">
            <a:xfrm>
              <a:off x="375396" y="3183805"/>
              <a:ext cx="2354756" cy="23317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2">
              <a:extLst>
                <a:ext uri="{FF2B5EF4-FFF2-40B4-BE49-F238E27FC236}">
                  <a16:creationId xmlns:a16="http://schemas.microsoft.com/office/drawing/2014/main" id="{5186EF19-31E3-3BF4-4499-6329F183C1F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975"/>
            <a:stretch>
              <a:fillRect/>
            </a:stretch>
          </p:blipFill>
          <p:spPr bwMode="auto">
            <a:xfrm>
              <a:off x="110703" y="1122597"/>
              <a:ext cx="1242102" cy="12299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2">
              <a:extLst>
                <a:ext uri="{FF2B5EF4-FFF2-40B4-BE49-F238E27FC236}">
                  <a16:creationId xmlns:a16="http://schemas.microsoft.com/office/drawing/2014/main" id="{6FD863E0-829E-4606-63D8-A25D9164B7E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975"/>
            <a:stretch>
              <a:fillRect/>
            </a:stretch>
          </p:blipFill>
          <p:spPr bwMode="auto">
            <a:xfrm flipH="1">
              <a:off x="1597155" y="49488"/>
              <a:ext cx="1933784" cy="19149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2">
              <a:extLst>
                <a:ext uri="{FF2B5EF4-FFF2-40B4-BE49-F238E27FC236}">
                  <a16:creationId xmlns:a16="http://schemas.microsoft.com/office/drawing/2014/main" id="{5829CFD8-D81A-7AF1-04D7-E416B33A2F8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975"/>
            <a:stretch>
              <a:fillRect/>
            </a:stretch>
          </p:blipFill>
          <p:spPr bwMode="auto">
            <a:xfrm>
              <a:off x="2720896" y="2119790"/>
              <a:ext cx="1205645" cy="11938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2">
              <a:extLst>
                <a:ext uri="{FF2B5EF4-FFF2-40B4-BE49-F238E27FC236}">
                  <a16:creationId xmlns:a16="http://schemas.microsoft.com/office/drawing/2014/main" id="{81ECEA6B-DD5B-2267-2284-016B8FB1E92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975"/>
            <a:stretch>
              <a:fillRect/>
            </a:stretch>
          </p:blipFill>
          <p:spPr bwMode="auto">
            <a:xfrm>
              <a:off x="4014376" y="1684198"/>
              <a:ext cx="620864" cy="6148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2">
              <a:extLst>
                <a:ext uri="{FF2B5EF4-FFF2-40B4-BE49-F238E27FC236}">
                  <a16:creationId xmlns:a16="http://schemas.microsoft.com/office/drawing/2014/main" id="{AD4023EC-E81F-6627-D025-83E80B14FF6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975"/>
            <a:stretch>
              <a:fillRect/>
            </a:stretch>
          </p:blipFill>
          <p:spPr bwMode="auto">
            <a:xfrm flipH="1">
              <a:off x="1330527" y="2120264"/>
              <a:ext cx="873353" cy="8648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2">
              <a:extLst>
                <a:ext uri="{FF2B5EF4-FFF2-40B4-BE49-F238E27FC236}">
                  <a16:creationId xmlns:a16="http://schemas.microsoft.com/office/drawing/2014/main" id="{01BBE522-8701-2265-A668-C58A02E1D3F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975"/>
            <a:stretch>
              <a:fillRect/>
            </a:stretch>
          </p:blipFill>
          <p:spPr bwMode="auto">
            <a:xfrm>
              <a:off x="8356801" y="1150710"/>
              <a:ext cx="1610592" cy="15948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2">
              <a:extLst>
                <a:ext uri="{FF2B5EF4-FFF2-40B4-BE49-F238E27FC236}">
                  <a16:creationId xmlns:a16="http://schemas.microsoft.com/office/drawing/2014/main" id="{2EB0F1FA-6FF9-4CC7-65E7-9B21AC2FD76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975"/>
            <a:stretch>
              <a:fillRect/>
            </a:stretch>
          </p:blipFill>
          <p:spPr bwMode="auto">
            <a:xfrm>
              <a:off x="9816480" y="169770"/>
              <a:ext cx="1064045" cy="10536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2">
              <a:extLst>
                <a:ext uri="{FF2B5EF4-FFF2-40B4-BE49-F238E27FC236}">
                  <a16:creationId xmlns:a16="http://schemas.microsoft.com/office/drawing/2014/main" id="{03D8D9A5-BF5A-BEAB-2787-489E3E01755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975"/>
            <a:stretch>
              <a:fillRect/>
            </a:stretch>
          </p:blipFill>
          <p:spPr bwMode="auto">
            <a:xfrm flipH="1">
              <a:off x="9905375" y="2162381"/>
              <a:ext cx="1014697" cy="10048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2">
              <a:extLst>
                <a:ext uri="{FF2B5EF4-FFF2-40B4-BE49-F238E27FC236}">
                  <a16:creationId xmlns:a16="http://schemas.microsoft.com/office/drawing/2014/main" id="{545F69C3-08C3-C3EA-5D47-B9EFC2AAE78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975"/>
            <a:stretch>
              <a:fillRect/>
            </a:stretch>
          </p:blipFill>
          <p:spPr bwMode="auto">
            <a:xfrm flipH="1">
              <a:off x="8141249" y="3010732"/>
              <a:ext cx="844774" cy="8365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2">
              <a:extLst>
                <a:ext uri="{FF2B5EF4-FFF2-40B4-BE49-F238E27FC236}">
                  <a16:creationId xmlns:a16="http://schemas.microsoft.com/office/drawing/2014/main" id="{D7383249-1E68-FDB7-B515-0CC7180F0C2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975"/>
            <a:stretch>
              <a:fillRect/>
            </a:stretch>
          </p:blipFill>
          <p:spPr bwMode="auto">
            <a:xfrm>
              <a:off x="10135975" y="4540042"/>
              <a:ext cx="1970323" cy="19511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Picture 2">
              <a:extLst>
                <a:ext uri="{FF2B5EF4-FFF2-40B4-BE49-F238E27FC236}">
                  <a16:creationId xmlns:a16="http://schemas.microsoft.com/office/drawing/2014/main" id="{CA5ADDA8-A3CE-C5BA-ACF9-B4E28EE4E09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975"/>
            <a:stretch>
              <a:fillRect/>
            </a:stretch>
          </p:blipFill>
          <p:spPr bwMode="auto">
            <a:xfrm flipH="1">
              <a:off x="8240783" y="5124462"/>
              <a:ext cx="1360345" cy="1347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2">
              <a:extLst>
                <a:ext uri="{FF2B5EF4-FFF2-40B4-BE49-F238E27FC236}">
                  <a16:creationId xmlns:a16="http://schemas.microsoft.com/office/drawing/2014/main" id="{99A36D67-C077-E252-A4BC-0C9842E67BD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975"/>
            <a:stretch>
              <a:fillRect/>
            </a:stretch>
          </p:blipFill>
          <p:spPr bwMode="auto">
            <a:xfrm>
              <a:off x="10763153" y="3010732"/>
              <a:ext cx="1320626" cy="13077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Picture 2">
              <a:extLst>
                <a:ext uri="{FF2B5EF4-FFF2-40B4-BE49-F238E27FC236}">
                  <a16:creationId xmlns:a16="http://schemas.microsoft.com/office/drawing/2014/main" id="{F84C7FEE-0431-655A-E762-902A736117F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975"/>
            <a:stretch>
              <a:fillRect/>
            </a:stretch>
          </p:blipFill>
          <p:spPr bwMode="auto">
            <a:xfrm>
              <a:off x="8950335" y="3479528"/>
              <a:ext cx="1483563" cy="14690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493C7D5-9357-0BE6-37B8-E0C51C8AF3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6797" y="666352"/>
            <a:ext cx="10558405" cy="3044335"/>
          </a:xfrm>
        </p:spPr>
        <p:txBody>
          <a:bodyPr anchor="b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UVA Brainhack!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BB5031-D951-D78E-CF2A-18BF4B0D5F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9708" y="3866064"/>
            <a:ext cx="10558405" cy="2234485"/>
          </a:xfrm>
        </p:spPr>
        <p:txBody>
          <a:bodyPr anchor="t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===== Week 5 =====</a:t>
            </a:r>
          </a:p>
          <a:p>
            <a:r>
              <a:rPr lang="en-US" dirty="0">
                <a:solidFill>
                  <a:schemeClr val="bg1"/>
                </a:solidFill>
              </a:rPr>
              <a:t>6/27/2025</a:t>
            </a:r>
          </a:p>
        </p:txBody>
      </p:sp>
    </p:spTree>
    <p:extLst>
      <p:ext uri="{BB962C8B-B14F-4D97-AF65-F5344CB8AC3E}">
        <p14:creationId xmlns:p14="http://schemas.microsoft.com/office/powerpoint/2010/main" val="2923258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4" presetClass="emph" presetSubtype="0" repeatCount="indefinite" fill="hold" grpId="1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25000"/>
                                  </p:iterate>
                                  <p:childTnLst>
                                    <p:animMotion origin="layout" path="M 0 -1.48148E-6 L 0 -0.10347 " pathEditMode="relative" rAng="0" ptsTypes="AA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185"/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" presetID="34" presetClass="emph" presetSubtype="0" repeatCount="indefinite" fill="hold" grpId="1" nodeType="withEffect">
                                  <p:stCondLst>
                                    <p:cond delay="4700"/>
                                  </p:stCondLst>
                                  <p:iterate type="lt">
                                    <p:tmPct val="25000"/>
                                  </p:iterate>
                                  <p:childTnLst>
                                    <p:animMotion origin="layout" path="M -4.16667E-7 -2.96296E-6 L -0.00026 -0.05324 " pathEditMode="relative" rAng="0" ptsTypes="AA">
                                      <p:cBhvr>
                                        <p:cTn id="21" dur="10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-2662"/>
                                    </p:animMotion>
                                    <p:animRot by="1500000">
                                      <p:cBhvr>
                                        <p:cTn id="2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3" dur="5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4" dur="50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5" dur="500" fill="hold">
                                          <p:stCondLst>
                                            <p:cond delay="1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" presetID="34" presetClass="emph" presetSubtype="0" repeatCount="indefinite" fill="hold" nodeType="withEffect">
                                  <p:stCondLst>
                                    <p:cond delay="12500"/>
                                  </p:stCondLst>
                                  <p:iterate type="lt">
                                    <p:tmPct val="25000"/>
                                  </p:iterate>
                                  <p:childTnLst>
                                    <p:animMotion origin="layout" path="M -2.08333E-7 -3.7037E-7 L -0.00013 -0.01343 " pathEditMode="relative" rAng="0" ptsTypes="AA">
                                      <p:cBhvr>
                                        <p:cTn id="27" dur="1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-671"/>
                                    </p:animMotion>
                                    <p:animRot by="1500000">
                                      <p:cBhvr>
                                        <p:cTn id="28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9" dur="7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0" dur="750" fill="hold">
                                          <p:stCondLst>
                                            <p:cond delay="1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31" dur="750" fill="hold">
                                          <p:stCondLst>
                                            <p:cond delay="22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 uiExpand="1" build="p"/>
      <p:bldP spid="3" grpId="1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58B9B6-F811-B299-F5B1-F469CB6E3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r>
              <a:rPr lang="en-US" sz="5200" b="1"/>
              <a:t>Agenda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A03BC01-DDFC-2D25-A5E3-E6EBCA972D6A}"/>
              </a:ext>
            </a:extLst>
          </p:cNvPr>
          <p:cNvGrpSpPr/>
          <p:nvPr/>
        </p:nvGrpSpPr>
        <p:grpSpPr>
          <a:xfrm>
            <a:off x="836675" y="1912761"/>
            <a:ext cx="10515600" cy="474974"/>
            <a:chOff x="0" y="37268"/>
            <a:chExt cx="10515600" cy="982800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604F23B0-C585-A519-43C0-BA23017149CF}"/>
                </a:ext>
              </a:extLst>
            </p:cNvPr>
            <p:cNvSpPr/>
            <p:nvPr/>
          </p:nvSpPr>
          <p:spPr>
            <a:xfrm>
              <a:off x="0" y="37268"/>
              <a:ext cx="10515600" cy="982800"/>
            </a:xfrm>
            <a:prstGeom prst="roundRect">
              <a:avLst/>
            </a:prstGeom>
            <a:gradFill>
              <a:gsLst>
                <a:gs pos="0">
                  <a:schemeClr val="accent5">
                    <a:lumMod val="60000"/>
                    <a:lumOff val="40000"/>
                  </a:schemeClr>
                </a:gs>
                <a:gs pos="50000">
                  <a:schemeClr val="accent5">
                    <a:lumMod val="60000"/>
                    <a:lumOff val="40000"/>
                  </a:schemeClr>
                </a:gs>
                <a:gs pos="100000">
                  <a:schemeClr val="accent5">
                    <a:lumMod val="40000"/>
                    <a:lumOff val="60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3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20" name="Rectangle: Rounded Corners 4">
              <a:extLst>
                <a:ext uri="{FF2B5EF4-FFF2-40B4-BE49-F238E27FC236}">
                  <a16:creationId xmlns:a16="http://schemas.microsoft.com/office/drawing/2014/main" id="{ED0174B2-9756-D3B9-233E-37EEC5B02B09}"/>
                </a:ext>
              </a:extLst>
            </p:cNvPr>
            <p:cNvSpPr txBox="1"/>
            <p:nvPr/>
          </p:nvSpPr>
          <p:spPr>
            <a:xfrm>
              <a:off x="47976" y="85244"/>
              <a:ext cx="9231806" cy="88684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52400" tIns="152400" rIns="152400" bIns="152400" numCol="1" spcCol="1270" anchor="ctr" anchorCtr="0">
              <a:noAutofit/>
            </a:bodyPr>
            <a:lstStyle/>
            <a:p>
              <a:pPr marL="0" lvl="0" indent="0" algn="l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000" kern="1200" dirty="0">
                  <a:solidFill>
                    <a:schemeClr val="tx1"/>
                  </a:solidFill>
                </a:rPr>
                <a:t>MR Preprocessing (Continued)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987EE89-A3FC-B9BB-5F2E-C5CD4B0EDA86}"/>
              </a:ext>
            </a:extLst>
          </p:cNvPr>
          <p:cNvGrpSpPr/>
          <p:nvPr/>
        </p:nvGrpSpPr>
        <p:grpSpPr>
          <a:xfrm>
            <a:off x="829497" y="3365962"/>
            <a:ext cx="10515600" cy="474973"/>
            <a:chOff x="0" y="1135269"/>
            <a:chExt cx="10515600" cy="982800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A93C4F3F-4D7B-07A8-4DAA-9093A449A4EE}"/>
                </a:ext>
              </a:extLst>
            </p:cNvPr>
            <p:cNvSpPr/>
            <p:nvPr/>
          </p:nvSpPr>
          <p:spPr>
            <a:xfrm>
              <a:off x="0" y="1135269"/>
              <a:ext cx="10515600" cy="982800"/>
            </a:xfrm>
            <a:prstGeom prst="roundRect">
              <a:avLst/>
            </a:prstGeom>
            <a:gradFill>
              <a:gsLst>
                <a:gs pos="0">
                  <a:srgbClr val="FFFF00"/>
                </a:gs>
                <a:gs pos="50000">
                  <a:srgbClr val="FFFF00"/>
                </a:gs>
                <a:gs pos="100000">
                  <a:srgbClr val="FFFF99"/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3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24" name="Rectangle: Rounded Corners 4">
              <a:extLst>
                <a:ext uri="{FF2B5EF4-FFF2-40B4-BE49-F238E27FC236}">
                  <a16:creationId xmlns:a16="http://schemas.microsoft.com/office/drawing/2014/main" id="{FF8190A1-87C8-CBC4-89A4-CF9B904C3F32}"/>
                </a:ext>
              </a:extLst>
            </p:cNvPr>
            <p:cNvSpPr txBox="1"/>
            <p:nvPr/>
          </p:nvSpPr>
          <p:spPr>
            <a:xfrm>
              <a:off x="47976" y="1183245"/>
              <a:ext cx="9449520" cy="88684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52400" tIns="152400" rIns="152400" bIns="152400" numCol="1" spcCol="1270" anchor="ctr" anchorCtr="0">
              <a:noAutofit/>
            </a:bodyPr>
            <a:lstStyle/>
            <a:p>
              <a:pPr marL="0" lvl="0" indent="0" algn="l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000" dirty="0">
                  <a:solidFill>
                    <a:schemeClr val="tx1"/>
                  </a:solidFill>
                </a:rPr>
                <a:t>Analysis!</a:t>
              </a:r>
              <a:endParaRPr lang="en-US" sz="4000" kern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B89E1B3-7DA3-61AF-F3BA-8CB422DE6862}"/>
              </a:ext>
            </a:extLst>
          </p:cNvPr>
          <p:cNvGrpSpPr/>
          <p:nvPr/>
        </p:nvGrpSpPr>
        <p:grpSpPr>
          <a:xfrm>
            <a:off x="851956" y="4781966"/>
            <a:ext cx="10515600" cy="474972"/>
            <a:chOff x="0" y="2233269"/>
            <a:chExt cx="10515600" cy="982800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155CD7FD-CF50-51A0-4C14-093728B3C602}"/>
                </a:ext>
              </a:extLst>
            </p:cNvPr>
            <p:cNvSpPr/>
            <p:nvPr/>
          </p:nvSpPr>
          <p:spPr>
            <a:xfrm>
              <a:off x="0" y="2233269"/>
              <a:ext cx="10515600" cy="982800"/>
            </a:xfrm>
            <a:prstGeom prst="roundRect">
              <a:avLst/>
            </a:prstGeom>
            <a:gradFill>
              <a:gsLst>
                <a:gs pos="0">
                  <a:srgbClr val="FFC000"/>
                </a:gs>
                <a:gs pos="50000">
                  <a:srgbClr val="FFCC00"/>
                </a:gs>
                <a:gs pos="100000">
                  <a:srgbClr val="FFCC00"/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3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28" name="Rectangle: Rounded Corners 4">
              <a:extLst>
                <a:ext uri="{FF2B5EF4-FFF2-40B4-BE49-F238E27FC236}">
                  <a16:creationId xmlns:a16="http://schemas.microsoft.com/office/drawing/2014/main" id="{2CCD40DA-E508-D96F-7662-8528143775A0}"/>
                </a:ext>
              </a:extLst>
            </p:cNvPr>
            <p:cNvSpPr txBox="1"/>
            <p:nvPr/>
          </p:nvSpPr>
          <p:spPr>
            <a:xfrm>
              <a:off x="47976" y="2281245"/>
              <a:ext cx="9972035" cy="88684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52400" tIns="152400" rIns="152400" bIns="152400" numCol="1" spcCol="1270" anchor="ctr" anchorCtr="0">
              <a:noAutofit/>
            </a:bodyPr>
            <a:lstStyle/>
            <a:p>
              <a:pPr marL="0" lvl="0" indent="0" algn="l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000" kern="1200" dirty="0" err="1">
                  <a:solidFill>
                    <a:schemeClr val="tx1"/>
                  </a:solidFill>
                </a:rPr>
                <a:t>Slurm</a:t>
              </a:r>
              <a:endParaRPr lang="en-US" sz="4000" kern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448856C-684D-0FB0-625F-312F4859B0B5}"/>
              </a:ext>
            </a:extLst>
          </p:cNvPr>
          <p:cNvGrpSpPr/>
          <p:nvPr/>
        </p:nvGrpSpPr>
        <p:grpSpPr>
          <a:xfrm>
            <a:off x="836675" y="5506019"/>
            <a:ext cx="10515600" cy="474971"/>
            <a:chOff x="0" y="3368538"/>
            <a:chExt cx="10515600" cy="982800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633A8BE7-5A45-01F1-2CC7-D9D0D28E1F4B}"/>
                </a:ext>
              </a:extLst>
            </p:cNvPr>
            <p:cNvSpPr/>
            <p:nvPr/>
          </p:nvSpPr>
          <p:spPr>
            <a:xfrm>
              <a:off x="0" y="3368538"/>
              <a:ext cx="10515600" cy="982800"/>
            </a:xfrm>
            <a:prstGeom prst="roundRect">
              <a:avLst/>
            </a:prstGeom>
            <a:gradFill>
              <a:gsLst>
                <a:gs pos="0">
                  <a:srgbClr val="FF5050"/>
                </a:gs>
                <a:gs pos="50000">
                  <a:srgbClr val="CC0000"/>
                </a:gs>
                <a:gs pos="100000">
                  <a:srgbClr val="CC0000"/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3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36" name="Rectangle: Rounded Corners 4">
              <a:extLst>
                <a:ext uri="{FF2B5EF4-FFF2-40B4-BE49-F238E27FC236}">
                  <a16:creationId xmlns:a16="http://schemas.microsoft.com/office/drawing/2014/main" id="{D93FAA92-EDBB-B28B-34A5-2392107F2AEC}"/>
                </a:ext>
              </a:extLst>
            </p:cNvPr>
            <p:cNvSpPr txBox="1"/>
            <p:nvPr/>
          </p:nvSpPr>
          <p:spPr>
            <a:xfrm>
              <a:off x="47976" y="3416514"/>
              <a:ext cx="9696263" cy="88684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52400" tIns="152400" rIns="152400" bIns="152400" numCol="1" spcCol="1270" anchor="ctr" anchorCtr="0">
              <a:noAutofit/>
            </a:bodyPr>
            <a:lstStyle/>
            <a:p>
              <a:pPr marL="0" lvl="0" indent="0" algn="l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000" kern="1200" dirty="0">
                  <a:solidFill>
                    <a:schemeClr val="tx1"/>
                  </a:solidFill>
                </a:rPr>
                <a:t>Hacking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0742DAE9-D134-CBFA-07A7-91F2E303CD4F}"/>
              </a:ext>
            </a:extLst>
          </p:cNvPr>
          <p:cNvGrpSpPr/>
          <p:nvPr/>
        </p:nvGrpSpPr>
        <p:grpSpPr>
          <a:xfrm>
            <a:off x="1623317" y="2636814"/>
            <a:ext cx="9721780" cy="474974"/>
            <a:chOff x="0" y="37268"/>
            <a:chExt cx="10515600" cy="9828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2167C5D2-0F4A-D223-52B6-13DC35CA4116}"/>
                </a:ext>
              </a:extLst>
            </p:cNvPr>
            <p:cNvSpPr/>
            <p:nvPr/>
          </p:nvSpPr>
          <p:spPr>
            <a:xfrm>
              <a:off x="0" y="37268"/>
              <a:ext cx="10515600" cy="982800"/>
            </a:xfrm>
            <a:prstGeom prst="roundRect">
              <a:avLst/>
            </a:prstGeom>
            <a:gradFill>
              <a:gsLst>
                <a:gs pos="0">
                  <a:schemeClr val="tx2">
                    <a:lumMod val="50000"/>
                    <a:lumOff val="50000"/>
                  </a:schemeClr>
                </a:gs>
                <a:gs pos="50000">
                  <a:schemeClr val="tx2">
                    <a:lumMod val="50000"/>
                    <a:lumOff val="50000"/>
                  </a:schemeClr>
                </a:gs>
                <a:gs pos="100000">
                  <a:schemeClr val="tx2">
                    <a:lumMod val="25000"/>
                    <a:lumOff val="7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3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6" name="Rectangle: Rounded Corners 4">
              <a:extLst>
                <a:ext uri="{FF2B5EF4-FFF2-40B4-BE49-F238E27FC236}">
                  <a16:creationId xmlns:a16="http://schemas.microsoft.com/office/drawing/2014/main" id="{96782766-A12B-8DF2-D986-3641AF85E895}"/>
                </a:ext>
              </a:extLst>
            </p:cNvPr>
            <p:cNvSpPr txBox="1"/>
            <p:nvPr/>
          </p:nvSpPr>
          <p:spPr>
            <a:xfrm>
              <a:off x="47976" y="85244"/>
              <a:ext cx="9231806" cy="88684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52400" tIns="152400" rIns="152400" bIns="152400" numCol="1" spcCol="1270" anchor="ctr" anchorCtr="0">
              <a:noAutofit/>
            </a:bodyPr>
            <a:lstStyle/>
            <a:p>
              <a:pPr marL="0" lvl="0" indent="0" algn="l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000" kern="1200" dirty="0">
                  <a:solidFill>
                    <a:schemeClr val="tx1"/>
                  </a:solidFill>
                </a:rPr>
                <a:t>Review </a:t>
              </a:r>
              <a:r>
                <a:rPr lang="en-US" sz="4000" kern="1200" dirty="0" err="1">
                  <a:solidFill>
                    <a:schemeClr val="tx1"/>
                  </a:solidFill>
                </a:rPr>
                <a:t>fMRIPrep</a:t>
              </a:r>
              <a:r>
                <a:rPr lang="en-US" sz="4000" kern="1200" dirty="0">
                  <a:solidFill>
                    <a:schemeClr val="tx1"/>
                  </a:solidFill>
                </a:rPr>
                <a:t> Output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6295ED6-1917-55E6-AEDF-E8EEE16F1039}"/>
              </a:ext>
            </a:extLst>
          </p:cNvPr>
          <p:cNvGrpSpPr/>
          <p:nvPr/>
        </p:nvGrpSpPr>
        <p:grpSpPr>
          <a:xfrm>
            <a:off x="1578391" y="4057911"/>
            <a:ext cx="9728958" cy="474974"/>
            <a:chOff x="0" y="37268"/>
            <a:chExt cx="10515600" cy="982800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5D9160BB-2012-9C31-4211-8AA4BB461591}"/>
                </a:ext>
              </a:extLst>
            </p:cNvPr>
            <p:cNvSpPr/>
            <p:nvPr/>
          </p:nvSpPr>
          <p:spPr>
            <a:xfrm>
              <a:off x="0" y="37268"/>
              <a:ext cx="10515600" cy="982800"/>
            </a:xfrm>
            <a:prstGeom prst="roundRect">
              <a:avLst/>
            </a:prstGeom>
            <a:gradFill>
              <a:gsLst>
                <a:gs pos="0">
                  <a:schemeClr val="accent6">
                    <a:lumMod val="60000"/>
                    <a:lumOff val="40000"/>
                  </a:schemeClr>
                </a:gs>
                <a:gs pos="50000">
                  <a:schemeClr val="accent6">
                    <a:lumMod val="60000"/>
                    <a:lumOff val="40000"/>
                  </a:schemeClr>
                </a:gs>
                <a:gs pos="100000">
                  <a:schemeClr val="accent6">
                    <a:lumMod val="40000"/>
                    <a:lumOff val="60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3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9" name="Rectangle: Rounded Corners 4">
              <a:extLst>
                <a:ext uri="{FF2B5EF4-FFF2-40B4-BE49-F238E27FC236}">
                  <a16:creationId xmlns:a16="http://schemas.microsoft.com/office/drawing/2014/main" id="{5A6574FE-5D20-C1C6-5204-9E6BC1C47C13}"/>
                </a:ext>
              </a:extLst>
            </p:cNvPr>
            <p:cNvSpPr txBox="1"/>
            <p:nvPr/>
          </p:nvSpPr>
          <p:spPr>
            <a:xfrm>
              <a:off x="47976" y="85244"/>
              <a:ext cx="9231806" cy="88684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52400" tIns="152400" rIns="152400" bIns="152400" numCol="1" spcCol="1270" anchor="ctr" anchorCtr="0">
              <a:noAutofit/>
            </a:bodyPr>
            <a:lstStyle/>
            <a:p>
              <a:pPr marL="0" lvl="0" indent="0" algn="l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000" kern="1200" dirty="0">
                  <a:solidFill>
                    <a:schemeClr val="tx1"/>
                  </a:solidFill>
                </a:rPr>
                <a:t>Denoising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87154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"/>
                            </p:stCondLst>
                            <p:childTnLst>
                              <p:par>
                                <p:cTn id="3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6" dur="7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150" fill="hold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8" dur="15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9" dur="15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0" dur="15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09AE4-F2AF-6931-8240-8502C4EE5E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Preprocessing (cont.)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2DF8BA-B7A0-75F1-DEBF-C5EB6C1F57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The most important stuff!</a:t>
            </a:r>
          </a:p>
        </p:txBody>
      </p:sp>
    </p:spTree>
    <p:extLst>
      <p:ext uri="{BB962C8B-B14F-4D97-AF65-F5344CB8AC3E}">
        <p14:creationId xmlns:p14="http://schemas.microsoft.com/office/powerpoint/2010/main" val="14179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A8C0C-F650-0F3D-0615-DE383D7FD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43DFA-5B3C-70B3-C494-40C8EFD7FF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596881"/>
            <a:ext cx="7679076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GNL warp correction</a:t>
            </a:r>
          </a:p>
          <a:p>
            <a:r>
              <a:rPr lang="en-US" dirty="0"/>
              <a:t>Eddy current correction</a:t>
            </a:r>
            <a:r>
              <a:rPr lang="en-US" b="1" dirty="0"/>
              <a:t>*</a:t>
            </a:r>
          </a:p>
          <a:p>
            <a:r>
              <a:rPr lang="en-US" dirty="0"/>
              <a:t>Bias-field correction</a:t>
            </a:r>
            <a:r>
              <a:rPr lang="en-US" b="1" dirty="0"/>
              <a:t>**</a:t>
            </a:r>
          </a:p>
          <a:p>
            <a:r>
              <a:rPr lang="en-US" dirty="0"/>
              <a:t>Motion correction</a:t>
            </a:r>
            <a:r>
              <a:rPr lang="en-US" b="1" dirty="0"/>
              <a:t>*</a:t>
            </a:r>
          </a:p>
          <a:p>
            <a:r>
              <a:rPr lang="en-US" dirty="0"/>
              <a:t>Susceptibility distortion correction</a:t>
            </a:r>
          </a:p>
          <a:p>
            <a:r>
              <a:rPr lang="en-US" dirty="0"/>
              <a:t>Slice-time correction</a:t>
            </a:r>
          </a:p>
          <a:p>
            <a:r>
              <a:rPr lang="en-US" dirty="0"/>
              <a:t>Skull-stripping/tissue segmentation</a:t>
            </a:r>
          </a:p>
          <a:p>
            <a:r>
              <a:rPr lang="en-US" dirty="0"/>
              <a:t>Spatial normalization and functional-structural co-registration</a:t>
            </a:r>
          </a:p>
          <a:p>
            <a:r>
              <a:rPr lang="en-US" dirty="0"/>
              <a:t>Smoothing</a:t>
            </a:r>
          </a:p>
          <a:p>
            <a:r>
              <a:rPr lang="en-US" dirty="0"/>
              <a:t>Defacing</a:t>
            </a:r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F27DC8C-A4AC-B93D-8E22-C5B82CEDD5DF}"/>
              </a:ext>
            </a:extLst>
          </p:cNvPr>
          <p:cNvGrpSpPr/>
          <p:nvPr/>
        </p:nvGrpSpPr>
        <p:grpSpPr>
          <a:xfrm>
            <a:off x="8517274" y="1596881"/>
            <a:ext cx="2171480" cy="4051300"/>
            <a:chOff x="8293437" y="1825625"/>
            <a:chExt cx="2171480" cy="4051300"/>
          </a:xfrm>
        </p:grpSpPr>
        <p:sp>
          <p:nvSpPr>
            <p:cNvPr id="6" name="Right Brace 5">
              <a:extLst>
                <a:ext uri="{FF2B5EF4-FFF2-40B4-BE49-F238E27FC236}">
                  <a16:creationId xmlns:a16="http://schemas.microsoft.com/office/drawing/2014/main" id="{F53D59A9-D648-2C3D-F6A2-BE13101715E2}"/>
                </a:ext>
              </a:extLst>
            </p:cNvPr>
            <p:cNvSpPr/>
            <p:nvPr/>
          </p:nvSpPr>
          <p:spPr>
            <a:xfrm>
              <a:off x="8293437" y="1825625"/>
              <a:ext cx="447675" cy="1460500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ight Brace 6">
              <a:extLst>
                <a:ext uri="{FF2B5EF4-FFF2-40B4-BE49-F238E27FC236}">
                  <a16:creationId xmlns:a16="http://schemas.microsoft.com/office/drawing/2014/main" id="{451B3EAE-B9E5-8D5B-3472-5674255AF06B}"/>
                </a:ext>
              </a:extLst>
            </p:cNvPr>
            <p:cNvSpPr/>
            <p:nvPr/>
          </p:nvSpPr>
          <p:spPr>
            <a:xfrm>
              <a:off x="8293438" y="3286125"/>
              <a:ext cx="447675" cy="2590800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E4B2085-0D10-0461-BF93-F4249BF0AC4A}"/>
                </a:ext>
              </a:extLst>
            </p:cNvPr>
            <p:cNvSpPr txBox="1"/>
            <p:nvPr/>
          </p:nvSpPr>
          <p:spPr>
            <a:xfrm>
              <a:off x="8741112" y="2371209"/>
              <a:ext cx="17238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Scanner does it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69B2976-59F1-4B31-B83E-696EF03E8A17}"/>
                </a:ext>
              </a:extLst>
            </p:cNvPr>
            <p:cNvSpPr txBox="1"/>
            <p:nvPr/>
          </p:nvSpPr>
          <p:spPr>
            <a:xfrm>
              <a:off x="8741112" y="4377293"/>
              <a:ext cx="10277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You do it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440F6FF4-6319-56B4-531A-8F23C36D1C90}"/>
              </a:ext>
            </a:extLst>
          </p:cNvPr>
          <p:cNvSpPr txBox="1"/>
          <p:nvPr/>
        </p:nvSpPr>
        <p:spPr>
          <a:xfrm>
            <a:off x="838198" y="5909027"/>
            <a:ext cx="75110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*    </a:t>
            </a:r>
            <a:r>
              <a:rPr lang="en-US" sz="1600" dirty="0"/>
              <a:t>Scanner does it, but you need to do it too</a:t>
            </a:r>
          </a:p>
          <a:p>
            <a:r>
              <a:rPr lang="en-US" sz="1600" b="1" dirty="0"/>
              <a:t>**  </a:t>
            </a:r>
            <a:r>
              <a:rPr lang="en-US" sz="1600" dirty="0"/>
              <a:t>Scanner </a:t>
            </a:r>
            <a:r>
              <a:rPr lang="en-US" sz="1600" i="1" dirty="0"/>
              <a:t>can</a:t>
            </a:r>
            <a:r>
              <a:rPr lang="en-US" sz="1600" dirty="0"/>
              <a:t> do this, but </a:t>
            </a:r>
            <a:r>
              <a:rPr lang="en-US" sz="1600" i="1" dirty="0"/>
              <a:t>you should do it yourself </a:t>
            </a:r>
            <a:r>
              <a:rPr lang="en-US" sz="1600" dirty="0"/>
              <a:t>(turn </a:t>
            </a:r>
            <a:r>
              <a:rPr lang="en-US" sz="1600" dirty="0" err="1"/>
              <a:t>Prescan</a:t>
            </a:r>
            <a:r>
              <a:rPr lang="en-US" sz="1600" dirty="0"/>
              <a:t> Normalize OFF!)</a:t>
            </a:r>
          </a:p>
        </p:txBody>
      </p:sp>
    </p:spTree>
    <p:extLst>
      <p:ext uri="{BB962C8B-B14F-4D97-AF65-F5344CB8AC3E}">
        <p14:creationId xmlns:p14="http://schemas.microsoft.com/office/powerpoint/2010/main" val="3071117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3ACB7B0-01D4-47C2-E8B2-DEF1B1991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fMRIPrep</a:t>
            </a:r>
            <a:r>
              <a:rPr lang="en-US" dirty="0"/>
              <a:t> Pipeline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CB0037D-209D-B500-96C5-941536F0A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373" y="1859671"/>
            <a:ext cx="10147253" cy="4396898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273EE3AC-8392-BE8C-E25F-3A01A10DCF38}"/>
              </a:ext>
            </a:extLst>
          </p:cNvPr>
          <p:cNvGrpSpPr/>
          <p:nvPr/>
        </p:nvGrpSpPr>
        <p:grpSpPr>
          <a:xfrm>
            <a:off x="2438474" y="1571397"/>
            <a:ext cx="8731153" cy="1130706"/>
            <a:chOff x="2438474" y="1571397"/>
            <a:chExt cx="8731153" cy="1130706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6995840B-EB19-BBEF-CEC2-BA0FEFBF456E}"/>
                </a:ext>
              </a:extLst>
            </p:cNvPr>
            <p:cNvSpPr/>
            <p:nvPr/>
          </p:nvSpPr>
          <p:spPr>
            <a:xfrm>
              <a:off x="2856217" y="1821438"/>
              <a:ext cx="8313410" cy="880665"/>
            </a:xfrm>
            <a:prstGeom prst="roundRect">
              <a:avLst/>
            </a:prstGeom>
            <a:noFill/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BAB081F-551C-AC08-E3C8-79DDE80F50BC}"/>
                </a:ext>
              </a:extLst>
            </p:cNvPr>
            <p:cNvSpPr txBox="1"/>
            <p:nvPr/>
          </p:nvSpPr>
          <p:spPr>
            <a:xfrm rot="19398533">
              <a:off x="2438474" y="1571397"/>
              <a:ext cx="8354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INPUT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C047892-B6A7-1A70-B0A5-E4195CBC5C1C}"/>
              </a:ext>
            </a:extLst>
          </p:cNvPr>
          <p:cNvGrpSpPr/>
          <p:nvPr/>
        </p:nvGrpSpPr>
        <p:grpSpPr>
          <a:xfrm>
            <a:off x="6096000" y="5067300"/>
            <a:ext cx="4380685" cy="1412168"/>
            <a:chOff x="6096000" y="5067300"/>
            <a:chExt cx="4380685" cy="1412168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1649A81D-0121-F3E4-0A84-D8BC72759F70}"/>
                </a:ext>
              </a:extLst>
            </p:cNvPr>
            <p:cNvSpPr/>
            <p:nvPr/>
          </p:nvSpPr>
          <p:spPr>
            <a:xfrm>
              <a:off x="6096000" y="5067300"/>
              <a:ext cx="3787740" cy="1189269"/>
            </a:xfrm>
            <a:prstGeom prst="round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5AB7DF3-E105-1692-30E6-BA2FDE8EFCA9}"/>
                </a:ext>
              </a:extLst>
            </p:cNvPr>
            <p:cNvSpPr txBox="1"/>
            <p:nvPr/>
          </p:nvSpPr>
          <p:spPr>
            <a:xfrm rot="19398533">
              <a:off x="9428000" y="6110136"/>
              <a:ext cx="10486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OUTPUT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70252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FE486-2FF8-AD0E-C1DD-009BD44DC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fMRIPrep</a:t>
            </a:r>
            <a:r>
              <a:rPr lang="en-US" dirty="0"/>
              <a:t> Output</a:t>
            </a:r>
          </a:p>
        </p:txBody>
      </p:sp>
      <p:sp>
        <p:nvSpPr>
          <p:cNvPr id="23" name="Rectangle 22">
            <a:hlinkClick r:id="rId2" action="ppaction://hlinkfile"/>
            <a:extLst>
              <a:ext uri="{FF2B5EF4-FFF2-40B4-BE49-F238E27FC236}">
                <a16:creationId xmlns:a16="http://schemas.microsoft.com/office/drawing/2014/main" id="{57FF5281-AB67-DA55-EC2F-264F2B27F1FB}"/>
              </a:ext>
            </a:extLst>
          </p:cNvPr>
          <p:cNvSpPr/>
          <p:nvPr/>
        </p:nvSpPr>
        <p:spPr>
          <a:xfrm>
            <a:off x="838200" y="1689860"/>
            <a:ext cx="1917838" cy="3532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sub-rcg.html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0B65D12-2508-FC9D-0859-94783925E9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239608"/>
            <a:ext cx="3119378" cy="133687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476995A-FFDE-8062-6B54-495DBCD739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9" y="3576484"/>
            <a:ext cx="3119379" cy="133223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D87E901-2556-5442-1484-571E6761AA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4908719"/>
            <a:ext cx="3119378" cy="1323866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8AE25C7-FF88-1219-F99E-51C9592E3D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7047" y="2238556"/>
            <a:ext cx="4676645" cy="3994029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8D2A8089-CB29-A8CF-4571-BE3D2CC5745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49945"/>
          <a:stretch>
            <a:fillRect/>
          </a:stretch>
        </p:blipFill>
        <p:spPr>
          <a:xfrm>
            <a:off x="9193161" y="2239606"/>
            <a:ext cx="2320413" cy="1924023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40E11C04-AE01-B778-E547-E604A1AF180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0388" r="-443"/>
          <a:stretch>
            <a:fillRect/>
          </a:stretch>
        </p:blipFill>
        <p:spPr>
          <a:xfrm>
            <a:off x="9193162" y="4308563"/>
            <a:ext cx="2320412" cy="1924022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B74836E-B506-8925-7A89-6370A14AD640}"/>
              </a:ext>
            </a:extLst>
          </p:cNvPr>
          <p:cNvSpPr txBox="1"/>
          <p:nvPr/>
        </p:nvSpPr>
        <p:spPr>
          <a:xfrm rot="16200000">
            <a:off x="304079" y="2777241"/>
            <a:ext cx="80663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Skull-strip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6910343-A3DE-11DD-9624-025D9E81C738}"/>
              </a:ext>
            </a:extLst>
          </p:cNvPr>
          <p:cNvSpPr txBox="1"/>
          <p:nvPr/>
        </p:nvSpPr>
        <p:spPr>
          <a:xfrm rot="16200000">
            <a:off x="301675" y="4114117"/>
            <a:ext cx="81144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Normalize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A2CB6C2-CE9C-85B5-9F8C-B67B28CC6DD7}"/>
              </a:ext>
            </a:extLst>
          </p:cNvPr>
          <p:cNvSpPr txBox="1"/>
          <p:nvPr/>
        </p:nvSpPr>
        <p:spPr>
          <a:xfrm rot="16200000">
            <a:off x="258709" y="5439847"/>
            <a:ext cx="9044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Co-Register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CC7B97E-9A0A-8274-D795-94B96FEB0FA7}"/>
              </a:ext>
            </a:extLst>
          </p:cNvPr>
          <p:cNvSpPr/>
          <p:nvPr/>
        </p:nvSpPr>
        <p:spPr>
          <a:xfrm>
            <a:off x="4343400" y="3264694"/>
            <a:ext cx="4416552" cy="6855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932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/>
      <p:bldP spid="39" grpId="0"/>
      <p:bldP spid="4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138FA-577F-4BCA-97F6-F96DA1BC9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fMRIPrep</a:t>
            </a:r>
            <a:r>
              <a:rPr lang="en-US" dirty="0"/>
              <a:t> Output -- </a:t>
            </a:r>
            <a:r>
              <a:rPr lang="en-US" dirty="0" err="1"/>
              <a:t>anat</a:t>
            </a:r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30B59FC-835A-FF8B-95E4-AC110D037A24}"/>
              </a:ext>
            </a:extLst>
          </p:cNvPr>
          <p:cNvGrpSpPr/>
          <p:nvPr/>
        </p:nvGrpSpPr>
        <p:grpSpPr>
          <a:xfrm>
            <a:off x="838200" y="2071316"/>
            <a:ext cx="3478161" cy="3680259"/>
            <a:chOff x="936523" y="1550109"/>
            <a:chExt cx="3075432" cy="312736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8BC66CA-36FD-A59E-F423-F3CA9D80E2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50558" b="54067"/>
            <a:stretch>
              <a:fillRect/>
            </a:stretch>
          </p:blipFill>
          <p:spPr>
            <a:xfrm>
              <a:off x="936523" y="1550109"/>
              <a:ext cx="3075432" cy="244816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43FA367-64F5-7B9B-540B-2334924E68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87257" r="50558"/>
            <a:stretch>
              <a:fillRect/>
            </a:stretch>
          </p:blipFill>
          <p:spPr>
            <a:xfrm>
              <a:off x="936523" y="3998269"/>
              <a:ext cx="3075432" cy="679202"/>
            </a:xfrm>
            <a:prstGeom prst="rect">
              <a:avLst/>
            </a:prstGeom>
          </p:spPr>
        </p:pic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A1C70119-029F-CAA0-FC5B-E56454D5D59B}"/>
              </a:ext>
            </a:extLst>
          </p:cNvPr>
          <p:cNvSpPr/>
          <p:nvPr/>
        </p:nvSpPr>
        <p:spPr>
          <a:xfrm>
            <a:off x="4316361" y="2071316"/>
            <a:ext cx="7037439" cy="3680259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A047857A-F781-758C-B26F-46178FFCEE59}"/>
              </a:ext>
            </a:extLst>
          </p:cNvPr>
          <p:cNvGrpSpPr/>
          <p:nvPr/>
        </p:nvGrpSpPr>
        <p:grpSpPr>
          <a:xfrm>
            <a:off x="2985516" y="2164453"/>
            <a:ext cx="4794401" cy="400657"/>
            <a:chOff x="2985516" y="2164453"/>
            <a:chExt cx="4794401" cy="400657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33A379FC-C3D6-241B-50C9-D91E94DF9EED}"/>
                </a:ext>
              </a:extLst>
            </p:cNvPr>
            <p:cNvCxnSpPr>
              <a:cxnSpLocks/>
              <a:stCxn id="17" idx="1"/>
              <a:endCxn id="33" idx="1"/>
            </p:cNvCxnSpPr>
            <p:nvPr/>
          </p:nvCxnSpPr>
          <p:spPr>
            <a:xfrm flipV="1">
              <a:off x="3227832" y="2360019"/>
              <a:ext cx="1812874" cy="476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ight Brace 16">
              <a:extLst>
                <a:ext uri="{FF2B5EF4-FFF2-40B4-BE49-F238E27FC236}">
                  <a16:creationId xmlns:a16="http://schemas.microsoft.com/office/drawing/2014/main" id="{DAE68A21-0412-C7D7-7ADE-DD37073C5915}"/>
                </a:ext>
              </a:extLst>
            </p:cNvPr>
            <p:cNvSpPr/>
            <p:nvPr/>
          </p:nvSpPr>
          <p:spPr>
            <a:xfrm>
              <a:off x="2985516" y="2164453"/>
              <a:ext cx="242316" cy="400657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209B096-BAC9-76AF-F03D-974FB6568D38}"/>
                </a:ext>
              </a:extLst>
            </p:cNvPr>
            <p:cNvSpPr txBox="1"/>
            <p:nvPr/>
          </p:nvSpPr>
          <p:spPr>
            <a:xfrm>
              <a:off x="5040706" y="2175353"/>
              <a:ext cx="27392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Atlas-based parcellations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37A353FE-58FE-AC6C-5D00-E0691B1E13DE}"/>
              </a:ext>
            </a:extLst>
          </p:cNvPr>
          <p:cNvGrpSpPr/>
          <p:nvPr/>
        </p:nvGrpSpPr>
        <p:grpSpPr>
          <a:xfrm>
            <a:off x="2985516" y="2663037"/>
            <a:ext cx="3345480" cy="400657"/>
            <a:chOff x="2985516" y="2663037"/>
            <a:chExt cx="3345480" cy="400657"/>
          </a:xfrm>
        </p:grpSpPr>
        <p:sp>
          <p:nvSpPr>
            <p:cNvPr id="18" name="Right Brace 17">
              <a:extLst>
                <a:ext uri="{FF2B5EF4-FFF2-40B4-BE49-F238E27FC236}">
                  <a16:creationId xmlns:a16="http://schemas.microsoft.com/office/drawing/2014/main" id="{BF266CA1-F41E-DFD9-005C-EA4F195DEFF7}"/>
                </a:ext>
              </a:extLst>
            </p:cNvPr>
            <p:cNvSpPr/>
            <p:nvPr/>
          </p:nvSpPr>
          <p:spPr>
            <a:xfrm>
              <a:off x="2985516" y="2663037"/>
              <a:ext cx="242316" cy="400657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93FF0D3E-826C-13DA-6E1F-1D3F4F1E3FB1}"/>
                </a:ext>
              </a:extLst>
            </p:cNvPr>
            <p:cNvCxnSpPr>
              <a:cxnSpLocks/>
              <a:stCxn id="18" idx="1"/>
              <a:endCxn id="36" idx="1"/>
            </p:cNvCxnSpPr>
            <p:nvPr/>
          </p:nvCxnSpPr>
          <p:spPr>
            <a:xfrm flipV="1">
              <a:off x="3227832" y="2862763"/>
              <a:ext cx="1812874" cy="60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0857400-A238-644C-F628-18F89D562EEB}"/>
                </a:ext>
              </a:extLst>
            </p:cNvPr>
            <p:cNvSpPr txBox="1"/>
            <p:nvPr/>
          </p:nvSpPr>
          <p:spPr>
            <a:xfrm>
              <a:off x="5040706" y="2678097"/>
              <a:ext cx="12902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Brain mask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E8E1A164-DCFB-831C-B979-4379A64ACF90}"/>
              </a:ext>
            </a:extLst>
          </p:cNvPr>
          <p:cNvGrpSpPr/>
          <p:nvPr/>
        </p:nvGrpSpPr>
        <p:grpSpPr>
          <a:xfrm>
            <a:off x="2985516" y="3228671"/>
            <a:ext cx="4156086" cy="400657"/>
            <a:chOff x="2985516" y="3228671"/>
            <a:chExt cx="4156086" cy="400657"/>
          </a:xfrm>
        </p:grpSpPr>
        <p:sp>
          <p:nvSpPr>
            <p:cNvPr id="19" name="Right Brace 18">
              <a:extLst>
                <a:ext uri="{FF2B5EF4-FFF2-40B4-BE49-F238E27FC236}">
                  <a16:creationId xmlns:a16="http://schemas.microsoft.com/office/drawing/2014/main" id="{30827201-03E7-3AA9-4E87-28E2D0319EC5}"/>
                </a:ext>
              </a:extLst>
            </p:cNvPr>
            <p:cNvSpPr/>
            <p:nvPr/>
          </p:nvSpPr>
          <p:spPr>
            <a:xfrm>
              <a:off x="2985516" y="3228671"/>
              <a:ext cx="242316" cy="400657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27FB7034-1A8E-6218-0DE8-D735FDCDDFCE}"/>
                </a:ext>
              </a:extLst>
            </p:cNvPr>
            <p:cNvCxnSpPr>
              <a:cxnSpLocks/>
              <a:stCxn id="19" idx="1"/>
              <a:endCxn id="38" idx="1"/>
            </p:cNvCxnSpPr>
            <p:nvPr/>
          </p:nvCxnSpPr>
          <p:spPr>
            <a:xfrm>
              <a:off x="3227832" y="3429000"/>
              <a:ext cx="1812874" cy="230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C44A604-52AB-EB02-4B32-ECEFBEEA5010}"/>
                </a:ext>
              </a:extLst>
            </p:cNvPr>
            <p:cNvSpPr txBox="1"/>
            <p:nvPr/>
          </p:nvSpPr>
          <p:spPr>
            <a:xfrm>
              <a:off x="5040706" y="3246635"/>
              <a:ext cx="21008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Preprocessed T1w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A3E06C6D-0682-DE7C-7CF2-2D8F6CBB7419}"/>
              </a:ext>
            </a:extLst>
          </p:cNvPr>
          <p:cNvGrpSpPr/>
          <p:nvPr/>
        </p:nvGrpSpPr>
        <p:grpSpPr>
          <a:xfrm>
            <a:off x="2985516" y="3630507"/>
            <a:ext cx="5616037" cy="369332"/>
            <a:chOff x="2985516" y="3630507"/>
            <a:chExt cx="5616037" cy="369332"/>
          </a:xfrm>
        </p:grpSpPr>
        <p:sp>
          <p:nvSpPr>
            <p:cNvPr id="20" name="Right Brace 19">
              <a:extLst>
                <a:ext uri="{FF2B5EF4-FFF2-40B4-BE49-F238E27FC236}">
                  <a16:creationId xmlns:a16="http://schemas.microsoft.com/office/drawing/2014/main" id="{5BB00D17-BD73-6F3D-82B5-406EBF139A5A}"/>
                </a:ext>
              </a:extLst>
            </p:cNvPr>
            <p:cNvSpPr/>
            <p:nvPr/>
          </p:nvSpPr>
          <p:spPr>
            <a:xfrm>
              <a:off x="2985516" y="3735709"/>
              <a:ext cx="242316" cy="117192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0F2A91D1-03CD-05E3-9BED-E6BA46A4183D}"/>
                </a:ext>
              </a:extLst>
            </p:cNvPr>
            <p:cNvCxnSpPr>
              <a:cxnSpLocks/>
              <a:stCxn id="20" idx="1"/>
              <a:endCxn id="40" idx="1"/>
            </p:cNvCxnSpPr>
            <p:nvPr/>
          </p:nvCxnSpPr>
          <p:spPr>
            <a:xfrm>
              <a:off x="3227832" y="3794305"/>
              <a:ext cx="1812874" cy="2086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B828D2B-522C-E6CB-D732-0E41FD7E62B8}"/>
                </a:ext>
              </a:extLst>
            </p:cNvPr>
            <p:cNvSpPr txBox="1"/>
            <p:nvPr/>
          </p:nvSpPr>
          <p:spPr>
            <a:xfrm>
              <a:off x="5040706" y="3630507"/>
              <a:ext cx="35608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Tissue segmentations (combined)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10FD4A98-AA92-1EA8-E7A6-54861A8F7CA4}"/>
              </a:ext>
            </a:extLst>
          </p:cNvPr>
          <p:cNvGrpSpPr/>
          <p:nvPr/>
        </p:nvGrpSpPr>
        <p:grpSpPr>
          <a:xfrm>
            <a:off x="4129671" y="3911445"/>
            <a:ext cx="2711721" cy="1040850"/>
            <a:chOff x="4129671" y="3911445"/>
            <a:chExt cx="2711721" cy="1040850"/>
          </a:xfrm>
        </p:grpSpPr>
        <p:sp>
          <p:nvSpPr>
            <p:cNvPr id="21" name="Right Brace 20">
              <a:extLst>
                <a:ext uri="{FF2B5EF4-FFF2-40B4-BE49-F238E27FC236}">
                  <a16:creationId xmlns:a16="http://schemas.microsoft.com/office/drawing/2014/main" id="{3B09ADB2-D7C0-98C8-7FD6-0BC4D810902A}"/>
                </a:ext>
              </a:extLst>
            </p:cNvPr>
            <p:cNvSpPr/>
            <p:nvPr/>
          </p:nvSpPr>
          <p:spPr>
            <a:xfrm>
              <a:off x="4129671" y="3911445"/>
              <a:ext cx="373380" cy="1040850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E305D452-559A-7A2A-CCD2-D48AE9363986}"/>
                </a:ext>
              </a:extLst>
            </p:cNvPr>
            <p:cNvSpPr txBox="1"/>
            <p:nvPr/>
          </p:nvSpPr>
          <p:spPr>
            <a:xfrm>
              <a:off x="5040706" y="4247204"/>
              <a:ext cx="1800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Transformations</a:t>
              </a:r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343F1AC2-0089-19BE-03CA-0345CECF787D}"/>
                </a:ext>
              </a:extLst>
            </p:cNvPr>
            <p:cNvCxnSpPr>
              <a:cxnSpLocks/>
              <a:stCxn id="21" idx="1"/>
              <a:endCxn id="42" idx="1"/>
            </p:cNvCxnSpPr>
            <p:nvPr/>
          </p:nvCxnSpPr>
          <p:spPr>
            <a:xfrm>
              <a:off x="4503051" y="4431870"/>
              <a:ext cx="53765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E0ED898B-DBF2-AF0E-65A0-414DF391ABA1}"/>
              </a:ext>
            </a:extLst>
          </p:cNvPr>
          <p:cNvGrpSpPr/>
          <p:nvPr/>
        </p:nvGrpSpPr>
        <p:grpSpPr>
          <a:xfrm>
            <a:off x="2985516" y="5019376"/>
            <a:ext cx="7012509" cy="649904"/>
            <a:chOff x="2985516" y="5019376"/>
            <a:chExt cx="7012509" cy="649904"/>
          </a:xfrm>
        </p:grpSpPr>
        <p:sp>
          <p:nvSpPr>
            <p:cNvPr id="22" name="Right Brace 21">
              <a:extLst>
                <a:ext uri="{FF2B5EF4-FFF2-40B4-BE49-F238E27FC236}">
                  <a16:creationId xmlns:a16="http://schemas.microsoft.com/office/drawing/2014/main" id="{8CEB0B4D-059C-A03A-F035-63781054896E}"/>
                </a:ext>
              </a:extLst>
            </p:cNvPr>
            <p:cNvSpPr/>
            <p:nvPr/>
          </p:nvSpPr>
          <p:spPr>
            <a:xfrm>
              <a:off x="2985516" y="5019376"/>
              <a:ext cx="242316" cy="649904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77B24F45-2630-2CA9-2CBC-06C7575D224F}"/>
                </a:ext>
              </a:extLst>
            </p:cNvPr>
            <p:cNvCxnSpPr>
              <a:cxnSpLocks/>
              <a:stCxn id="22" idx="1"/>
              <a:endCxn id="52" idx="1"/>
            </p:cNvCxnSpPr>
            <p:nvPr/>
          </p:nvCxnSpPr>
          <p:spPr>
            <a:xfrm>
              <a:off x="3227832" y="5344328"/>
              <a:ext cx="1812874" cy="760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76C017F8-5AA6-5B3F-7A7C-E648EF6BC771}"/>
                </a:ext>
              </a:extLst>
            </p:cNvPr>
            <p:cNvSpPr txBox="1"/>
            <p:nvPr/>
          </p:nvSpPr>
          <p:spPr>
            <a:xfrm>
              <a:off x="5040706" y="5167269"/>
              <a:ext cx="49573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Tissue segmentations (separate compartments)</a:t>
              </a:r>
            </a:p>
          </p:txBody>
        </p:sp>
      </p:grpSp>
      <p:pic>
        <p:nvPicPr>
          <p:cNvPr id="61" name="Picture 60">
            <a:extLst>
              <a:ext uri="{FF2B5EF4-FFF2-40B4-BE49-F238E27FC236}">
                <a16:creationId xmlns:a16="http://schemas.microsoft.com/office/drawing/2014/main" id="{BFAD44D1-B5C6-3DB4-2866-EC5E0B36AE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3748" y="2071316"/>
            <a:ext cx="2310052" cy="271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255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DD37B-DACA-7419-CE14-AE804C04D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E6B23-950A-99D9-9C3F-8BF3D97FF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fMRIPrep</a:t>
            </a:r>
            <a:r>
              <a:rPr lang="en-US" dirty="0"/>
              <a:t> Output -- </a:t>
            </a:r>
            <a:r>
              <a:rPr lang="en-US" dirty="0" err="1"/>
              <a:t>anat</a:t>
            </a:r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C01E872-8BEB-3680-920B-7EA9E8109512}"/>
              </a:ext>
            </a:extLst>
          </p:cNvPr>
          <p:cNvGrpSpPr/>
          <p:nvPr/>
        </p:nvGrpSpPr>
        <p:grpSpPr>
          <a:xfrm>
            <a:off x="7077619" y="1645841"/>
            <a:ext cx="3695741" cy="4847034"/>
            <a:chOff x="7077619" y="1645841"/>
            <a:chExt cx="3695741" cy="484703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BC19DD8-6E03-61B4-46AD-7E319390D4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9300" r="117" b="28477"/>
            <a:stretch>
              <a:fillRect/>
            </a:stretch>
          </p:blipFill>
          <p:spPr>
            <a:xfrm>
              <a:off x="7077619" y="2015173"/>
              <a:ext cx="3695741" cy="4477702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7C2778A-8424-2527-5A88-F4B1849FDC15}"/>
                </a:ext>
              </a:extLst>
            </p:cNvPr>
            <p:cNvSpPr txBox="1"/>
            <p:nvPr/>
          </p:nvSpPr>
          <p:spPr>
            <a:xfrm>
              <a:off x="7077619" y="1645841"/>
              <a:ext cx="32891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Other output spaces (e.g., MNI)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EE787B2-E9B5-208E-D9A0-AFAEF9E3EFD1}"/>
              </a:ext>
            </a:extLst>
          </p:cNvPr>
          <p:cNvGrpSpPr/>
          <p:nvPr/>
        </p:nvGrpSpPr>
        <p:grpSpPr>
          <a:xfrm>
            <a:off x="838200" y="1645841"/>
            <a:ext cx="5187695" cy="4844934"/>
            <a:chOff x="838200" y="1645841"/>
            <a:chExt cx="5187695" cy="484493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5DA763D-3A63-3A75-9291-5E2CD9B291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46026" r="50558" b="12652"/>
            <a:stretch>
              <a:fillRect/>
            </a:stretch>
          </p:blipFill>
          <p:spPr>
            <a:xfrm>
              <a:off x="838200" y="2015173"/>
              <a:ext cx="4575048" cy="3276354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30A7A04-695D-A31B-51C5-2916DF05631D}"/>
                </a:ext>
              </a:extLst>
            </p:cNvPr>
            <p:cNvSpPr txBox="1"/>
            <p:nvPr/>
          </p:nvSpPr>
          <p:spPr>
            <a:xfrm>
              <a:off x="838200" y="1645841"/>
              <a:ext cx="2465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Surface reconstruction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493E827-EC02-0194-1233-F48E4CFF7F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4137548" y="4602428"/>
              <a:ext cx="1669879" cy="210681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4068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69E07-AE0C-1BC4-AE67-8E221EDCB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E5F72-662F-795A-424D-748D1E013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fMRIPrep</a:t>
            </a:r>
            <a:r>
              <a:rPr lang="en-US" dirty="0"/>
              <a:t> Output – </a:t>
            </a:r>
            <a:r>
              <a:rPr lang="en-US" dirty="0" err="1"/>
              <a:t>func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60D050-3553-BA03-FBB3-8D4352CDF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89011"/>
            <a:ext cx="2901800" cy="425342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EFF6AA2-5D2D-49F9-48DB-476931B5B7D0}"/>
              </a:ext>
            </a:extLst>
          </p:cNvPr>
          <p:cNvSpPr/>
          <p:nvPr/>
        </p:nvSpPr>
        <p:spPr>
          <a:xfrm>
            <a:off x="3740000" y="1789011"/>
            <a:ext cx="7613800" cy="4253429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B77290E-5BC3-991D-9C70-11D46A6F3EDA}"/>
              </a:ext>
            </a:extLst>
          </p:cNvPr>
          <p:cNvGrpSpPr/>
          <p:nvPr/>
        </p:nvGrpSpPr>
        <p:grpSpPr>
          <a:xfrm>
            <a:off x="3139695" y="1789011"/>
            <a:ext cx="4770998" cy="305260"/>
            <a:chOff x="2985516" y="2087263"/>
            <a:chExt cx="4770998" cy="369332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1F94400-A30A-50A0-80D4-8E29F8EFD52D}"/>
                </a:ext>
              </a:extLst>
            </p:cNvPr>
            <p:cNvCxnSpPr>
              <a:cxnSpLocks/>
              <a:stCxn id="15" idx="1"/>
              <a:endCxn id="16" idx="1"/>
            </p:cNvCxnSpPr>
            <p:nvPr/>
          </p:nvCxnSpPr>
          <p:spPr>
            <a:xfrm flipV="1">
              <a:off x="3227832" y="2271929"/>
              <a:ext cx="1812874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ight Brace 14">
              <a:extLst>
                <a:ext uri="{FF2B5EF4-FFF2-40B4-BE49-F238E27FC236}">
                  <a16:creationId xmlns:a16="http://schemas.microsoft.com/office/drawing/2014/main" id="{F03B4AD1-12F0-D983-8C58-EDB8376A456C}"/>
                </a:ext>
              </a:extLst>
            </p:cNvPr>
            <p:cNvSpPr/>
            <p:nvPr/>
          </p:nvSpPr>
          <p:spPr>
            <a:xfrm>
              <a:off x="2985516" y="2164453"/>
              <a:ext cx="242316" cy="214953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85EADD7-A4A9-81BF-6049-3D52B543C850}"/>
                </a:ext>
              </a:extLst>
            </p:cNvPr>
            <p:cNvSpPr txBox="1"/>
            <p:nvPr/>
          </p:nvSpPr>
          <p:spPr>
            <a:xfrm>
              <a:off x="5040706" y="2087263"/>
              <a:ext cx="27158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BOLD reference (average)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6F7ECB5-D57C-F95C-B21D-8FB41FFFA6D6}"/>
              </a:ext>
            </a:extLst>
          </p:cNvPr>
          <p:cNvGrpSpPr/>
          <p:nvPr/>
        </p:nvGrpSpPr>
        <p:grpSpPr>
          <a:xfrm>
            <a:off x="3139695" y="2094270"/>
            <a:ext cx="3972253" cy="458163"/>
            <a:chOff x="2743200" y="1902595"/>
            <a:chExt cx="3972253" cy="554328"/>
          </a:xfrm>
        </p:grpSpPr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85F53FE0-C5A6-7F59-2F63-E578EA7E99B4}"/>
                </a:ext>
              </a:extLst>
            </p:cNvPr>
            <p:cNvCxnSpPr>
              <a:cxnSpLocks/>
              <a:stCxn id="21" idx="1"/>
              <a:endCxn id="22" idx="1"/>
            </p:cNvCxnSpPr>
            <p:nvPr/>
          </p:nvCxnSpPr>
          <p:spPr>
            <a:xfrm>
              <a:off x="2985516" y="2120116"/>
              <a:ext cx="1812874" cy="11338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ight Brace 20">
              <a:extLst>
                <a:ext uri="{FF2B5EF4-FFF2-40B4-BE49-F238E27FC236}">
                  <a16:creationId xmlns:a16="http://schemas.microsoft.com/office/drawing/2014/main" id="{C713ECEF-73D2-4F37-5B21-34A1B46D4B15}"/>
                </a:ext>
              </a:extLst>
            </p:cNvPr>
            <p:cNvSpPr/>
            <p:nvPr/>
          </p:nvSpPr>
          <p:spPr>
            <a:xfrm>
              <a:off x="2743200" y="1902595"/>
              <a:ext cx="242316" cy="435040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4F525E1-17A1-9653-45A0-91273AEA9EC8}"/>
                </a:ext>
              </a:extLst>
            </p:cNvPr>
            <p:cNvSpPr txBox="1"/>
            <p:nvPr/>
          </p:nvSpPr>
          <p:spPr>
            <a:xfrm>
              <a:off x="4798390" y="2010071"/>
              <a:ext cx="1917063" cy="4468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Brain mask (</a:t>
              </a:r>
              <a:r>
                <a:rPr lang="en-US" dirty="0" err="1">
                  <a:solidFill>
                    <a:schemeClr val="bg1"/>
                  </a:solidFill>
                </a:rPr>
                <a:t>func</a:t>
              </a:r>
              <a:r>
                <a:rPr lang="en-US" dirty="0">
                  <a:solidFill>
                    <a:schemeClr val="bg1"/>
                  </a:solidFill>
                </a:rPr>
                <a:t>)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03D9C71-12DE-8DBE-7330-1362778BA08A}"/>
              </a:ext>
            </a:extLst>
          </p:cNvPr>
          <p:cNvGrpSpPr/>
          <p:nvPr/>
        </p:nvGrpSpPr>
        <p:grpSpPr>
          <a:xfrm>
            <a:off x="3139695" y="2566931"/>
            <a:ext cx="3398635" cy="472135"/>
            <a:chOff x="2743200" y="1902595"/>
            <a:chExt cx="3398635" cy="493595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C6293F7E-EBD7-FB2F-6CE7-3375BA7FCAE7}"/>
                </a:ext>
              </a:extLst>
            </p:cNvPr>
            <p:cNvCxnSpPr>
              <a:cxnSpLocks/>
              <a:stCxn id="28" idx="1"/>
              <a:endCxn id="29" idx="1"/>
            </p:cNvCxnSpPr>
            <p:nvPr/>
          </p:nvCxnSpPr>
          <p:spPr>
            <a:xfrm>
              <a:off x="2985516" y="2120115"/>
              <a:ext cx="1812874" cy="8301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ight Brace 27">
              <a:extLst>
                <a:ext uri="{FF2B5EF4-FFF2-40B4-BE49-F238E27FC236}">
                  <a16:creationId xmlns:a16="http://schemas.microsoft.com/office/drawing/2014/main" id="{17518EE5-CB34-C7A0-A9A3-E007CC1AD26C}"/>
                </a:ext>
              </a:extLst>
            </p:cNvPr>
            <p:cNvSpPr/>
            <p:nvPr/>
          </p:nvSpPr>
          <p:spPr>
            <a:xfrm>
              <a:off x="2743200" y="1902595"/>
              <a:ext cx="242316" cy="435040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43D8BFE-8AC1-44C7-D8EE-D0E498B505C5}"/>
                </a:ext>
              </a:extLst>
            </p:cNvPr>
            <p:cNvSpPr txBox="1"/>
            <p:nvPr/>
          </p:nvSpPr>
          <p:spPr>
            <a:xfrm>
              <a:off x="4798390" y="2010071"/>
              <a:ext cx="1343445" cy="3861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Confounds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B82C24E-E44E-2092-46AF-FDD9E1994475}"/>
              </a:ext>
            </a:extLst>
          </p:cNvPr>
          <p:cNvGrpSpPr/>
          <p:nvPr/>
        </p:nvGrpSpPr>
        <p:grpSpPr>
          <a:xfrm>
            <a:off x="3139695" y="3081380"/>
            <a:ext cx="5280753" cy="472135"/>
            <a:chOff x="2743200" y="1902595"/>
            <a:chExt cx="5280753" cy="493595"/>
          </a:xfrm>
        </p:grpSpPr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F1E334A0-A660-E899-2676-3AF3D74ECC23}"/>
                </a:ext>
              </a:extLst>
            </p:cNvPr>
            <p:cNvCxnSpPr>
              <a:cxnSpLocks/>
              <a:stCxn id="32" idx="1"/>
              <a:endCxn id="33" idx="1"/>
            </p:cNvCxnSpPr>
            <p:nvPr/>
          </p:nvCxnSpPr>
          <p:spPr>
            <a:xfrm>
              <a:off x="2985516" y="2120115"/>
              <a:ext cx="1812874" cy="8301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ight Brace 31">
              <a:extLst>
                <a:ext uri="{FF2B5EF4-FFF2-40B4-BE49-F238E27FC236}">
                  <a16:creationId xmlns:a16="http://schemas.microsoft.com/office/drawing/2014/main" id="{340ACC71-3731-CA31-96FA-275CA727DDDE}"/>
                </a:ext>
              </a:extLst>
            </p:cNvPr>
            <p:cNvSpPr/>
            <p:nvPr/>
          </p:nvSpPr>
          <p:spPr>
            <a:xfrm>
              <a:off x="2743200" y="1902595"/>
              <a:ext cx="242316" cy="435040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BAAF731-7AA9-70D3-2C4A-FBFFB1ED2D67}"/>
                </a:ext>
              </a:extLst>
            </p:cNvPr>
            <p:cNvSpPr txBox="1"/>
            <p:nvPr/>
          </p:nvSpPr>
          <p:spPr>
            <a:xfrm>
              <a:off x="4798390" y="2010071"/>
              <a:ext cx="3225563" cy="3861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Preprocessed BOLD volumes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F0EAD39-DF87-0681-8035-4CF80F8E7D6A}"/>
              </a:ext>
            </a:extLst>
          </p:cNvPr>
          <p:cNvGrpSpPr/>
          <p:nvPr/>
        </p:nvGrpSpPr>
        <p:grpSpPr>
          <a:xfrm>
            <a:off x="3740000" y="3576910"/>
            <a:ext cx="3256343" cy="697034"/>
            <a:chOff x="2743200" y="1902595"/>
            <a:chExt cx="3256343" cy="435040"/>
          </a:xfrm>
        </p:grpSpPr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7FEA6AA6-256E-8D75-DC49-63EABA60D629}"/>
                </a:ext>
              </a:extLst>
            </p:cNvPr>
            <p:cNvCxnSpPr>
              <a:cxnSpLocks/>
              <a:stCxn id="36" idx="1"/>
              <a:endCxn id="37" idx="1"/>
            </p:cNvCxnSpPr>
            <p:nvPr/>
          </p:nvCxnSpPr>
          <p:spPr>
            <a:xfrm flipV="1">
              <a:off x="2985516" y="2112718"/>
              <a:ext cx="1213341" cy="739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Right Brace 35">
              <a:extLst>
                <a:ext uri="{FF2B5EF4-FFF2-40B4-BE49-F238E27FC236}">
                  <a16:creationId xmlns:a16="http://schemas.microsoft.com/office/drawing/2014/main" id="{DD4C96AB-C3FB-831E-A066-1C1F0C406937}"/>
                </a:ext>
              </a:extLst>
            </p:cNvPr>
            <p:cNvSpPr/>
            <p:nvPr/>
          </p:nvSpPr>
          <p:spPr>
            <a:xfrm>
              <a:off x="2743200" y="1902595"/>
              <a:ext cx="242316" cy="435040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887F723-C557-8034-35FC-7A9B1FB3856E}"/>
                </a:ext>
              </a:extLst>
            </p:cNvPr>
            <p:cNvSpPr txBox="1"/>
            <p:nvPr/>
          </p:nvSpPr>
          <p:spPr>
            <a:xfrm>
              <a:off x="4198857" y="1997463"/>
              <a:ext cx="1800686" cy="2305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Transformations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DC4DD71-26DB-5196-1668-8DD5E5B6671C}"/>
              </a:ext>
            </a:extLst>
          </p:cNvPr>
          <p:cNvGrpSpPr/>
          <p:nvPr/>
        </p:nvGrpSpPr>
        <p:grpSpPr>
          <a:xfrm>
            <a:off x="3480214" y="4357127"/>
            <a:ext cx="6015079" cy="1637904"/>
            <a:chOff x="2743200" y="1902595"/>
            <a:chExt cx="6015079" cy="435040"/>
          </a:xfrm>
        </p:grpSpPr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3C999BB8-E05C-DAC5-C797-2B86DF4FA503}"/>
                </a:ext>
              </a:extLst>
            </p:cNvPr>
            <p:cNvCxnSpPr>
              <a:cxnSpLocks/>
              <a:stCxn id="41" idx="1"/>
              <a:endCxn id="42" idx="1"/>
            </p:cNvCxnSpPr>
            <p:nvPr/>
          </p:nvCxnSpPr>
          <p:spPr>
            <a:xfrm>
              <a:off x="2985516" y="2120115"/>
              <a:ext cx="1472355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Right Brace 40">
              <a:extLst>
                <a:ext uri="{FF2B5EF4-FFF2-40B4-BE49-F238E27FC236}">
                  <a16:creationId xmlns:a16="http://schemas.microsoft.com/office/drawing/2014/main" id="{C5D40B35-B8F2-3166-488E-925E918403D1}"/>
                </a:ext>
              </a:extLst>
            </p:cNvPr>
            <p:cNvSpPr/>
            <p:nvPr/>
          </p:nvSpPr>
          <p:spPr>
            <a:xfrm>
              <a:off x="2743200" y="1902595"/>
              <a:ext cx="242316" cy="435040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F89975B-3C64-E217-3858-C2176F300CB8}"/>
                </a:ext>
              </a:extLst>
            </p:cNvPr>
            <p:cNvSpPr txBox="1"/>
            <p:nvPr/>
          </p:nvSpPr>
          <p:spPr>
            <a:xfrm>
              <a:off x="4457871" y="2071067"/>
              <a:ext cx="4300408" cy="980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Same output in T1w-space (co-registered)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4663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CE8E9EA-9607-2168-0E31-63137261E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&amp; Analysis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37F5D7-C46E-D41F-5435-16DC8263B4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0754241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BA55A3E-D906-0958-3464-938164D9C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Signal-to-Noise Ratio (SNR)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122D0D-EE0A-7D2A-F5F3-D00C15F3F0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590486"/>
            <a:ext cx="4470490" cy="3032661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190BEBC1-746B-0C34-3A88-171916DBD223}"/>
              </a:ext>
            </a:extLst>
          </p:cNvPr>
          <p:cNvGrpSpPr/>
          <p:nvPr/>
        </p:nvGrpSpPr>
        <p:grpSpPr>
          <a:xfrm>
            <a:off x="1725835" y="2956845"/>
            <a:ext cx="3320649" cy="2229117"/>
            <a:chOff x="1643539" y="2711120"/>
            <a:chExt cx="3320649" cy="2229117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BF266B4-3A6C-3B76-C889-3E53F89536EB}"/>
                </a:ext>
              </a:extLst>
            </p:cNvPr>
            <p:cNvSpPr txBox="1"/>
            <p:nvPr/>
          </p:nvSpPr>
          <p:spPr>
            <a:xfrm>
              <a:off x="2068550" y="2711120"/>
              <a:ext cx="2279983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b="1" dirty="0"/>
                <a:t>Task-related </a:t>
              </a:r>
            </a:p>
            <a:p>
              <a:pPr algn="ctr"/>
              <a:r>
                <a:rPr lang="en-US" sz="2800" b="1" dirty="0"/>
                <a:t>variability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166F79F-84F2-579D-BF38-33DDF656279A}"/>
                </a:ext>
              </a:extLst>
            </p:cNvPr>
            <p:cNvSpPr txBox="1"/>
            <p:nvPr/>
          </p:nvSpPr>
          <p:spPr>
            <a:xfrm>
              <a:off x="1745127" y="3986130"/>
              <a:ext cx="2926827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b="1" dirty="0"/>
                <a:t>Non-task related</a:t>
              </a:r>
            </a:p>
            <a:p>
              <a:pPr algn="ctr"/>
              <a:r>
                <a:rPr lang="en-US" sz="2800" b="1" dirty="0"/>
                <a:t>variability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465058E-E605-CB75-37D7-04D6365A1247}"/>
                </a:ext>
              </a:extLst>
            </p:cNvPr>
            <p:cNvCxnSpPr>
              <a:cxnSpLocks/>
            </p:cNvCxnSpPr>
            <p:nvPr/>
          </p:nvCxnSpPr>
          <p:spPr>
            <a:xfrm>
              <a:off x="1643539" y="3861092"/>
              <a:ext cx="3320649" cy="0"/>
            </a:xfrm>
            <a:prstGeom prst="line">
              <a:avLst/>
            </a:prstGeom>
            <a:ln w="571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446864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DD4DE00-6A44-AE78-CCA2-E0FE77760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A423494-15A7-1F29-915D-F0989CEFB6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864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Block/epoch (“boxcar”)</a:t>
            </a:r>
          </a:p>
          <a:p>
            <a:pPr lvl="1"/>
            <a:r>
              <a:rPr lang="en-US" dirty="0"/>
              <a:t>Task periods alternate with rest</a:t>
            </a:r>
          </a:p>
          <a:p>
            <a:pPr lvl="1"/>
            <a:r>
              <a:rPr lang="en-US" dirty="0"/>
              <a:t>Optimizes SNR</a:t>
            </a:r>
          </a:p>
          <a:p>
            <a:pPr lvl="1"/>
            <a:r>
              <a:rPr lang="en-US" dirty="0"/>
              <a:t>Best for simple experiments (e.g., functional localizer)</a:t>
            </a:r>
          </a:p>
          <a:p>
            <a:pPr marL="0" indent="0">
              <a:buNone/>
            </a:pPr>
            <a:r>
              <a:rPr lang="en-US" b="1" dirty="0"/>
              <a:t>Event-related</a:t>
            </a:r>
          </a:p>
          <a:p>
            <a:pPr lvl="1"/>
            <a:r>
              <a:rPr lang="en-US" dirty="0"/>
              <a:t>Randomized, short duration tasks/events</a:t>
            </a:r>
          </a:p>
          <a:p>
            <a:pPr lvl="1"/>
            <a:r>
              <a:rPr lang="en-US" dirty="0"/>
              <a:t>Better for complex neuropsychological experiments</a:t>
            </a:r>
          </a:p>
          <a:p>
            <a:pPr lvl="1"/>
            <a:r>
              <a:rPr lang="en-US" dirty="0"/>
              <a:t>Optimizes design efficiency</a:t>
            </a:r>
          </a:p>
          <a:p>
            <a:pPr marL="0" indent="0">
              <a:buNone/>
            </a:pPr>
            <a:r>
              <a:rPr lang="en-US" b="1" dirty="0"/>
              <a:t>Mixed design</a:t>
            </a:r>
          </a:p>
        </p:txBody>
      </p:sp>
      <p:pic>
        <p:nvPicPr>
          <p:cNvPr id="3078" name="Picture 6" descr="Picture">
            <a:extLst>
              <a:ext uri="{FF2B5EF4-FFF2-40B4-BE49-F238E27FC236}">
                <a16:creationId xmlns:a16="http://schemas.microsoft.com/office/drawing/2014/main" id="{E7DDC2BC-2DCD-16B5-61A4-B3E65F44D8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377"/>
          <a:stretch>
            <a:fillRect/>
          </a:stretch>
        </p:blipFill>
        <p:spPr bwMode="auto">
          <a:xfrm>
            <a:off x="6057900" y="1825625"/>
            <a:ext cx="5702300" cy="78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Picture">
            <a:extLst>
              <a:ext uri="{FF2B5EF4-FFF2-40B4-BE49-F238E27FC236}">
                <a16:creationId xmlns:a16="http://schemas.microsoft.com/office/drawing/2014/main" id="{D6AA62EB-0ECD-9378-68BE-63B8FB6B17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657" b="34719"/>
          <a:stretch>
            <a:fillRect/>
          </a:stretch>
        </p:blipFill>
        <p:spPr bwMode="auto">
          <a:xfrm>
            <a:off x="6057900" y="3454401"/>
            <a:ext cx="5702300" cy="78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Picture">
            <a:extLst>
              <a:ext uri="{FF2B5EF4-FFF2-40B4-BE49-F238E27FC236}">
                <a16:creationId xmlns:a16="http://schemas.microsoft.com/office/drawing/2014/main" id="{9E640B70-4852-0386-CD75-4E16C0A0C8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172"/>
          <a:stretch>
            <a:fillRect/>
          </a:stretch>
        </p:blipFill>
        <p:spPr bwMode="auto">
          <a:xfrm>
            <a:off x="6057900" y="5366806"/>
            <a:ext cx="5702300" cy="664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1651A27-5DDE-0B06-1530-820220ABB4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0894" y="1825625"/>
            <a:ext cx="5776312" cy="4260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429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C722D-344D-7124-0F58-349D99A52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Generalized Linear Model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82310F-6F26-8ECE-8656-F307D67C69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7858" y="2535549"/>
            <a:ext cx="5656284" cy="893451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FE36358B-B047-0433-8252-3C638B70D1C4}"/>
              </a:ext>
            </a:extLst>
          </p:cNvPr>
          <p:cNvGrpSpPr/>
          <p:nvPr/>
        </p:nvGrpSpPr>
        <p:grpSpPr>
          <a:xfrm>
            <a:off x="1149292" y="3329700"/>
            <a:ext cx="2691188" cy="1192291"/>
            <a:chOff x="1149292" y="3329700"/>
            <a:chExt cx="2691188" cy="119229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1DFD1C9-9371-A8DC-433D-E3F187268DB3}"/>
                </a:ext>
              </a:extLst>
            </p:cNvPr>
            <p:cNvSpPr txBox="1"/>
            <p:nvPr/>
          </p:nvSpPr>
          <p:spPr>
            <a:xfrm>
              <a:off x="1149292" y="4152659"/>
              <a:ext cx="1813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Measured signal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C7C18EF-8842-159A-F1AE-A4DB9E0B7108}"/>
                </a:ext>
              </a:extLst>
            </p:cNvPr>
            <p:cNvCxnSpPr>
              <a:cxnSpLocks/>
              <a:stCxn id="6" idx="0"/>
            </p:cNvCxnSpPr>
            <p:nvPr/>
          </p:nvCxnSpPr>
          <p:spPr>
            <a:xfrm flipV="1">
              <a:off x="2055983" y="3520440"/>
              <a:ext cx="1047659" cy="63221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350E287-3745-D42F-8EE4-C02CDD0EB38F}"/>
                </a:ext>
              </a:extLst>
            </p:cNvPr>
            <p:cNvSpPr/>
            <p:nvPr/>
          </p:nvSpPr>
          <p:spPr>
            <a:xfrm>
              <a:off x="3267858" y="3329700"/>
              <a:ext cx="572622" cy="457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D94AE90-03CB-EB11-CD2A-0D72B2DF3EFD}"/>
              </a:ext>
            </a:extLst>
          </p:cNvPr>
          <p:cNvGrpSpPr/>
          <p:nvPr/>
        </p:nvGrpSpPr>
        <p:grpSpPr>
          <a:xfrm>
            <a:off x="3360137" y="3329699"/>
            <a:ext cx="2309607" cy="2275869"/>
            <a:chOff x="3360137" y="3329699"/>
            <a:chExt cx="2309607" cy="2275869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DDEF383-C07C-D19E-3E55-D797C823A448}"/>
                </a:ext>
              </a:extLst>
            </p:cNvPr>
            <p:cNvSpPr txBox="1"/>
            <p:nvPr/>
          </p:nvSpPr>
          <p:spPr>
            <a:xfrm>
              <a:off x="3360137" y="5236236"/>
              <a:ext cx="23096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Amplitude (unknown)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9405DA96-A5F4-6170-F15D-5110884A09B1}"/>
                </a:ext>
              </a:extLst>
            </p:cNvPr>
            <p:cNvCxnSpPr>
              <a:cxnSpLocks/>
              <a:stCxn id="7" idx="0"/>
            </p:cNvCxnSpPr>
            <p:nvPr/>
          </p:nvCxnSpPr>
          <p:spPr>
            <a:xfrm flipV="1">
              <a:off x="4514941" y="3520440"/>
              <a:ext cx="274777" cy="171579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2309EC7-19FC-D4F7-F6FE-F483547FEFA3}"/>
                </a:ext>
              </a:extLst>
            </p:cNvPr>
            <p:cNvSpPr/>
            <p:nvPr/>
          </p:nvSpPr>
          <p:spPr>
            <a:xfrm>
              <a:off x="4598040" y="3329699"/>
              <a:ext cx="572622" cy="457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DBF1BB8-2991-6396-3A16-2ECF09B02542}"/>
              </a:ext>
            </a:extLst>
          </p:cNvPr>
          <p:cNvGrpSpPr/>
          <p:nvPr/>
        </p:nvGrpSpPr>
        <p:grpSpPr>
          <a:xfrm>
            <a:off x="5170662" y="3329698"/>
            <a:ext cx="2980881" cy="1351806"/>
            <a:chOff x="5170662" y="3329698"/>
            <a:chExt cx="2980881" cy="1351806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4D11E01-FAC3-F9C6-FA30-1409F6595CA9}"/>
                </a:ext>
              </a:extLst>
            </p:cNvPr>
            <p:cNvSpPr txBox="1"/>
            <p:nvPr/>
          </p:nvSpPr>
          <p:spPr>
            <a:xfrm>
              <a:off x="5170662" y="4035173"/>
              <a:ext cx="298088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Design matrix</a:t>
              </a:r>
            </a:p>
            <a:p>
              <a:pPr algn="ctr"/>
              <a:r>
                <a:rPr lang="en-US" dirty="0"/>
                <a:t>(events convolved with HRF)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6B07F5EE-5857-B31F-4A1A-C332EF6254F8}"/>
                </a:ext>
              </a:extLst>
            </p:cNvPr>
            <p:cNvCxnSpPr>
              <a:cxnSpLocks/>
              <a:stCxn id="8" idx="0"/>
            </p:cNvCxnSpPr>
            <p:nvPr/>
          </p:nvCxnSpPr>
          <p:spPr>
            <a:xfrm flipH="1" flipV="1">
              <a:off x="6661102" y="3520440"/>
              <a:ext cx="1" cy="51473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FFCEA9B-1340-F8D9-1A46-F19E8D7A831F}"/>
                </a:ext>
              </a:extLst>
            </p:cNvPr>
            <p:cNvSpPr/>
            <p:nvPr/>
          </p:nvSpPr>
          <p:spPr>
            <a:xfrm>
              <a:off x="5503445" y="3329698"/>
              <a:ext cx="1976845" cy="457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3D438DB-45F9-009C-2F80-F32A040D96C0}"/>
              </a:ext>
            </a:extLst>
          </p:cNvPr>
          <p:cNvGrpSpPr/>
          <p:nvPr/>
        </p:nvGrpSpPr>
        <p:grpSpPr>
          <a:xfrm>
            <a:off x="7486992" y="3329697"/>
            <a:ext cx="3741986" cy="2275871"/>
            <a:chOff x="7486992" y="3329697"/>
            <a:chExt cx="3741986" cy="227587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52DEDC4-2A5A-5867-34D0-496AD4E0CCC6}"/>
                </a:ext>
              </a:extLst>
            </p:cNvPr>
            <p:cNvSpPr txBox="1"/>
            <p:nvPr/>
          </p:nvSpPr>
          <p:spPr>
            <a:xfrm>
              <a:off x="7486992" y="5236236"/>
              <a:ext cx="37419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Normally distributed random noise</a:t>
              </a:r>
              <a:endParaRPr lang="en-US" b="1" dirty="0"/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A7918382-9561-F038-DF19-941FE8AC5E83}"/>
                </a:ext>
              </a:extLst>
            </p:cNvPr>
            <p:cNvCxnSpPr>
              <a:cxnSpLocks/>
              <a:stCxn id="9" idx="0"/>
            </p:cNvCxnSpPr>
            <p:nvPr/>
          </p:nvCxnSpPr>
          <p:spPr>
            <a:xfrm flipH="1" flipV="1">
              <a:off x="8860335" y="3520440"/>
              <a:ext cx="497650" cy="171579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70C657D-3A05-9301-713F-91488B1D8A7F}"/>
                </a:ext>
              </a:extLst>
            </p:cNvPr>
            <p:cNvSpPr/>
            <p:nvPr/>
          </p:nvSpPr>
          <p:spPr>
            <a:xfrm>
              <a:off x="8399145" y="3329697"/>
              <a:ext cx="572622" cy="457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098" name="Picture 2" descr="linear regression">
            <a:extLst>
              <a:ext uri="{FF2B5EF4-FFF2-40B4-BE49-F238E27FC236}">
                <a16:creationId xmlns:a16="http://schemas.microsoft.com/office/drawing/2014/main" id="{C348235F-389F-CD52-5984-3647450C13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1767" y="205721"/>
            <a:ext cx="2847975" cy="2000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3485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EC4A1-D0C4-4404-71DB-9B48EDE29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0F5AC7-F838-6005-73F4-B4C1A4A03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Matrix</a:t>
            </a:r>
          </a:p>
        </p:txBody>
      </p:sp>
      <p:pic>
        <p:nvPicPr>
          <p:cNvPr id="5122" name="Picture 2" descr="General Linear model">
            <a:extLst>
              <a:ext uri="{FF2B5EF4-FFF2-40B4-BE49-F238E27FC236}">
                <a16:creationId xmlns:a16="http://schemas.microsoft.com/office/drawing/2014/main" id="{C508A2E0-7FCD-5571-8AB4-E5648296F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37134"/>
            <a:ext cx="6777037" cy="4817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D7B242F2-6DBF-0D95-3008-24917C84CD84}"/>
              </a:ext>
            </a:extLst>
          </p:cNvPr>
          <p:cNvGrpSpPr/>
          <p:nvPr/>
        </p:nvGrpSpPr>
        <p:grpSpPr>
          <a:xfrm>
            <a:off x="8458200" y="1267802"/>
            <a:ext cx="2755900" cy="2535478"/>
            <a:chOff x="8458200" y="1267802"/>
            <a:chExt cx="2755900" cy="2535478"/>
          </a:xfrm>
        </p:grpSpPr>
        <p:pic>
          <p:nvPicPr>
            <p:cNvPr id="3074" name="Picture 2" descr="Picture">
              <a:extLst>
                <a:ext uri="{FF2B5EF4-FFF2-40B4-BE49-F238E27FC236}">
                  <a16:creationId xmlns:a16="http://schemas.microsoft.com/office/drawing/2014/main" id="{BEF40201-CFE6-7375-7CD7-CE3BC2F1D6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58200" y="1690688"/>
              <a:ext cx="2755900" cy="21125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2F9FD917-2DD0-57D8-F85E-97B4F0453A72}"/>
                </a:ext>
              </a:extLst>
            </p:cNvPr>
            <p:cNvSpPr txBox="1"/>
            <p:nvPr/>
          </p:nvSpPr>
          <p:spPr>
            <a:xfrm>
              <a:off x="8458200" y="1267802"/>
              <a:ext cx="13454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Recall: HRF</a:t>
              </a:r>
            </a:p>
          </p:txBody>
        </p:sp>
      </p:grpSp>
      <p:pic>
        <p:nvPicPr>
          <p:cNvPr id="5124" name="Picture 4" descr="modeled HRF for a task in GLM">
            <a:extLst>
              <a:ext uri="{FF2B5EF4-FFF2-40B4-BE49-F238E27FC236}">
                <a16:creationId xmlns:a16="http://schemas.microsoft.com/office/drawing/2014/main" id="{AF6E5C4B-3C3F-0C90-0B24-5367CA3001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5525" y="4020716"/>
            <a:ext cx="2381250" cy="120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2F46549-C826-9791-9C32-5356547A8411}"/>
              </a:ext>
            </a:extLst>
          </p:cNvPr>
          <p:cNvSpPr/>
          <p:nvPr/>
        </p:nvSpPr>
        <p:spPr>
          <a:xfrm>
            <a:off x="3831336" y="2260599"/>
            <a:ext cx="2334851" cy="42322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802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293DC-9EAE-61A7-DD63-9209231E3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1FF4802-C569-C494-9B03-7D994BC03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Matrix</a:t>
            </a:r>
          </a:p>
        </p:txBody>
      </p:sp>
      <p:pic>
        <p:nvPicPr>
          <p:cNvPr id="5122" name="Picture 2" descr="General Linear model">
            <a:extLst>
              <a:ext uri="{FF2B5EF4-FFF2-40B4-BE49-F238E27FC236}">
                <a16:creationId xmlns:a16="http://schemas.microsoft.com/office/drawing/2014/main" id="{C0CF5DE7-C411-AB87-94A9-1BCC50A143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37134"/>
            <a:ext cx="6777037" cy="4817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74C02D33-698B-02DB-A8B1-CE5AE18F11A9}"/>
              </a:ext>
            </a:extLst>
          </p:cNvPr>
          <p:cNvGrpSpPr/>
          <p:nvPr/>
        </p:nvGrpSpPr>
        <p:grpSpPr>
          <a:xfrm>
            <a:off x="8458200" y="1267802"/>
            <a:ext cx="2755900" cy="2535478"/>
            <a:chOff x="8458200" y="1267802"/>
            <a:chExt cx="2755900" cy="2535478"/>
          </a:xfrm>
        </p:grpSpPr>
        <p:pic>
          <p:nvPicPr>
            <p:cNvPr id="3074" name="Picture 2" descr="Picture">
              <a:extLst>
                <a:ext uri="{FF2B5EF4-FFF2-40B4-BE49-F238E27FC236}">
                  <a16:creationId xmlns:a16="http://schemas.microsoft.com/office/drawing/2014/main" id="{883DBA2A-FBBB-627A-F0F6-9EBCC88566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58200" y="1690688"/>
              <a:ext cx="2755900" cy="21125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C2D3D65-B6CC-BFA2-1877-F1EAC0D9B206}"/>
                </a:ext>
              </a:extLst>
            </p:cNvPr>
            <p:cNvSpPr txBox="1"/>
            <p:nvPr/>
          </p:nvSpPr>
          <p:spPr>
            <a:xfrm>
              <a:off x="8458200" y="1267802"/>
              <a:ext cx="13454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Recall: HRF</a:t>
              </a:r>
            </a:p>
          </p:txBody>
        </p:sp>
      </p:grpSp>
      <p:pic>
        <p:nvPicPr>
          <p:cNvPr id="6" name="Picture 4" descr="modeled HRF for a task in GLM">
            <a:extLst>
              <a:ext uri="{FF2B5EF4-FFF2-40B4-BE49-F238E27FC236}">
                <a16:creationId xmlns:a16="http://schemas.microsoft.com/office/drawing/2014/main" id="{E37A1B9C-6E3D-2FCE-C16E-C200172C24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319246" y="3710149"/>
            <a:ext cx="3718399" cy="1434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40FA57F-55B2-E4A3-D875-DD8DE3A74ECB}"/>
              </a:ext>
            </a:extLst>
          </p:cNvPr>
          <p:cNvSpPr txBox="1"/>
          <p:nvPr/>
        </p:nvSpPr>
        <p:spPr>
          <a:xfrm>
            <a:off x="2019300" y="6454775"/>
            <a:ext cx="1643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          B           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CBFDE2-AE16-2A97-5D51-49AC81B56EB9}"/>
              </a:ext>
            </a:extLst>
          </p:cNvPr>
          <p:cNvSpPr/>
          <p:nvPr/>
        </p:nvSpPr>
        <p:spPr>
          <a:xfrm>
            <a:off x="1187450" y="2260599"/>
            <a:ext cx="514350" cy="42322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4" descr="modeled HRF for a task in GLM">
            <a:extLst>
              <a:ext uri="{FF2B5EF4-FFF2-40B4-BE49-F238E27FC236}">
                <a16:creationId xmlns:a16="http://schemas.microsoft.com/office/drawing/2014/main" id="{935B6002-C5F5-8406-5409-A3D0DBE6DA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622" b="39044"/>
          <a:stretch>
            <a:fillRect/>
          </a:stretch>
        </p:blipFill>
        <p:spPr bwMode="auto">
          <a:xfrm>
            <a:off x="7976950" y="4224102"/>
            <a:ext cx="3718399" cy="40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modeled HRF for a task in GLM">
            <a:extLst>
              <a:ext uri="{FF2B5EF4-FFF2-40B4-BE49-F238E27FC236}">
                <a16:creationId xmlns:a16="http://schemas.microsoft.com/office/drawing/2014/main" id="{F2E82A2D-7F56-9D2F-9BC9-C29057E0AC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622" b="39044"/>
          <a:stretch>
            <a:fillRect/>
          </a:stretch>
        </p:blipFill>
        <p:spPr bwMode="auto">
          <a:xfrm>
            <a:off x="7976950" y="3856834"/>
            <a:ext cx="3718399" cy="943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modeled HRF for a task in GLM">
            <a:extLst>
              <a:ext uri="{FF2B5EF4-FFF2-40B4-BE49-F238E27FC236}">
                <a16:creationId xmlns:a16="http://schemas.microsoft.com/office/drawing/2014/main" id="{A9811179-4DEB-A7C7-EBC0-1D6F66ACC3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622" b="39044"/>
          <a:stretch>
            <a:fillRect/>
          </a:stretch>
        </p:blipFill>
        <p:spPr bwMode="auto">
          <a:xfrm>
            <a:off x="7976950" y="4328717"/>
            <a:ext cx="3718399" cy="235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1AC967E-6468-C2F4-CCFB-48F6C569B69A}"/>
              </a:ext>
            </a:extLst>
          </p:cNvPr>
          <p:cNvSpPr/>
          <p:nvPr/>
        </p:nvSpPr>
        <p:spPr>
          <a:xfrm>
            <a:off x="6464300" y="3347802"/>
            <a:ext cx="533400" cy="2159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6DD0B77-4C0B-3332-0777-4EB369B1D1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3350" y="4854154"/>
            <a:ext cx="3845598" cy="154956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B787CF3-58F4-A267-5C62-914A1600D81C}"/>
              </a:ext>
            </a:extLst>
          </p:cNvPr>
          <p:cNvSpPr/>
          <p:nvPr/>
        </p:nvSpPr>
        <p:spPr>
          <a:xfrm>
            <a:off x="3831336" y="2260599"/>
            <a:ext cx="2334851" cy="42322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4B88B57-F572-67D6-E743-B01C917CBD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9058" y="1044722"/>
            <a:ext cx="7479890" cy="5624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4708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  <p:bldP spid="1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F645C-AC72-9BDD-84C3-6DA8D5593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Beta weights</a:t>
            </a:r>
          </a:p>
        </p:txBody>
      </p:sp>
      <p:pic>
        <p:nvPicPr>
          <p:cNvPr id="6146" name="Picture 2" descr="Picture">
            <a:extLst>
              <a:ext uri="{FF2B5EF4-FFF2-40B4-BE49-F238E27FC236}">
                <a16:creationId xmlns:a16="http://schemas.microsoft.com/office/drawing/2014/main" id="{25A16138-16B8-A3FE-F829-A10E64DFAE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5317" y="2075656"/>
            <a:ext cx="9661365" cy="1946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Google Shape;232;p20">
            <a:extLst>
              <a:ext uri="{FF2B5EF4-FFF2-40B4-BE49-F238E27FC236}">
                <a16:creationId xmlns:a16="http://schemas.microsoft.com/office/drawing/2014/main" id="{8CFE3299-8294-5977-066C-4E286558D19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4976185" y="3805050"/>
            <a:ext cx="2239627" cy="289690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57C551F-47C9-0F5E-417A-BDA81B1E6D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0019" y="4511913"/>
            <a:ext cx="2154760" cy="3403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D5CBF8-C414-0ECD-C116-1B93967919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5835" y="4792097"/>
            <a:ext cx="2154760" cy="3403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2DAA9B8-6EE2-0FD1-D980-975A437352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1402" y="6089473"/>
            <a:ext cx="2154760" cy="340360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1DF527F-4A2E-21AC-A9E9-41CAF33032CB}"/>
              </a:ext>
            </a:extLst>
          </p:cNvPr>
          <p:cNvCxnSpPr>
            <a:cxnSpLocks/>
          </p:cNvCxnSpPr>
          <p:nvPr/>
        </p:nvCxnSpPr>
        <p:spPr>
          <a:xfrm>
            <a:off x="4023360" y="4682093"/>
            <a:ext cx="1402080" cy="3238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792E34F-B28D-67EB-970E-642295312997}"/>
              </a:ext>
            </a:extLst>
          </p:cNvPr>
          <p:cNvCxnSpPr>
            <a:cxnSpLocks/>
          </p:cNvCxnSpPr>
          <p:nvPr/>
        </p:nvCxnSpPr>
        <p:spPr>
          <a:xfrm flipV="1">
            <a:off x="4439920" y="5791200"/>
            <a:ext cx="1656078" cy="4684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864B8A8-4B52-FE0C-8EBF-FA510489FB65}"/>
              </a:ext>
            </a:extLst>
          </p:cNvPr>
          <p:cNvCxnSpPr/>
          <p:nvPr/>
        </p:nvCxnSpPr>
        <p:spPr>
          <a:xfrm flipH="1">
            <a:off x="6939280" y="4962277"/>
            <a:ext cx="894080" cy="872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Google Shape;232;p20">
            <a:extLst>
              <a:ext uri="{FF2B5EF4-FFF2-40B4-BE49-F238E27FC236}">
                <a16:creationId xmlns:a16="http://schemas.microsoft.com/office/drawing/2014/main" id="{1525E261-09F3-616A-289E-31D11216ACE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3736" t="14623" r="62522" b="75349"/>
          <a:stretch>
            <a:fillRect/>
          </a:stretch>
        </p:blipFill>
        <p:spPr>
          <a:xfrm>
            <a:off x="10963296" y="5698172"/>
            <a:ext cx="1228704" cy="115982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93875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B5372-52FA-B3EB-AF37-9E88F4D90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56093-EE81-1B44-D44F-C88122956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Beta weights</a:t>
            </a:r>
          </a:p>
        </p:txBody>
      </p:sp>
      <p:pic>
        <p:nvPicPr>
          <p:cNvPr id="6146" name="Picture 2" descr="Picture">
            <a:extLst>
              <a:ext uri="{FF2B5EF4-FFF2-40B4-BE49-F238E27FC236}">
                <a16:creationId xmlns:a16="http://schemas.microsoft.com/office/drawing/2014/main" id="{D7A109A9-8479-E1DC-DEC4-B937A0CE3B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5317" y="2075656"/>
            <a:ext cx="9661365" cy="1946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Picture">
            <a:extLst>
              <a:ext uri="{FF2B5EF4-FFF2-40B4-BE49-F238E27FC236}">
                <a16:creationId xmlns:a16="http://schemas.microsoft.com/office/drawing/2014/main" id="{5CD1696C-445D-8D43-8EBC-155BA92FB2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5316" y="4021931"/>
            <a:ext cx="9661365" cy="1960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50687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40FAA-258A-CA77-2FD9-9CEC5CF81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Contrasts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D07828-65C5-E387-B346-ED40150E74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2904" y="1690688"/>
            <a:ext cx="6226191" cy="46629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20FD97-E485-1273-5234-59685ACCD8D8}"/>
              </a:ext>
            </a:extLst>
          </p:cNvPr>
          <p:cNvSpPr txBox="1"/>
          <p:nvPr/>
        </p:nvSpPr>
        <p:spPr>
          <a:xfrm rot="16200000">
            <a:off x="2180922" y="3837474"/>
            <a:ext cx="1234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JVH (2023)</a:t>
            </a:r>
          </a:p>
        </p:txBody>
      </p:sp>
    </p:spTree>
    <p:extLst>
      <p:ext uri="{BB962C8B-B14F-4D97-AF65-F5344CB8AC3E}">
        <p14:creationId xmlns:p14="http://schemas.microsoft.com/office/powerpoint/2010/main" val="11194208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D3DD2-D6F7-1C44-8437-67E129758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17135-BF61-C442-FFF6-5BE2EF16A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Generalized Linear Model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062AE0-DB5F-C2F6-92C8-8DC8F208B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7858" y="2535549"/>
            <a:ext cx="5656284" cy="893451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D1F33DB0-9491-3F1F-CCC2-3959000A84BA}"/>
              </a:ext>
            </a:extLst>
          </p:cNvPr>
          <p:cNvGrpSpPr/>
          <p:nvPr/>
        </p:nvGrpSpPr>
        <p:grpSpPr>
          <a:xfrm>
            <a:off x="1149292" y="3329700"/>
            <a:ext cx="2691188" cy="1192291"/>
            <a:chOff x="1149292" y="3329700"/>
            <a:chExt cx="2691188" cy="119229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0B3BE6C-313E-1124-0167-01978C8D0C7C}"/>
                </a:ext>
              </a:extLst>
            </p:cNvPr>
            <p:cNvSpPr txBox="1"/>
            <p:nvPr/>
          </p:nvSpPr>
          <p:spPr>
            <a:xfrm>
              <a:off x="1149292" y="4152659"/>
              <a:ext cx="1813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Measured signal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969AA9C1-6C2F-049F-1BDB-29EC9A344B66}"/>
                </a:ext>
              </a:extLst>
            </p:cNvPr>
            <p:cNvCxnSpPr>
              <a:cxnSpLocks/>
              <a:stCxn id="6" idx="0"/>
            </p:cNvCxnSpPr>
            <p:nvPr/>
          </p:nvCxnSpPr>
          <p:spPr>
            <a:xfrm flipV="1">
              <a:off x="2055983" y="3520440"/>
              <a:ext cx="1047659" cy="63221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52CE471-C17B-2A50-2889-26645CFB295C}"/>
                </a:ext>
              </a:extLst>
            </p:cNvPr>
            <p:cNvSpPr/>
            <p:nvPr/>
          </p:nvSpPr>
          <p:spPr>
            <a:xfrm>
              <a:off x="3267858" y="3329700"/>
              <a:ext cx="572622" cy="457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9026F7F-5AF6-5CEC-7B52-34C21F8943B3}"/>
              </a:ext>
            </a:extLst>
          </p:cNvPr>
          <p:cNvGrpSpPr/>
          <p:nvPr/>
        </p:nvGrpSpPr>
        <p:grpSpPr>
          <a:xfrm>
            <a:off x="3360137" y="3329699"/>
            <a:ext cx="2309607" cy="2275869"/>
            <a:chOff x="3360137" y="3329699"/>
            <a:chExt cx="2309607" cy="2275869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BC8A1B2-2E17-8FC7-E83E-500138388326}"/>
                </a:ext>
              </a:extLst>
            </p:cNvPr>
            <p:cNvSpPr txBox="1"/>
            <p:nvPr/>
          </p:nvSpPr>
          <p:spPr>
            <a:xfrm>
              <a:off x="3360137" y="5236236"/>
              <a:ext cx="23096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Amplitude (unknown)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ABFDEBEE-858C-0A96-3787-E36E839FCE85}"/>
                </a:ext>
              </a:extLst>
            </p:cNvPr>
            <p:cNvCxnSpPr>
              <a:cxnSpLocks/>
              <a:stCxn id="7" idx="0"/>
            </p:cNvCxnSpPr>
            <p:nvPr/>
          </p:nvCxnSpPr>
          <p:spPr>
            <a:xfrm flipV="1">
              <a:off x="4514941" y="3520440"/>
              <a:ext cx="274777" cy="171579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358BF12-B587-CFC6-AD7C-87B122138962}"/>
                </a:ext>
              </a:extLst>
            </p:cNvPr>
            <p:cNvSpPr/>
            <p:nvPr/>
          </p:nvSpPr>
          <p:spPr>
            <a:xfrm>
              <a:off x="4598040" y="3329699"/>
              <a:ext cx="572622" cy="457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CAAD8AC-CBE0-1C8A-D273-BFF539F88B09}"/>
              </a:ext>
            </a:extLst>
          </p:cNvPr>
          <p:cNvGrpSpPr/>
          <p:nvPr/>
        </p:nvGrpSpPr>
        <p:grpSpPr>
          <a:xfrm>
            <a:off x="5170662" y="3329698"/>
            <a:ext cx="2980881" cy="1351806"/>
            <a:chOff x="5170662" y="3329698"/>
            <a:chExt cx="2980881" cy="1351806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6AA32B3-A10F-023F-A0FE-694581880858}"/>
                </a:ext>
              </a:extLst>
            </p:cNvPr>
            <p:cNvSpPr txBox="1"/>
            <p:nvPr/>
          </p:nvSpPr>
          <p:spPr>
            <a:xfrm>
              <a:off x="5170662" y="4035173"/>
              <a:ext cx="298088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Design matrix</a:t>
              </a:r>
            </a:p>
            <a:p>
              <a:pPr algn="ctr"/>
              <a:r>
                <a:rPr lang="en-US" dirty="0"/>
                <a:t>(events convolved with HRF)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69FAC19F-7AEF-80FA-50A9-23F03FCCAB23}"/>
                </a:ext>
              </a:extLst>
            </p:cNvPr>
            <p:cNvCxnSpPr>
              <a:cxnSpLocks/>
              <a:stCxn id="8" idx="0"/>
            </p:cNvCxnSpPr>
            <p:nvPr/>
          </p:nvCxnSpPr>
          <p:spPr>
            <a:xfrm flipH="1" flipV="1">
              <a:off x="6661102" y="3520440"/>
              <a:ext cx="1" cy="51473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9E99902-4D2F-91D1-E31E-9C4D1DC30293}"/>
                </a:ext>
              </a:extLst>
            </p:cNvPr>
            <p:cNvSpPr/>
            <p:nvPr/>
          </p:nvSpPr>
          <p:spPr>
            <a:xfrm>
              <a:off x="5503445" y="3329698"/>
              <a:ext cx="1976845" cy="457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9DF3613-D50F-CA5B-5D19-3BADE0370571}"/>
              </a:ext>
            </a:extLst>
          </p:cNvPr>
          <p:cNvGrpSpPr/>
          <p:nvPr/>
        </p:nvGrpSpPr>
        <p:grpSpPr>
          <a:xfrm>
            <a:off x="7486992" y="3329697"/>
            <a:ext cx="3741986" cy="2275871"/>
            <a:chOff x="7486992" y="3329697"/>
            <a:chExt cx="3741986" cy="227587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119904A-CC5B-E23B-97B4-39F94401070F}"/>
                </a:ext>
              </a:extLst>
            </p:cNvPr>
            <p:cNvSpPr txBox="1"/>
            <p:nvPr/>
          </p:nvSpPr>
          <p:spPr>
            <a:xfrm>
              <a:off x="7486992" y="5236236"/>
              <a:ext cx="37419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Normally distributed random noise</a:t>
              </a:r>
              <a:r>
                <a:rPr lang="en-US" b="1" dirty="0"/>
                <a:t>*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B84788B0-A3F6-D123-1F5C-C495125C7160}"/>
                </a:ext>
              </a:extLst>
            </p:cNvPr>
            <p:cNvCxnSpPr>
              <a:cxnSpLocks/>
              <a:stCxn id="9" idx="0"/>
            </p:cNvCxnSpPr>
            <p:nvPr/>
          </p:nvCxnSpPr>
          <p:spPr>
            <a:xfrm flipH="1" flipV="1">
              <a:off x="8860335" y="3520440"/>
              <a:ext cx="497650" cy="171579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27CAB47-F5B1-B815-BA1A-6B93A31832E8}"/>
                </a:ext>
              </a:extLst>
            </p:cNvPr>
            <p:cNvSpPr/>
            <p:nvPr/>
          </p:nvSpPr>
          <p:spPr>
            <a:xfrm>
              <a:off x="8399145" y="3329697"/>
              <a:ext cx="572622" cy="457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7425E032-BF7B-703C-1EA3-5F2BE8A62583}"/>
              </a:ext>
            </a:extLst>
          </p:cNvPr>
          <p:cNvSpPr txBox="1"/>
          <p:nvPr/>
        </p:nvSpPr>
        <p:spPr>
          <a:xfrm>
            <a:off x="7489159" y="5750969"/>
            <a:ext cx="39008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* PROBLEM</a:t>
            </a:r>
            <a:r>
              <a:rPr lang="en-US" sz="1400" dirty="0"/>
              <a:t>: There are many sources of </a:t>
            </a:r>
          </a:p>
          <a:p>
            <a:r>
              <a:rPr lang="en-US" sz="1400" dirty="0"/>
              <a:t>structured noise contributing to the BOLD signal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A62732-29AC-2129-1B41-D0C78865D3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6992" y="198105"/>
            <a:ext cx="4510149" cy="1817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591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Figure 1">
            <a:extLst>
              <a:ext uri="{FF2B5EF4-FFF2-40B4-BE49-F238E27FC236}">
                <a16:creationId xmlns:a16="http://schemas.microsoft.com/office/drawing/2014/main" id="{59E2455E-8E85-4A8C-EA98-E3E6473F9E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3164" y="2399903"/>
            <a:ext cx="5865723" cy="4043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0F72552-4954-EF9C-C11A-5F7AC3691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B5973-0076-C17A-B7EE-F6CBFED3A1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fmrisim</a:t>
            </a:r>
            <a:r>
              <a:rPr lang="en-US" dirty="0"/>
              <a:t> (Ellis et al., 2020)</a:t>
            </a:r>
          </a:p>
        </p:txBody>
      </p:sp>
      <p:pic>
        <p:nvPicPr>
          <p:cNvPr id="7" name="template - Made with Clipchamp">
            <a:hlinkClick r:id="" action="ppaction://media"/>
            <a:extLst>
              <a:ext uri="{FF2B5EF4-FFF2-40B4-BE49-F238E27FC236}">
                <a16:creationId xmlns:a16="http://schemas.microsoft.com/office/drawing/2014/main" id="{5326DBC2-32B3-22E6-669C-3517C32D8BA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297077" y="2467372"/>
            <a:ext cx="3908425" cy="390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035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643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7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E3CAB26-F619-D61F-C7D7-97E8D575A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Denoising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6368AE-36F3-14EC-9FC8-3D28A2F156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Removing structured noise</a:t>
            </a:r>
          </a:p>
        </p:txBody>
      </p:sp>
    </p:spTree>
    <p:extLst>
      <p:ext uri="{BB962C8B-B14F-4D97-AF65-F5344CB8AC3E}">
        <p14:creationId xmlns:p14="http://schemas.microsoft.com/office/powerpoint/2010/main" val="1300363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04BDF-FF56-D63A-F95E-41C70148F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9D74358-893E-22FC-5EEA-4BAAF86A8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out structured noise</a:t>
            </a:r>
          </a:p>
        </p:txBody>
      </p:sp>
      <p:pic>
        <p:nvPicPr>
          <p:cNvPr id="5122" name="Picture 2" descr="General Linear model">
            <a:extLst>
              <a:ext uri="{FF2B5EF4-FFF2-40B4-BE49-F238E27FC236}">
                <a16:creationId xmlns:a16="http://schemas.microsoft.com/office/drawing/2014/main" id="{0EF07888-6992-B634-BE93-8130A6B80C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37134"/>
            <a:ext cx="6777037" cy="4817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CB3FFFE2-0E79-36DD-72E8-4D84490FA8F4}"/>
              </a:ext>
            </a:extLst>
          </p:cNvPr>
          <p:cNvGrpSpPr/>
          <p:nvPr/>
        </p:nvGrpSpPr>
        <p:grpSpPr>
          <a:xfrm>
            <a:off x="3980198" y="6483993"/>
            <a:ext cx="1965090" cy="422985"/>
            <a:chOff x="3980198" y="6483993"/>
            <a:chExt cx="1965090" cy="422985"/>
          </a:xfrm>
        </p:grpSpPr>
        <p:sp>
          <p:nvSpPr>
            <p:cNvPr id="8" name="Right Brace 7">
              <a:extLst>
                <a:ext uri="{FF2B5EF4-FFF2-40B4-BE49-F238E27FC236}">
                  <a16:creationId xmlns:a16="http://schemas.microsoft.com/office/drawing/2014/main" id="{FED4773D-5CCA-55FB-D2C1-3A9B939F2CEA}"/>
                </a:ext>
              </a:extLst>
            </p:cNvPr>
            <p:cNvSpPr/>
            <p:nvPr/>
          </p:nvSpPr>
          <p:spPr>
            <a:xfrm rot="5400000">
              <a:off x="4844745" y="5619446"/>
              <a:ext cx="107307" cy="1836401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56B16BB-4A1C-ED39-CB95-81AE1D66AF07}"/>
                </a:ext>
              </a:extLst>
            </p:cNvPr>
            <p:cNvSpPr txBox="1"/>
            <p:nvPr/>
          </p:nvSpPr>
          <p:spPr>
            <a:xfrm>
              <a:off x="3980198" y="6537646"/>
              <a:ext cx="19650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Motion regressors</a:t>
              </a: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E8497DC3-B319-21F9-35AF-B7662FF73FF9}"/>
              </a:ext>
            </a:extLst>
          </p:cNvPr>
          <p:cNvSpPr/>
          <p:nvPr/>
        </p:nvSpPr>
        <p:spPr>
          <a:xfrm>
            <a:off x="3831336" y="2260599"/>
            <a:ext cx="2334851" cy="42322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56C4CFB-016F-B2FB-0040-51C0781DD024}"/>
              </a:ext>
            </a:extLst>
          </p:cNvPr>
          <p:cNvGrpSpPr/>
          <p:nvPr/>
        </p:nvGrpSpPr>
        <p:grpSpPr>
          <a:xfrm>
            <a:off x="6246714" y="2851386"/>
            <a:ext cx="5387157" cy="3934971"/>
            <a:chOff x="6246714" y="2851386"/>
            <a:chExt cx="5387157" cy="3934971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9822545-62AC-021A-FB3A-062ACD484AE4}"/>
                </a:ext>
              </a:extLst>
            </p:cNvPr>
            <p:cNvSpPr/>
            <p:nvPr/>
          </p:nvSpPr>
          <p:spPr>
            <a:xfrm>
              <a:off x="6246714" y="5220866"/>
              <a:ext cx="3794760" cy="1565491"/>
            </a:xfrm>
            <a:custGeom>
              <a:avLst/>
              <a:gdLst>
                <a:gd name="connsiteX0" fmla="*/ 0 w 3794760"/>
                <a:gd name="connsiteY0" fmla="*/ 1325880 h 1565491"/>
                <a:gd name="connsiteX1" fmla="*/ 1828800 w 3794760"/>
                <a:gd name="connsiteY1" fmla="*/ 1463040 h 1565491"/>
                <a:gd name="connsiteX2" fmla="*/ 3794760 w 3794760"/>
                <a:gd name="connsiteY2" fmla="*/ 0 h 156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94760" h="1565491">
                  <a:moveTo>
                    <a:pt x="0" y="1325880"/>
                  </a:moveTo>
                  <a:cubicBezTo>
                    <a:pt x="598170" y="1504950"/>
                    <a:pt x="1196340" y="1684020"/>
                    <a:pt x="1828800" y="1463040"/>
                  </a:cubicBezTo>
                  <a:cubicBezTo>
                    <a:pt x="2461260" y="1242060"/>
                    <a:pt x="3128010" y="621030"/>
                    <a:pt x="3794760" y="0"/>
                  </a:cubicBezTo>
                </a:path>
              </a:pathLst>
            </a:custGeom>
            <a:noFill/>
            <a:ln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CF646E9-E019-D5E4-A74F-601A561878D5}"/>
                </a:ext>
              </a:extLst>
            </p:cNvPr>
            <p:cNvGrpSpPr/>
            <p:nvPr/>
          </p:nvGrpSpPr>
          <p:grpSpPr>
            <a:xfrm>
              <a:off x="8415339" y="2851386"/>
              <a:ext cx="3218532" cy="1957255"/>
              <a:chOff x="8415339" y="2851386"/>
              <a:chExt cx="3218532" cy="1957255"/>
            </a:xfrm>
          </p:grpSpPr>
          <p:pic>
            <p:nvPicPr>
              <p:cNvPr id="9218" name="Picture 2" descr="fmri temporal filtering">
                <a:extLst>
                  <a:ext uri="{FF2B5EF4-FFF2-40B4-BE49-F238E27FC236}">
                    <a16:creationId xmlns:a16="http://schemas.microsoft.com/office/drawing/2014/main" id="{883258E3-823C-1814-7C26-C36F1638C87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415339" y="3220718"/>
                <a:ext cx="3218532" cy="158792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4B18278-6941-1A85-43A8-8C0A6697884E}"/>
                  </a:ext>
                </a:extLst>
              </p:cNvPr>
              <p:cNvSpPr txBox="1"/>
              <p:nvPr/>
            </p:nvSpPr>
            <p:spPr>
              <a:xfrm>
                <a:off x="8452283" y="2851386"/>
                <a:ext cx="31446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Temporal filtering / detrending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81609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A8530-737F-05BE-E481-05C02DD74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4C997-1E69-24C3-36F1-BB2AA0F09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fMRIPrep</a:t>
            </a:r>
            <a:r>
              <a:rPr lang="en-US" dirty="0"/>
              <a:t> Output</a:t>
            </a:r>
          </a:p>
        </p:txBody>
      </p:sp>
      <p:sp>
        <p:nvSpPr>
          <p:cNvPr id="23" name="Rectangle 22">
            <a:hlinkClick r:id="rId2" action="ppaction://hlinkfile"/>
            <a:extLst>
              <a:ext uri="{FF2B5EF4-FFF2-40B4-BE49-F238E27FC236}">
                <a16:creationId xmlns:a16="http://schemas.microsoft.com/office/drawing/2014/main" id="{E06DAD39-7564-0741-3D11-74B42EB15240}"/>
              </a:ext>
            </a:extLst>
          </p:cNvPr>
          <p:cNvSpPr/>
          <p:nvPr/>
        </p:nvSpPr>
        <p:spPr>
          <a:xfrm>
            <a:off x="838200" y="1689860"/>
            <a:ext cx="1917838" cy="3532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sub-rcg.html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CB88E660-7424-71A6-0FC6-2D7504F616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239608"/>
            <a:ext cx="3119378" cy="133687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3DC0CA4-0939-D405-C385-6977A4C57A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9" y="3576484"/>
            <a:ext cx="3119379" cy="133223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9CF53EA6-6957-81DA-7A6A-BEC92C20A9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4908719"/>
            <a:ext cx="3119378" cy="1323866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130A8EAD-4E10-AFBD-86D6-E4228F804D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7047" y="2238556"/>
            <a:ext cx="4676645" cy="3994029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4167FEC3-6FE1-492D-D7D9-A6BCCCB60BC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49945"/>
          <a:stretch>
            <a:fillRect/>
          </a:stretch>
        </p:blipFill>
        <p:spPr>
          <a:xfrm>
            <a:off x="9193161" y="2239606"/>
            <a:ext cx="2320413" cy="1924023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68C7CC3E-E485-7C78-2D99-C68D8E8F6B4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0388" r="-443"/>
          <a:stretch>
            <a:fillRect/>
          </a:stretch>
        </p:blipFill>
        <p:spPr>
          <a:xfrm>
            <a:off x="9193162" y="4308563"/>
            <a:ext cx="2320412" cy="1924022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60F7BE89-7B2F-8649-A132-AED775CDAC70}"/>
              </a:ext>
            </a:extLst>
          </p:cNvPr>
          <p:cNvSpPr txBox="1"/>
          <p:nvPr/>
        </p:nvSpPr>
        <p:spPr>
          <a:xfrm rot="16200000">
            <a:off x="304079" y="2777241"/>
            <a:ext cx="80663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Skull-strip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E6C4E2E-33F2-C847-1086-EFAA8A75F4D8}"/>
              </a:ext>
            </a:extLst>
          </p:cNvPr>
          <p:cNvSpPr txBox="1"/>
          <p:nvPr/>
        </p:nvSpPr>
        <p:spPr>
          <a:xfrm rot="16200000">
            <a:off x="301675" y="4114117"/>
            <a:ext cx="81144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Normalize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4CC9380-1431-FC01-466E-1DD11FF51166}"/>
              </a:ext>
            </a:extLst>
          </p:cNvPr>
          <p:cNvSpPr txBox="1"/>
          <p:nvPr/>
        </p:nvSpPr>
        <p:spPr>
          <a:xfrm rot="16200000">
            <a:off x="258709" y="5439847"/>
            <a:ext cx="9044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Co-Register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8140F69-D5FC-8FB7-BC37-9228527F3972}"/>
              </a:ext>
            </a:extLst>
          </p:cNvPr>
          <p:cNvSpPr/>
          <p:nvPr/>
        </p:nvSpPr>
        <p:spPr>
          <a:xfrm>
            <a:off x="4146036" y="1922584"/>
            <a:ext cx="7704587" cy="45702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7974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9A32C-D256-04B9-F13C-BB0F94ADA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Denoising (</a:t>
            </a:r>
            <a:r>
              <a:rPr lang="en-US" dirty="0" err="1"/>
              <a:t>NiLearn</a:t>
            </a:r>
            <a:r>
              <a:rPr lang="en-US" dirty="0"/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D2D820-82EA-6A25-185E-7D3F86228C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731" y="1690689"/>
            <a:ext cx="6920558" cy="415950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DEEB6B4-FE50-DFD9-C900-BC7263EC8F19}"/>
              </a:ext>
            </a:extLst>
          </p:cNvPr>
          <p:cNvSpPr/>
          <p:nvPr/>
        </p:nvSpPr>
        <p:spPr>
          <a:xfrm>
            <a:off x="4385188" y="1917290"/>
            <a:ext cx="3453887" cy="185918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FD5CF1-8F2D-49A1-2C6E-9A47762AE0E6}"/>
              </a:ext>
            </a:extLst>
          </p:cNvPr>
          <p:cNvSpPr/>
          <p:nvPr/>
        </p:nvSpPr>
        <p:spPr>
          <a:xfrm>
            <a:off x="3723773" y="4562856"/>
            <a:ext cx="1671188" cy="38611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2B7599-C58F-D210-F6C7-C205F72FEF5F}"/>
              </a:ext>
            </a:extLst>
          </p:cNvPr>
          <p:cNvSpPr/>
          <p:nvPr/>
        </p:nvSpPr>
        <p:spPr>
          <a:xfrm>
            <a:off x="3723772" y="5167311"/>
            <a:ext cx="2640451" cy="21850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506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852DD-1D9D-E7BC-7429-87F49E2F0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211B2D3-DF7A-DA0A-E36D-11E15BE47D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9787" y="1179872"/>
            <a:ext cx="5712425" cy="4124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BB2C6FE0-EE33-2C27-A9BE-D9C2B5408A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392994"/>
            <a:ext cx="9144000" cy="1290483"/>
          </a:xfrm>
        </p:spPr>
        <p:txBody>
          <a:bodyPr/>
          <a:lstStyle/>
          <a:p>
            <a:r>
              <a:rPr lang="en-US" dirty="0"/>
              <a:t>Submitting jobs on Rivanna</a:t>
            </a:r>
          </a:p>
        </p:txBody>
      </p:sp>
    </p:spTree>
    <p:extLst>
      <p:ext uri="{BB962C8B-B14F-4D97-AF65-F5344CB8AC3E}">
        <p14:creationId xmlns:p14="http://schemas.microsoft.com/office/powerpoint/2010/main" val="16927254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44A94-477A-CA19-45D3-E980B811D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4075387-2976-B6D2-D10F-A183FF7C2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fMRIPrep</a:t>
            </a:r>
            <a:r>
              <a:rPr lang="en-US" dirty="0"/>
              <a:t> Pipeline – copy and paste in </a:t>
            </a:r>
            <a:r>
              <a:rPr lang="en-US" dirty="0" err="1"/>
              <a:t>rivanna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60B0DD-F01F-C34F-11DA-389FB43C5793}"/>
              </a:ext>
            </a:extLst>
          </p:cNvPr>
          <p:cNvSpPr txBox="1"/>
          <p:nvPr/>
        </p:nvSpPr>
        <p:spPr>
          <a:xfrm>
            <a:off x="838200" y="1691561"/>
            <a:ext cx="10790432" cy="480131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export </a:t>
            </a: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NETID</a:t>
            </a:r>
            <a:r>
              <a:rPr lang="en-US" b="1" dirty="0">
                <a:solidFill>
                  <a:schemeClr val="bg1"/>
                </a:solidFill>
              </a:rPr>
              <a:t>=$(</a:t>
            </a:r>
            <a:r>
              <a:rPr lang="en-US" b="1" dirty="0" err="1">
                <a:solidFill>
                  <a:schemeClr val="bg1"/>
                </a:solidFill>
              </a:rPr>
              <a:t>whoami</a:t>
            </a:r>
            <a:r>
              <a:rPr lang="en-US" b="1" dirty="0">
                <a:solidFill>
                  <a:schemeClr val="bg1"/>
                </a:solidFill>
              </a:rPr>
              <a:t>) ; export </a:t>
            </a:r>
            <a:r>
              <a:rPr lang="en-US" b="1" dirty="0">
                <a:solidFill>
                  <a:schemeClr val="accent2"/>
                </a:solidFill>
              </a:rPr>
              <a:t>SUBID</a:t>
            </a:r>
            <a:r>
              <a:rPr lang="en-US" b="1" dirty="0">
                <a:solidFill>
                  <a:schemeClr val="bg1"/>
                </a:solidFill>
              </a:rPr>
              <a:t>="</a:t>
            </a:r>
            <a:r>
              <a:rPr lang="en-US" b="1" dirty="0" err="1">
                <a:solidFill>
                  <a:schemeClr val="bg1"/>
                </a:solidFill>
              </a:rPr>
              <a:t>rcg</a:t>
            </a:r>
            <a:r>
              <a:rPr lang="en-US" b="1" dirty="0">
                <a:solidFill>
                  <a:schemeClr val="bg1"/>
                </a:solidFill>
              </a:rPr>
              <a:t>"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if [[ ! –d /scratch/${</a:t>
            </a: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NETID</a:t>
            </a:r>
            <a:r>
              <a:rPr lang="en-US" b="1" dirty="0">
                <a:solidFill>
                  <a:schemeClr val="bg1"/>
                </a:solidFill>
              </a:rPr>
              <a:t>}/</a:t>
            </a:r>
            <a:r>
              <a:rPr lang="en-US" b="1" dirty="0" err="1">
                <a:solidFill>
                  <a:schemeClr val="bg1"/>
                </a:solidFill>
              </a:rPr>
              <a:t>brainhack</a:t>
            </a:r>
            <a:r>
              <a:rPr lang="en-US" b="1" dirty="0">
                <a:solidFill>
                  <a:schemeClr val="bg1"/>
                </a:solidFill>
              </a:rPr>
              <a:t> ]] ; then</a:t>
            </a:r>
          </a:p>
          <a:p>
            <a:r>
              <a:rPr lang="en-US" b="1" dirty="0">
                <a:solidFill>
                  <a:schemeClr val="bg1"/>
                </a:solidFill>
              </a:rPr>
              <a:t>	</a:t>
            </a:r>
            <a:r>
              <a:rPr lang="en-US" b="1" dirty="0" err="1">
                <a:solidFill>
                  <a:schemeClr val="bg1"/>
                </a:solidFill>
              </a:rPr>
              <a:t>mkdir</a:t>
            </a:r>
            <a:r>
              <a:rPr lang="en-US" b="1" dirty="0">
                <a:solidFill>
                  <a:schemeClr val="bg1"/>
                </a:solidFill>
              </a:rPr>
              <a:t> /scratch/${</a:t>
            </a: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NETID</a:t>
            </a:r>
            <a:r>
              <a:rPr lang="en-US" b="1" dirty="0">
                <a:solidFill>
                  <a:schemeClr val="bg1"/>
                </a:solidFill>
              </a:rPr>
              <a:t>}/</a:t>
            </a:r>
            <a:r>
              <a:rPr lang="en-US" b="1" dirty="0" err="1">
                <a:solidFill>
                  <a:schemeClr val="bg1"/>
                </a:solidFill>
              </a:rPr>
              <a:t>brainhack</a:t>
            </a:r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fi</a:t>
            </a:r>
          </a:p>
          <a:p>
            <a:r>
              <a:rPr lang="en-US" b="1" dirty="0">
                <a:solidFill>
                  <a:schemeClr val="bg1"/>
                </a:solidFill>
              </a:rPr>
              <a:t>cd /scratch/${</a:t>
            </a: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NETID</a:t>
            </a:r>
            <a:r>
              <a:rPr lang="en-US" b="1" dirty="0">
                <a:solidFill>
                  <a:schemeClr val="bg1"/>
                </a:solidFill>
              </a:rPr>
              <a:t>}/</a:t>
            </a:r>
            <a:r>
              <a:rPr lang="en-US" b="1" dirty="0" err="1">
                <a:solidFill>
                  <a:schemeClr val="bg1"/>
                </a:solidFill>
              </a:rPr>
              <a:t>brainhack</a:t>
            </a:r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cp -r /project/</a:t>
            </a:r>
            <a:r>
              <a:rPr lang="en-US" b="1" dirty="0" err="1">
                <a:solidFill>
                  <a:schemeClr val="bg1"/>
                </a:solidFill>
              </a:rPr>
              <a:t>morrislab</a:t>
            </a:r>
            <a:r>
              <a:rPr lang="en-US" b="1" dirty="0">
                <a:solidFill>
                  <a:schemeClr val="bg1"/>
                </a:solidFill>
              </a:rPr>
              <a:t>/Craig/</a:t>
            </a:r>
            <a:r>
              <a:rPr lang="en-US" b="1" dirty="0" err="1">
                <a:solidFill>
                  <a:schemeClr val="bg1"/>
                </a:solidFill>
              </a:rPr>
              <a:t>rcgBIDS</a:t>
            </a:r>
            <a:r>
              <a:rPr lang="en-US" b="1" dirty="0">
                <a:solidFill>
                  <a:schemeClr val="bg1"/>
                </a:solidFill>
              </a:rPr>
              <a:t> /scratch/${</a:t>
            </a: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NETID</a:t>
            </a:r>
            <a:r>
              <a:rPr lang="en-US" b="1" dirty="0">
                <a:solidFill>
                  <a:schemeClr val="bg1"/>
                </a:solidFill>
              </a:rPr>
              <a:t>}/</a:t>
            </a:r>
            <a:r>
              <a:rPr lang="en-US" b="1" dirty="0" err="1">
                <a:solidFill>
                  <a:schemeClr val="bg1"/>
                </a:solidFill>
              </a:rPr>
              <a:t>brainhack</a:t>
            </a:r>
            <a:endParaRPr lang="en-US" b="1" dirty="0">
              <a:solidFill>
                <a:schemeClr val="bg1"/>
              </a:solidFill>
            </a:endParaRP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module load </a:t>
            </a:r>
            <a:r>
              <a:rPr lang="en-US" b="1" dirty="0" err="1">
                <a:solidFill>
                  <a:schemeClr val="bg1"/>
                </a:solidFill>
              </a:rPr>
              <a:t>apptainer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fmriprep</a:t>
            </a:r>
            <a:endParaRPr lang="en-US" b="1" dirty="0">
              <a:solidFill>
                <a:schemeClr val="bg1"/>
              </a:solidFill>
            </a:endParaRP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 err="1">
                <a:solidFill>
                  <a:schemeClr val="bg1"/>
                </a:solidFill>
              </a:rPr>
              <a:t>apptainer</a:t>
            </a:r>
            <a:r>
              <a:rPr lang="en-US" b="1" dirty="0">
                <a:solidFill>
                  <a:schemeClr val="bg1"/>
                </a:solidFill>
              </a:rPr>
              <a:t> run --</a:t>
            </a:r>
            <a:r>
              <a:rPr lang="en-US" b="1" dirty="0" err="1">
                <a:solidFill>
                  <a:schemeClr val="bg1"/>
                </a:solidFill>
              </a:rPr>
              <a:t>cleanenv</a:t>
            </a:r>
            <a:r>
              <a:rPr lang="en-US" b="1" dirty="0">
                <a:solidFill>
                  <a:schemeClr val="bg1"/>
                </a:solidFill>
              </a:rPr>
              <a:t> --bind /scratch/${</a:t>
            </a: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NETID</a:t>
            </a:r>
            <a:r>
              <a:rPr lang="en-US" b="1" dirty="0">
                <a:solidFill>
                  <a:schemeClr val="bg1"/>
                </a:solidFill>
              </a:rPr>
              <a:t>}/</a:t>
            </a:r>
            <a:r>
              <a:rPr lang="en-US" b="1" dirty="0" err="1">
                <a:solidFill>
                  <a:schemeClr val="bg1"/>
                </a:solidFill>
              </a:rPr>
              <a:t>brainhack</a:t>
            </a:r>
            <a:r>
              <a:rPr lang="en-US" b="1" dirty="0">
                <a:solidFill>
                  <a:schemeClr val="bg1"/>
                </a:solidFill>
              </a:rPr>
              <a:t>/</a:t>
            </a:r>
            <a:r>
              <a:rPr lang="en-US" b="1" dirty="0" err="1">
                <a:solidFill>
                  <a:schemeClr val="bg1"/>
                </a:solidFill>
              </a:rPr>
              <a:t>rcgBIDS</a:t>
            </a:r>
            <a:r>
              <a:rPr lang="en-US" b="1" dirty="0">
                <a:solidFill>
                  <a:schemeClr val="bg1"/>
                </a:solidFill>
              </a:rPr>
              <a:t>/:/</a:t>
            </a:r>
            <a:r>
              <a:rPr lang="en-US" b="1" dirty="0" err="1">
                <a:solidFill>
                  <a:schemeClr val="bg1"/>
                </a:solidFill>
              </a:rPr>
              <a:t>data:ro</a:t>
            </a:r>
            <a:r>
              <a:rPr lang="en-US" b="1" dirty="0">
                <a:solidFill>
                  <a:schemeClr val="bg1"/>
                </a:solidFill>
              </a:rPr>
              <a:t> --bind /scratch/${</a:t>
            </a: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NETID</a:t>
            </a:r>
            <a:r>
              <a:rPr lang="en-US" b="1" dirty="0">
                <a:solidFill>
                  <a:schemeClr val="bg1"/>
                </a:solidFill>
              </a:rPr>
              <a:t>}/</a:t>
            </a:r>
            <a:r>
              <a:rPr lang="en-US" b="1" dirty="0" err="1">
                <a:solidFill>
                  <a:schemeClr val="bg1"/>
                </a:solidFill>
              </a:rPr>
              <a:t>brainhack</a:t>
            </a:r>
            <a:r>
              <a:rPr lang="en-US" b="1" dirty="0">
                <a:solidFill>
                  <a:schemeClr val="bg1"/>
                </a:solidFill>
              </a:rPr>
              <a:t>/</a:t>
            </a:r>
            <a:r>
              <a:rPr lang="en-US" b="1" dirty="0" err="1">
                <a:solidFill>
                  <a:schemeClr val="bg1"/>
                </a:solidFill>
              </a:rPr>
              <a:t>rcgBIDS</a:t>
            </a:r>
            <a:r>
              <a:rPr lang="en-US" b="1" dirty="0">
                <a:solidFill>
                  <a:schemeClr val="bg1"/>
                </a:solidFill>
              </a:rPr>
              <a:t>/derivatives:/out /</a:t>
            </a:r>
            <a:r>
              <a:rPr lang="en-US" b="1" dirty="0" err="1">
                <a:solidFill>
                  <a:schemeClr val="bg1"/>
                </a:solidFill>
              </a:rPr>
              <a:t>sfs</a:t>
            </a:r>
            <a:r>
              <a:rPr lang="en-US" b="1" dirty="0">
                <a:solidFill>
                  <a:schemeClr val="bg1"/>
                </a:solidFill>
              </a:rPr>
              <a:t>/</a:t>
            </a:r>
            <a:r>
              <a:rPr lang="en-US" b="1" dirty="0" err="1">
                <a:solidFill>
                  <a:schemeClr val="bg1"/>
                </a:solidFill>
              </a:rPr>
              <a:t>weka</a:t>
            </a:r>
            <a:r>
              <a:rPr lang="en-US" b="1" dirty="0">
                <a:solidFill>
                  <a:schemeClr val="bg1"/>
                </a:solidFill>
              </a:rPr>
              <a:t>/applications/resources/containers/</a:t>
            </a:r>
            <a:r>
              <a:rPr lang="en-US" b="1" dirty="0" err="1">
                <a:solidFill>
                  <a:schemeClr val="bg1"/>
                </a:solidFill>
              </a:rPr>
              <a:t>apptainer</a:t>
            </a:r>
            <a:r>
              <a:rPr lang="en-US" b="1" dirty="0">
                <a:solidFill>
                  <a:schemeClr val="bg1"/>
                </a:solidFill>
              </a:rPr>
              <a:t>/fmriprep-23.1.4.sif /data /out participant --participant-label ${</a:t>
            </a:r>
            <a:r>
              <a:rPr lang="en-US" b="1" dirty="0">
                <a:solidFill>
                  <a:schemeClr val="accent2"/>
                </a:solidFill>
              </a:rPr>
              <a:t>SUBID</a:t>
            </a:r>
            <a:r>
              <a:rPr lang="en-US" b="1" dirty="0">
                <a:solidFill>
                  <a:schemeClr val="bg1"/>
                </a:solidFill>
              </a:rPr>
              <a:t>} --fs-license-file /scratch/${</a:t>
            </a: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NETID</a:t>
            </a:r>
            <a:r>
              <a:rPr lang="en-US" b="1" dirty="0">
                <a:solidFill>
                  <a:schemeClr val="bg1"/>
                </a:solidFill>
              </a:rPr>
              <a:t>}/</a:t>
            </a:r>
            <a:r>
              <a:rPr lang="en-US" b="1" dirty="0" err="1">
                <a:solidFill>
                  <a:schemeClr val="bg1"/>
                </a:solidFill>
              </a:rPr>
              <a:t>brainhack</a:t>
            </a:r>
            <a:r>
              <a:rPr lang="en-US" b="1" dirty="0">
                <a:solidFill>
                  <a:schemeClr val="bg1"/>
                </a:solidFill>
              </a:rPr>
              <a:t>/</a:t>
            </a:r>
            <a:r>
              <a:rPr lang="en-US" b="1" dirty="0" err="1">
                <a:solidFill>
                  <a:schemeClr val="bg1"/>
                </a:solidFill>
              </a:rPr>
              <a:t>rcgBIDS</a:t>
            </a:r>
            <a:r>
              <a:rPr lang="en-US" b="1" dirty="0">
                <a:solidFill>
                  <a:schemeClr val="bg1"/>
                </a:solidFill>
              </a:rPr>
              <a:t>/code/license.txt --output-spaces MNI152NLin2009cAsym:res-native:res-2 T1w </a:t>
            </a:r>
            <a:r>
              <a:rPr lang="en-US" b="1" dirty="0" err="1">
                <a:solidFill>
                  <a:schemeClr val="bg1"/>
                </a:solidFill>
              </a:rPr>
              <a:t>func</a:t>
            </a:r>
            <a:r>
              <a:rPr lang="en-US" b="1" dirty="0">
                <a:solidFill>
                  <a:schemeClr val="bg1"/>
                </a:solidFill>
              </a:rPr>
              <a:t> -w /scratch/${</a:t>
            </a: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NETID</a:t>
            </a:r>
            <a:r>
              <a:rPr lang="en-US" b="1" dirty="0">
                <a:solidFill>
                  <a:schemeClr val="bg1"/>
                </a:solidFill>
              </a:rPr>
              <a:t>}/</a:t>
            </a:r>
            <a:r>
              <a:rPr lang="en-US" b="1" dirty="0" err="1">
                <a:solidFill>
                  <a:schemeClr val="bg1"/>
                </a:solidFill>
              </a:rPr>
              <a:t>brainhack</a:t>
            </a:r>
            <a:r>
              <a:rPr lang="en-US" b="1" dirty="0">
                <a:solidFill>
                  <a:schemeClr val="bg1"/>
                </a:solidFill>
              </a:rPr>
              <a:t>/</a:t>
            </a:r>
            <a:r>
              <a:rPr lang="en-US" b="1" dirty="0" err="1">
                <a:solidFill>
                  <a:schemeClr val="bg1"/>
                </a:solidFill>
              </a:rPr>
              <a:t>fmriprep_work</a:t>
            </a:r>
            <a:r>
              <a:rPr lang="en-US" b="1" dirty="0">
                <a:solidFill>
                  <a:schemeClr val="bg1"/>
                </a:solidFill>
              </a:rPr>
              <a:t>/${</a:t>
            </a:r>
            <a:r>
              <a:rPr lang="en-US" b="1" dirty="0">
                <a:solidFill>
                  <a:schemeClr val="accent2"/>
                </a:solidFill>
              </a:rPr>
              <a:t>SUBID</a:t>
            </a:r>
            <a:r>
              <a:rPr lang="en-US" b="1" dirty="0">
                <a:solidFill>
                  <a:schemeClr val="bg1"/>
                </a:solidFill>
              </a:rPr>
              <a:t>} --</a:t>
            </a:r>
            <a:r>
              <a:rPr lang="en-US" b="1" dirty="0" err="1">
                <a:solidFill>
                  <a:schemeClr val="bg1"/>
                </a:solidFill>
              </a:rPr>
              <a:t>omp-nthreads</a:t>
            </a:r>
            <a:r>
              <a:rPr lang="en-US" b="1" dirty="0">
                <a:solidFill>
                  <a:schemeClr val="bg1"/>
                </a:solidFill>
              </a:rPr>
              <a:t> 16 --skip-bids-validation --fs-no-</a:t>
            </a:r>
            <a:r>
              <a:rPr lang="en-US" b="1" dirty="0" err="1">
                <a:solidFill>
                  <a:schemeClr val="bg1"/>
                </a:solidFill>
              </a:rPr>
              <a:t>reconall</a:t>
            </a:r>
            <a:r>
              <a:rPr lang="en-US" b="1" dirty="0">
                <a:solidFill>
                  <a:schemeClr val="bg1"/>
                </a:solidFill>
              </a:rPr>
              <a:t> --low-mem</a:t>
            </a:r>
            <a:endParaRPr lang="en-US" b="1" dirty="0">
              <a:solidFill>
                <a:schemeClr val="accent5">
                  <a:lumMod val="40000"/>
                  <a:lumOff val="60000"/>
                </a:schemeClr>
              </a:solidFill>
              <a:sym typeface="Wingdings" panose="05000000000000000000" pitchFamily="2" charset="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6F7E47-AB00-B0F2-0CC8-46A33DEE6491}"/>
              </a:ext>
            </a:extLst>
          </p:cNvPr>
          <p:cNvSpPr txBox="1"/>
          <p:nvPr/>
        </p:nvSpPr>
        <p:spPr>
          <a:xfrm>
            <a:off x="689206" y="1383347"/>
            <a:ext cx="11088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No changes necessary! This should work on its own </a:t>
            </a:r>
            <a:r>
              <a:rPr lang="en-US" sz="1400" dirty="0">
                <a:sym typeface="Wingdings" panose="05000000000000000000" pitchFamily="2" charset="2"/>
              </a:rPr>
              <a:t> though it might take a while to run – next week we will discuss how to submit </a:t>
            </a:r>
            <a:r>
              <a:rPr lang="en-US" sz="1400" dirty="0" err="1">
                <a:sym typeface="Wingdings" panose="05000000000000000000" pitchFamily="2" charset="2"/>
              </a:rPr>
              <a:t>slurm</a:t>
            </a:r>
            <a:r>
              <a:rPr lang="en-US" sz="1400" dirty="0">
                <a:sym typeface="Wingdings" panose="05000000000000000000" pitchFamily="2" charset="2"/>
              </a:rPr>
              <a:t> jobs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4754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</TotalTime>
  <Words>633</Words>
  <Application>Microsoft Office PowerPoint</Application>
  <PresentationFormat>Widescreen</PresentationFormat>
  <Paragraphs>123</Paragraphs>
  <Slides>26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Aptos</vt:lpstr>
      <vt:lpstr>Aptos Display</vt:lpstr>
      <vt:lpstr>Arial</vt:lpstr>
      <vt:lpstr>Wingdings</vt:lpstr>
      <vt:lpstr>Office Theme</vt:lpstr>
      <vt:lpstr>1_Office Theme</vt:lpstr>
      <vt:lpstr>Office Theme</vt:lpstr>
      <vt:lpstr>Office Theme</vt:lpstr>
      <vt:lpstr>UVA Brainhack!</vt:lpstr>
      <vt:lpstr>Agenda</vt:lpstr>
      <vt:lpstr>Preprocessing (cont.)</vt:lpstr>
      <vt:lpstr>Recap</vt:lpstr>
      <vt:lpstr>fMRIPrep Pipeline</vt:lpstr>
      <vt:lpstr>fMRIPrep Output</vt:lpstr>
      <vt:lpstr>fMRIPrep Output -- anat</vt:lpstr>
      <vt:lpstr>fMRIPrep Output -- anat</vt:lpstr>
      <vt:lpstr>fMRIPrep Output – func</vt:lpstr>
      <vt:lpstr>Design &amp; Analysis</vt:lpstr>
      <vt:lpstr>Signal-to-Noise Ratio (SNR)</vt:lpstr>
      <vt:lpstr>Types</vt:lpstr>
      <vt:lpstr>Generalized Linear Model</vt:lpstr>
      <vt:lpstr>Design Matrix</vt:lpstr>
      <vt:lpstr>Design Matrix</vt:lpstr>
      <vt:lpstr>Beta weights</vt:lpstr>
      <vt:lpstr>Beta weights</vt:lpstr>
      <vt:lpstr>Contrasts</vt:lpstr>
      <vt:lpstr>Generalized Linear Model</vt:lpstr>
      <vt:lpstr>Simulation</vt:lpstr>
      <vt:lpstr>Denoising</vt:lpstr>
      <vt:lpstr>Modeling out structured noise</vt:lpstr>
      <vt:lpstr>fMRIPrep Output</vt:lpstr>
      <vt:lpstr>Denoising (NiLearn)</vt:lpstr>
      <vt:lpstr>PowerPoint Presentation</vt:lpstr>
      <vt:lpstr>fMRIPrep Pipeline – copy and paste in rivanna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Gallagher, Richard Craig (rcg7jb)</dc:creator>
  <cp:lastModifiedBy>Gallagher, Richard Craig (rcg7jb)</cp:lastModifiedBy>
  <cp:revision>10</cp:revision>
  <dcterms:created xsi:type="dcterms:W3CDTF">2025-06-27T13:22:34Z</dcterms:created>
  <dcterms:modified xsi:type="dcterms:W3CDTF">2025-06-27T18:25:37Z</dcterms:modified>
</cp:coreProperties>
</file>