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0" r:id="rId2"/>
    <p:sldMasterId id="2147483648" r:id="rId3"/>
  </p:sldMasterIdLst>
  <p:notesMasterIdLst>
    <p:notesMasterId r:id="rId21"/>
  </p:notesMasterIdLst>
  <p:sldIdLst>
    <p:sldId id="258" r:id="rId4"/>
    <p:sldId id="259" r:id="rId5"/>
    <p:sldId id="257" r:id="rId6"/>
    <p:sldId id="261" r:id="rId7"/>
    <p:sldId id="263" r:id="rId8"/>
    <p:sldId id="264" r:id="rId9"/>
    <p:sldId id="266" r:id="rId10"/>
    <p:sldId id="288" r:id="rId11"/>
    <p:sldId id="289" r:id="rId12"/>
    <p:sldId id="290" r:id="rId13"/>
    <p:sldId id="291" r:id="rId14"/>
    <p:sldId id="292" r:id="rId15"/>
    <p:sldId id="293" r:id="rId16"/>
    <p:sldId id="296" r:id="rId17"/>
    <p:sldId id="295" r:id="rId18"/>
    <p:sldId id="294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6190D-17D7-4ABB-BCC1-31D1BD849008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B8FEF-4147-4E9A-91F5-8FB28567E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42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FC92-EF24-46E8-C2C3-68CC7F6E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44BD6-6B98-34E2-79DE-61550283C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67338-F329-EEF3-B077-903D18EF6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Technically broad-band RF to capture band around Larmour frequency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D2E42-A09B-0375-0D4A-6ADDA9673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98DDC-A285-452F-83DC-DF3EF97C3E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15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TIME!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B8FEF-4147-4E9A-91F5-8FB28567E1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0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Open standard</a:t>
            </a:r>
            <a:r>
              <a:rPr lang="en-US" dirty="0"/>
              <a:t> for </a:t>
            </a:r>
            <a:r>
              <a:rPr lang="en-US" i="1" dirty="0"/>
              <a:t>storing, transmitting, and archiving</a:t>
            </a:r>
            <a:r>
              <a:rPr lang="en-US" dirty="0"/>
              <a:t> medical images and related data</a:t>
            </a:r>
          </a:p>
          <a:p>
            <a:endParaRPr lang="en-US" dirty="0"/>
          </a:p>
          <a:p>
            <a:r>
              <a:rPr lang="en-US" dirty="0"/>
              <a:t>Adopted by every MRI vendor (Siemens, GE, Philips,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B8FEF-4147-4E9A-91F5-8FB28567E1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18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E0852-7A65-CF07-F914-619AF81F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1F567-697A-D76F-24CB-24296BCC4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38195-64EA-8272-E659-155879F4C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Open standard</a:t>
            </a:r>
            <a:r>
              <a:rPr lang="en-US" dirty="0"/>
              <a:t> for </a:t>
            </a:r>
            <a:r>
              <a:rPr lang="en-US" i="1" dirty="0"/>
              <a:t>storing, transmitting, and archiving</a:t>
            </a:r>
            <a:r>
              <a:rPr lang="en-US" dirty="0"/>
              <a:t> medical images and related data</a:t>
            </a:r>
          </a:p>
          <a:p>
            <a:endParaRPr lang="en-US" dirty="0"/>
          </a:p>
          <a:p>
            <a:r>
              <a:rPr lang="en-US" dirty="0"/>
              <a:t>Adopted by every MRI vendor (Siemens, GE, Philips,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93A09-6B80-4208-57C7-B35F05D97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B8FEF-4147-4E9A-91F5-8FB28567E1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7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C74A-AF35-BCD2-632E-DFE1347F0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1D96E-D985-EF03-183F-B1F2DF5DD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B4BAF-FF62-4957-F49E-2ABC25BC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B9CE0-E95F-31D8-F4D0-F5AF40114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1C51A-9DC0-E9DB-E9A0-67E480BD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75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2D28-09C5-4F99-3088-421D45FC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6D2C6-A854-B96E-066F-BF41EDE78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FD054-2762-7094-3FC5-CD4463670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97B4C-D988-74F5-BCD9-5A28E5C1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DB998-6429-0DFE-5E16-B4C1B282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7A9C-FD32-1323-5C06-BCC729E8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29543-EC2F-851A-34D0-9829D553B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F89FA-32F6-C9E2-5DC7-F559E098D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E4E65-3DC8-C6DC-2E61-374EAB4D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6BDED-DDF3-2BBA-8E07-81B31011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3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15D3-7F93-BDD1-58C8-01FF9793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17DA-E4A9-231C-38B6-B598CB03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7D15D-750C-7A99-756E-5FF12AD6D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F7ED8-E239-FDE3-23E0-31AD5A5C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EFD33-E8E0-EF22-2E46-7E539DA2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367B5-FB1A-B9CC-08C4-2E097BE1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5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A6AC-B760-CA6A-73E1-27047A31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66ADA-0E9B-3C12-3BEA-7068302E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10D28-3622-4AD2-2FAC-4D88EB2E2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6294A-1ED9-6416-6C8B-7E54245D6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DE288-F99E-A248-D62A-5B36256F8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860DF-6B64-B72C-66BD-A7570213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21D53-E601-A6BD-A8EC-301470DE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F88C0C-771B-AE62-149E-AA236C75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F7D9-EB35-C16F-A61A-B200AFBD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D566A-B23B-BD38-C8FB-91BC84E8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69193-4817-C050-59A2-C1413906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B5E0F-AFA8-456E-FE73-91DB00D3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A4385-C6F8-6BCE-861D-F18422ABF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1B40E-A71B-6149-512F-E6BEB0DB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6AD39-9215-36E3-156C-B28B4212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1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00CB-4389-18A3-8E7B-860B200E8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323C8-1609-F841-7784-42B1785E3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10297-5EE6-A7D7-4A6C-CEA8BF918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3CA20-2C74-CECC-E608-F43E44865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DE6C9-8841-F564-8E02-6131C3F09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4DE5E-E831-3B57-9D82-22148CF7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DDDE-746B-C839-7310-A69E58AF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93830-CB40-40B2-9BA6-E1EEC4C06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8746A-F722-CBC8-2C26-0C1EB10C8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5D1AC-E617-3B9B-F639-7852C088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42111-62A1-AEA0-E2C4-E4169C53C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99F87-805C-1ECA-ABCD-1E8B417B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4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2E9B-94AD-5B0F-7463-54DD70ED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19C96-3A8D-0186-12A8-EA92476AC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0EDC-B735-DF7B-835F-8103E954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8E36-1F35-F3D2-FAE4-747EC2AA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25895-08AE-7DA5-7D23-A21C5FA8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8B88E7-5D0F-B6D8-CE7A-EFF950A0C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56C4A-66A7-7EFC-3878-2F0BBC7D1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0E779-E325-4679-623F-863DC197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2742F-1220-AE10-A0B9-02F7A1A5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AB21B-801E-D40E-5A4A-AD815FF4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55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13E1-6B18-668E-B11B-E8831FBB6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2C340-9253-61BD-C68B-149F0C28C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7D0B2-9443-B9EC-7A90-D47A97A2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FCB0-C154-4AC2-8FB1-CED0B549503C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63D1F-85EA-3804-8C36-DC3BBCB6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E6F6-B413-34BC-371C-BB627AAD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87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E3EB-A309-7095-E65D-D4232BF7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6E85-D05A-FCB9-2165-A1829D18E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51543-0F83-588A-94F6-70FF3A12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DCC2D-24E8-4D19-A3D4-BF5D7547EDA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2ADB-87BD-C48D-D497-78A9CE6A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01428-CFA6-46CB-E4F8-0D0E5945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82350-D968-925D-2FF8-5BB793E7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D2A1E-9E14-B08F-700F-C2E52E271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0EF8D-5E04-4CC3-DD0D-4002DC9C7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7AEAC-F40D-43EC-AA6F-B05DBA088707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7CD3B-BB69-41B2-EEF7-9B3223480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3632F-2B77-56DD-4DB0-6B749FA00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AB827-EE21-49B3-868A-B8933A31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3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784C3-1790-12B5-E837-F108EF8B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8925C-5DD3-0B3F-3153-C8088EB3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36B0A-DA2A-87FB-E81D-BF5F2B739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7FCB0-C154-4AC2-8FB1-CED0B549503C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B7BD-9500-39CF-AF68-35BB85FCA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174DC-2A0A-E174-D33C-5F9264B14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7CF5-9678-47F9-9B3F-FC35A2EE3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7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C6C6E-FACC-4737-DA84-4933F836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D3C38-1D60-0BB4-765D-DF524761A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2A44-EDB5-51A5-814A-47EBF2AEB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DCC2D-24E8-4D19-A3D4-BF5D7547EDA2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4F52-E9AF-55DC-F905-B07D0BB09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978E-8C5A-D991-BC3F-55C82CAC0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764C6-7476-4DDF-AE74-1E71E8908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reproducibility.stanford.edu/bids-tutorial-series-part-2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354C4B-A321-2406-7D6C-7EB884DDCC2C}"/>
              </a:ext>
            </a:extLst>
          </p:cNvPr>
          <p:cNvGrpSpPr/>
          <p:nvPr/>
        </p:nvGrpSpPr>
        <p:grpSpPr>
          <a:xfrm>
            <a:off x="110703" y="49488"/>
            <a:ext cx="11995595" cy="6441663"/>
            <a:chOff x="110703" y="49488"/>
            <a:chExt cx="11995595" cy="6441663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2144F7E5-A3DE-C3B4-B75A-D4849B684F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3969542" y="1880350"/>
              <a:ext cx="4651538" cy="4606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7928141-054E-BD22-A501-161BE96F1B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476244" y="5139447"/>
              <a:ext cx="1360344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F21624BD-DEFD-549C-EE49-339704C186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2750734" y="3594575"/>
              <a:ext cx="1460214" cy="1445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B52F817-82BE-23EC-0964-310D34AEBD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375396" y="3183805"/>
              <a:ext cx="2354756" cy="2331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5186EF19-31E3-3BF4-4499-6329F183C1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10703" y="1122597"/>
              <a:ext cx="1242102" cy="1229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6FD863E0-829E-4606-63D8-A25D9164B7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597155" y="49488"/>
              <a:ext cx="1933784" cy="1914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5829CFD8-D81A-7AF1-04D7-E416B33A2F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2720896" y="2119790"/>
              <a:ext cx="1205645" cy="1193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81ECEA6B-DD5B-2267-2284-016B8FB1E9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4014376" y="1684198"/>
              <a:ext cx="620864" cy="6148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AD4023EC-E81F-6627-D025-83E80B14FF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1330527" y="2120264"/>
              <a:ext cx="873353" cy="864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01BBE522-8701-2265-A668-C58A02E1D3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356801" y="1150710"/>
              <a:ext cx="1610592" cy="1594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2EB0F1FA-6FF9-4CC7-65E7-9B21AC2FD7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9816480" y="169770"/>
              <a:ext cx="1064045" cy="1053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03D8D9A5-BF5A-BEAB-2787-489E3E0175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9905375" y="2162381"/>
              <a:ext cx="1014697" cy="10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545F69C3-08C3-C3EA-5D47-B9EFC2AAE7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141249" y="3010732"/>
              <a:ext cx="844774" cy="836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D7383249-1E68-FDB7-B515-0CC7180F0C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135975" y="4540042"/>
              <a:ext cx="1970323" cy="1951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CA5ADDA8-A3CE-C5BA-ACF9-B4E28EE4E0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 flipH="1">
              <a:off x="8240783" y="5124462"/>
              <a:ext cx="1360345" cy="134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99A36D67-C077-E252-A4BC-0C9842E67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10763153" y="3010732"/>
              <a:ext cx="1320626" cy="13077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F84C7FEE-0431-655A-E762-902A736117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975"/>
            <a:stretch>
              <a:fillRect/>
            </a:stretch>
          </p:blipFill>
          <p:spPr bwMode="auto">
            <a:xfrm>
              <a:off x="8950335" y="3479528"/>
              <a:ext cx="1483563" cy="1469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93C7D5-9357-0BE6-37B8-E0C51C8AF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97" y="666352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UVA Brainhack!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B5031-D951-D78E-CF2A-18BF4B0D5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===== Week 3 =====</a:t>
            </a:r>
          </a:p>
          <a:p>
            <a:r>
              <a:rPr lang="en-US" dirty="0">
                <a:solidFill>
                  <a:schemeClr val="bg1"/>
                </a:solidFill>
              </a:rPr>
              <a:t>6/13/2025</a:t>
            </a:r>
          </a:p>
        </p:txBody>
      </p:sp>
    </p:spTree>
    <p:extLst>
      <p:ext uri="{BB962C8B-B14F-4D97-AF65-F5344CB8AC3E}">
        <p14:creationId xmlns:p14="http://schemas.microsoft.com/office/powerpoint/2010/main" val="292325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4" presetClass="emph" presetSubtype="0" repeatCount="indefinite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0 -1.48148E-6 L 0 -0.10347 " pathEditMode="relative" rAng="0" ptsTypes="AA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85"/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34" presetClass="emph" presetSubtype="0" repeatCount="indefinite" fill="hold" grpId="1" nodeType="withEffect">
                                  <p:stCondLst>
                                    <p:cond delay="47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4.16667E-7 -2.96296E-6 L -0.00026 -0.05324 " pathEditMode="relative" rAng="0" ptsTypes="AA">
                                      <p:cBhvr>
                                        <p:cTn id="21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662"/>
                                    </p:animMotion>
                                    <p:animRot by="1500000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4" presetClass="emph" presetSubtype="0" repeatCount="indefinite" fill="hold" nodeType="withEffect">
                                  <p:stCondLst>
                                    <p:cond delay="12500"/>
                                  </p:stCondLst>
                                  <p:iterate type="lt">
                                    <p:tmPct val="25000"/>
                                  </p:iterate>
                                  <p:childTnLst>
                                    <p:animMotion origin="layout" path="M -2.08333E-7 -3.7037E-7 L -0.00013 -0.01343 " pathEditMode="relative" rAng="0" ptsTypes="AA">
                                      <p:cBhvr>
                                        <p:cTn id="27" dur="1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671"/>
                                    </p:animMotion>
                                    <p:animRot by="1500000"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7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75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750" fill="hold">
                                          <p:stCondLst>
                                            <p:cond delay="2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uiExpand="1" build="p"/>
      <p:bldP spid="3" grpId="1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8B9B6-F811-B299-F5B1-F469CB6E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b="1"/>
              <a:t>Agenda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03BC01-DDFC-2D25-A5E3-E6EBCA972D6A}"/>
              </a:ext>
            </a:extLst>
          </p:cNvPr>
          <p:cNvGrpSpPr/>
          <p:nvPr/>
        </p:nvGrpSpPr>
        <p:grpSpPr>
          <a:xfrm>
            <a:off x="836675" y="1918794"/>
            <a:ext cx="10515600" cy="982800"/>
            <a:chOff x="0" y="37268"/>
            <a:chExt cx="10515600" cy="9828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4F23B0-C585-A519-43C0-BA23017149CF}"/>
                </a:ext>
              </a:extLst>
            </p:cNvPr>
            <p:cNvSpPr/>
            <p:nvPr/>
          </p:nvSpPr>
          <p:spPr>
            <a:xfrm>
              <a:off x="0" y="37268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3399FF"/>
                </a:gs>
                <a:gs pos="50000">
                  <a:srgbClr val="0066FF"/>
                </a:gs>
                <a:gs pos="100000">
                  <a:srgbClr val="0066FF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ED0174B2-9756-D3B9-233E-37EEC5B02B09}"/>
                </a:ext>
              </a:extLst>
            </p:cNvPr>
            <p:cNvSpPr txBox="1"/>
            <p:nvPr/>
          </p:nvSpPr>
          <p:spPr>
            <a:xfrm>
              <a:off x="47976" y="85244"/>
              <a:ext cx="9231806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Review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87EE89-A3FC-B9BB-5F2E-C5CD4B0EDA86}"/>
              </a:ext>
            </a:extLst>
          </p:cNvPr>
          <p:cNvGrpSpPr/>
          <p:nvPr/>
        </p:nvGrpSpPr>
        <p:grpSpPr>
          <a:xfrm>
            <a:off x="836675" y="3051931"/>
            <a:ext cx="10515600" cy="982800"/>
            <a:chOff x="0" y="1135269"/>
            <a:chExt cx="10515600" cy="9828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93C4F3F-4D7B-07A8-4DAA-9093A449A4EE}"/>
                </a:ext>
              </a:extLst>
            </p:cNvPr>
            <p:cNvSpPr/>
            <p:nvPr/>
          </p:nvSpPr>
          <p:spPr>
            <a:xfrm>
              <a:off x="0" y="1135269"/>
              <a:ext cx="10515600" cy="982800"/>
            </a:xfrm>
            <a:prstGeom prst="round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FF8190A1-87C8-CBC4-89A4-CF9B904C3F32}"/>
                </a:ext>
              </a:extLst>
            </p:cNvPr>
            <p:cNvSpPr txBox="1"/>
            <p:nvPr/>
          </p:nvSpPr>
          <p:spPr>
            <a:xfrm>
              <a:off x="47976" y="1183245"/>
              <a:ext cx="9449520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Data Org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89E1B3-7DA3-61AF-F3BA-8CB422DE6862}"/>
              </a:ext>
            </a:extLst>
          </p:cNvPr>
          <p:cNvGrpSpPr/>
          <p:nvPr/>
        </p:nvGrpSpPr>
        <p:grpSpPr>
          <a:xfrm>
            <a:off x="836675" y="4185068"/>
            <a:ext cx="10515600" cy="982800"/>
            <a:chOff x="0" y="2233269"/>
            <a:chExt cx="10515600" cy="9828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55CD7FD-CF50-51A0-4C14-093728B3C602}"/>
                </a:ext>
              </a:extLst>
            </p:cNvPr>
            <p:cNvSpPr/>
            <p:nvPr/>
          </p:nvSpPr>
          <p:spPr>
            <a:xfrm>
              <a:off x="0" y="2233269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BF501"/>
                </a:gs>
                <a:gs pos="50000">
                  <a:srgbClr val="FFCC00"/>
                </a:gs>
                <a:gs pos="100000">
                  <a:srgbClr val="FFCC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2CCD40DA-E508-D96F-7662-8528143775A0}"/>
                </a:ext>
              </a:extLst>
            </p:cNvPr>
            <p:cNvSpPr txBox="1"/>
            <p:nvPr/>
          </p:nvSpPr>
          <p:spPr>
            <a:xfrm>
              <a:off x="47976" y="2281245"/>
              <a:ext cx="9972035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 err="1">
                  <a:solidFill>
                    <a:schemeClr val="tx1"/>
                  </a:solidFill>
                </a:rPr>
                <a:t>OpenNeuro</a:t>
              </a:r>
              <a:endParaRPr lang="en-US" sz="40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448856C-684D-0FB0-625F-312F4859B0B5}"/>
              </a:ext>
            </a:extLst>
          </p:cNvPr>
          <p:cNvGrpSpPr/>
          <p:nvPr/>
        </p:nvGrpSpPr>
        <p:grpSpPr>
          <a:xfrm>
            <a:off x="836675" y="5318205"/>
            <a:ext cx="10515600" cy="982800"/>
            <a:chOff x="0" y="3368538"/>
            <a:chExt cx="10515600" cy="9828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33A8BE7-5A45-01F1-2CC7-D9D0D28E1F4B}"/>
                </a:ext>
              </a:extLst>
            </p:cNvPr>
            <p:cNvSpPr/>
            <p:nvPr/>
          </p:nvSpPr>
          <p:spPr>
            <a:xfrm>
              <a:off x="0" y="3368538"/>
              <a:ext cx="10515600" cy="982800"/>
            </a:xfrm>
            <a:prstGeom prst="roundRect">
              <a:avLst/>
            </a:prstGeom>
            <a:gradFill>
              <a:gsLst>
                <a:gs pos="0">
                  <a:srgbClr val="FF5050"/>
                </a:gs>
                <a:gs pos="50000">
                  <a:srgbClr val="CC0000"/>
                </a:gs>
                <a:gs pos="100000">
                  <a:srgbClr val="CC0000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D93FAA92-EDBB-B28B-34A5-2392107F2AEC}"/>
                </a:ext>
              </a:extLst>
            </p:cNvPr>
            <p:cNvSpPr txBox="1"/>
            <p:nvPr/>
          </p:nvSpPr>
          <p:spPr>
            <a:xfrm>
              <a:off x="47976" y="3416514"/>
              <a:ext cx="9696263" cy="8868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0" tIns="152400" rIns="152400" bIns="152400" numCol="1" spcCol="1270" anchor="ctr" anchorCtr="0">
              <a:noAutofit/>
            </a:bodyPr>
            <a:lstStyle/>
            <a:p>
              <a:pPr marL="0" lvl="0" indent="0" algn="l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000" kern="1200" dirty="0">
                  <a:solidFill>
                    <a:schemeClr val="tx1"/>
                  </a:solidFill>
                </a:rPr>
                <a:t>Hacking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7154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19DF-B782-054F-088E-8B2049CC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MR physics review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8D852-DDA6-8FED-07B0-29B2BE8C6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72" r="175"/>
          <a:stretch>
            <a:fillRect/>
          </a:stretch>
        </p:blipFill>
        <p:spPr bwMode="auto">
          <a:xfrm>
            <a:off x="5911174" y="1690690"/>
            <a:ext cx="3336481" cy="427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0F8201A-0D73-E53F-7AF6-AD9490F71A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585"/>
          <a:stretch>
            <a:fillRect/>
          </a:stretch>
        </p:blipFill>
        <p:spPr bwMode="auto">
          <a:xfrm>
            <a:off x="6866669" y="1690689"/>
            <a:ext cx="2178996" cy="427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Magnetic Resonance Imaging">
            <a:extLst>
              <a:ext uri="{FF2B5EF4-FFF2-40B4-BE49-F238E27FC236}">
                <a16:creationId xmlns:a16="http://schemas.microsoft.com/office/drawing/2014/main" id="{9D706B93-B551-11C7-7762-D9C14F743B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2" b="10867"/>
          <a:stretch>
            <a:fillRect/>
          </a:stretch>
        </p:blipFill>
        <p:spPr bwMode="auto">
          <a:xfrm rot="16200000" flipH="1">
            <a:off x="2567918" y="2624924"/>
            <a:ext cx="4277490" cy="2409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28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5851-89FC-3D64-CBC8-D5BBFE86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" name="Group 5119">
            <a:extLst>
              <a:ext uri="{FF2B5EF4-FFF2-40B4-BE49-F238E27FC236}">
                <a16:creationId xmlns:a16="http://schemas.microsoft.com/office/drawing/2014/main" id="{78C86F55-0500-F830-D7D6-45DC80DEC5BF}"/>
              </a:ext>
            </a:extLst>
          </p:cNvPr>
          <p:cNvGrpSpPr/>
          <p:nvPr/>
        </p:nvGrpSpPr>
        <p:grpSpPr>
          <a:xfrm>
            <a:off x="7084226" y="1805229"/>
            <a:ext cx="2226518" cy="3574823"/>
            <a:chOff x="8422988" y="2343831"/>
            <a:chExt cx="2226518" cy="3574823"/>
          </a:xfrm>
        </p:grpSpPr>
        <p:sp>
          <p:nvSpPr>
            <p:cNvPr id="5121" name="Arrow: Down 5120">
              <a:extLst>
                <a:ext uri="{FF2B5EF4-FFF2-40B4-BE49-F238E27FC236}">
                  <a16:creationId xmlns:a16="http://schemas.microsoft.com/office/drawing/2014/main" id="{EA8AC96C-E75C-CA24-339E-CDAE8E7DB7D6}"/>
                </a:ext>
              </a:extLst>
            </p:cNvPr>
            <p:cNvSpPr/>
            <p:nvPr/>
          </p:nvSpPr>
          <p:spPr>
            <a:xfrm rot="2313807" flipV="1">
              <a:off x="9293930" y="2343831"/>
              <a:ext cx="484632" cy="3574823"/>
            </a:xfrm>
            <a:prstGeom prst="down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23" name="Group 5122">
              <a:extLst>
                <a:ext uri="{FF2B5EF4-FFF2-40B4-BE49-F238E27FC236}">
                  <a16:creationId xmlns:a16="http://schemas.microsoft.com/office/drawing/2014/main" id="{02D88352-2E0A-9465-180C-866A5F0AC7F3}"/>
                </a:ext>
              </a:extLst>
            </p:cNvPr>
            <p:cNvGrpSpPr/>
            <p:nvPr/>
          </p:nvGrpSpPr>
          <p:grpSpPr>
            <a:xfrm rot="2313807">
              <a:off x="8766784" y="3312679"/>
              <a:ext cx="1538927" cy="1538927"/>
              <a:chOff x="9187544" y="2148113"/>
              <a:chExt cx="1553028" cy="1553028"/>
            </a:xfrm>
          </p:grpSpPr>
          <p:sp>
            <p:nvSpPr>
              <p:cNvPr id="5125" name="Oval 5124">
                <a:extLst>
                  <a:ext uri="{FF2B5EF4-FFF2-40B4-BE49-F238E27FC236}">
                    <a16:creationId xmlns:a16="http://schemas.microsoft.com/office/drawing/2014/main" id="{DDB1E3E0-1C4A-8743-EDEA-2CBE5034E2F6}"/>
                  </a:ext>
                </a:extLst>
              </p:cNvPr>
              <p:cNvSpPr/>
              <p:nvPr/>
            </p:nvSpPr>
            <p:spPr>
              <a:xfrm>
                <a:off x="9187544" y="2148113"/>
                <a:ext cx="1553028" cy="1553028"/>
              </a:xfrm>
              <a:prstGeom prst="ellipse">
                <a:avLst/>
              </a:prstGeom>
              <a:gradFill flip="none" rotWithShape="1">
                <a:gsLst>
                  <a:gs pos="65000">
                    <a:srgbClr val="0070C0">
                      <a:shade val="30000"/>
                      <a:satMod val="115000"/>
                    </a:srgbClr>
                  </a:gs>
                  <a:gs pos="36000">
                    <a:srgbClr val="0070C0">
                      <a:shade val="67500"/>
                      <a:satMod val="115000"/>
                    </a:srgbClr>
                  </a:gs>
                  <a:gs pos="13000">
                    <a:srgbClr val="0070C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26" name="Cross 5125">
                <a:extLst>
                  <a:ext uri="{FF2B5EF4-FFF2-40B4-BE49-F238E27FC236}">
                    <a16:creationId xmlns:a16="http://schemas.microsoft.com/office/drawing/2014/main" id="{81CD401C-E582-AB34-4F67-E7C78E1A19C6}"/>
                  </a:ext>
                </a:extLst>
              </p:cNvPr>
              <p:cNvSpPr/>
              <p:nvPr/>
            </p:nvSpPr>
            <p:spPr>
              <a:xfrm>
                <a:off x="9579428" y="2539997"/>
                <a:ext cx="769258" cy="769258"/>
              </a:xfrm>
              <a:prstGeom prst="plus">
                <a:avLst>
                  <a:gd name="adj" fmla="val 35389"/>
                </a:avLst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124" name="Arc 5123">
              <a:extLst>
                <a:ext uri="{FF2B5EF4-FFF2-40B4-BE49-F238E27FC236}">
                  <a16:creationId xmlns:a16="http://schemas.microsoft.com/office/drawing/2014/main" id="{9A727F28-21B0-ACC0-CD38-CB96BB2F8CEF}"/>
                </a:ext>
              </a:extLst>
            </p:cNvPr>
            <p:cNvSpPr/>
            <p:nvPr/>
          </p:nvSpPr>
          <p:spPr>
            <a:xfrm rot="7713807" flipV="1">
              <a:off x="9337012" y="3027282"/>
              <a:ext cx="398469" cy="2226518"/>
            </a:xfrm>
            <a:prstGeom prst="arc">
              <a:avLst>
                <a:gd name="adj1" fmla="val 15655299"/>
                <a:gd name="adj2" fmla="val 5983627"/>
              </a:avLst>
            </a:prstGeom>
            <a:ln w="57150" cap="rnd">
              <a:headEnd type="none" w="sm" len="sm"/>
              <a:tailEnd type="triangle" w="lg" len="sm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2AC745-3CA5-31BF-ED5A-EE3AE496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MR physics review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33334B-3BD8-A0A3-6A7D-1B7BBDBF91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9"/>
          <a:stretch>
            <a:fillRect/>
          </a:stretch>
        </p:blipFill>
        <p:spPr bwMode="auto">
          <a:xfrm>
            <a:off x="3253962" y="1822348"/>
            <a:ext cx="1529539" cy="321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9" name="Picture 9">
            <a:extLst>
              <a:ext uri="{FF2B5EF4-FFF2-40B4-BE49-F238E27FC236}">
                <a16:creationId xmlns:a16="http://schemas.microsoft.com/office/drawing/2014/main" id="{69E7F253-739C-F33E-A66B-DE3F572D0C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66"/>
          <a:stretch>
            <a:fillRect/>
          </a:stretch>
        </p:blipFill>
        <p:spPr bwMode="auto">
          <a:xfrm>
            <a:off x="5086128" y="2653847"/>
            <a:ext cx="1631479" cy="155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AEBAB3F-4587-9AF4-E1B5-B06F588A08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41"/>
          <a:stretch>
            <a:fillRect/>
          </a:stretch>
        </p:blipFill>
        <p:spPr bwMode="auto">
          <a:xfrm>
            <a:off x="604168" y="1614487"/>
            <a:ext cx="2649794" cy="336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90A3F04D-3686-7B22-9011-A72AB017235F}"/>
              </a:ext>
            </a:extLst>
          </p:cNvPr>
          <p:cNvSpPr/>
          <p:nvPr/>
        </p:nvSpPr>
        <p:spPr>
          <a:xfrm rot="16200000">
            <a:off x="2060504" y="4421188"/>
            <a:ext cx="323606" cy="1644650"/>
          </a:xfrm>
          <a:prstGeom prst="leftBrace">
            <a:avLst>
              <a:gd name="adj1" fmla="val 1215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6928AB-2760-C21D-ED98-B5EE33BBC488}"/>
              </a:ext>
            </a:extLst>
          </p:cNvPr>
          <p:cNvSpPr txBox="1"/>
          <p:nvPr/>
        </p:nvSpPr>
        <p:spPr>
          <a:xfrm>
            <a:off x="1617126" y="5476150"/>
            <a:ext cx="8957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Aligned with B</a:t>
            </a:r>
            <a:r>
              <a:rPr lang="en-US" sz="3200" b="1" baseline="-25000" dirty="0"/>
              <a:t>0</a:t>
            </a:r>
            <a:r>
              <a:rPr lang="en-US" sz="3200" b="1" dirty="0"/>
              <a:t> and precessing at the same rate</a:t>
            </a:r>
          </a:p>
        </p:txBody>
      </p:sp>
      <p:grpSp>
        <p:nvGrpSpPr>
          <p:cNvPr id="5133" name="Group 5132">
            <a:extLst>
              <a:ext uri="{FF2B5EF4-FFF2-40B4-BE49-F238E27FC236}">
                <a16:creationId xmlns:a16="http://schemas.microsoft.com/office/drawing/2014/main" id="{4A76E373-7C81-40ED-6C11-576E699339CF}"/>
              </a:ext>
            </a:extLst>
          </p:cNvPr>
          <p:cNvGrpSpPr/>
          <p:nvPr/>
        </p:nvGrpSpPr>
        <p:grpSpPr>
          <a:xfrm>
            <a:off x="7084225" y="1212699"/>
            <a:ext cx="2226518" cy="4168364"/>
            <a:chOff x="7928595" y="1294890"/>
            <a:chExt cx="2226518" cy="416836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EF658AD-2E91-04CA-D410-89CE9D6FAD24}"/>
                </a:ext>
              </a:extLst>
            </p:cNvPr>
            <p:cNvCxnSpPr/>
            <p:nvPr/>
          </p:nvCxnSpPr>
          <p:spPr>
            <a:xfrm flipV="1">
              <a:off x="9088300" y="1664222"/>
              <a:ext cx="0" cy="3786136"/>
            </a:xfrm>
            <a:prstGeom prst="line">
              <a:avLst/>
            </a:prstGeom>
            <a:ln w="34925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0E18390-7A45-1D78-B30D-B5739F3624FC}"/>
                </a:ext>
              </a:extLst>
            </p:cNvPr>
            <p:cNvSpPr txBox="1"/>
            <p:nvPr/>
          </p:nvSpPr>
          <p:spPr>
            <a:xfrm>
              <a:off x="8895599" y="129489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grpSp>
          <p:nvGrpSpPr>
            <p:cNvPr id="5127" name="Group 5126">
              <a:extLst>
                <a:ext uri="{FF2B5EF4-FFF2-40B4-BE49-F238E27FC236}">
                  <a16:creationId xmlns:a16="http://schemas.microsoft.com/office/drawing/2014/main" id="{A015A5D2-B0C6-DECF-C314-A1F5DA2DCC4F}"/>
                </a:ext>
              </a:extLst>
            </p:cNvPr>
            <p:cNvGrpSpPr/>
            <p:nvPr/>
          </p:nvGrpSpPr>
          <p:grpSpPr>
            <a:xfrm>
              <a:off x="7928595" y="1888431"/>
              <a:ext cx="2226518" cy="3574823"/>
              <a:chOff x="8422988" y="2343831"/>
              <a:chExt cx="2226518" cy="3574823"/>
            </a:xfrm>
          </p:grpSpPr>
          <p:sp>
            <p:nvSpPr>
              <p:cNvPr id="5128" name="Arrow: Down 5127">
                <a:extLst>
                  <a:ext uri="{FF2B5EF4-FFF2-40B4-BE49-F238E27FC236}">
                    <a16:creationId xmlns:a16="http://schemas.microsoft.com/office/drawing/2014/main" id="{24E0F02C-BDE1-82E6-D849-E47B3D4E39A8}"/>
                  </a:ext>
                </a:extLst>
              </p:cNvPr>
              <p:cNvSpPr/>
              <p:nvPr/>
            </p:nvSpPr>
            <p:spPr>
              <a:xfrm rot="2313807" flipV="1">
                <a:off x="9293930" y="2343831"/>
                <a:ext cx="484632" cy="3574823"/>
              </a:xfrm>
              <a:prstGeom prst="downArrow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129" name="Group 5128">
                <a:extLst>
                  <a:ext uri="{FF2B5EF4-FFF2-40B4-BE49-F238E27FC236}">
                    <a16:creationId xmlns:a16="http://schemas.microsoft.com/office/drawing/2014/main" id="{CA8B5CC3-9CF5-4728-D22E-964D6ECF9101}"/>
                  </a:ext>
                </a:extLst>
              </p:cNvPr>
              <p:cNvGrpSpPr/>
              <p:nvPr/>
            </p:nvGrpSpPr>
            <p:grpSpPr>
              <a:xfrm rot="2313807">
                <a:off x="8766784" y="3312679"/>
                <a:ext cx="1538927" cy="1538927"/>
                <a:chOff x="9187544" y="2148113"/>
                <a:chExt cx="1553028" cy="1553028"/>
              </a:xfrm>
            </p:grpSpPr>
            <p:sp>
              <p:nvSpPr>
                <p:cNvPr id="5131" name="Oval 5130">
                  <a:extLst>
                    <a:ext uri="{FF2B5EF4-FFF2-40B4-BE49-F238E27FC236}">
                      <a16:creationId xmlns:a16="http://schemas.microsoft.com/office/drawing/2014/main" id="{26497DE7-6224-1683-2817-FCDBA022A202}"/>
                    </a:ext>
                  </a:extLst>
                </p:cNvPr>
                <p:cNvSpPr/>
                <p:nvPr/>
              </p:nvSpPr>
              <p:spPr>
                <a:xfrm>
                  <a:off x="9187544" y="2148113"/>
                  <a:ext cx="1553028" cy="1553028"/>
                </a:xfrm>
                <a:prstGeom prst="ellipse">
                  <a:avLst/>
                </a:prstGeom>
                <a:gradFill flip="none" rotWithShape="1">
                  <a:gsLst>
                    <a:gs pos="65000">
                      <a:srgbClr val="0070C0">
                        <a:shade val="30000"/>
                        <a:satMod val="115000"/>
                      </a:srgbClr>
                    </a:gs>
                    <a:gs pos="36000">
                      <a:srgbClr val="0070C0">
                        <a:shade val="67500"/>
                        <a:satMod val="115000"/>
                      </a:srgbClr>
                    </a:gs>
                    <a:gs pos="13000">
                      <a:srgbClr val="0070C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32" name="Cross 5131">
                  <a:extLst>
                    <a:ext uri="{FF2B5EF4-FFF2-40B4-BE49-F238E27FC236}">
                      <a16:creationId xmlns:a16="http://schemas.microsoft.com/office/drawing/2014/main" id="{C0C94899-5665-F66E-14C5-20A7F8AE4F11}"/>
                    </a:ext>
                  </a:extLst>
                </p:cNvPr>
                <p:cNvSpPr/>
                <p:nvPr/>
              </p:nvSpPr>
              <p:spPr>
                <a:xfrm>
                  <a:off x="9579428" y="2539997"/>
                  <a:ext cx="769258" cy="769258"/>
                </a:xfrm>
                <a:prstGeom prst="plus">
                  <a:avLst>
                    <a:gd name="adj" fmla="val 35389"/>
                  </a:avLst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130" name="Arc 5129">
                <a:extLst>
                  <a:ext uri="{FF2B5EF4-FFF2-40B4-BE49-F238E27FC236}">
                    <a16:creationId xmlns:a16="http://schemas.microsoft.com/office/drawing/2014/main" id="{6E99EC46-DE88-AE63-5985-C45C66A82315}"/>
                  </a:ext>
                </a:extLst>
              </p:cNvPr>
              <p:cNvSpPr/>
              <p:nvPr/>
            </p:nvSpPr>
            <p:spPr>
              <a:xfrm rot="7713807" flipV="1">
                <a:off x="9337012" y="3027282"/>
                <a:ext cx="398469" cy="2226518"/>
              </a:xfrm>
              <a:prstGeom prst="arc">
                <a:avLst>
                  <a:gd name="adj1" fmla="val 15655299"/>
                  <a:gd name="adj2" fmla="val 5983627"/>
                </a:avLst>
              </a:prstGeom>
              <a:ln w="57150" cap="rnd">
                <a:headEnd type="none" w="sm" len="sm"/>
                <a:tailEnd type="triangle" w="lg" len="sm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24B56DBC-C0E3-28AF-AF3E-377A3EB9A281}"/>
                </a:ext>
              </a:extLst>
            </p:cNvPr>
            <p:cNvSpPr/>
            <p:nvPr/>
          </p:nvSpPr>
          <p:spPr>
            <a:xfrm rot="5400000" flipV="1">
              <a:off x="8842619" y="1161909"/>
              <a:ext cx="398469" cy="2226518"/>
            </a:xfrm>
            <a:prstGeom prst="arc">
              <a:avLst>
                <a:gd name="adj1" fmla="val 13775485"/>
                <a:gd name="adj2" fmla="val 7981121"/>
              </a:avLst>
            </a:prstGeom>
            <a:ln w="57150" cap="rnd">
              <a:solidFill>
                <a:srgbClr val="C00000"/>
              </a:solidFill>
              <a:headEnd type="none" w="sm" len="sm"/>
              <a:tailEnd type="triangle" w="lg" len="sm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5" name="TextBox 5134">
            <a:extLst>
              <a:ext uri="{FF2B5EF4-FFF2-40B4-BE49-F238E27FC236}">
                <a16:creationId xmlns:a16="http://schemas.microsoft.com/office/drawing/2014/main" id="{402C737D-82D4-0FD7-C0DF-6025FFED708A}"/>
              </a:ext>
            </a:extLst>
          </p:cNvPr>
          <p:cNvSpPr txBox="1"/>
          <p:nvPr/>
        </p:nvSpPr>
        <p:spPr>
          <a:xfrm>
            <a:off x="9544869" y="1822318"/>
            <a:ext cx="2122697" cy="52322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42.58</a:t>
            </a:r>
            <a:r>
              <a:rPr lang="en-US" sz="2800" dirty="0"/>
              <a:t> MHz/T</a:t>
            </a:r>
          </a:p>
        </p:txBody>
      </p:sp>
      <p:pic>
        <p:nvPicPr>
          <p:cNvPr id="10263" name="Picture 23" descr="Sine Wave Vector Art, Icons, and Graphics for Free Download">
            <a:extLst>
              <a:ext uri="{FF2B5EF4-FFF2-40B4-BE49-F238E27FC236}">
                <a16:creationId xmlns:a16="http://schemas.microsoft.com/office/drawing/2014/main" id="{D5812291-B5DC-272A-2980-286E0CC6D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0" r="11387"/>
          <a:stretch>
            <a:fillRect/>
          </a:stretch>
        </p:blipFill>
        <p:spPr bwMode="auto">
          <a:xfrm rot="16200000" flipH="1">
            <a:off x="9136758" y="3017551"/>
            <a:ext cx="2756806" cy="149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6" name="TextBox 5135">
            <a:extLst>
              <a:ext uri="{FF2B5EF4-FFF2-40B4-BE49-F238E27FC236}">
                <a16:creationId xmlns:a16="http://schemas.microsoft.com/office/drawing/2014/main" id="{6CCEFCF6-1FA7-47BE-EEB2-0B58C8215C82}"/>
              </a:ext>
            </a:extLst>
          </p:cNvPr>
          <p:cNvSpPr txBox="1"/>
          <p:nvPr/>
        </p:nvSpPr>
        <p:spPr>
          <a:xfrm>
            <a:off x="9448560" y="1429339"/>
            <a:ext cx="2315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“Larmour Frequency”</a:t>
            </a:r>
          </a:p>
        </p:txBody>
      </p:sp>
    </p:spTree>
    <p:extLst>
      <p:ext uri="{BB962C8B-B14F-4D97-AF65-F5344CB8AC3E}">
        <p14:creationId xmlns:p14="http://schemas.microsoft.com/office/powerpoint/2010/main" val="90531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A5FE-1F70-8823-D9BA-CAEFCDF2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5704-DB7A-65F1-EE72-84092C24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MR physics review</a:t>
            </a:r>
            <a:endParaRPr lang="en-US" dirty="0"/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D023EE7E-F29C-BA9E-EFCD-ABE471EEAA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98" t="7755" r="-109" b="67785"/>
          <a:stretch>
            <a:fillRect/>
          </a:stretch>
        </p:blipFill>
        <p:spPr bwMode="auto">
          <a:xfrm>
            <a:off x="9267824" y="3326780"/>
            <a:ext cx="504825" cy="100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3" descr="Sine Wave Vector Art, Icons, and Graphics for Free Download">
            <a:extLst>
              <a:ext uri="{FF2B5EF4-FFF2-40B4-BE49-F238E27FC236}">
                <a16:creationId xmlns:a16="http://schemas.microsoft.com/office/drawing/2014/main" id="{8B081A92-100D-BFD1-685E-7AE44A194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0" r="11387"/>
          <a:stretch>
            <a:fillRect/>
          </a:stretch>
        </p:blipFill>
        <p:spPr bwMode="auto">
          <a:xfrm flipH="1">
            <a:off x="6511018" y="3008382"/>
            <a:ext cx="2756806" cy="149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6788622-8BEB-41BA-76E6-22AD81E7B3B3}"/>
              </a:ext>
            </a:extLst>
          </p:cNvPr>
          <p:cNvGrpSpPr/>
          <p:nvPr/>
        </p:nvGrpSpPr>
        <p:grpSpPr>
          <a:xfrm>
            <a:off x="8815386" y="1594045"/>
            <a:ext cx="1914525" cy="1471692"/>
            <a:chOff x="8815386" y="1647826"/>
            <a:chExt cx="1914525" cy="1471692"/>
          </a:xfrm>
        </p:grpSpPr>
        <p:sp>
          <p:nvSpPr>
            <p:cNvPr id="6" name="Lightning Bolt 5">
              <a:extLst>
                <a:ext uri="{FF2B5EF4-FFF2-40B4-BE49-F238E27FC236}">
                  <a16:creationId xmlns:a16="http://schemas.microsoft.com/office/drawing/2014/main" id="{5677D85C-DCC9-AF13-28CA-C2BA97D963A5}"/>
                </a:ext>
              </a:extLst>
            </p:cNvPr>
            <p:cNvSpPr/>
            <p:nvPr/>
          </p:nvSpPr>
          <p:spPr>
            <a:xfrm rot="3462299">
              <a:off x="9021320" y="2309841"/>
              <a:ext cx="997835" cy="621520"/>
            </a:xfrm>
            <a:prstGeom prst="lightningBol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207065-45F6-0A0A-AD05-B7612E2AD142}"/>
                </a:ext>
              </a:extLst>
            </p:cNvPr>
            <p:cNvSpPr txBox="1"/>
            <p:nvPr/>
          </p:nvSpPr>
          <p:spPr>
            <a:xfrm>
              <a:off x="8815386" y="1647826"/>
              <a:ext cx="191452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800" b="0" i="0" u="none" strike="noStrike" dirty="0">
                  <a:solidFill>
                    <a:srgbClr val="595959"/>
                  </a:solidFill>
                  <a:effectLst/>
                  <a:latin typeface="Verdana" panose="020B0604030504040204" pitchFamily="34" charset="0"/>
                </a:rPr>
                <a:t>42.58MHz</a:t>
              </a:r>
              <a:endParaRPr lang="en-US" b="0" dirty="0">
                <a:effectLst/>
              </a:endParaRPr>
            </a:p>
            <a:p>
              <a:pPr>
                <a:buNone/>
              </a:pPr>
              <a:br>
                <a:rPr lang="en-US" dirty="0"/>
              </a:br>
              <a:endParaRPr lang="en-US" dirty="0"/>
            </a:p>
          </p:txBody>
        </p:sp>
      </p:grpSp>
      <p:sp>
        <p:nvSpPr>
          <p:cNvPr id="4" name="Arrow: Down 3">
            <a:extLst>
              <a:ext uri="{FF2B5EF4-FFF2-40B4-BE49-F238E27FC236}">
                <a16:creationId xmlns:a16="http://schemas.microsoft.com/office/drawing/2014/main" id="{BA760C0B-01F0-15DA-79C6-2FD9074071FC}"/>
              </a:ext>
            </a:extLst>
          </p:cNvPr>
          <p:cNvSpPr/>
          <p:nvPr/>
        </p:nvSpPr>
        <p:spPr>
          <a:xfrm flipV="1">
            <a:off x="5324063" y="1343093"/>
            <a:ext cx="1552391" cy="5174762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93AD52-EF4B-7A61-FF48-CC476B66C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53465" cy="4351338"/>
          </a:xfrm>
        </p:spPr>
        <p:txBody>
          <a:bodyPr/>
          <a:lstStyle/>
          <a:p>
            <a:r>
              <a:rPr lang="en-US" dirty="0"/>
              <a:t>Inversion and recovery</a:t>
            </a:r>
          </a:p>
        </p:txBody>
      </p:sp>
      <p:pic>
        <p:nvPicPr>
          <p:cNvPr id="7" name="Picture 6" descr="Magnetic Resonance Imaging">
            <a:extLst>
              <a:ext uri="{FF2B5EF4-FFF2-40B4-BE49-F238E27FC236}">
                <a16:creationId xmlns:a16="http://schemas.microsoft.com/office/drawing/2014/main" id="{085E85AC-8DFD-7D42-F5B3-A3431A695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5108938" y="3092274"/>
            <a:ext cx="1967314" cy="147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8F78CCEB-EC36-8D46-E0C0-F819D8D2BF79}"/>
              </a:ext>
            </a:extLst>
          </p:cNvPr>
          <p:cNvSpPr/>
          <p:nvPr/>
        </p:nvSpPr>
        <p:spPr>
          <a:xfrm flipV="1">
            <a:off x="5049572" y="2846359"/>
            <a:ext cx="636929" cy="1996798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LONGITUDINAL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6B6020F-D3C7-93A6-3AA7-FA5985A03587}"/>
              </a:ext>
            </a:extLst>
          </p:cNvPr>
          <p:cNvSpPr/>
          <p:nvPr/>
        </p:nvSpPr>
        <p:spPr>
          <a:xfrm rot="5400000">
            <a:off x="5815864" y="4066962"/>
            <a:ext cx="476554" cy="1552391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TRANSVERSE</a:t>
            </a:r>
          </a:p>
        </p:txBody>
      </p:sp>
      <p:pic>
        <p:nvPicPr>
          <p:cNvPr id="3" name="Google Shape;234;p20">
            <a:extLst>
              <a:ext uri="{FF2B5EF4-FFF2-40B4-BE49-F238E27FC236}">
                <a16:creationId xmlns:a16="http://schemas.microsoft.com/office/drawing/2014/main" id="{F7D772F6-9C83-A497-AF1E-BF315F0EF8C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50000"/>
          <a:stretch/>
        </p:blipFill>
        <p:spPr>
          <a:xfrm>
            <a:off x="838199" y="4843157"/>
            <a:ext cx="1982579" cy="1620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CEA10A94-CB5F-0738-1DB7-D8BBB299C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6"/>
          <a:stretch>
            <a:fillRect/>
          </a:stretch>
        </p:blipFill>
        <p:spPr bwMode="auto">
          <a:xfrm>
            <a:off x="9267824" y="4900652"/>
            <a:ext cx="2009523" cy="161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473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accel="5000" decel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3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9" grpId="0" animBg="1"/>
      <p:bldP spid="9" grpId="1" animBg="1"/>
      <p:bldP spid="11" grpId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3B1F-050F-673F-0097-C98F8616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MR physics review</a:t>
            </a:r>
            <a:endParaRPr lang="en-US" dirty="0"/>
          </a:p>
        </p:txBody>
      </p:sp>
      <p:pic>
        <p:nvPicPr>
          <p:cNvPr id="4" name="Google Shape;232;p20">
            <a:extLst>
              <a:ext uri="{FF2B5EF4-FFF2-40B4-BE49-F238E27FC236}">
                <a16:creationId xmlns:a16="http://schemas.microsoft.com/office/drawing/2014/main" id="{4A2727C8-6AD4-9036-0399-457A1F16F3C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59467" y="2264702"/>
            <a:ext cx="3032160" cy="392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3;p20">
            <a:extLst>
              <a:ext uri="{FF2B5EF4-FFF2-40B4-BE49-F238E27FC236}">
                <a16:creationId xmlns:a16="http://schemas.microsoft.com/office/drawing/2014/main" id="{9C0C838C-FAC6-C72E-05A2-CA9E80C492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5817" y="2264700"/>
            <a:ext cx="2997883" cy="3922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4;p20">
            <a:extLst>
              <a:ext uri="{FF2B5EF4-FFF2-40B4-BE49-F238E27FC236}">
                <a16:creationId xmlns:a16="http://schemas.microsoft.com/office/drawing/2014/main" id="{5D7DF4F4-C158-8DF4-08DE-9EA5A607E7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0000"/>
          <a:stretch/>
        </p:blipFill>
        <p:spPr>
          <a:xfrm>
            <a:off x="587101" y="2404841"/>
            <a:ext cx="4454399" cy="36417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72D3B8-D825-67E7-DAAF-D8D0F53091F1}"/>
              </a:ext>
            </a:extLst>
          </p:cNvPr>
          <p:cNvSpPr txBox="1"/>
          <p:nvPr/>
        </p:nvSpPr>
        <p:spPr>
          <a:xfrm>
            <a:off x="970937" y="1863098"/>
            <a:ext cx="161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“T1-weighted”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AA097B-5305-E627-22AB-B991BC711523}"/>
              </a:ext>
            </a:extLst>
          </p:cNvPr>
          <p:cNvCxnSpPr>
            <a:cxnSpLocks/>
          </p:cNvCxnSpPr>
          <p:nvPr/>
        </p:nvCxnSpPr>
        <p:spPr>
          <a:xfrm>
            <a:off x="1777088" y="2404841"/>
            <a:ext cx="0" cy="341988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824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8799-F2AA-0577-A399-8A93A543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04E0-82F5-9B69-7CC8-C569BF7D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MR physics review</a:t>
            </a:r>
            <a:endParaRPr lang="en-US" dirty="0"/>
          </a:p>
        </p:txBody>
      </p:sp>
      <p:pic>
        <p:nvPicPr>
          <p:cNvPr id="3" name="Google Shape;255;p22">
            <a:extLst>
              <a:ext uri="{FF2B5EF4-FFF2-40B4-BE49-F238E27FC236}">
                <a16:creationId xmlns:a16="http://schemas.microsoft.com/office/drawing/2014/main" id="{4728EEA8-F787-EEF1-D2B4-C597F0B6E6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3005"/>
          <a:stretch/>
        </p:blipFill>
        <p:spPr>
          <a:xfrm>
            <a:off x="1540464" y="2510064"/>
            <a:ext cx="3492133" cy="321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oogle Shape;256;p22">
            <a:extLst>
              <a:ext uri="{FF2B5EF4-FFF2-40B4-BE49-F238E27FC236}">
                <a16:creationId xmlns:a16="http://schemas.microsoft.com/office/drawing/2014/main" id="{934CC2AD-32EB-32CB-40F5-09A24611C081}"/>
              </a:ext>
            </a:extLst>
          </p:cNvPr>
          <p:cNvGrpSpPr/>
          <p:nvPr/>
        </p:nvGrpSpPr>
        <p:grpSpPr>
          <a:xfrm>
            <a:off x="5489613" y="1777665"/>
            <a:ext cx="4289200" cy="4681600"/>
            <a:chOff x="3751450" y="1333250"/>
            <a:chExt cx="3216900" cy="3511200"/>
          </a:xfrm>
        </p:grpSpPr>
        <p:sp>
          <p:nvSpPr>
            <p:cNvPr id="10" name="Google Shape;257;p22">
              <a:extLst>
                <a:ext uri="{FF2B5EF4-FFF2-40B4-BE49-F238E27FC236}">
                  <a16:creationId xmlns:a16="http://schemas.microsoft.com/office/drawing/2014/main" id="{DB001686-0DCC-CED5-0EEE-5B2492F9E6B7}"/>
                </a:ext>
              </a:extLst>
            </p:cNvPr>
            <p:cNvSpPr/>
            <p:nvPr/>
          </p:nvSpPr>
          <p:spPr>
            <a:xfrm rot="-5400000">
              <a:off x="2371900" y="2918600"/>
              <a:ext cx="3511200" cy="3405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1" name="Google Shape;258;p22">
              <a:extLst>
                <a:ext uri="{FF2B5EF4-FFF2-40B4-BE49-F238E27FC236}">
                  <a16:creationId xmlns:a16="http://schemas.microsoft.com/office/drawing/2014/main" id="{A0A49B4B-EF91-23AE-A659-CD8A913F52C6}"/>
                </a:ext>
              </a:extLst>
            </p:cNvPr>
            <p:cNvSpPr txBox="1"/>
            <p:nvPr/>
          </p:nvSpPr>
          <p:spPr>
            <a:xfrm>
              <a:off x="3751450" y="2715825"/>
              <a:ext cx="3216900" cy="37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" sz="2400">
                  <a:solidFill>
                    <a:schemeClr val="dk2"/>
                  </a:solidFill>
                  <a:latin typeface="Verdana"/>
                  <a:ea typeface="Verdana"/>
                  <a:cs typeface="Verdana"/>
                  <a:sym typeface="Verdana"/>
                </a:rPr>
                <a:t>z</a:t>
              </a:r>
              <a:endParaRPr sz="24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12" name="Google Shape;252;p22">
            <a:extLst>
              <a:ext uri="{FF2B5EF4-FFF2-40B4-BE49-F238E27FC236}">
                <a16:creationId xmlns:a16="http://schemas.microsoft.com/office/drawing/2014/main" id="{976A6C56-1415-2CF7-A998-848C1E4326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1669" y="1896099"/>
            <a:ext cx="4421633" cy="44447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CDD6FC-96A7-4B52-766C-3379BFE2260F}"/>
              </a:ext>
            </a:extLst>
          </p:cNvPr>
          <p:cNvSpPr txBox="1"/>
          <p:nvPr/>
        </p:nvSpPr>
        <p:spPr>
          <a:xfrm>
            <a:off x="970937" y="1863098"/>
            <a:ext cx="1570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 coils</a:t>
            </a:r>
          </a:p>
        </p:txBody>
      </p:sp>
    </p:spTree>
    <p:extLst>
      <p:ext uri="{BB962C8B-B14F-4D97-AF65-F5344CB8AC3E}">
        <p14:creationId xmlns:p14="http://schemas.microsoft.com/office/powerpoint/2010/main" val="417491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E1CC-4C0F-335B-8377-1AEB62A0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MR physics review</a:t>
            </a:r>
          </a:p>
        </p:txBody>
      </p:sp>
      <p:pic>
        <p:nvPicPr>
          <p:cNvPr id="24578" name="Picture 2" descr="K-space - Radiology Cafe">
            <a:extLst>
              <a:ext uri="{FF2B5EF4-FFF2-40B4-BE49-F238E27FC236}">
                <a16:creationId xmlns:a16="http://schemas.microsoft.com/office/drawing/2014/main" id="{1192E528-9EB6-03C2-C654-40E60A17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525" y="1690688"/>
            <a:ext cx="7806950" cy="432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0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ACD4-CED7-0C02-4AF7-69B3A948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Organization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01035-3891-CC7D-84AB-296AFC26C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 to BIDS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53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1F9BA-D87C-651C-F62F-A9ED504D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DICOM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2E6268-9E20-EF9C-89EE-59E740C75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“Digital Imaging &amp; Communications in Medicine”</a:t>
            </a:r>
          </a:p>
          <a:p>
            <a:r>
              <a:rPr lang="en-US" dirty="0"/>
              <a:t>2 parts:</a:t>
            </a:r>
          </a:p>
          <a:p>
            <a:pPr lvl="1"/>
            <a:r>
              <a:rPr lang="en-US" b="1" dirty="0"/>
              <a:t>Header</a:t>
            </a:r>
            <a:r>
              <a:rPr lang="en-US" dirty="0"/>
              <a:t>: Tag-value pairs</a:t>
            </a:r>
          </a:p>
          <a:p>
            <a:pPr lvl="2"/>
            <a:r>
              <a:rPr lang="en-US" dirty="0"/>
              <a:t>patient &amp; study identifiers, scanner/protocol settings, imaging params, etc.</a:t>
            </a:r>
          </a:p>
          <a:p>
            <a:pPr lvl="1"/>
            <a:r>
              <a:rPr lang="en-US" b="1" dirty="0"/>
              <a:t>Matrix</a:t>
            </a:r>
            <a:r>
              <a:rPr lang="en-US" dirty="0"/>
              <a:t>: either a 2D slice or 3D volume of intensities</a:t>
            </a:r>
          </a:p>
          <a:p>
            <a:pPr lvl="2"/>
            <a:r>
              <a:rPr lang="en-US" dirty="0"/>
              <a:t>The “data” (not in k-space)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316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8044-6760-9C94-483A-2A3C45C2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D2D49A-A270-DC02-6A5B-7852AC50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DICOM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0CFE7D-6C78-4673-6579-B9B855E12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192"/>
            <a:ext cx="10515600" cy="4640771"/>
          </a:xfrm>
        </p:spPr>
        <p:txBody>
          <a:bodyPr>
            <a:normAutofit fontScale="25000" lnSpcReduction="20000"/>
          </a:bodyPr>
          <a:lstStyle/>
          <a:p>
            <a:endParaRPr lang="en-US" b="1" dirty="0"/>
          </a:p>
          <a:p>
            <a:pPr>
              <a:lnSpc>
                <a:spcPct val="120000"/>
              </a:lnSpc>
            </a:pPr>
            <a:r>
              <a:rPr lang="en-US" sz="9600" b="1" dirty="0"/>
              <a:t>Per-slice orientation</a:t>
            </a:r>
          </a:p>
          <a:p>
            <a:pPr lvl="1">
              <a:lnSpc>
                <a:spcPct val="120000"/>
              </a:lnSpc>
            </a:pPr>
            <a:r>
              <a:rPr lang="en-US" sz="6400" dirty="0"/>
              <a:t>Tags </a:t>
            </a:r>
            <a:r>
              <a:rPr lang="en-US" sz="6400" b="1" dirty="0"/>
              <a:t>Image Position (Patient) </a:t>
            </a:r>
            <a:r>
              <a:rPr lang="en-US" sz="6400" dirty="0"/>
              <a:t>(0020,0032) &amp; </a:t>
            </a:r>
            <a:r>
              <a:rPr lang="en-US" sz="6400" b="1" dirty="0"/>
              <a:t>Image Orientation (Patient) </a:t>
            </a:r>
            <a:r>
              <a:rPr lang="en-US" sz="6400" dirty="0"/>
              <a:t>(0020,0037) describe every slice</a:t>
            </a:r>
          </a:p>
          <a:p>
            <a:pPr lvl="1">
              <a:lnSpc>
                <a:spcPct val="120000"/>
              </a:lnSpc>
            </a:pPr>
            <a:r>
              <a:rPr lang="en-US" sz="6400" dirty="0"/>
              <a:t>If the table moves or the gantry tilts, each slice may sit on a slightly different plane</a:t>
            </a:r>
          </a:p>
          <a:p>
            <a:pPr>
              <a:lnSpc>
                <a:spcPct val="120000"/>
              </a:lnSpc>
            </a:pPr>
            <a:r>
              <a:rPr lang="en-US" sz="9600" b="1" dirty="0"/>
              <a:t>Slice spacing vs. thickness</a:t>
            </a:r>
          </a:p>
          <a:p>
            <a:pPr lvl="1">
              <a:lnSpc>
                <a:spcPct val="120000"/>
              </a:lnSpc>
            </a:pPr>
            <a:r>
              <a:rPr lang="en-US" sz="6400" dirty="0"/>
              <a:t>Slice Thickness ≠ Spacing Between Slices -- overlap or gaps are perfectly legal</a:t>
            </a:r>
          </a:p>
          <a:p>
            <a:pPr>
              <a:lnSpc>
                <a:spcPct val="120000"/>
              </a:lnSpc>
            </a:pPr>
            <a:r>
              <a:rPr lang="en-US" sz="9600" b="1" dirty="0"/>
              <a:t>Irregular acquisitions</a:t>
            </a:r>
          </a:p>
          <a:p>
            <a:pPr lvl="1">
              <a:lnSpc>
                <a:spcPct val="120000"/>
              </a:lnSpc>
            </a:pPr>
            <a:r>
              <a:rPr lang="en-US" sz="6400" dirty="0"/>
              <a:t>Multi-band EPI, local-shims, partial Fourier and interrupted runs create missing or out-of-order indices</a:t>
            </a:r>
          </a:p>
          <a:p>
            <a:pPr>
              <a:lnSpc>
                <a:spcPct val="120000"/>
              </a:lnSpc>
            </a:pPr>
            <a:r>
              <a:rPr lang="en-US" sz="9600" b="1" dirty="0"/>
              <a:t>Gantry tilt &amp; oblique stacks</a:t>
            </a:r>
          </a:p>
          <a:p>
            <a:pPr lvl="1">
              <a:lnSpc>
                <a:spcPct val="120000"/>
              </a:lnSpc>
            </a:pPr>
            <a:r>
              <a:rPr lang="en-US" sz="6400" dirty="0"/>
              <a:t>Conversion tools must shearing-correct or embed an affine matrix that some software ignores, risking sub-voxel mis-alignment</a:t>
            </a:r>
          </a:p>
        </p:txBody>
      </p:sp>
    </p:spTree>
    <p:extLst>
      <p:ext uri="{BB962C8B-B14F-4D97-AF65-F5344CB8AC3E}">
        <p14:creationId xmlns:p14="http://schemas.microsoft.com/office/powerpoint/2010/main" val="3368777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BD94-8458-13CE-F0A8-7ADE9E89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Dicoms</a:t>
            </a:r>
            <a:r>
              <a:rPr lang="en-US" dirty="0"/>
              <a:t> (spine)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0DF42DF-AA94-8A4B-B85A-2C8DEFBDA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570" y="1505349"/>
            <a:ext cx="8852859" cy="498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551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1468-21F7-EBB6-0350-38CAD150A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resampling (interpolation)</a:t>
            </a:r>
          </a:p>
        </p:txBody>
      </p:sp>
      <p:pic>
        <p:nvPicPr>
          <p:cNvPr id="4" name="Picture 4" descr="Flattening-Net: Deep Regular 2D Representation for 3D Point Cloud Analysis">
            <a:extLst>
              <a:ext uri="{FF2B5EF4-FFF2-40B4-BE49-F238E27FC236}">
                <a16:creationId xmlns:a16="http://schemas.microsoft.com/office/drawing/2014/main" id="{97F5DD58-42B0-6A37-D71E-02F071EF7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08" y="2695240"/>
            <a:ext cx="9173183" cy="235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414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9147-CF7E-C5E4-D0EA-C5C541BC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DICOM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NIfTI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sz="2400" dirty="0">
                <a:sym typeface="Wingdings" panose="05000000000000000000" pitchFamily="2" charset="2"/>
              </a:rPr>
              <a:t>(</a:t>
            </a:r>
            <a:r>
              <a:rPr lang="en-US" sz="2400" dirty="0"/>
              <a:t>Neuroimaging Informatics Technology Initiative)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1BA77D-29D5-1276-165B-C6BE1BC7F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362444"/>
              </p:ext>
            </p:extLst>
          </p:nvPr>
        </p:nvGraphicFramePr>
        <p:xfrm>
          <a:off x="838200" y="1624468"/>
          <a:ext cx="10515600" cy="474171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509030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741076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70250621"/>
                    </a:ext>
                  </a:extLst>
                </a:gridCol>
              </a:tblGrid>
              <a:tr h="168984">
                <a:tc>
                  <a:txBody>
                    <a:bodyPr/>
                    <a:lstStyle/>
                    <a:p>
                      <a:r>
                        <a:rPr lang="en-US" sz="1200" b="1" u="sng" dirty="0"/>
                        <a:t>Practical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How </a:t>
                      </a:r>
                      <a:r>
                        <a:rPr lang="en-US" sz="1200" b="1" dirty="0" err="1"/>
                        <a:t>NIfTI</a:t>
                      </a:r>
                      <a:r>
                        <a:rPr lang="en-US" sz="1200" b="1" dirty="0"/>
                        <a:t> helps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Why not use DICOM</a:t>
                      </a:r>
                    </a:p>
                  </a:txBody>
                  <a:tcPr marL="42246" marR="42246" marT="21123" marB="211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917628"/>
                  </a:ext>
                </a:extLst>
              </a:tr>
              <a:tr h="695643">
                <a:tc>
                  <a:txBody>
                    <a:bodyPr/>
                    <a:lstStyle/>
                    <a:p>
                      <a:r>
                        <a:rPr lang="en-US" sz="1200" b="1" dirty="0"/>
                        <a:t>Single‐step loading of whole scans</a:t>
                      </a:r>
                      <a:endParaRPr lang="en-US" sz="1200" dirty="0"/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3-D (or 4-D) data block + 348-byte header live in </a:t>
                      </a:r>
                      <a:r>
                        <a:rPr lang="en-US" sz="1200" i="1" dirty="0"/>
                        <a:t>one</a:t>
                      </a:r>
                      <a:r>
                        <a:rPr lang="en-US" sz="1200" dirty="0"/>
                        <a:t> .</a:t>
                      </a:r>
                      <a:r>
                        <a:rPr lang="en-US" sz="1200" dirty="0" err="1"/>
                        <a:t>nii</a:t>
                      </a:r>
                      <a:r>
                        <a:rPr lang="en-US" sz="1200" dirty="0"/>
                        <a:t> (or compressed .nii.gz) file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Each 2-D slice is a separate DICOM object → hundreds or thousands of files per run; slow I/O and error-prone bookkeeping</a:t>
                      </a:r>
                    </a:p>
                  </a:txBody>
                  <a:tcPr marL="42246" marR="42246" marT="21123" marB="211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104757"/>
                  </a:ext>
                </a:extLst>
              </a:tr>
              <a:tr h="675936">
                <a:tc>
                  <a:txBody>
                    <a:bodyPr/>
                    <a:lstStyle/>
                    <a:p>
                      <a:r>
                        <a:rPr lang="en-US" sz="1200" b="1" dirty="0"/>
                        <a:t>Fast numerical analysis</a:t>
                      </a:r>
                      <a:endParaRPr lang="en-US" sz="1200" dirty="0"/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Straight binary dump of voxel values after a tiny header ⇒ instant </a:t>
                      </a:r>
                      <a:r>
                        <a:rPr lang="en-US" sz="1200" dirty="0" err="1"/>
                        <a:t>numpy</a:t>
                      </a:r>
                      <a:r>
                        <a:rPr lang="en-US" sz="1200" dirty="0"/>
                        <a:t>/MATLAB access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Pixel data are wrapped in a verbose tag structure; many libraries must first parse metadata before touching the bytes</a:t>
                      </a:r>
                    </a:p>
                  </a:txBody>
                  <a:tcPr marL="42246" marR="42246" marT="21123" marB="211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89955"/>
                  </a:ext>
                </a:extLst>
              </a:tr>
              <a:tr h="753602">
                <a:tc>
                  <a:txBody>
                    <a:bodyPr/>
                    <a:lstStyle/>
                    <a:p>
                      <a:r>
                        <a:rPr lang="en-US" sz="1200" b="1"/>
                        <a:t>4-D fMRI &amp; DWI time-series</a:t>
                      </a:r>
                      <a:endParaRPr lang="en-US" sz="1200"/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Extra dimension* is built-in, so 240 volumes live in one object with one affine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Classic DICOM has no concept of a 4-th dimension (software must re-index thousands of “frames” and guess timing order)</a:t>
                      </a:r>
                    </a:p>
                  </a:txBody>
                  <a:tcPr marL="42246" marR="42246" marT="21123" marB="211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876800"/>
                  </a:ext>
                </a:extLst>
              </a:tr>
              <a:tr h="961534">
                <a:tc>
                  <a:txBody>
                    <a:bodyPr/>
                    <a:lstStyle/>
                    <a:p>
                      <a:r>
                        <a:rPr lang="en-US" sz="1200" b="1"/>
                        <a:t>Consistent spatial orientation</a:t>
                      </a:r>
                      <a:endParaRPr lang="en-US" sz="1200"/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 single 4 × 4 affine matrix expresses voxel size, slice spacing, and obliquity (used by FSL/SPM/AFNI, etc.)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Orientation is encoded </a:t>
                      </a:r>
                      <a:r>
                        <a:rPr lang="en-US" sz="1200" i="1" dirty="0"/>
                        <a:t>per slice</a:t>
                      </a:r>
                      <a:r>
                        <a:rPr lang="en-US" sz="1200" dirty="0"/>
                        <a:t> (Image Position/Orientation tags). If the table/gentry moves, slices no longer share a common plane, preventing a tidy 3-D array</a:t>
                      </a:r>
                    </a:p>
                  </a:txBody>
                  <a:tcPr marL="42246" marR="42246" marT="21123" marB="211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166255"/>
                  </a:ext>
                </a:extLst>
              </a:tr>
              <a:tr h="838985">
                <a:tc>
                  <a:txBody>
                    <a:bodyPr/>
                    <a:lstStyle/>
                    <a:p>
                      <a:r>
                        <a:rPr lang="en-US" sz="1200" b="1" dirty="0"/>
                        <a:t>Minimal PHI</a:t>
                      </a:r>
                      <a:endParaRPr lang="en-US" sz="1200" dirty="0"/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NIfTI</a:t>
                      </a:r>
                      <a:r>
                        <a:rPr lang="en-US" sz="1200" dirty="0"/>
                        <a:t> keeps only technical fields needed for analysis; PHI is removed or pushed to a JSON sidecar in BIDS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DICOM headers are legally required to store patient name, birth date, IDs, institution, operator, etc. – this is a privacy and compliance risk during collaboration</a:t>
                      </a:r>
                    </a:p>
                  </a:txBody>
                  <a:tcPr marL="42246" marR="42246" marT="21123" marB="211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025261"/>
                  </a:ext>
                </a:extLst>
              </a:tr>
              <a:tr h="549198">
                <a:tc>
                  <a:txBody>
                    <a:bodyPr/>
                    <a:lstStyle/>
                    <a:p>
                      <a:r>
                        <a:rPr lang="en-US" sz="1200" b="1" dirty="0"/>
                        <a:t>Compatibility</a:t>
                      </a:r>
                      <a:endParaRPr lang="en-US" sz="1200" dirty="0"/>
                    </a:p>
                  </a:txBody>
                  <a:tcPr marL="42246" marR="42246" marT="21123" marB="211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Every modern neuro-tool (</a:t>
                      </a:r>
                      <a:r>
                        <a:rPr lang="en-US" sz="1200" dirty="0" err="1"/>
                        <a:t>fMRIPrep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FreeSurfer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Nilearn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BrainVoyager</a:t>
                      </a:r>
                      <a:r>
                        <a:rPr lang="en-US" sz="1200" dirty="0"/>
                        <a:t>, SPM, FSL, AFNI…) reads </a:t>
                      </a:r>
                      <a:r>
                        <a:rPr lang="en-US" sz="1200" dirty="0" err="1"/>
                        <a:t>NIfTI</a:t>
                      </a:r>
                      <a:r>
                        <a:rPr lang="en-US" sz="1200" dirty="0"/>
                        <a:t> natively</a:t>
                      </a:r>
                    </a:p>
                  </a:txBody>
                  <a:tcPr marL="42246" marR="42246" marT="21123" marB="21123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Vendor PACS viewers read DICOM, but few analysis packages fully support all vendors’ private tags</a:t>
                      </a:r>
                    </a:p>
                  </a:txBody>
                  <a:tcPr marL="42246" marR="42246" marT="21123" marB="211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35070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D16ABAB-5C96-D1F9-7723-155D38C2A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098580" y="-25315"/>
            <a:ext cx="26389160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neuroimaging pipelines convert DICOM → NIfTI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981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C6E8-DECC-3145-8829-E1FD5C30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20BF7-CE48-D7CD-D717-54104309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Brain Imaging Data Structure (</a:t>
            </a:r>
            <a:r>
              <a:rPr lang="en-US" b="1" dirty="0"/>
              <a:t>BIDS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Community standard for MRI, MEG, </a:t>
            </a:r>
            <a:r>
              <a:rPr lang="en-US" dirty="0" err="1"/>
              <a:t>iEEG</a:t>
            </a:r>
            <a:endParaRPr lang="en-US" dirty="0"/>
          </a:p>
          <a:p>
            <a:pPr lvl="1"/>
            <a:r>
              <a:rPr lang="en-US" dirty="0"/>
              <a:t>Predictable paths: </a:t>
            </a:r>
            <a:r>
              <a:rPr lang="en-US" b="1" dirty="0"/>
              <a:t>sub-01/</a:t>
            </a:r>
            <a:r>
              <a:rPr lang="en-US" b="1" dirty="0" err="1"/>
              <a:t>ses</a:t>
            </a:r>
            <a:r>
              <a:rPr lang="en-US" b="1" dirty="0"/>
              <a:t>-pre/</a:t>
            </a:r>
            <a:r>
              <a:rPr lang="en-US" b="1" dirty="0" err="1"/>
              <a:t>anat</a:t>
            </a:r>
            <a:r>
              <a:rPr lang="en-US" b="1" dirty="0"/>
              <a:t>/sub-01_ses-pre_T1w.nii.gz</a:t>
            </a:r>
            <a:endParaRPr lang="en-US" dirty="0"/>
          </a:p>
          <a:p>
            <a:pPr lvl="1"/>
            <a:r>
              <a:rPr lang="en-US" dirty="0"/>
              <a:t>Uses </a:t>
            </a:r>
            <a:r>
              <a:rPr lang="en-US" dirty="0" err="1"/>
              <a:t>NIfTI</a:t>
            </a:r>
            <a:r>
              <a:rPr lang="en-US" dirty="0"/>
              <a:t> file format when applicable</a:t>
            </a:r>
          </a:p>
          <a:p>
            <a:pPr lvl="1"/>
            <a:r>
              <a:rPr lang="en-US" dirty="0"/>
              <a:t>Sidecar JSON keeps the missing DICOM metadata (TR, TE, slice-timing, phase-encode </a:t>
            </a:r>
            <a:r>
              <a:rPr lang="en-US" dirty="0" err="1"/>
              <a:t>dir</a:t>
            </a:r>
            <a:r>
              <a:rPr lang="en-US" dirty="0"/>
              <a:t>, etc.)</a:t>
            </a:r>
          </a:p>
        </p:txBody>
      </p:sp>
    </p:spTree>
    <p:extLst>
      <p:ext uri="{BB962C8B-B14F-4D97-AF65-F5344CB8AC3E}">
        <p14:creationId xmlns:p14="http://schemas.microsoft.com/office/powerpoint/2010/main" val="1576446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5E27-62DE-8D7E-DCF5-86368AE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</a:t>
            </a:r>
            <a:r>
              <a:rPr lang="en-US" sz="2800" dirty="0"/>
              <a:t>(https://bids-specification.readthedocs.io/en/stable/)</a:t>
            </a:r>
            <a:endParaRPr lang="en-US" dirty="0"/>
          </a:p>
        </p:txBody>
      </p:sp>
      <p:pic>
        <p:nvPicPr>
          <p:cNvPr id="4100" name="Picture 4" descr="BIDS-folder-organization">
            <a:extLst>
              <a:ext uri="{FF2B5EF4-FFF2-40B4-BE49-F238E27FC236}">
                <a16:creationId xmlns:a16="http://schemas.microsoft.com/office/drawing/2014/main" id="{C8E30075-4D51-7143-B769-D48B3B0E8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690688"/>
            <a:ext cx="8667750" cy="4543425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047057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C1A794-3134-1A25-0C4A-16B7031C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BIDS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A79F-0DEF-D905-F481-A2FBAB126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en-US" dirty="0" err="1">
                <a:solidFill>
                  <a:schemeClr val="tx2"/>
                </a:solidFill>
              </a:rPr>
              <a:t>HeuDiConv</a:t>
            </a:r>
            <a:r>
              <a:rPr lang="en-US" dirty="0">
                <a:solidFill>
                  <a:schemeClr val="tx2"/>
                </a:solidFill>
              </a:rPr>
              <a:t>: Heuristic DICOM Converter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pPr lvl="1"/>
            <a:endParaRPr lang="en-US" dirty="0">
              <a:solidFill>
                <a:schemeClr val="tx2"/>
              </a:solidFill>
              <a:hlinkClick r:id="rId2"/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https://reproducibility.stanford.edu/bids-tutorial-series-part-2a/</a:t>
            </a:r>
            <a:endParaRPr lang="en-US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6348F632-EF7B-0EE1-C640-247F63468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977" y="1622170"/>
            <a:ext cx="5678459" cy="277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43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710</Words>
  <Application>Microsoft Office PowerPoint</Application>
  <PresentationFormat>Widescreen</PresentationFormat>
  <Paragraphs>99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Verdana</vt:lpstr>
      <vt:lpstr>Wingdings</vt:lpstr>
      <vt:lpstr>Office Theme</vt:lpstr>
      <vt:lpstr>1_Office Theme</vt:lpstr>
      <vt:lpstr>Office Theme</vt:lpstr>
      <vt:lpstr>UVA Brainhack!</vt:lpstr>
      <vt:lpstr>Agenda</vt:lpstr>
      <vt:lpstr>MR physics review</vt:lpstr>
      <vt:lpstr>MR physics review</vt:lpstr>
      <vt:lpstr>MR physics review</vt:lpstr>
      <vt:lpstr>MR physics review</vt:lpstr>
      <vt:lpstr>MR physics review</vt:lpstr>
      <vt:lpstr>MR physics review</vt:lpstr>
      <vt:lpstr>Data Organization</vt:lpstr>
      <vt:lpstr>DICOM</vt:lpstr>
      <vt:lpstr>DICOM (cont.)</vt:lpstr>
      <vt:lpstr>Example Dicoms (spine)</vt:lpstr>
      <vt:lpstr>Grid resampling (interpolation)</vt:lpstr>
      <vt:lpstr>DICOM  NIfTI (Neuroimaging Informatics Technology Initiative)</vt:lpstr>
      <vt:lpstr>BIDS</vt:lpstr>
      <vt:lpstr>BIDS (https://bids-specification.readthedocs.io/en/stable/)</vt:lpstr>
      <vt:lpstr>BIDS Walkthrough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Gallagher, Richard Craig (rcg7jb)</dc:creator>
  <cp:lastModifiedBy>Gallagher, Richard Craig (rcg7jb)</cp:lastModifiedBy>
  <cp:revision>3</cp:revision>
  <dcterms:created xsi:type="dcterms:W3CDTF">2025-06-13T01:19:57Z</dcterms:created>
  <dcterms:modified xsi:type="dcterms:W3CDTF">2025-06-13T16:32:48Z</dcterms:modified>
</cp:coreProperties>
</file>