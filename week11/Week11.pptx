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64" r:id="rId6"/>
  </p:sldMasterIdLst>
  <p:notesMasterIdLst>
    <p:notesMasterId r:id="rId37"/>
  </p:notesMasterIdLst>
  <p:sldIdLst>
    <p:sldId id="259" r:id="rId7"/>
    <p:sldId id="260" r:id="rId8"/>
    <p:sldId id="257" r:id="rId9"/>
    <p:sldId id="283" r:id="rId10"/>
    <p:sldId id="269" r:id="rId11"/>
    <p:sldId id="270" r:id="rId12"/>
    <p:sldId id="274" r:id="rId13"/>
    <p:sldId id="264" r:id="rId14"/>
    <p:sldId id="279" r:id="rId15"/>
    <p:sldId id="280" r:id="rId16"/>
    <p:sldId id="281" r:id="rId17"/>
    <p:sldId id="278" r:id="rId18"/>
    <p:sldId id="282" r:id="rId19"/>
    <p:sldId id="284" r:id="rId20"/>
    <p:sldId id="272" r:id="rId21"/>
    <p:sldId id="285" r:id="rId22"/>
    <p:sldId id="286" r:id="rId23"/>
    <p:sldId id="287" r:id="rId24"/>
    <p:sldId id="288" r:id="rId25"/>
    <p:sldId id="289" r:id="rId26"/>
    <p:sldId id="290" r:id="rId27"/>
    <p:sldId id="291" r:id="rId28"/>
    <p:sldId id="292" r:id="rId29"/>
    <p:sldId id="293" r:id="rId30"/>
    <p:sldId id="268" r:id="rId31"/>
    <p:sldId id="294" r:id="rId32"/>
    <p:sldId id="275" r:id="rId33"/>
    <p:sldId id="276" r:id="rId34"/>
    <p:sldId id="277" r:id="rId35"/>
    <p:sldId id="26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09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624" y="23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viewProps" Target="viewProps.xml"/><Relationship Id="rId21" Type="http://schemas.openxmlformats.org/officeDocument/2006/relationships/slide" Target="slides/slide15.xml"/><Relationship Id="rId34" Type="http://schemas.openxmlformats.org/officeDocument/2006/relationships/slide" Target="slides/slide28.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20C62E-FE46-457B-A1D2-82FDAC36D145}" type="datetimeFigureOut">
              <a:rPr lang="en-US" smtClean="0"/>
              <a:t>8/8/2025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32327E-D12F-47DE-9D0C-BF655D3CCFC4}" type="slidenum">
              <a:rPr lang="en-US" smtClean="0"/>
              <a:t>‹#›</a:t>
            </a:fld>
            <a:endParaRPr lang="en-US"/>
          </a:p>
        </p:txBody>
      </p:sp>
    </p:spTree>
    <p:extLst>
      <p:ext uri="{BB962C8B-B14F-4D97-AF65-F5344CB8AC3E}">
        <p14:creationId xmlns:p14="http://schemas.microsoft.com/office/powerpoint/2010/main" val="1026277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32327E-D12F-47DE-9D0C-BF655D3CCFC4}" type="slidenum">
              <a:rPr lang="en-US" smtClean="0"/>
              <a:t>4</a:t>
            </a:fld>
            <a:endParaRPr lang="en-US"/>
          </a:p>
        </p:txBody>
      </p:sp>
    </p:spTree>
    <p:extLst>
      <p:ext uri="{BB962C8B-B14F-4D97-AF65-F5344CB8AC3E}">
        <p14:creationId xmlns:p14="http://schemas.microsoft.com/office/powerpoint/2010/main" val="491285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original Pulse gradient spin echo sequence was monopolar (two identical gradients oriented in the same direction, with 180degree pulse to flip effective angle of gradient). This slide shows the effective gradient sign</a:t>
            </a:r>
          </a:p>
        </p:txBody>
      </p:sp>
      <p:sp>
        <p:nvSpPr>
          <p:cNvPr id="4" name="Slide Number Placeholder 3"/>
          <p:cNvSpPr>
            <a:spLocks noGrp="1"/>
          </p:cNvSpPr>
          <p:nvPr>
            <p:ph type="sldNum" sz="quarter" idx="5"/>
          </p:nvPr>
        </p:nvSpPr>
        <p:spPr/>
        <p:txBody>
          <a:bodyPr/>
          <a:lstStyle/>
          <a:p>
            <a:fld id="{0432327E-D12F-47DE-9D0C-BF655D3CCFC4}" type="slidenum">
              <a:rPr lang="en-US" smtClean="0"/>
              <a:t>6</a:t>
            </a:fld>
            <a:endParaRPr lang="en-US"/>
          </a:p>
        </p:txBody>
      </p:sp>
    </p:spTree>
    <p:extLst>
      <p:ext uri="{BB962C8B-B14F-4D97-AF65-F5344CB8AC3E}">
        <p14:creationId xmlns:p14="http://schemas.microsoft.com/office/powerpoint/2010/main" val="1310116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6" name="Google Shape;346;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Clr>
                <a:schemeClr val="dk1"/>
              </a:buClr>
              <a:buSzPts val="1100"/>
              <a:buAutoNum type="arabicPeriod"/>
            </a:pPr>
            <a:r>
              <a:rPr lang="en" b="1">
                <a:solidFill>
                  <a:schemeClr val="dk1"/>
                </a:solidFill>
              </a:rPr>
              <a:t>Water Diffusion</a:t>
            </a:r>
            <a:r>
              <a:rPr lang="en">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Water molecules undergo random, thermally-driven motion, known as </a:t>
            </a:r>
            <a:r>
              <a:rPr lang="en" b="1">
                <a:solidFill>
                  <a:schemeClr val="dk1"/>
                </a:solidFill>
              </a:rPr>
              <a:t>Brownian motion</a:t>
            </a:r>
            <a:r>
              <a:rPr lang="en">
                <a:solidFill>
                  <a:schemeClr val="dk1"/>
                </a:solidFill>
              </a:rPr>
              <a:t>. This diffusion is influenced by the microstructural environment.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In free water, diffusion is unrestricted. In biological tissues, barriers like cell membranes, myelin sheaths, and organelles hinder diffusion, making it anisotropic (directionally dependent).</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Sensitivity to Diffusion</a:t>
            </a:r>
            <a:r>
              <a:rPr lang="en">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DW-MRI encodes the movement of water molecules into the MRI signal using magnetic field gradients. This encoding allows the detection of microscopic variations in diffusion that provide insights into tissue structure and pathology.</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2. The DW-MRI Pulse Sequence</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DW-MRI uses a modified </a:t>
            </a:r>
            <a:r>
              <a:rPr lang="en" b="1">
                <a:solidFill>
                  <a:schemeClr val="dk1"/>
                </a:solidFill>
              </a:rPr>
              <a:t>spin-echo sequence</a:t>
            </a:r>
            <a:r>
              <a:rPr lang="en">
                <a:solidFill>
                  <a:schemeClr val="dk1"/>
                </a:solidFill>
              </a:rPr>
              <a:t> with added diffusion-sensitizing gradients. The typical sequence involves the following components: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a. Standard Spin-Echo Sequence</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90° RF Pulse</a:t>
            </a:r>
            <a:r>
              <a:rPr lang="en">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Excites the spins in the tissue, tipping them into the transverse plane.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180° RF Pulse</a:t>
            </a:r>
            <a:r>
              <a:rPr lang="en">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Refocuses the spins, forming a spin echo to correct for inhomogeneities in the static magnetic field (B0B_0B0​).</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b. Diffusion Gradients</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To make the sequence sensitive to diffusion, two additional gradients are applied symmetrically around the 180° RF pulse:</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 b="1">
                <a:solidFill>
                  <a:schemeClr val="dk1"/>
                </a:solidFill>
              </a:rPr>
              <a:t>First Gradient (Dephasing)</a:t>
            </a:r>
            <a:r>
              <a:rPr lang="en">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A magnetic field gradient is applied to dephase the spins based on their position in space. Spins in moving water molecules are now phase-shifted according to their displacement.</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Second Gradient (Rephasing)</a:t>
            </a:r>
            <a:r>
              <a:rPr lang="en">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Another magnetic gradient, with the same amplitude and duration as the first, is applied after the 180° RF pulse. If a water molecule has not moved, its phase shift is reversed, and the spin rephases. However, if the water molecule has moved, it will not completely rephase, leading to signal attenuation.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3. Key Parameters in DW-MRI</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b-Value</a:t>
            </a:r>
            <a:r>
              <a:rPr lang="en">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A measure of the strength and timing of the diffusion gradients, expressed in s/mm². It determines the sensitivity of the sequence to diffusion.</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Higher bbb-values increase sensitivity to diffusion but also lead to lower signal-to-noise ratios (SNR).</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Typical bbb-values are:</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 b="1">
                <a:solidFill>
                  <a:schemeClr val="dk1"/>
                </a:solidFill>
              </a:rPr>
              <a:t>Low ( 0s/mm2~0 s/mm² 0s/mm2)</a:t>
            </a:r>
            <a:r>
              <a:rPr lang="en">
                <a:solidFill>
                  <a:schemeClr val="dk1"/>
                </a:solidFill>
              </a:rPr>
              <a:t>: No diffusion weighting.</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 b="1">
                <a:solidFill>
                  <a:schemeClr val="dk1"/>
                </a:solidFill>
              </a:rPr>
              <a:t>Intermediate ( 500–1000s/mm2~500–1000 s/mm² 500–1000s/mm2)</a:t>
            </a:r>
            <a:r>
              <a:rPr lang="en">
                <a:solidFill>
                  <a:schemeClr val="dk1"/>
                </a:solidFill>
              </a:rPr>
              <a:t>: General diffusion imaging.</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 b="1">
                <a:solidFill>
                  <a:schemeClr val="dk1"/>
                </a:solidFill>
              </a:rPr>
              <a:t>High ( 2000+s/mm2~2000+ s/mm² 2000+s/mm2)</a:t>
            </a:r>
            <a:r>
              <a:rPr lang="en">
                <a:solidFill>
                  <a:schemeClr val="dk1"/>
                </a:solidFill>
              </a:rPr>
              <a:t>: Characterizing restricted diffusion (e.g., in tightly packed tumor cells).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Echo Time (TE)</a:t>
            </a:r>
            <a:r>
              <a:rPr lang="en">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The time between the 90° RF pulse and the peak of the spin echo. Longer TE values allow for more diffusion sensitivity but may reduce SNR.</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Repetition Time (TR)</a:t>
            </a:r>
            <a:r>
              <a:rPr lang="en">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The time between successive excitations. TR is typically set long enough to allow full longitudinal relaxation and avoid T1 weighting.</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4. Signal Attenuation in DW-MRI</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 MRI signal in a diffusion-weighted image is attenuated according to the Stejskal-Tanner equation: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S=S0e−bDS = S_0 e^{-bD}S=S0​e−bD</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SSS: Signal intensity in the diffusion-weighted image.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S0S_0S0​: Signal intensity without diffusion weighting (b=0b = 0b=0).</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bbb: Diffusion weighting factor (dependent on gradient strength, duration, and spacing).</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DDD: Apparent diffusion coefficient (ADC), a measure of the diffusion rate.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5. Data Representation and Analysis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a. Apparent Diffusion Coefficient (ADC) Maps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ADC maps are calculated by acquiring images with different bbb-values and fitting the Stejskal-Tanner equation to estimate the diffusion coefficient for each voxel.</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Bright regions on ADC maps</a:t>
            </a:r>
            <a:r>
              <a:rPr lang="en">
                <a:solidFill>
                  <a:schemeClr val="dk1"/>
                </a:solidFill>
              </a:rPr>
              <a:t> indicate fast diffusion (e.g., free water).</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Dark regions on ADC maps</a:t>
            </a:r>
            <a:r>
              <a:rPr lang="en">
                <a:solidFill>
                  <a:schemeClr val="dk1"/>
                </a:solidFill>
              </a:rPr>
              <a:t> indicate restricted diffusion (e.g., cytotoxic edema in stroke).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b. Diffusion Tensor Imaging (DTI)</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DTI is an extension of DW-MRI that models diffusion as a tensor, capturing the directionality (anisotropy) of water diffusion.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DTI requires diffusion measurements in multiple directions (typically &gt;6).</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Outputs include: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b="1">
                <a:solidFill>
                  <a:schemeClr val="dk1"/>
                </a:solidFill>
              </a:rPr>
              <a:t>Fractional Anisotropy (FA)</a:t>
            </a:r>
            <a:r>
              <a:rPr lang="en">
                <a:solidFill>
                  <a:schemeClr val="dk1"/>
                </a:solidFill>
              </a:rPr>
              <a:t>: A measure of the directionality of diffusion.</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b="1">
                <a:solidFill>
                  <a:schemeClr val="dk1"/>
                </a:solidFill>
              </a:rPr>
              <a:t>Mean Diffusivity (MD)</a:t>
            </a:r>
            <a:r>
              <a:rPr lang="en">
                <a:solidFill>
                  <a:schemeClr val="dk1"/>
                </a:solidFill>
              </a:rPr>
              <a:t>: The average diffusion rate.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b="1">
                <a:solidFill>
                  <a:schemeClr val="dk1"/>
                </a:solidFill>
              </a:rPr>
              <a:t>Principal Eigenvectors</a:t>
            </a:r>
            <a:r>
              <a:rPr lang="en">
                <a:solidFill>
                  <a:schemeClr val="dk1"/>
                </a:solidFill>
              </a:rPr>
              <a:t>: Used to map white matter tracts.</a:t>
            </a:r>
            <a:endParaRPr>
              <a:solidFill>
                <a:schemeClr val="dk1"/>
              </a:solidFill>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3D analog of Fourier series. Instead of sines/cosines on a circle, </a:t>
            </a:r>
            <a:r>
              <a:rPr lang="en-US" b="1" dirty="0"/>
              <a:t>spherical harmonics</a:t>
            </a:r>
            <a:r>
              <a:rPr lang="en-US" dirty="0"/>
              <a:t> are smooth “wave” patterns defined </a:t>
            </a:r>
            <a:r>
              <a:rPr lang="en-US" b="1" dirty="0"/>
              <a:t>on the surface of a sphere</a:t>
            </a:r>
            <a:r>
              <a:rPr lang="en-US" dirty="0"/>
              <a:t>.</a:t>
            </a:r>
          </a:p>
          <a:p>
            <a:endParaRPr lang="en-US" dirty="0"/>
          </a:p>
          <a:p>
            <a:r>
              <a:rPr lang="en-US" dirty="0"/>
              <a:t>diffusion signal depends on </a:t>
            </a:r>
            <a:r>
              <a:rPr lang="en-US" b="1" dirty="0"/>
              <a:t>direction</a:t>
            </a:r>
            <a:r>
              <a:rPr lang="en-US" dirty="0"/>
              <a:t>. Spherical harmonics give a compact, math-clean way to represent that directional dependence.</a:t>
            </a:r>
          </a:p>
        </p:txBody>
      </p:sp>
      <p:sp>
        <p:nvSpPr>
          <p:cNvPr id="4" name="Slide Number Placeholder 3"/>
          <p:cNvSpPr>
            <a:spLocks noGrp="1"/>
          </p:cNvSpPr>
          <p:nvPr>
            <p:ph type="sldNum" sz="quarter" idx="5"/>
          </p:nvPr>
        </p:nvSpPr>
        <p:spPr/>
        <p:txBody>
          <a:bodyPr/>
          <a:lstStyle/>
          <a:p>
            <a:fld id="{0432327E-D12F-47DE-9D0C-BF655D3CCFC4}" type="slidenum">
              <a:rPr lang="en-US" smtClean="0"/>
              <a:t>21</a:t>
            </a:fld>
            <a:endParaRPr lang="en-US"/>
          </a:p>
        </p:txBody>
      </p:sp>
    </p:spTree>
    <p:extLst>
      <p:ext uri="{BB962C8B-B14F-4D97-AF65-F5344CB8AC3E}">
        <p14:creationId xmlns:p14="http://schemas.microsoft.com/office/powerpoint/2010/main" val="1655222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Alternating phase</a:t>
            </a:r>
            <a:r>
              <a:rPr lang="en-US" dirty="0"/>
              <a:t> is a pattern that flips sign every other </a:t>
            </a:r>
            <a:r>
              <a:rPr lang="en-US" dirty="0" err="1"/>
              <a:t>ky</a:t>
            </a:r>
            <a:r>
              <a:rPr lang="en-US" dirty="0"/>
              <a:t> line.</a:t>
            </a:r>
          </a:p>
          <a:p>
            <a:endParaRPr lang="en-US" dirty="0"/>
          </a:p>
          <a:p>
            <a:r>
              <a:rPr lang="en-US" dirty="0"/>
              <a:t>The highest spatial frequency you can represent on that </a:t>
            </a:r>
            <a:r>
              <a:rPr lang="en-US" dirty="0" err="1"/>
              <a:t>ky</a:t>
            </a:r>
            <a:r>
              <a:rPr lang="en-US" dirty="0"/>
              <a:t> grid is one that toggles every step—the </a:t>
            </a:r>
            <a:r>
              <a:rPr lang="en-US" b="1" dirty="0"/>
              <a:t>Nyquist frequency</a:t>
            </a:r>
            <a:r>
              <a:rPr lang="en-US" dirty="0"/>
              <a:t>.</a:t>
            </a:r>
          </a:p>
          <a:p>
            <a:endParaRPr lang="en-US" dirty="0"/>
          </a:p>
          <a:p>
            <a:r>
              <a:rPr lang="en-US" dirty="0"/>
              <a:t>The Nyquist frequency in k-space corresponds to a shift of </a:t>
            </a:r>
            <a:r>
              <a:rPr lang="en-US" b="1" dirty="0"/>
              <a:t>exactly one-half of the sampled field-of-view</a:t>
            </a:r>
            <a:r>
              <a:rPr lang="en-US" dirty="0"/>
              <a:t> in image space.</a:t>
            </a:r>
          </a:p>
          <a:p>
            <a:endParaRPr lang="en-US" dirty="0"/>
          </a:p>
          <a:p>
            <a:r>
              <a:rPr lang="en-US" dirty="0"/>
              <a:t>Hence the name “N/2 ghost.”</a:t>
            </a:r>
          </a:p>
          <a:p>
            <a:endParaRPr lang="en-US" dirty="0"/>
          </a:p>
          <a:p>
            <a:r>
              <a:rPr lang="en-US" dirty="0"/>
              <a:t>Scanner runs +x and –x gradients at </a:t>
            </a:r>
            <a:r>
              <a:rPr lang="en-US" dirty="0" err="1"/>
              <a:t>ky</a:t>
            </a:r>
            <a:r>
              <a:rPr lang="en-US" dirty="0"/>
              <a:t> = 0 (should be identical), and uses the difference to adjust for eddy currents (subtracts that phase from each even line)</a:t>
            </a:r>
          </a:p>
          <a:p>
            <a:endParaRPr lang="en-US" dirty="0"/>
          </a:p>
        </p:txBody>
      </p:sp>
      <p:sp>
        <p:nvSpPr>
          <p:cNvPr id="4" name="Slide Number Placeholder 3"/>
          <p:cNvSpPr>
            <a:spLocks noGrp="1"/>
          </p:cNvSpPr>
          <p:nvPr>
            <p:ph type="sldNum" sz="quarter" idx="5"/>
          </p:nvPr>
        </p:nvSpPr>
        <p:spPr/>
        <p:txBody>
          <a:bodyPr/>
          <a:lstStyle/>
          <a:p>
            <a:fld id="{1429A7D2-398B-427C-AC3D-B0EBA8B12372}" type="slidenum">
              <a:rPr lang="en-US" smtClean="0"/>
              <a:t>27</a:t>
            </a:fld>
            <a:endParaRPr lang="en-US"/>
          </a:p>
        </p:txBody>
      </p:sp>
    </p:spTree>
    <p:extLst>
      <p:ext uri="{BB962C8B-B14F-4D97-AF65-F5344CB8AC3E}">
        <p14:creationId xmlns:p14="http://schemas.microsoft.com/office/powerpoint/2010/main" val="1984424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9740F-BE3A-42E3-7CA1-C6C738047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3F9CA0-4F35-88BD-7E76-DF5C25470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F79920-676E-5C57-04D2-3A95320D96E2}"/>
              </a:ext>
            </a:extLst>
          </p:cNvPr>
          <p:cNvSpPr>
            <a:spLocks noGrp="1"/>
          </p:cNvSpPr>
          <p:nvPr>
            <p:ph type="body" idx="1"/>
          </p:nvPr>
        </p:nvSpPr>
        <p:spPr/>
        <p:txBody>
          <a:bodyPr/>
          <a:lstStyle/>
          <a:p>
            <a:r>
              <a:rPr lang="en-US" dirty="0"/>
              <a:t>Depends on how you time your slices!</a:t>
            </a:r>
          </a:p>
        </p:txBody>
      </p:sp>
      <p:sp>
        <p:nvSpPr>
          <p:cNvPr id="4" name="Slide Number Placeholder 3">
            <a:extLst>
              <a:ext uri="{FF2B5EF4-FFF2-40B4-BE49-F238E27FC236}">
                <a16:creationId xmlns:a16="http://schemas.microsoft.com/office/drawing/2014/main" id="{D2AEB45A-D2DD-39AB-5EC6-D85D09CB4276}"/>
              </a:ext>
            </a:extLst>
          </p:cNvPr>
          <p:cNvSpPr>
            <a:spLocks noGrp="1"/>
          </p:cNvSpPr>
          <p:nvPr>
            <p:ph type="sldNum" sz="quarter" idx="5"/>
          </p:nvPr>
        </p:nvSpPr>
        <p:spPr/>
        <p:txBody>
          <a:bodyPr/>
          <a:lstStyle/>
          <a:p>
            <a:fld id="{1429A7D2-398B-427C-AC3D-B0EBA8B12372}" type="slidenum">
              <a:rPr lang="en-US" smtClean="0"/>
              <a:t>28</a:t>
            </a:fld>
            <a:endParaRPr lang="en-US"/>
          </a:p>
        </p:txBody>
      </p:sp>
    </p:spTree>
    <p:extLst>
      <p:ext uri="{BB962C8B-B14F-4D97-AF65-F5344CB8AC3E}">
        <p14:creationId xmlns:p14="http://schemas.microsoft.com/office/powerpoint/2010/main" val="2918068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yeah, it does this – but we don’t want it to! Turn it off and use N4</a:t>
            </a:r>
          </a:p>
          <a:p>
            <a:endParaRPr lang="en-US" dirty="0"/>
          </a:p>
          <a:p>
            <a:r>
              <a:rPr lang="en-US" dirty="0"/>
              <a:t>(We do this for functional images too, but only the BOLD reference -- EPI intensity is arbitrary and later analyzed as </a:t>
            </a:r>
            <a:r>
              <a:rPr lang="en-US" b="1" dirty="0"/>
              <a:t>percent-signal change</a:t>
            </a:r>
            <a:r>
              <a:rPr lang="en-US" dirty="0"/>
              <a:t> (GLM) or </a:t>
            </a:r>
            <a:r>
              <a:rPr lang="en-US" b="1" dirty="0"/>
              <a:t>temporal correlations</a:t>
            </a:r>
            <a:r>
              <a:rPr lang="en-US" dirty="0"/>
              <a:t> (functional connectivity); the slowly varying bias largely washes out)</a:t>
            </a:r>
          </a:p>
        </p:txBody>
      </p:sp>
      <p:sp>
        <p:nvSpPr>
          <p:cNvPr id="4" name="Slide Number Placeholder 3"/>
          <p:cNvSpPr>
            <a:spLocks noGrp="1"/>
          </p:cNvSpPr>
          <p:nvPr>
            <p:ph type="sldNum" sz="quarter" idx="5"/>
          </p:nvPr>
        </p:nvSpPr>
        <p:spPr/>
        <p:txBody>
          <a:bodyPr/>
          <a:lstStyle/>
          <a:p>
            <a:fld id="{1429A7D2-398B-427C-AC3D-B0EBA8B12372}" type="slidenum">
              <a:rPr lang="en-US" smtClean="0"/>
              <a:t>29</a:t>
            </a:fld>
            <a:endParaRPr lang="en-US"/>
          </a:p>
        </p:txBody>
      </p:sp>
    </p:spTree>
    <p:extLst>
      <p:ext uri="{BB962C8B-B14F-4D97-AF65-F5344CB8AC3E}">
        <p14:creationId xmlns:p14="http://schemas.microsoft.com/office/powerpoint/2010/main" val="3605200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DE60B-203D-0394-8E5C-5F874DE5CA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311B0C-84AB-DDCE-297B-5E828EAFF0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25EF71-18F9-2881-3515-A22D96B2CE0D}"/>
              </a:ext>
            </a:extLst>
          </p:cNvPr>
          <p:cNvSpPr>
            <a:spLocks noGrp="1"/>
          </p:cNvSpPr>
          <p:nvPr>
            <p:ph type="dt" sz="half" idx="10"/>
          </p:nvPr>
        </p:nvSpPr>
        <p:spPr/>
        <p:txBody>
          <a:bodyPr/>
          <a:lstStyle/>
          <a:p>
            <a:fld id="{91F13FC8-4589-4813-B4C7-060BABF564A2}" type="datetimeFigureOut">
              <a:rPr lang="en-US" smtClean="0"/>
              <a:t>8/8/2025</a:t>
            </a:fld>
            <a:endParaRPr lang="en-US"/>
          </a:p>
        </p:txBody>
      </p:sp>
      <p:sp>
        <p:nvSpPr>
          <p:cNvPr id="5" name="Footer Placeholder 4">
            <a:extLst>
              <a:ext uri="{FF2B5EF4-FFF2-40B4-BE49-F238E27FC236}">
                <a16:creationId xmlns:a16="http://schemas.microsoft.com/office/drawing/2014/main" id="{B7BFE7C0-2B3B-EE30-5C4F-D897D3044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8B93EC-CF4C-0468-46A5-6E09B1B421E1}"/>
              </a:ext>
            </a:extLst>
          </p:cNvPr>
          <p:cNvSpPr>
            <a:spLocks noGrp="1"/>
          </p:cNvSpPr>
          <p:nvPr>
            <p:ph type="sldNum" sz="quarter" idx="12"/>
          </p:nvPr>
        </p:nvSpPr>
        <p:spPr/>
        <p:txBody>
          <a:bodyPr/>
          <a:lstStyle/>
          <a:p>
            <a:fld id="{9D5A1992-307A-47EE-8C8C-43AC492AC199}" type="slidenum">
              <a:rPr lang="en-US" smtClean="0"/>
              <a:t>‹#›</a:t>
            </a:fld>
            <a:endParaRPr lang="en-US"/>
          </a:p>
        </p:txBody>
      </p:sp>
    </p:spTree>
    <p:extLst>
      <p:ext uri="{BB962C8B-B14F-4D97-AF65-F5344CB8AC3E}">
        <p14:creationId xmlns:p14="http://schemas.microsoft.com/office/powerpoint/2010/main" val="780908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1718D-0835-9D40-6820-3DFC4E8CE7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AF8295-71D1-1F1E-F35B-70C0895CAC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A52807-013F-C44F-5088-B0F563560549}"/>
              </a:ext>
            </a:extLst>
          </p:cNvPr>
          <p:cNvSpPr>
            <a:spLocks noGrp="1"/>
          </p:cNvSpPr>
          <p:nvPr>
            <p:ph type="dt" sz="half" idx="10"/>
          </p:nvPr>
        </p:nvSpPr>
        <p:spPr/>
        <p:txBody>
          <a:bodyPr/>
          <a:lstStyle/>
          <a:p>
            <a:fld id="{91F13FC8-4589-4813-B4C7-060BABF564A2}" type="datetimeFigureOut">
              <a:rPr lang="en-US" smtClean="0"/>
              <a:t>8/8/2025</a:t>
            </a:fld>
            <a:endParaRPr lang="en-US"/>
          </a:p>
        </p:txBody>
      </p:sp>
      <p:sp>
        <p:nvSpPr>
          <p:cNvPr id="5" name="Footer Placeholder 4">
            <a:extLst>
              <a:ext uri="{FF2B5EF4-FFF2-40B4-BE49-F238E27FC236}">
                <a16:creationId xmlns:a16="http://schemas.microsoft.com/office/drawing/2014/main" id="{D5B765A8-8382-8606-5581-2D04A440B0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D974F-207F-9C52-2507-473492480D34}"/>
              </a:ext>
            </a:extLst>
          </p:cNvPr>
          <p:cNvSpPr>
            <a:spLocks noGrp="1"/>
          </p:cNvSpPr>
          <p:nvPr>
            <p:ph type="sldNum" sz="quarter" idx="12"/>
          </p:nvPr>
        </p:nvSpPr>
        <p:spPr/>
        <p:txBody>
          <a:bodyPr/>
          <a:lstStyle/>
          <a:p>
            <a:fld id="{9D5A1992-307A-47EE-8C8C-43AC492AC199}" type="slidenum">
              <a:rPr lang="en-US" smtClean="0"/>
              <a:t>‹#›</a:t>
            </a:fld>
            <a:endParaRPr lang="en-US"/>
          </a:p>
        </p:txBody>
      </p:sp>
    </p:spTree>
    <p:extLst>
      <p:ext uri="{BB962C8B-B14F-4D97-AF65-F5344CB8AC3E}">
        <p14:creationId xmlns:p14="http://schemas.microsoft.com/office/powerpoint/2010/main" val="1199333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0F926-235C-4404-2DED-2E55BE6369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6B8185-53FC-E3B0-8B9C-3E4AB8171C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F113A0-1C2B-9F5B-38C3-BAE361A368ED}"/>
              </a:ext>
            </a:extLst>
          </p:cNvPr>
          <p:cNvSpPr>
            <a:spLocks noGrp="1"/>
          </p:cNvSpPr>
          <p:nvPr>
            <p:ph type="dt" sz="half" idx="10"/>
          </p:nvPr>
        </p:nvSpPr>
        <p:spPr/>
        <p:txBody>
          <a:bodyPr/>
          <a:lstStyle/>
          <a:p>
            <a:fld id="{91F13FC8-4589-4813-B4C7-060BABF564A2}" type="datetimeFigureOut">
              <a:rPr lang="en-US" smtClean="0"/>
              <a:t>8/8/2025</a:t>
            </a:fld>
            <a:endParaRPr lang="en-US"/>
          </a:p>
        </p:txBody>
      </p:sp>
      <p:sp>
        <p:nvSpPr>
          <p:cNvPr id="5" name="Footer Placeholder 4">
            <a:extLst>
              <a:ext uri="{FF2B5EF4-FFF2-40B4-BE49-F238E27FC236}">
                <a16:creationId xmlns:a16="http://schemas.microsoft.com/office/drawing/2014/main" id="{E92D5FB1-ECFE-78C0-F2EF-EFCE5F015D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0C1131-08C2-C9EF-F6A0-1A6298067C33}"/>
              </a:ext>
            </a:extLst>
          </p:cNvPr>
          <p:cNvSpPr>
            <a:spLocks noGrp="1"/>
          </p:cNvSpPr>
          <p:nvPr>
            <p:ph type="sldNum" sz="quarter" idx="12"/>
          </p:nvPr>
        </p:nvSpPr>
        <p:spPr/>
        <p:txBody>
          <a:bodyPr/>
          <a:lstStyle/>
          <a:p>
            <a:fld id="{9D5A1992-307A-47EE-8C8C-43AC492AC199}" type="slidenum">
              <a:rPr lang="en-US" smtClean="0"/>
              <a:t>‹#›</a:t>
            </a:fld>
            <a:endParaRPr lang="en-US"/>
          </a:p>
        </p:txBody>
      </p:sp>
    </p:spTree>
    <p:extLst>
      <p:ext uri="{BB962C8B-B14F-4D97-AF65-F5344CB8AC3E}">
        <p14:creationId xmlns:p14="http://schemas.microsoft.com/office/powerpoint/2010/main" val="799368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248A1-31E8-E645-295B-B8E0F7E7EF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B4B93D-D44B-DF2F-2F48-6D3DF900C5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8E216-4346-4291-446D-6E6124FAD8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743455-0F33-1019-4AB1-F998B048FD0D}"/>
              </a:ext>
            </a:extLst>
          </p:cNvPr>
          <p:cNvSpPr>
            <a:spLocks noGrp="1"/>
          </p:cNvSpPr>
          <p:nvPr>
            <p:ph type="dt" sz="half" idx="10"/>
          </p:nvPr>
        </p:nvSpPr>
        <p:spPr/>
        <p:txBody>
          <a:bodyPr/>
          <a:lstStyle/>
          <a:p>
            <a:fld id="{91F13FC8-4589-4813-B4C7-060BABF564A2}" type="datetimeFigureOut">
              <a:rPr lang="en-US" smtClean="0"/>
              <a:t>8/8/2025</a:t>
            </a:fld>
            <a:endParaRPr lang="en-US"/>
          </a:p>
        </p:txBody>
      </p:sp>
      <p:sp>
        <p:nvSpPr>
          <p:cNvPr id="6" name="Footer Placeholder 5">
            <a:extLst>
              <a:ext uri="{FF2B5EF4-FFF2-40B4-BE49-F238E27FC236}">
                <a16:creationId xmlns:a16="http://schemas.microsoft.com/office/drawing/2014/main" id="{22B69C7F-FB21-8A4A-9162-51C5F0D156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FD2649-BCF9-B706-5983-8A56B14165BC}"/>
              </a:ext>
            </a:extLst>
          </p:cNvPr>
          <p:cNvSpPr>
            <a:spLocks noGrp="1"/>
          </p:cNvSpPr>
          <p:nvPr>
            <p:ph type="sldNum" sz="quarter" idx="12"/>
          </p:nvPr>
        </p:nvSpPr>
        <p:spPr/>
        <p:txBody>
          <a:bodyPr/>
          <a:lstStyle/>
          <a:p>
            <a:fld id="{9D5A1992-307A-47EE-8C8C-43AC492AC199}" type="slidenum">
              <a:rPr lang="en-US" smtClean="0"/>
              <a:t>‹#›</a:t>
            </a:fld>
            <a:endParaRPr lang="en-US"/>
          </a:p>
        </p:txBody>
      </p:sp>
    </p:spTree>
    <p:extLst>
      <p:ext uri="{BB962C8B-B14F-4D97-AF65-F5344CB8AC3E}">
        <p14:creationId xmlns:p14="http://schemas.microsoft.com/office/powerpoint/2010/main" val="2588944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7057-D653-2F99-E2CA-63884FB6D8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611032-0C13-9BC4-D339-89A34FB6F6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90E040-64D5-3F2B-19C2-2E5266864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C08BC2-F009-9213-E060-B69B6271CC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74654C-4F87-AA4E-31C4-371BD0BFFA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3372F5-CF89-A7EA-E817-D30ABD30173A}"/>
              </a:ext>
            </a:extLst>
          </p:cNvPr>
          <p:cNvSpPr>
            <a:spLocks noGrp="1"/>
          </p:cNvSpPr>
          <p:nvPr>
            <p:ph type="dt" sz="half" idx="10"/>
          </p:nvPr>
        </p:nvSpPr>
        <p:spPr/>
        <p:txBody>
          <a:bodyPr/>
          <a:lstStyle/>
          <a:p>
            <a:fld id="{91F13FC8-4589-4813-B4C7-060BABF564A2}" type="datetimeFigureOut">
              <a:rPr lang="en-US" smtClean="0"/>
              <a:t>8/8/2025</a:t>
            </a:fld>
            <a:endParaRPr lang="en-US"/>
          </a:p>
        </p:txBody>
      </p:sp>
      <p:sp>
        <p:nvSpPr>
          <p:cNvPr id="8" name="Footer Placeholder 7">
            <a:extLst>
              <a:ext uri="{FF2B5EF4-FFF2-40B4-BE49-F238E27FC236}">
                <a16:creationId xmlns:a16="http://schemas.microsoft.com/office/drawing/2014/main" id="{748D5991-6EE4-7EE2-F4AF-56A90E4C35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7C8C97-FD38-8AB9-9B89-2B355E4A7D35}"/>
              </a:ext>
            </a:extLst>
          </p:cNvPr>
          <p:cNvSpPr>
            <a:spLocks noGrp="1"/>
          </p:cNvSpPr>
          <p:nvPr>
            <p:ph type="sldNum" sz="quarter" idx="12"/>
          </p:nvPr>
        </p:nvSpPr>
        <p:spPr/>
        <p:txBody>
          <a:bodyPr/>
          <a:lstStyle/>
          <a:p>
            <a:fld id="{9D5A1992-307A-47EE-8C8C-43AC492AC199}" type="slidenum">
              <a:rPr lang="en-US" smtClean="0"/>
              <a:t>‹#›</a:t>
            </a:fld>
            <a:endParaRPr lang="en-US"/>
          </a:p>
        </p:txBody>
      </p:sp>
    </p:spTree>
    <p:extLst>
      <p:ext uri="{BB962C8B-B14F-4D97-AF65-F5344CB8AC3E}">
        <p14:creationId xmlns:p14="http://schemas.microsoft.com/office/powerpoint/2010/main" val="1414499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AEB16-7D34-6466-F099-0DDF97C4636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34C111-15C1-1D5C-3799-A6A1E6813B8A}"/>
              </a:ext>
            </a:extLst>
          </p:cNvPr>
          <p:cNvSpPr>
            <a:spLocks noGrp="1"/>
          </p:cNvSpPr>
          <p:nvPr>
            <p:ph type="dt" sz="half" idx="10"/>
          </p:nvPr>
        </p:nvSpPr>
        <p:spPr/>
        <p:txBody>
          <a:bodyPr/>
          <a:lstStyle/>
          <a:p>
            <a:fld id="{91F13FC8-4589-4813-B4C7-060BABF564A2}" type="datetimeFigureOut">
              <a:rPr lang="en-US" smtClean="0"/>
              <a:t>8/8/2025</a:t>
            </a:fld>
            <a:endParaRPr lang="en-US"/>
          </a:p>
        </p:txBody>
      </p:sp>
      <p:sp>
        <p:nvSpPr>
          <p:cNvPr id="4" name="Footer Placeholder 3">
            <a:extLst>
              <a:ext uri="{FF2B5EF4-FFF2-40B4-BE49-F238E27FC236}">
                <a16:creationId xmlns:a16="http://schemas.microsoft.com/office/drawing/2014/main" id="{2F38CFF4-2C67-6D1D-37B5-3827A7785C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591CD3-8870-8539-3A63-B98C60DD0928}"/>
              </a:ext>
            </a:extLst>
          </p:cNvPr>
          <p:cNvSpPr>
            <a:spLocks noGrp="1"/>
          </p:cNvSpPr>
          <p:nvPr>
            <p:ph type="sldNum" sz="quarter" idx="12"/>
          </p:nvPr>
        </p:nvSpPr>
        <p:spPr/>
        <p:txBody>
          <a:bodyPr/>
          <a:lstStyle/>
          <a:p>
            <a:fld id="{9D5A1992-307A-47EE-8C8C-43AC492AC199}" type="slidenum">
              <a:rPr lang="en-US" smtClean="0"/>
              <a:t>‹#›</a:t>
            </a:fld>
            <a:endParaRPr lang="en-US"/>
          </a:p>
        </p:txBody>
      </p:sp>
    </p:spTree>
    <p:extLst>
      <p:ext uri="{BB962C8B-B14F-4D97-AF65-F5344CB8AC3E}">
        <p14:creationId xmlns:p14="http://schemas.microsoft.com/office/powerpoint/2010/main" val="3523614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DDA521-5E91-1F76-882F-8CD133921C09}"/>
              </a:ext>
            </a:extLst>
          </p:cNvPr>
          <p:cNvSpPr>
            <a:spLocks noGrp="1"/>
          </p:cNvSpPr>
          <p:nvPr>
            <p:ph type="dt" sz="half" idx="10"/>
          </p:nvPr>
        </p:nvSpPr>
        <p:spPr/>
        <p:txBody>
          <a:bodyPr/>
          <a:lstStyle/>
          <a:p>
            <a:fld id="{91F13FC8-4589-4813-B4C7-060BABF564A2}" type="datetimeFigureOut">
              <a:rPr lang="en-US" smtClean="0"/>
              <a:t>8/8/2025</a:t>
            </a:fld>
            <a:endParaRPr lang="en-US"/>
          </a:p>
        </p:txBody>
      </p:sp>
      <p:sp>
        <p:nvSpPr>
          <p:cNvPr id="3" name="Footer Placeholder 2">
            <a:extLst>
              <a:ext uri="{FF2B5EF4-FFF2-40B4-BE49-F238E27FC236}">
                <a16:creationId xmlns:a16="http://schemas.microsoft.com/office/drawing/2014/main" id="{2EA125FA-6206-1B01-5457-DAC1B6B429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AC78A5-834B-0D40-89CC-23C65FF0A78A}"/>
              </a:ext>
            </a:extLst>
          </p:cNvPr>
          <p:cNvSpPr>
            <a:spLocks noGrp="1"/>
          </p:cNvSpPr>
          <p:nvPr>
            <p:ph type="sldNum" sz="quarter" idx="12"/>
          </p:nvPr>
        </p:nvSpPr>
        <p:spPr/>
        <p:txBody>
          <a:bodyPr/>
          <a:lstStyle/>
          <a:p>
            <a:fld id="{9D5A1992-307A-47EE-8C8C-43AC492AC199}" type="slidenum">
              <a:rPr lang="en-US" smtClean="0"/>
              <a:t>‹#›</a:t>
            </a:fld>
            <a:endParaRPr lang="en-US"/>
          </a:p>
        </p:txBody>
      </p:sp>
    </p:spTree>
    <p:extLst>
      <p:ext uri="{BB962C8B-B14F-4D97-AF65-F5344CB8AC3E}">
        <p14:creationId xmlns:p14="http://schemas.microsoft.com/office/powerpoint/2010/main" val="308743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FC0C-637F-A649-AC49-0F182E0E5B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DB9E51-9980-05A3-2BA1-993A3B8884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1B4C3-B96A-BAEA-768E-EEBFD82533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C4DA58-E829-BEFC-88E4-AADE738B5C5A}"/>
              </a:ext>
            </a:extLst>
          </p:cNvPr>
          <p:cNvSpPr>
            <a:spLocks noGrp="1"/>
          </p:cNvSpPr>
          <p:nvPr>
            <p:ph type="dt" sz="half" idx="10"/>
          </p:nvPr>
        </p:nvSpPr>
        <p:spPr/>
        <p:txBody>
          <a:bodyPr/>
          <a:lstStyle/>
          <a:p>
            <a:fld id="{91F13FC8-4589-4813-B4C7-060BABF564A2}" type="datetimeFigureOut">
              <a:rPr lang="en-US" smtClean="0"/>
              <a:t>8/8/2025</a:t>
            </a:fld>
            <a:endParaRPr lang="en-US"/>
          </a:p>
        </p:txBody>
      </p:sp>
      <p:sp>
        <p:nvSpPr>
          <p:cNvPr id="6" name="Footer Placeholder 5">
            <a:extLst>
              <a:ext uri="{FF2B5EF4-FFF2-40B4-BE49-F238E27FC236}">
                <a16:creationId xmlns:a16="http://schemas.microsoft.com/office/drawing/2014/main" id="{BBD6CD31-569B-61D5-AC4A-4813660F99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216BA3-E1B0-0586-77A4-425931E3C964}"/>
              </a:ext>
            </a:extLst>
          </p:cNvPr>
          <p:cNvSpPr>
            <a:spLocks noGrp="1"/>
          </p:cNvSpPr>
          <p:nvPr>
            <p:ph type="sldNum" sz="quarter" idx="12"/>
          </p:nvPr>
        </p:nvSpPr>
        <p:spPr/>
        <p:txBody>
          <a:bodyPr/>
          <a:lstStyle/>
          <a:p>
            <a:fld id="{9D5A1992-307A-47EE-8C8C-43AC492AC199}" type="slidenum">
              <a:rPr lang="en-US" smtClean="0"/>
              <a:t>‹#›</a:t>
            </a:fld>
            <a:endParaRPr lang="en-US"/>
          </a:p>
        </p:txBody>
      </p:sp>
    </p:spTree>
    <p:extLst>
      <p:ext uri="{BB962C8B-B14F-4D97-AF65-F5344CB8AC3E}">
        <p14:creationId xmlns:p14="http://schemas.microsoft.com/office/powerpoint/2010/main" val="44397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CCDD1-E9A8-F6DD-8973-5DBE33294B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9CEE23-CA67-9C91-B5AC-DA1E56C306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F9292D-BFD0-857A-CC1B-64DD74D481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5B696E-5FCD-5542-C80C-9E3688534E5C}"/>
              </a:ext>
            </a:extLst>
          </p:cNvPr>
          <p:cNvSpPr>
            <a:spLocks noGrp="1"/>
          </p:cNvSpPr>
          <p:nvPr>
            <p:ph type="dt" sz="half" idx="10"/>
          </p:nvPr>
        </p:nvSpPr>
        <p:spPr/>
        <p:txBody>
          <a:bodyPr/>
          <a:lstStyle/>
          <a:p>
            <a:fld id="{91F13FC8-4589-4813-B4C7-060BABF564A2}" type="datetimeFigureOut">
              <a:rPr lang="en-US" smtClean="0"/>
              <a:t>8/8/2025</a:t>
            </a:fld>
            <a:endParaRPr lang="en-US"/>
          </a:p>
        </p:txBody>
      </p:sp>
      <p:sp>
        <p:nvSpPr>
          <p:cNvPr id="6" name="Footer Placeholder 5">
            <a:extLst>
              <a:ext uri="{FF2B5EF4-FFF2-40B4-BE49-F238E27FC236}">
                <a16:creationId xmlns:a16="http://schemas.microsoft.com/office/drawing/2014/main" id="{DC805133-4280-D802-C1B5-37AB1346E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0E7E16-9469-1142-AB32-A04BE0D0A150}"/>
              </a:ext>
            </a:extLst>
          </p:cNvPr>
          <p:cNvSpPr>
            <a:spLocks noGrp="1"/>
          </p:cNvSpPr>
          <p:nvPr>
            <p:ph type="sldNum" sz="quarter" idx="12"/>
          </p:nvPr>
        </p:nvSpPr>
        <p:spPr/>
        <p:txBody>
          <a:bodyPr/>
          <a:lstStyle/>
          <a:p>
            <a:fld id="{9D5A1992-307A-47EE-8C8C-43AC492AC199}" type="slidenum">
              <a:rPr lang="en-US" smtClean="0"/>
              <a:t>‹#›</a:t>
            </a:fld>
            <a:endParaRPr lang="en-US"/>
          </a:p>
        </p:txBody>
      </p:sp>
    </p:spTree>
    <p:extLst>
      <p:ext uri="{BB962C8B-B14F-4D97-AF65-F5344CB8AC3E}">
        <p14:creationId xmlns:p14="http://schemas.microsoft.com/office/powerpoint/2010/main" val="1437146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72F14-F026-9AA1-29A9-3FDB343989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93B01B-464D-2D66-4505-4C8F55C7E5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87A0F4-447A-D3FF-681F-8195EA17A969}"/>
              </a:ext>
            </a:extLst>
          </p:cNvPr>
          <p:cNvSpPr>
            <a:spLocks noGrp="1"/>
          </p:cNvSpPr>
          <p:nvPr>
            <p:ph type="dt" sz="half" idx="10"/>
          </p:nvPr>
        </p:nvSpPr>
        <p:spPr/>
        <p:txBody>
          <a:bodyPr/>
          <a:lstStyle/>
          <a:p>
            <a:fld id="{91F13FC8-4589-4813-B4C7-060BABF564A2}" type="datetimeFigureOut">
              <a:rPr lang="en-US" smtClean="0"/>
              <a:t>8/8/2025</a:t>
            </a:fld>
            <a:endParaRPr lang="en-US"/>
          </a:p>
        </p:txBody>
      </p:sp>
      <p:sp>
        <p:nvSpPr>
          <p:cNvPr id="5" name="Footer Placeholder 4">
            <a:extLst>
              <a:ext uri="{FF2B5EF4-FFF2-40B4-BE49-F238E27FC236}">
                <a16:creationId xmlns:a16="http://schemas.microsoft.com/office/drawing/2014/main" id="{A392BFF9-9F83-BA12-0FA8-6B7C3FF720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53E506-F6C6-BF44-3E66-314C0D87C4AD}"/>
              </a:ext>
            </a:extLst>
          </p:cNvPr>
          <p:cNvSpPr>
            <a:spLocks noGrp="1"/>
          </p:cNvSpPr>
          <p:nvPr>
            <p:ph type="sldNum" sz="quarter" idx="12"/>
          </p:nvPr>
        </p:nvSpPr>
        <p:spPr/>
        <p:txBody>
          <a:bodyPr/>
          <a:lstStyle/>
          <a:p>
            <a:fld id="{9D5A1992-307A-47EE-8C8C-43AC492AC199}" type="slidenum">
              <a:rPr lang="en-US" smtClean="0"/>
              <a:t>‹#›</a:t>
            </a:fld>
            <a:endParaRPr lang="en-US"/>
          </a:p>
        </p:txBody>
      </p:sp>
    </p:spTree>
    <p:extLst>
      <p:ext uri="{BB962C8B-B14F-4D97-AF65-F5344CB8AC3E}">
        <p14:creationId xmlns:p14="http://schemas.microsoft.com/office/powerpoint/2010/main" val="579528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40839D-38F8-E3BC-16F8-4B44D5D4C0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97042A-6EC3-5410-46B2-C8DD715D08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563255-73CF-3D44-459E-C1DB2D874322}"/>
              </a:ext>
            </a:extLst>
          </p:cNvPr>
          <p:cNvSpPr>
            <a:spLocks noGrp="1"/>
          </p:cNvSpPr>
          <p:nvPr>
            <p:ph type="dt" sz="half" idx="10"/>
          </p:nvPr>
        </p:nvSpPr>
        <p:spPr/>
        <p:txBody>
          <a:bodyPr/>
          <a:lstStyle/>
          <a:p>
            <a:fld id="{91F13FC8-4589-4813-B4C7-060BABF564A2}" type="datetimeFigureOut">
              <a:rPr lang="en-US" smtClean="0"/>
              <a:t>8/8/2025</a:t>
            </a:fld>
            <a:endParaRPr lang="en-US"/>
          </a:p>
        </p:txBody>
      </p:sp>
      <p:sp>
        <p:nvSpPr>
          <p:cNvPr id="5" name="Footer Placeholder 4">
            <a:extLst>
              <a:ext uri="{FF2B5EF4-FFF2-40B4-BE49-F238E27FC236}">
                <a16:creationId xmlns:a16="http://schemas.microsoft.com/office/drawing/2014/main" id="{884504E3-2F37-87C3-29D0-4F195D1F5A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80C0B3-082F-FEDC-6538-B7D41D92C30E}"/>
              </a:ext>
            </a:extLst>
          </p:cNvPr>
          <p:cNvSpPr>
            <a:spLocks noGrp="1"/>
          </p:cNvSpPr>
          <p:nvPr>
            <p:ph type="sldNum" sz="quarter" idx="12"/>
          </p:nvPr>
        </p:nvSpPr>
        <p:spPr/>
        <p:txBody>
          <a:bodyPr/>
          <a:lstStyle/>
          <a:p>
            <a:fld id="{9D5A1992-307A-47EE-8C8C-43AC492AC199}" type="slidenum">
              <a:rPr lang="en-US" smtClean="0"/>
              <a:t>‹#›</a:t>
            </a:fld>
            <a:endParaRPr lang="en-US"/>
          </a:p>
        </p:txBody>
      </p:sp>
    </p:spTree>
    <p:extLst>
      <p:ext uri="{BB962C8B-B14F-4D97-AF65-F5344CB8AC3E}">
        <p14:creationId xmlns:p14="http://schemas.microsoft.com/office/powerpoint/2010/main" val="670324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E13E1-6B18-668E-B11B-E8831FBB64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A2C340-9253-61BD-C68B-149F0C28C6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57D0B2-9443-B9EC-7A90-D47A97A27522}"/>
              </a:ext>
            </a:extLst>
          </p:cNvPr>
          <p:cNvSpPr>
            <a:spLocks noGrp="1"/>
          </p:cNvSpPr>
          <p:nvPr>
            <p:ph type="dt" sz="half" idx="10"/>
          </p:nvPr>
        </p:nvSpPr>
        <p:spPr/>
        <p:txBody>
          <a:bodyPr/>
          <a:lstStyle/>
          <a:p>
            <a:fld id="{7D97FCB0-C154-4AC2-8FB1-CED0B549503C}" type="datetimeFigureOut">
              <a:rPr lang="en-US" smtClean="0"/>
              <a:t>8/8/2025</a:t>
            </a:fld>
            <a:endParaRPr lang="en-US"/>
          </a:p>
        </p:txBody>
      </p:sp>
      <p:sp>
        <p:nvSpPr>
          <p:cNvPr id="5" name="Footer Placeholder 4">
            <a:extLst>
              <a:ext uri="{FF2B5EF4-FFF2-40B4-BE49-F238E27FC236}">
                <a16:creationId xmlns:a16="http://schemas.microsoft.com/office/drawing/2014/main" id="{9F863D1F-85EA-3804-8C36-DC3BBCB6B7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84E6F6-B413-34BC-371C-BB627AAD4DE1}"/>
              </a:ext>
            </a:extLst>
          </p:cNvPr>
          <p:cNvSpPr>
            <a:spLocks noGrp="1"/>
          </p:cNvSpPr>
          <p:nvPr>
            <p:ph type="sldNum" sz="quarter" idx="12"/>
          </p:nvPr>
        </p:nvSpPr>
        <p:spPr/>
        <p:txBody>
          <a:bodyPr/>
          <a:lstStyle/>
          <a:p>
            <a:fld id="{B8557CF5-9678-47F9-9B3F-FC35A2EE3346}" type="slidenum">
              <a:rPr lang="en-US" smtClean="0"/>
              <a:t>‹#›</a:t>
            </a:fld>
            <a:endParaRPr lang="en-US"/>
          </a:p>
        </p:txBody>
      </p:sp>
    </p:spTree>
    <p:extLst>
      <p:ext uri="{BB962C8B-B14F-4D97-AF65-F5344CB8AC3E}">
        <p14:creationId xmlns:p14="http://schemas.microsoft.com/office/powerpoint/2010/main" val="7963870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46"/>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46"/>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
        <p:nvSpPr>
          <p:cNvPr id="16" name="Google Shape;16;p4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545526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FE3EB-A309-7095-E65D-D4232BF7EC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D56E85-D05A-FCB9-2165-A1829D18E7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051543-0F83-588A-94F6-70FF3A1239E3}"/>
              </a:ext>
            </a:extLst>
          </p:cNvPr>
          <p:cNvSpPr>
            <a:spLocks noGrp="1"/>
          </p:cNvSpPr>
          <p:nvPr>
            <p:ph type="dt" sz="half" idx="10"/>
          </p:nvPr>
        </p:nvSpPr>
        <p:spPr/>
        <p:txBody>
          <a:bodyPr/>
          <a:lstStyle/>
          <a:p>
            <a:fld id="{981DCC2D-24E8-4D19-A3D4-BF5D7547EDA2}" type="datetimeFigureOut">
              <a:rPr lang="en-US" smtClean="0"/>
              <a:t>8/8/2025</a:t>
            </a:fld>
            <a:endParaRPr lang="en-US"/>
          </a:p>
        </p:txBody>
      </p:sp>
      <p:sp>
        <p:nvSpPr>
          <p:cNvPr id="5" name="Footer Placeholder 4">
            <a:extLst>
              <a:ext uri="{FF2B5EF4-FFF2-40B4-BE49-F238E27FC236}">
                <a16:creationId xmlns:a16="http://schemas.microsoft.com/office/drawing/2014/main" id="{B4BD2ADB-87BD-C48D-D497-78A9CE6A6D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A01428-CFA6-46CB-E4F8-0D0E59450B4B}"/>
              </a:ext>
            </a:extLst>
          </p:cNvPr>
          <p:cNvSpPr>
            <a:spLocks noGrp="1"/>
          </p:cNvSpPr>
          <p:nvPr>
            <p:ph type="sldNum" sz="quarter" idx="12"/>
          </p:nvPr>
        </p:nvSpPr>
        <p:spPr/>
        <p:txBody>
          <a:bodyPr/>
          <a:lstStyle/>
          <a:p>
            <a:fld id="{C43764C6-7476-4DDF-AE74-1E71E8908426}" type="slidenum">
              <a:rPr lang="en-US" smtClean="0"/>
              <a:t>‹#›</a:t>
            </a:fld>
            <a:endParaRPr lang="en-US"/>
          </a:p>
        </p:txBody>
      </p:sp>
    </p:spTree>
    <p:extLst>
      <p:ext uri="{BB962C8B-B14F-4D97-AF65-F5344CB8AC3E}">
        <p14:creationId xmlns:p14="http://schemas.microsoft.com/office/powerpoint/2010/main" val="4060861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4F6AAB-C97F-55EC-FD2B-C2BC5906D8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C95EA-344F-2D01-123D-FF91E9EDD5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E3C35A-E9DC-6087-F2F3-1843904352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F13FC8-4589-4813-B4C7-060BABF564A2}" type="datetimeFigureOut">
              <a:rPr lang="en-US" smtClean="0"/>
              <a:t>8/8/2025</a:t>
            </a:fld>
            <a:endParaRPr lang="en-US"/>
          </a:p>
        </p:txBody>
      </p:sp>
      <p:sp>
        <p:nvSpPr>
          <p:cNvPr id="5" name="Footer Placeholder 4">
            <a:extLst>
              <a:ext uri="{FF2B5EF4-FFF2-40B4-BE49-F238E27FC236}">
                <a16:creationId xmlns:a16="http://schemas.microsoft.com/office/drawing/2014/main" id="{C8AA79A5-3A9A-FB76-D3E9-695FD9574C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7E365AA-4C0B-F578-7B25-C978D87066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5A1992-307A-47EE-8C8C-43AC492AC199}" type="slidenum">
              <a:rPr lang="en-US" smtClean="0"/>
              <a:t>‹#›</a:t>
            </a:fld>
            <a:endParaRPr lang="en-US"/>
          </a:p>
        </p:txBody>
      </p:sp>
    </p:spTree>
    <p:extLst>
      <p:ext uri="{BB962C8B-B14F-4D97-AF65-F5344CB8AC3E}">
        <p14:creationId xmlns:p14="http://schemas.microsoft.com/office/powerpoint/2010/main" val="2359917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8784C3-1790-12B5-E837-F108EF8B2D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8925C-5DD3-0B3F-3153-C8088EB3F8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436B0A-DA2A-87FB-E81D-BF5F2B7395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97FCB0-C154-4AC2-8FB1-CED0B549503C}" type="datetimeFigureOut">
              <a:rPr lang="en-US" smtClean="0"/>
              <a:t>8/8/2025</a:t>
            </a:fld>
            <a:endParaRPr lang="en-US"/>
          </a:p>
        </p:txBody>
      </p:sp>
      <p:sp>
        <p:nvSpPr>
          <p:cNvPr id="5" name="Footer Placeholder 4">
            <a:extLst>
              <a:ext uri="{FF2B5EF4-FFF2-40B4-BE49-F238E27FC236}">
                <a16:creationId xmlns:a16="http://schemas.microsoft.com/office/drawing/2014/main" id="{F4DEB7BD-9500-39CF-AF68-35BB85FCA4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83174DC-2A0A-E174-D33C-5F9264B14B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557CF5-9678-47F9-9B3F-FC35A2EE3346}" type="slidenum">
              <a:rPr lang="en-US" smtClean="0"/>
              <a:t>‹#›</a:t>
            </a:fld>
            <a:endParaRPr lang="en-US"/>
          </a:p>
        </p:txBody>
      </p:sp>
    </p:spTree>
    <p:extLst>
      <p:ext uri="{BB962C8B-B14F-4D97-AF65-F5344CB8AC3E}">
        <p14:creationId xmlns:p14="http://schemas.microsoft.com/office/powerpoint/2010/main" val="2475676790"/>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EC6C6E-FACC-4737-DA84-4933F83679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8D3C38-1D60-0BB4-765D-DF524761AD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672A44-EDB5-51A5-814A-47EBF2AEBC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1DCC2D-24E8-4D19-A3D4-BF5D7547EDA2}" type="datetimeFigureOut">
              <a:rPr lang="en-US" smtClean="0"/>
              <a:t>8/8/2025</a:t>
            </a:fld>
            <a:endParaRPr lang="en-US"/>
          </a:p>
        </p:txBody>
      </p:sp>
      <p:sp>
        <p:nvSpPr>
          <p:cNvPr id="5" name="Footer Placeholder 4">
            <a:extLst>
              <a:ext uri="{FF2B5EF4-FFF2-40B4-BE49-F238E27FC236}">
                <a16:creationId xmlns:a16="http://schemas.microsoft.com/office/drawing/2014/main" id="{9A304F52-E9AF-55DC-F905-B07D0BB091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5CB978E-8C5A-D991-BC3F-55C82CAC0E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3764C6-7476-4DDF-AE74-1E71E8908426}" type="slidenum">
              <a:rPr lang="en-US" smtClean="0"/>
              <a:t>‹#›</a:t>
            </a:fld>
            <a:endParaRPr lang="en-US"/>
          </a:p>
        </p:txBody>
      </p:sp>
    </p:spTree>
    <p:extLst>
      <p:ext uri="{BB962C8B-B14F-4D97-AF65-F5344CB8AC3E}">
        <p14:creationId xmlns:p14="http://schemas.microsoft.com/office/powerpoint/2010/main" val="198621421"/>
      </p:ext>
    </p:extLst>
  </p:cSld>
  <p:clrMap bg1="lt1" tx1="dk1" bg2="lt2" tx2="dk2" accent1="accent1" accent2="accent2" accent3="accent3" accent4="accent4" accent5="accent5" accent6="accent6" hlink="hlink" folHlink="folHlink"/>
  <p:sldLayoutIdLst>
    <p:sldLayoutId id="2147483672" r:id="rId1"/>
    <p:sldLayoutId id="2147483665"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gif"/><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30.jpeg"/><Relationship Id="rId4" Type="http://schemas.openxmlformats.org/officeDocument/2006/relationships/image" Target="../media/image29.jpeg"/></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10" name="Group 9">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1"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2"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pSp>
        <p:nvGrpSpPr>
          <p:cNvPr id="14" name="Group 13">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5" name="Freeform: Shape 14">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Freeform: Shape 19">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Freeform: Shape 20">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34" name="Group 33">
            <a:extLst>
              <a:ext uri="{FF2B5EF4-FFF2-40B4-BE49-F238E27FC236}">
                <a16:creationId xmlns:a16="http://schemas.microsoft.com/office/drawing/2014/main" id="{A6354C4B-A321-2406-7D6C-7EB884DDCC2C}"/>
              </a:ext>
            </a:extLst>
          </p:cNvPr>
          <p:cNvGrpSpPr/>
          <p:nvPr/>
        </p:nvGrpSpPr>
        <p:grpSpPr>
          <a:xfrm>
            <a:off x="110703" y="49488"/>
            <a:ext cx="11995595" cy="6441663"/>
            <a:chOff x="110703" y="49488"/>
            <a:chExt cx="11995595" cy="6441663"/>
          </a:xfrm>
        </p:grpSpPr>
        <p:pic>
          <p:nvPicPr>
            <p:cNvPr id="4" name="Picture 2">
              <a:extLst>
                <a:ext uri="{FF2B5EF4-FFF2-40B4-BE49-F238E27FC236}">
                  <a16:creationId xmlns:a16="http://schemas.microsoft.com/office/drawing/2014/main" id="{2144F7E5-A3DE-C3B4-B75A-D4849B684F7A}"/>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3969542" y="1880350"/>
              <a:ext cx="4651538" cy="46061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07928141-054E-BD22-A501-161BE96F1BB2}"/>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3476244" y="5139447"/>
              <a:ext cx="1360344" cy="13470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F21624BD-DEFD-549C-EE49-339704C18611}"/>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2750734" y="3594575"/>
              <a:ext cx="1460214" cy="144597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6B52F817-82BE-23EC-0964-310D34AEBD86}"/>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375396" y="3183805"/>
              <a:ext cx="2354756" cy="233179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5186EF19-31E3-3BF4-4499-6329F183C1FA}"/>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110703" y="1122597"/>
              <a:ext cx="1242102" cy="122998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a:extLst>
                <a:ext uri="{FF2B5EF4-FFF2-40B4-BE49-F238E27FC236}">
                  <a16:creationId xmlns:a16="http://schemas.microsoft.com/office/drawing/2014/main" id="{6FD863E0-829E-4606-63D8-A25D9164B7E4}"/>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1597155" y="49488"/>
              <a:ext cx="1933784" cy="191492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a:extLst>
                <a:ext uri="{FF2B5EF4-FFF2-40B4-BE49-F238E27FC236}">
                  <a16:creationId xmlns:a16="http://schemas.microsoft.com/office/drawing/2014/main" id="{5829CFD8-D81A-7AF1-04D7-E416B33A2F84}"/>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2720896" y="2119790"/>
              <a:ext cx="1205645" cy="119388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a:extLst>
                <a:ext uri="{FF2B5EF4-FFF2-40B4-BE49-F238E27FC236}">
                  <a16:creationId xmlns:a16="http://schemas.microsoft.com/office/drawing/2014/main" id="{81ECEA6B-DD5B-2267-2284-016B8FB1E92A}"/>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4014376" y="1684198"/>
              <a:ext cx="620864" cy="61480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a:extLst>
                <a:ext uri="{FF2B5EF4-FFF2-40B4-BE49-F238E27FC236}">
                  <a16:creationId xmlns:a16="http://schemas.microsoft.com/office/drawing/2014/main" id="{AD4023EC-E81F-6627-D025-83E80B14FF6D}"/>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1330527" y="2120264"/>
              <a:ext cx="873353" cy="86483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a:extLst>
                <a:ext uri="{FF2B5EF4-FFF2-40B4-BE49-F238E27FC236}">
                  <a16:creationId xmlns:a16="http://schemas.microsoft.com/office/drawing/2014/main" id="{01BBE522-8701-2265-A668-C58A02E1D3F2}"/>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8356801" y="1150710"/>
              <a:ext cx="1610592" cy="159488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a:extLst>
                <a:ext uri="{FF2B5EF4-FFF2-40B4-BE49-F238E27FC236}">
                  <a16:creationId xmlns:a16="http://schemas.microsoft.com/office/drawing/2014/main" id="{2EB0F1FA-6FF9-4CC7-65E7-9B21AC2FD761}"/>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9816480" y="169770"/>
              <a:ext cx="1064045" cy="105366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a:extLst>
                <a:ext uri="{FF2B5EF4-FFF2-40B4-BE49-F238E27FC236}">
                  <a16:creationId xmlns:a16="http://schemas.microsoft.com/office/drawing/2014/main" id="{03D8D9A5-BF5A-BEAB-2787-489E3E017558}"/>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9905375" y="2162381"/>
              <a:ext cx="1014697" cy="100480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a:extLst>
                <a:ext uri="{FF2B5EF4-FFF2-40B4-BE49-F238E27FC236}">
                  <a16:creationId xmlns:a16="http://schemas.microsoft.com/office/drawing/2014/main" id="{545F69C3-08C3-C3EA-5D47-B9EFC2AAE785}"/>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8141249" y="3010732"/>
              <a:ext cx="844774" cy="836536"/>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D7383249-1E68-FDB7-B515-0CC7180F0C23}"/>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10135975" y="4540042"/>
              <a:ext cx="1970323" cy="1951109"/>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a:extLst>
                <a:ext uri="{FF2B5EF4-FFF2-40B4-BE49-F238E27FC236}">
                  <a16:creationId xmlns:a16="http://schemas.microsoft.com/office/drawing/2014/main" id="{CA5ADDA8-A3CE-C5BA-ACF9-B4E28EE4E09B}"/>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8240783" y="5124462"/>
              <a:ext cx="1360345" cy="134707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a:extLst>
                <a:ext uri="{FF2B5EF4-FFF2-40B4-BE49-F238E27FC236}">
                  <a16:creationId xmlns:a16="http://schemas.microsoft.com/office/drawing/2014/main" id="{99A36D67-C077-E252-A4BC-0C9842E67BD5}"/>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10763153" y="3010732"/>
              <a:ext cx="1320626" cy="130774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F84C7FEE-0431-655A-E762-902A736117F0}"/>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8950335" y="3479528"/>
              <a:ext cx="1483563" cy="1469094"/>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le 1">
            <a:extLst>
              <a:ext uri="{FF2B5EF4-FFF2-40B4-BE49-F238E27FC236}">
                <a16:creationId xmlns:a16="http://schemas.microsoft.com/office/drawing/2014/main" id="{A493C7D5-9357-0BE6-37B8-E0C51C8AF3CB}"/>
              </a:ext>
            </a:extLst>
          </p:cNvPr>
          <p:cNvSpPr>
            <a:spLocks noGrp="1"/>
          </p:cNvSpPr>
          <p:nvPr>
            <p:ph type="ctrTitle"/>
          </p:nvPr>
        </p:nvSpPr>
        <p:spPr>
          <a:xfrm>
            <a:off x="816797" y="666352"/>
            <a:ext cx="10558405" cy="3044335"/>
          </a:xfrm>
        </p:spPr>
        <p:txBody>
          <a:bodyPr anchor="b">
            <a:normAutofit/>
          </a:bodyPr>
          <a:lstStyle/>
          <a:p>
            <a:r>
              <a:rPr lang="en-US" sz="4800" dirty="0">
                <a:solidFill>
                  <a:schemeClr val="bg1"/>
                </a:solidFill>
              </a:rPr>
              <a:t>UVA Brainhack!</a:t>
            </a:r>
          </a:p>
        </p:txBody>
      </p:sp>
      <p:sp>
        <p:nvSpPr>
          <p:cNvPr id="3" name="Subtitle 2">
            <a:extLst>
              <a:ext uri="{FF2B5EF4-FFF2-40B4-BE49-F238E27FC236}">
                <a16:creationId xmlns:a16="http://schemas.microsoft.com/office/drawing/2014/main" id="{D9BB5031-D951-D78E-CF2A-18BF4B0D5F10}"/>
              </a:ext>
            </a:extLst>
          </p:cNvPr>
          <p:cNvSpPr>
            <a:spLocks noGrp="1"/>
          </p:cNvSpPr>
          <p:nvPr>
            <p:ph type="subTitle" idx="1"/>
          </p:nvPr>
        </p:nvSpPr>
        <p:spPr>
          <a:xfrm>
            <a:off x="789708" y="3866064"/>
            <a:ext cx="10558405" cy="2234485"/>
          </a:xfrm>
        </p:spPr>
        <p:txBody>
          <a:bodyPr anchor="t">
            <a:normAutofit/>
          </a:bodyPr>
          <a:lstStyle/>
          <a:p>
            <a:r>
              <a:rPr lang="en-US" dirty="0">
                <a:solidFill>
                  <a:schemeClr val="bg1"/>
                </a:solidFill>
              </a:rPr>
              <a:t>===== Week 11 =====</a:t>
            </a:r>
          </a:p>
          <a:p>
            <a:r>
              <a:rPr lang="en-US" dirty="0">
                <a:solidFill>
                  <a:schemeClr val="bg1"/>
                </a:solidFill>
              </a:rPr>
              <a:t>8/8/2025</a:t>
            </a:r>
          </a:p>
        </p:txBody>
      </p:sp>
    </p:spTree>
    <p:extLst>
      <p:ext uri="{BB962C8B-B14F-4D97-AF65-F5344CB8AC3E}">
        <p14:creationId xmlns:p14="http://schemas.microsoft.com/office/powerpoint/2010/main" val="292325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lt">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0" nodeType="withEffect">
                                  <p:stCondLst>
                                    <p:cond delay="1000"/>
                                  </p:stCondLst>
                                  <p:iterate type="lt">
                                    <p:tmPct val="15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50"/>
                                        <p:tgtEl>
                                          <p:spTgt spid="3">
                                            <p:txEl>
                                              <p:pRg st="1" end="1"/>
                                            </p:txEl>
                                          </p:spTgt>
                                        </p:tgtEl>
                                      </p:cBhvr>
                                    </p:animEffect>
                                  </p:childTnLst>
                                </p:cTn>
                              </p:par>
                              <p:par>
                                <p:cTn id="14" presetID="34" presetClass="emph" presetSubtype="0" repeatCount="indefinite" fill="hold" grpId="1" nodeType="withEffect">
                                  <p:stCondLst>
                                    <p:cond delay="1000"/>
                                  </p:stCondLst>
                                  <p:iterate type="lt">
                                    <p:tmPct val="25000"/>
                                  </p:iterate>
                                  <p:childTnLst>
                                    <p:animMotion origin="layout" path="M 0 -1.48148E-6 L 0 -0.10347 " pathEditMode="relative" rAng="0" ptsTypes="AA">
                                      <p:cBhvr>
                                        <p:cTn id="15" dur="500" accel="50000" decel="50000" autoRev="1" fill="hold">
                                          <p:stCondLst>
                                            <p:cond delay="0"/>
                                          </p:stCondLst>
                                        </p:cTn>
                                        <p:tgtEl>
                                          <p:spTgt spid="2"/>
                                        </p:tgtEl>
                                        <p:attrNameLst>
                                          <p:attrName>ppt_x</p:attrName>
                                          <p:attrName>ppt_y</p:attrName>
                                        </p:attrNameLst>
                                      </p:cBhvr>
                                      <p:rCtr x="0" y="-5185"/>
                                    </p:animMotion>
                                    <p:animRot by="1500000">
                                      <p:cBhvr>
                                        <p:cTn id="16" dur="250" fill="hold">
                                          <p:stCondLst>
                                            <p:cond delay="0"/>
                                          </p:stCondLst>
                                        </p:cTn>
                                        <p:tgtEl>
                                          <p:spTgt spid="2"/>
                                        </p:tgtEl>
                                        <p:attrNameLst>
                                          <p:attrName>r</p:attrName>
                                        </p:attrNameLst>
                                      </p:cBhvr>
                                    </p:animRot>
                                    <p:animRot by="-1500000">
                                      <p:cBhvr>
                                        <p:cTn id="17" dur="250" fill="hold">
                                          <p:stCondLst>
                                            <p:cond delay="250"/>
                                          </p:stCondLst>
                                        </p:cTn>
                                        <p:tgtEl>
                                          <p:spTgt spid="2"/>
                                        </p:tgtEl>
                                        <p:attrNameLst>
                                          <p:attrName>r</p:attrName>
                                        </p:attrNameLst>
                                      </p:cBhvr>
                                    </p:animRot>
                                    <p:animRot by="-1500000">
                                      <p:cBhvr>
                                        <p:cTn id="18" dur="250" fill="hold">
                                          <p:stCondLst>
                                            <p:cond delay="500"/>
                                          </p:stCondLst>
                                        </p:cTn>
                                        <p:tgtEl>
                                          <p:spTgt spid="2"/>
                                        </p:tgtEl>
                                        <p:attrNameLst>
                                          <p:attrName>r</p:attrName>
                                        </p:attrNameLst>
                                      </p:cBhvr>
                                    </p:animRot>
                                    <p:animRot by="1500000">
                                      <p:cBhvr>
                                        <p:cTn id="19" dur="250" fill="hold">
                                          <p:stCondLst>
                                            <p:cond delay="750"/>
                                          </p:stCondLst>
                                        </p:cTn>
                                        <p:tgtEl>
                                          <p:spTgt spid="2"/>
                                        </p:tgtEl>
                                        <p:attrNameLst>
                                          <p:attrName>r</p:attrName>
                                        </p:attrNameLst>
                                      </p:cBhvr>
                                    </p:animRot>
                                  </p:childTnLst>
                                </p:cTn>
                              </p:par>
                              <p:par>
                                <p:cTn id="20" presetID="34" presetClass="emph" presetSubtype="0" repeatCount="indefinite" fill="hold" grpId="1" nodeType="withEffect">
                                  <p:stCondLst>
                                    <p:cond delay="4700"/>
                                  </p:stCondLst>
                                  <p:iterate type="lt">
                                    <p:tmPct val="25000"/>
                                  </p:iterate>
                                  <p:childTnLst>
                                    <p:animMotion origin="layout" path="M -4.16667E-7 -2.96296E-6 L -0.00026 -0.05324 " pathEditMode="relative" rAng="0" ptsTypes="AA">
                                      <p:cBhvr>
                                        <p:cTn id="21" dur="1000" accel="50000" decel="50000" autoRev="1" fill="hold">
                                          <p:stCondLst>
                                            <p:cond delay="0"/>
                                          </p:stCondLst>
                                        </p:cTn>
                                        <p:tgtEl>
                                          <p:spTgt spid="3">
                                            <p:txEl>
                                              <p:pRg st="0" end="0"/>
                                            </p:txEl>
                                          </p:spTgt>
                                        </p:tgtEl>
                                        <p:attrNameLst>
                                          <p:attrName>ppt_x</p:attrName>
                                          <p:attrName>ppt_y</p:attrName>
                                        </p:attrNameLst>
                                      </p:cBhvr>
                                      <p:rCtr x="-13" y="-2662"/>
                                    </p:animMotion>
                                    <p:animRot by="1500000">
                                      <p:cBhvr>
                                        <p:cTn id="22" dur="500" fill="hold">
                                          <p:stCondLst>
                                            <p:cond delay="0"/>
                                          </p:stCondLst>
                                        </p:cTn>
                                        <p:tgtEl>
                                          <p:spTgt spid="3">
                                            <p:txEl>
                                              <p:pRg st="0" end="0"/>
                                            </p:txEl>
                                          </p:spTgt>
                                        </p:tgtEl>
                                        <p:attrNameLst>
                                          <p:attrName>r</p:attrName>
                                        </p:attrNameLst>
                                      </p:cBhvr>
                                    </p:animRot>
                                    <p:animRot by="-1500000">
                                      <p:cBhvr>
                                        <p:cTn id="23" dur="500" fill="hold">
                                          <p:stCondLst>
                                            <p:cond delay="500"/>
                                          </p:stCondLst>
                                        </p:cTn>
                                        <p:tgtEl>
                                          <p:spTgt spid="3">
                                            <p:txEl>
                                              <p:pRg st="0" end="0"/>
                                            </p:txEl>
                                          </p:spTgt>
                                        </p:tgtEl>
                                        <p:attrNameLst>
                                          <p:attrName>r</p:attrName>
                                        </p:attrNameLst>
                                      </p:cBhvr>
                                    </p:animRot>
                                    <p:animRot by="-1500000">
                                      <p:cBhvr>
                                        <p:cTn id="24" dur="500" fill="hold">
                                          <p:stCondLst>
                                            <p:cond delay="1000"/>
                                          </p:stCondLst>
                                        </p:cTn>
                                        <p:tgtEl>
                                          <p:spTgt spid="3">
                                            <p:txEl>
                                              <p:pRg st="0" end="0"/>
                                            </p:txEl>
                                          </p:spTgt>
                                        </p:tgtEl>
                                        <p:attrNameLst>
                                          <p:attrName>r</p:attrName>
                                        </p:attrNameLst>
                                      </p:cBhvr>
                                    </p:animRot>
                                    <p:animRot by="1500000">
                                      <p:cBhvr>
                                        <p:cTn id="25" dur="500" fill="hold">
                                          <p:stCondLst>
                                            <p:cond delay="1500"/>
                                          </p:stCondLst>
                                        </p:cTn>
                                        <p:tgtEl>
                                          <p:spTgt spid="3">
                                            <p:txEl>
                                              <p:pRg st="0" end="0"/>
                                            </p:txEl>
                                          </p:spTgt>
                                        </p:tgtEl>
                                        <p:attrNameLst>
                                          <p:attrName>r</p:attrName>
                                        </p:attrNameLst>
                                      </p:cBhvr>
                                    </p:animRot>
                                  </p:childTnLst>
                                </p:cTn>
                              </p:par>
                              <p:par>
                                <p:cTn id="26" presetID="34" presetClass="emph" presetSubtype="0" repeatCount="indefinite" fill="hold" nodeType="withEffect">
                                  <p:stCondLst>
                                    <p:cond delay="12500"/>
                                  </p:stCondLst>
                                  <p:iterate type="lt">
                                    <p:tmPct val="25000"/>
                                  </p:iterate>
                                  <p:childTnLst>
                                    <p:animMotion origin="layout" path="M -2.08333E-7 -3.7037E-7 L -0.00013 -0.01343 " pathEditMode="relative" rAng="0" ptsTypes="AA">
                                      <p:cBhvr>
                                        <p:cTn id="27" dur="1500" accel="50000" decel="50000" autoRev="1" fill="hold">
                                          <p:stCondLst>
                                            <p:cond delay="0"/>
                                          </p:stCondLst>
                                        </p:cTn>
                                        <p:tgtEl>
                                          <p:spTgt spid="3">
                                            <p:txEl>
                                              <p:pRg st="1" end="1"/>
                                            </p:txEl>
                                          </p:spTgt>
                                        </p:tgtEl>
                                        <p:attrNameLst>
                                          <p:attrName>ppt_x</p:attrName>
                                          <p:attrName>ppt_y</p:attrName>
                                        </p:attrNameLst>
                                      </p:cBhvr>
                                      <p:rCtr x="-13" y="-671"/>
                                    </p:animMotion>
                                    <p:animRot by="1500000">
                                      <p:cBhvr>
                                        <p:cTn id="28" dur="750" fill="hold">
                                          <p:stCondLst>
                                            <p:cond delay="0"/>
                                          </p:stCondLst>
                                        </p:cTn>
                                        <p:tgtEl>
                                          <p:spTgt spid="3">
                                            <p:txEl>
                                              <p:pRg st="1" end="1"/>
                                            </p:txEl>
                                          </p:spTgt>
                                        </p:tgtEl>
                                        <p:attrNameLst>
                                          <p:attrName>r</p:attrName>
                                        </p:attrNameLst>
                                      </p:cBhvr>
                                    </p:animRot>
                                    <p:animRot by="-1500000">
                                      <p:cBhvr>
                                        <p:cTn id="29" dur="750" fill="hold">
                                          <p:stCondLst>
                                            <p:cond delay="750"/>
                                          </p:stCondLst>
                                        </p:cTn>
                                        <p:tgtEl>
                                          <p:spTgt spid="3">
                                            <p:txEl>
                                              <p:pRg st="1" end="1"/>
                                            </p:txEl>
                                          </p:spTgt>
                                        </p:tgtEl>
                                        <p:attrNameLst>
                                          <p:attrName>r</p:attrName>
                                        </p:attrNameLst>
                                      </p:cBhvr>
                                    </p:animRot>
                                    <p:animRot by="-1500000">
                                      <p:cBhvr>
                                        <p:cTn id="30" dur="750" fill="hold">
                                          <p:stCondLst>
                                            <p:cond delay="1500"/>
                                          </p:stCondLst>
                                        </p:cTn>
                                        <p:tgtEl>
                                          <p:spTgt spid="3">
                                            <p:txEl>
                                              <p:pRg st="1" end="1"/>
                                            </p:txEl>
                                          </p:spTgt>
                                        </p:tgtEl>
                                        <p:attrNameLst>
                                          <p:attrName>r</p:attrName>
                                        </p:attrNameLst>
                                      </p:cBhvr>
                                    </p:animRot>
                                    <p:animRot by="1500000">
                                      <p:cBhvr>
                                        <p:cTn id="31" dur="750" fill="hold">
                                          <p:stCondLst>
                                            <p:cond delay="2250"/>
                                          </p:stCondLst>
                                        </p:cTn>
                                        <p:tgtEl>
                                          <p:spTgt spid="3">
                                            <p:txEl>
                                              <p:pRg st="1" end="1"/>
                                            </p:txEl>
                                          </p:spTgt>
                                        </p:tgtEl>
                                        <p:attrNameLst>
                                          <p:attrName>r</p:attrName>
                                        </p:attrNameLst>
                                      </p:cBhvr>
                                    </p:animRot>
                                  </p:childTnLst>
                                </p:cTn>
                              </p:par>
                              <p:par>
                                <p:cTn id="32" presetID="10" presetClass="entr" presetSubtype="0" fill="hold"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20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uiExpand="1" build="p"/>
      <p:bldP spid="3" grpId="1"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58B9B6-F811-B299-F5B1-F469CB6E3CE8}"/>
              </a:ext>
            </a:extLst>
          </p:cNvPr>
          <p:cNvSpPr>
            <a:spLocks noGrp="1"/>
          </p:cNvSpPr>
          <p:nvPr>
            <p:ph type="title"/>
          </p:nvPr>
        </p:nvSpPr>
        <p:spPr>
          <a:xfrm>
            <a:off x="838200" y="556995"/>
            <a:ext cx="10515600" cy="1133693"/>
          </a:xfrm>
        </p:spPr>
        <p:txBody>
          <a:bodyPr>
            <a:normAutofit/>
          </a:bodyPr>
          <a:lstStyle/>
          <a:p>
            <a:r>
              <a:rPr lang="en-US" sz="5200" b="1"/>
              <a:t>Agenda</a:t>
            </a:r>
          </a:p>
        </p:txBody>
      </p:sp>
      <p:grpSp>
        <p:nvGrpSpPr>
          <p:cNvPr id="18" name="Group 17">
            <a:extLst>
              <a:ext uri="{FF2B5EF4-FFF2-40B4-BE49-F238E27FC236}">
                <a16:creationId xmlns:a16="http://schemas.microsoft.com/office/drawing/2014/main" id="{4A03BC01-DDFC-2D25-A5E3-E6EBCA972D6A}"/>
              </a:ext>
            </a:extLst>
          </p:cNvPr>
          <p:cNvGrpSpPr/>
          <p:nvPr/>
        </p:nvGrpSpPr>
        <p:grpSpPr>
          <a:xfrm>
            <a:off x="836675" y="1912761"/>
            <a:ext cx="10515600" cy="474974"/>
            <a:chOff x="0" y="37268"/>
            <a:chExt cx="10515600" cy="982800"/>
          </a:xfrm>
        </p:grpSpPr>
        <p:sp>
          <p:nvSpPr>
            <p:cNvPr id="19" name="Rectangle: Rounded Corners 18">
              <a:extLst>
                <a:ext uri="{FF2B5EF4-FFF2-40B4-BE49-F238E27FC236}">
                  <a16:creationId xmlns:a16="http://schemas.microsoft.com/office/drawing/2014/main" id="{604F23B0-C585-A519-43C0-BA23017149CF}"/>
                </a:ext>
              </a:extLst>
            </p:cNvPr>
            <p:cNvSpPr/>
            <p:nvPr/>
          </p:nvSpPr>
          <p:spPr>
            <a:xfrm>
              <a:off x="0" y="37268"/>
              <a:ext cx="10515600" cy="982800"/>
            </a:xfrm>
            <a:prstGeom prst="roundRect">
              <a:avLst/>
            </a:prstGeom>
            <a:gradFill>
              <a:gsLst>
                <a:gs pos="0">
                  <a:schemeClr val="accent5">
                    <a:lumMod val="60000"/>
                    <a:lumOff val="40000"/>
                  </a:schemeClr>
                </a:gs>
                <a:gs pos="50000">
                  <a:schemeClr val="accent5">
                    <a:lumMod val="60000"/>
                    <a:lumOff val="40000"/>
                  </a:schemeClr>
                </a:gs>
                <a:gs pos="100000">
                  <a:schemeClr val="accent5">
                    <a:lumMod val="40000"/>
                    <a:lumOff val="60000"/>
                  </a:schemeClr>
                </a:gs>
              </a:gsLst>
            </a:gra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a:lstStyle/>
            <a:p>
              <a:endParaRPr lang="en-US" dirty="0"/>
            </a:p>
          </p:txBody>
        </p:sp>
        <p:sp>
          <p:nvSpPr>
            <p:cNvPr id="20" name="Rectangle: Rounded Corners 4">
              <a:extLst>
                <a:ext uri="{FF2B5EF4-FFF2-40B4-BE49-F238E27FC236}">
                  <a16:creationId xmlns:a16="http://schemas.microsoft.com/office/drawing/2014/main" id="{ED0174B2-9756-D3B9-233E-37EEC5B02B09}"/>
                </a:ext>
              </a:extLst>
            </p:cNvPr>
            <p:cNvSpPr txBox="1"/>
            <p:nvPr/>
          </p:nvSpPr>
          <p:spPr>
            <a:xfrm>
              <a:off x="47976" y="85244"/>
              <a:ext cx="9231806" cy="88684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lvl="0" defTabSz="1778000">
                <a:lnSpc>
                  <a:spcPct val="90000"/>
                </a:lnSpc>
                <a:spcBef>
                  <a:spcPct val="0"/>
                </a:spcBef>
                <a:spcAft>
                  <a:spcPct val="35000"/>
                </a:spcAft>
              </a:pPr>
              <a:r>
                <a:rPr lang="en-US" sz="4000" dirty="0">
                  <a:solidFill>
                    <a:schemeClr val="tx1"/>
                  </a:solidFill>
                </a:rPr>
                <a:t>Basics of </a:t>
              </a:r>
              <a:r>
                <a:rPr lang="en-US" sz="4000" dirty="0" err="1">
                  <a:solidFill>
                    <a:schemeClr val="tx1"/>
                  </a:solidFill>
                </a:rPr>
                <a:t>dMRI</a:t>
              </a:r>
              <a:endParaRPr lang="en-US" sz="4000" dirty="0">
                <a:solidFill>
                  <a:schemeClr val="tx1"/>
                </a:solidFill>
              </a:endParaRPr>
            </a:p>
          </p:txBody>
        </p:sp>
      </p:grpSp>
      <p:grpSp>
        <p:nvGrpSpPr>
          <p:cNvPr id="21" name="Group 20">
            <a:extLst>
              <a:ext uri="{FF2B5EF4-FFF2-40B4-BE49-F238E27FC236}">
                <a16:creationId xmlns:a16="http://schemas.microsoft.com/office/drawing/2014/main" id="{6987EE89-A3FC-B9BB-5F2E-C5CD4B0EDA86}"/>
              </a:ext>
            </a:extLst>
          </p:cNvPr>
          <p:cNvGrpSpPr/>
          <p:nvPr/>
        </p:nvGrpSpPr>
        <p:grpSpPr>
          <a:xfrm>
            <a:off x="836673" y="3365962"/>
            <a:ext cx="10508423" cy="474973"/>
            <a:chOff x="0" y="1135269"/>
            <a:chExt cx="10515600" cy="982800"/>
          </a:xfrm>
        </p:grpSpPr>
        <p:sp>
          <p:nvSpPr>
            <p:cNvPr id="23" name="Rectangle: Rounded Corners 22">
              <a:extLst>
                <a:ext uri="{FF2B5EF4-FFF2-40B4-BE49-F238E27FC236}">
                  <a16:creationId xmlns:a16="http://schemas.microsoft.com/office/drawing/2014/main" id="{A93C4F3F-4D7B-07A8-4DAA-9093A449A4EE}"/>
                </a:ext>
              </a:extLst>
            </p:cNvPr>
            <p:cNvSpPr/>
            <p:nvPr/>
          </p:nvSpPr>
          <p:spPr>
            <a:xfrm>
              <a:off x="0" y="1135269"/>
              <a:ext cx="10515600" cy="982800"/>
            </a:xfrm>
            <a:prstGeom prst="roundRect">
              <a:avLst/>
            </a:prstGeom>
            <a:gradFill>
              <a:gsLst>
                <a:gs pos="0">
                  <a:srgbClr val="FFFF00"/>
                </a:gs>
                <a:gs pos="50000">
                  <a:srgbClr val="FFFF00"/>
                </a:gs>
                <a:gs pos="100000">
                  <a:srgbClr val="FFFF99"/>
                </a:gs>
              </a:gsLst>
            </a:gra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a:lstStyle/>
            <a:p>
              <a:endParaRPr lang="en-US" dirty="0"/>
            </a:p>
          </p:txBody>
        </p:sp>
        <p:sp>
          <p:nvSpPr>
            <p:cNvPr id="24" name="Rectangle: Rounded Corners 4">
              <a:extLst>
                <a:ext uri="{FF2B5EF4-FFF2-40B4-BE49-F238E27FC236}">
                  <a16:creationId xmlns:a16="http://schemas.microsoft.com/office/drawing/2014/main" id="{FF8190A1-87C8-CBC4-89A4-CF9B904C3F32}"/>
                </a:ext>
              </a:extLst>
            </p:cNvPr>
            <p:cNvSpPr txBox="1"/>
            <p:nvPr/>
          </p:nvSpPr>
          <p:spPr>
            <a:xfrm>
              <a:off x="47976" y="1183245"/>
              <a:ext cx="9449520" cy="88684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err="1">
                  <a:solidFill>
                    <a:schemeClr val="tx1"/>
                  </a:solidFill>
                </a:rPr>
                <a:t>Preproc</a:t>
              </a:r>
              <a:endParaRPr lang="en-US" sz="4000" kern="1200" dirty="0">
                <a:solidFill>
                  <a:schemeClr val="tx1"/>
                </a:solidFill>
              </a:endParaRPr>
            </a:p>
          </p:txBody>
        </p:sp>
      </p:grpSp>
      <p:grpSp>
        <p:nvGrpSpPr>
          <p:cNvPr id="30" name="Group 29">
            <a:extLst>
              <a:ext uri="{FF2B5EF4-FFF2-40B4-BE49-F238E27FC236}">
                <a16:creationId xmlns:a16="http://schemas.microsoft.com/office/drawing/2014/main" id="{C448856C-684D-0FB0-625F-312F4859B0B5}"/>
              </a:ext>
            </a:extLst>
          </p:cNvPr>
          <p:cNvGrpSpPr/>
          <p:nvPr/>
        </p:nvGrpSpPr>
        <p:grpSpPr>
          <a:xfrm>
            <a:off x="836675" y="4749861"/>
            <a:ext cx="10515600" cy="1231129"/>
            <a:chOff x="0" y="3368538"/>
            <a:chExt cx="10515600" cy="982800"/>
          </a:xfrm>
        </p:grpSpPr>
        <p:sp>
          <p:nvSpPr>
            <p:cNvPr id="34" name="Rectangle: Rounded Corners 33">
              <a:extLst>
                <a:ext uri="{FF2B5EF4-FFF2-40B4-BE49-F238E27FC236}">
                  <a16:creationId xmlns:a16="http://schemas.microsoft.com/office/drawing/2014/main" id="{633A8BE7-5A45-01F1-2CC7-D9D0D28E1F4B}"/>
                </a:ext>
              </a:extLst>
            </p:cNvPr>
            <p:cNvSpPr/>
            <p:nvPr/>
          </p:nvSpPr>
          <p:spPr>
            <a:xfrm>
              <a:off x="0" y="3368538"/>
              <a:ext cx="10515600" cy="982800"/>
            </a:xfrm>
            <a:prstGeom prst="roundRect">
              <a:avLst/>
            </a:prstGeom>
            <a:gradFill>
              <a:gsLst>
                <a:gs pos="0">
                  <a:srgbClr val="FF5050"/>
                </a:gs>
                <a:gs pos="50000">
                  <a:srgbClr val="CC0000"/>
                </a:gs>
                <a:gs pos="100000">
                  <a:srgbClr val="CC0000"/>
                </a:gs>
              </a:gsLst>
            </a:gra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a:lstStyle/>
            <a:p>
              <a:endParaRPr lang="en-US" dirty="0"/>
            </a:p>
          </p:txBody>
        </p:sp>
        <p:sp>
          <p:nvSpPr>
            <p:cNvPr id="36" name="Rectangle: Rounded Corners 4">
              <a:extLst>
                <a:ext uri="{FF2B5EF4-FFF2-40B4-BE49-F238E27FC236}">
                  <a16:creationId xmlns:a16="http://schemas.microsoft.com/office/drawing/2014/main" id="{D93FAA92-EDBB-B28B-34A5-2392107F2AEC}"/>
                </a:ext>
              </a:extLst>
            </p:cNvPr>
            <p:cNvSpPr txBox="1"/>
            <p:nvPr/>
          </p:nvSpPr>
          <p:spPr>
            <a:xfrm>
              <a:off x="47976" y="3416514"/>
              <a:ext cx="9696263" cy="88684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solidFill>
                    <a:schemeClr val="tx1"/>
                  </a:solidFill>
                </a:rPr>
                <a:t>Hacking</a:t>
              </a:r>
            </a:p>
          </p:txBody>
        </p:sp>
      </p:grpSp>
      <p:grpSp>
        <p:nvGrpSpPr>
          <p:cNvPr id="4" name="Group 3">
            <a:extLst>
              <a:ext uri="{FF2B5EF4-FFF2-40B4-BE49-F238E27FC236}">
                <a16:creationId xmlns:a16="http://schemas.microsoft.com/office/drawing/2014/main" id="{0742DAE9-D134-CBFA-07A7-91F2E303CD4F}"/>
              </a:ext>
            </a:extLst>
          </p:cNvPr>
          <p:cNvGrpSpPr/>
          <p:nvPr/>
        </p:nvGrpSpPr>
        <p:grpSpPr>
          <a:xfrm>
            <a:off x="836674" y="2636814"/>
            <a:ext cx="10508421" cy="484446"/>
            <a:chOff x="0" y="37268"/>
            <a:chExt cx="10515600" cy="1002400"/>
          </a:xfrm>
        </p:grpSpPr>
        <p:sp>
          <p:nvSpPr>
            <p:cNvPr id="5" name="Rectangle: Rounded Corners 4">
              <a:extLst>
                <a:ext uri="{FF2B5EF4-FFF2-40B4-BE49-F238E27FC236}">
                  <a16:creationId xmlns:a16="http://schemas.microsoft.com/office/drawing/2014/main" id="{2167C5D2-0F4A-D223-52B6-13DC35CA4116}"/>
                </a:ext>
              </a:extLst>
            </p:cNvPr>
            <p:cNvSpPr/>
            <p:nvPr/>
          </p:nvSpPr>
          <p:spPr>
            <a:xfrm>
              <a:off x="0" y="37268"/>
              <a:ext cx="10515600" cy="982800"/>
            </a:xfrm>
            <a:prstGeom prst="roundRect">
              <a:avLst/>
            </a:prstGeom>
            <a:gradFill>
              <a:gsLst>
                <a:gs pos="0">
                  <a:schemeClr val="tx2">
                    <a:lumMod val="50000"/>
                    <a:lumOff val="50000"/>
                  </a:schemeClr>
                </a:gs>
                <a:gs pos="50000">
                  <a:schemeClr val="tx2">
                    <a:lumMod val="50000"/>
                    <a:lumOff val="50000"/>
                  </a:schemeClr>
                </a:gs>
                <a:gs pos="100000">
                  <a:schemeClr val="tx2">
                    <a:lumMod val="25000"/>
                    <a:lumOff val="75000"/>
                  </a:schemeClr>
                </a:gs>
              </a:gsLst>
            </a:gra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a:lstStyle/>
            <a:p>
              <a:endParaRPr lang="en-US" dirty="0"/>
            </a:p>
          </p:txBody>
        </p:sp>
        <p:sp>
          <p:nvSpPr>
            <p:cNvPr id="6" name="Rectangle: Rounded Corners 4">
              <a:extLst>
                <a:ext uri="{FF2B5EF4-FFF2-40B4-BE49-F238E27FC236}">
                  <a16:creationId xmlns:a16="http://schemas.microsoft.com/office/drawing/2014/main" id="{96782766-A12B-8DF2-D986-3641AF85E895}"/>
                </a:ext>
              </a:extLst>
            </p:cNvPr>
            <p:cNvSpPr txBox="1"/>
            <p:nvPr/>
          </p:nvSpPr>
          <p:spPr>
            <a:xfrm>
              <a:off x="54317" y="152819"/>
              <a:ext cx="9231806" cy="88684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defTabSz="1778000">
                <a:lnSpc>
                  <a:spcPct val="90000"/>
                </a:lnSpc>
                <a:spcBef>
                  <a:spcPct val="0"/>
                </a:spcBef>
                <a:spcAft>
                  <a:spcPct val="35000"/>
                </a:spcAft>
              </a:pPr>
              <a:r>
                <a:rPr lang="en-US" sz="4000" dirty="0">
                  <a:solidFill>
                    <a:schemeClr val="tx1"/>
                  </a:solidFill>
                </a:rPr>
                <a:t>DTI &amp; CSD</a:t>
              </a:r>
            </a:p>
          </p:txBody>
        </p:sp>
      </p:grpSp>
      <p:grpSp>
        <p:nvGrpSpPr>
          <p:cNvPr id="7" name="Group 6">
            <a:extLst>
              <a:ext uri="{FF2B5EF4-FFF2-40B4-BE49-F238E27FC236}">
                <a16:creationId xmlns:a16="http://schemas.microsoft.com/office/drawing/2014/main" id="{16295ED6-1917-55E6-AEDF-E8EEE16F1039}"/>
              </a:ext>
            </a:extLst>
          </p:cNvPr>
          <p:cNvGrpSpPr/>
          <p:nvPr/>
        </p:nvGrpSpPr>
        <p:grpSpPr>
          <a:xfrm>
            <a:off x="836675" y="4057911"/>
            <a:ext cx="10470674" cy="474974"/>
            <a:chOff x="0" y="37268"/>
            <a:chExt cx="10515600" cy="982800"/>
          </a:xfrm>
        </p:grpSpPr>
        <p:sp>
          <p:nvSpPr>
            <p:cNvPr id="8" name="Rectangle: Rounded Corners 7">
              <a:extLst>
                <a:ext uri="{FF2B5EF4-FFF2-40B4-BE49-F238E27FC236}">
                  <a16:creationId xmlns:a16="http://schemas.microsoft.com/office/drawing/2014/main" id="{5D9160BB-2012-9C31-4211-8AA4BB461591}"/>
                </a:ext>
              </a:extLst>
            </p:cNvPr>
            <p:cNvSpPr/>
            <p:nvPr/>
          </p:nvSpPr>
          <p:spPr>
            <a:xfrm>
              <a:off x="0" y="37268"/>
              <a:ext cx="10515600" cy="982800"/>
            </a:xfrm>
            <a:prstGeom prst="roundRect">
              <a:avLst/>
            </a:prstGeom>
            <a:gradFill>
              <a:gsLst>
                <a:gs pos="0">
                  <a:schemeClr val="accent6">
                    <a:lumMod val="60000"/>
                    <a:lumOff val="40000"/>
                  </a:schemeClr>
                </a:gs>
                <a:gs pos="50000">
                  <a:schemeClr val="accent6">
                    <a:lumMod val="60000"/>
                    <a:lumOff val="40000"/>
                  </a:schemeClr>
                </a:gs>
                <a:gs pos="100000">
                  <a:schemeClr val="accent6">
                    <a:lumMod val="40000"/>
                    <a:lumOff val="60000"/>
                  </a:schemeClr>
                </a:gs>
              </a:gsLst>
            </a:gra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a:lstStyle/>
            <a:p>
              <a:endParaRPr lang="en-US" dirty="0"/>
            </a:p>
          </p:txBody>
        </p:sp>
        <p:sp>
          <p:nvSpPr>
            <p:cNvPr id="9" name="Rectangle: Rounded Corners 4">
              <a:extLst>
                <a:ext uri="{FF2B5EF4-FFF2-40B4-BE49-F238E27FC236}">
                  <a16:creationId xmlns:a16="http://schemas.microsoft.com/office/drawing/2014/main" id="{5A6574FE-5D20-C1C6-5204-9E6BC1C47C13}"/>
                </a:ext>
              </a:extLst>
            </p:cNvPr>
            <p:cNvSpPr txBox="1"/>
            <p:nvPr/>
          </p:nvSpPr>
          <p:spPr>
            <a:xfrm>
              <a:off x="47976" y="85244"/>
              <a:ext cx="9231806" cy="88684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err="1">
                  <a:solidFill>
                    <a:schemeClr val="tx1"/>
                  </a:solidFill>
                </a:rPr>
                <a:t>DiPy</a:t>
              </a:r>
              <a:endParaRPr lang="en-US" sz="4000" kern="1200" dirty="0">
                <a:solidFill>
                  <a:schemeClr val="tx1"/>
                </a:solidFill>
              </a:endParaRPr>
            </a:p>
          </p:txBody>
        </p:sp>
      </p:grpSp>
    </p:spTree>
    <p:extLst>
      <p:ext uri="{BB962C8B-B14F-4D97-AF65-F5344CB8AC3E}">
        <p14:creationId xmlns:p14="http://schemas.microsoft.com/office/powerpoint/2010/main" val="228715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 calcmode="lin" valueType="num">
                                      <p:cBhvr additive="base">
                                        <p:cTn id="27" dur="250" fill="hold"/>
                                        <p:tgtEl>
                                          <p:spTgt spid="30"/>
                                        </p:tgtEl>
                                        <p:attrNameLst>
                                          <p:attrName>ppt_x</p:attrName>
                                        </p:attrNameLst>
                                      </p:cBhvr>
                                      <p:tavLst>
                                        <p:tav tm="0">
                                          <p:val>
                                            <p:strVal val="#ppt_x"/>
                                          </p:val>
                                        </p:tav>
                                        <p:tav tm="100000">
                                          <p:val>
                                            <p:strVal val="#ppt_x"/>
                                          </p:val>
                                        </p:tav>
                                      </p:tavLst>
                                    </p:anim>
                                    <p:anim calcmode="lin" valueType="num">
                                      <p:cBhvr additive="base">
                                        <p:cTn id="28" dur="250" fill="hold"/>
                                        <p:tgtEl>
                                          <p:spTgt spid="30"/>
                                        </p:tgtEl>
                                        <p:attrNameLst>
                                          <p:attrName>ppt_y</p:attrName>
                                        </p:attrNameLst>
                                      </p:cBhvr>
                                      <p:tavLst>
                                        <p:tav tm="0">
                                          <p:val>
                                            <p:strVal val="1+#ppt_h/2"/>
                                          </p:val>
                                        </p:tav>
                                        <p:tav tm="100000">
                                          <p:val>
                                            <p:strVal val="#ppt_y"/>
                                          </p:val>
                                        </p:tav>
                                      </p:tavLst>
                                    </p:anim>
                                  </p:childTnLst>
                                </p:cTn>
                              </p:par>
                            </p:childTnLst>
                          </p:cTn>
                        </p:par>
                        <p:par>
                          <p:cTn id="29" fill="hold">
                            <p:stCondLst>
                              <p:cond delay="250"/>
                            </p:stCondLst>
                            <p:childTnLst>
                              <p:par>
                                <p:cTn id="30" presetID="32" presetClass="emph" presetSubtype="0" fill="hold" nodeType="afterEffect">
                                  <p:stCondLst>
                                    <p:cond delay="0"/>
                                  </p:stCondLst>
                                  <p:childTnLst>
                                    <p:animRot by="120000">
                                      <p:cBhvr>
                                        <p:cTn id="31" dur="75" fill="hold">
                                          <p:stCondLst>
                                            <p:cond delay="0"/>
                                          </p:stCondLst>
                                        </p:cTn>
                                        <p:tgtEl>
                                          <p:spTgt spid="30"/>
                                        </p:tgtEl>
                                        <p:attrNameLst>
                                          <p:attrName>r</p:attrName>
                                        </p:attrNameLst>
                                      </p:cBhvr>
                                    </p:animRot>
                                    <p:animRot by="-240000">
                                      <p:cBhvr>
                                        <p:cTn id="32" dur="150" fill="hold">
                                          <p:stCondLst>
                                            <p:cond delay="150"/>
                                          </p:stCondLst>
                                        </p:cTn>
                                        <p:tgtEl>
                                          <p:spTgt spid="30"/>
                                        </p:tgtEl>
                                        <p:attrNameLst>
                                          <p:attrName>r</p:attrName>
                                        </p:attrNameLst>
                                      </p:cBhvr>
                                    </p:animRot>
                                    <p:animRot by="240000">
                                      <p:cBhvr>
                                        <p:cTn id="33" dur="150" fill="hold">
                                          <p:stCondLst>
                                            <p:cond delay="300"/>
                                          </p:stCondLst>
                                        </p:cTn>
                                        <p:tgtEl>
                                          <p:spTgt spid="30"/>
                                        </p:tgtEl>
                                        <p:attrNameLst>
                                          <p:attrName>r</p:attrName>
                                        </p:attrNameLst>
                                      </p:cBhvr>
                                    </p:animRot>
                                    <p:animRot by="-240000">
                                      <p:cBhvr>
                                        <p:cTn id="34" dur="150" fill="hold">
                                          <p:stCondLst>
                                            <p:cond delay="450"/>
                                          </p:stCondLst>
                                        </p:cTn>
                                        <p:tgtEl>
                                          <p:spTgt spid="30"/>
                                        </p:tgtEl>
                                        <p:attrNameLst>
                                          <p:attrName>r</p:attrName>
                                        </p:attrNameLst>
                                      </p:cBhvr>
                                    </p:animRot>
                                    <p:animRot by="120000">
                                      <p:cBhvr>
                                        <p:cTn id="35" dur="150" fill="hold">
                                          <p:stCondLst>
                                            <p:cond delay="600"/>
                                          </p:stCondLst>
                                        </p:cTn>
                                        <p:tgtEl>
                                          <p:spTgt spid="3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98DB1-7FF4-C950-C785-2B890956718E}"/>
              </a:ext>
            </a:extLst>
          </p:cNvPr>
          <p:cNvSpPr>
            <a:spLocks noGrp="1"/>
          </p:cNvSpPr>
          <p:nvPr>
            <p:ph type="title"/>
          </p:nvPr>
        </p:nvSpPr>
        <p:spPr/>
        <p:txBody>
          <a:bodyPr/>
          <a:lstStyle/>
          <a:p>
            <a:r>
              <a:rPr lang="en-US" dirty="0"/>
              <a:t>Diffusion-weighted MRI (</a:t>
            </a:r>
            <a:r>
              <a:rPr lang="en-US" dirty="0" err="1"/>
              <a:t>dMRI</a:t>
            </a:r>
            <a:r>
              <a:rPr lang="en-US" dirty="0"/>
              <a:t>)</a:t>
            </a:r>
          </a:p>
        </p:txBody>
      </p:sp>
      <p:sp>
        <p:nvSpPr>
          <p:cNvPr id="3" name="Content Placeholder 2">
            <a:extLst>
              <a:ext uri="{FF2B5EF4-FFF2-40B4-BE49-F238E27FC236}">
                <a16:creationId xmlns:a16="http://schemas.microsoft.com/office/drawing/2014/main" id="{8A0DCB24-B08D-E142-8762-1CB429D02001}"/>
              </a:ext>
            </a:extLst>
          </p:cNvPr>
          <p:cNvSpPr>
            <a:spLocks noGrp="1"/>
          </p:cNvSpPr>
          <p:nvPr>
            <p:ph idx="1"/>
          </p:nvPr>
        </p:nvSpPr>
        <p:spPr/>
        <p:txBody>
          <a:bodyPr/>
          <a:lstStyle/>
          <a:p>
            <a:r>
              <a:rPr lang="en-US" dirty="0"/>
              <a:t>Where is water diffusing? Where H2O go?</a:t>
            </a:r>
          </a:p>
          <a:p>
            <a:r>
              <a:rPr lang="en-US" dirty="0"/>
              <a:t>Two major paradigms:</a:t>
            </a:r>
          </a:p>
          <a:p>
            <a:pPr lvl="1"/>
            <a:r>
              <a:rPr lang="en-US" dirty="0"/>
              <a:t>Diffusion Tensor Imaging (DTI)</a:t>
            </a:r>
          </a:p>
          <a:p>
            <a:pPr lvl="1"/>
            <a:r>
              <a:rPr lang="en-US" dirty="0"/>
              <a:t>Constrained Spherical Deconvolution (CSD)</a:t>
            </a:r>
          </a:p>
        </p:txBody>
      </p:sp>
      <p:pic>
        <p:nvPicPr>
          <p:cNvPr id="2050" name="Picture 2" descr="DTI - Questions and Answers ​in MRI">
            <a:extLst>
              <a:ext uri="{FF2B5EF4-FFF2-40B4-BE49-F238E27FC236}">
                <a16:creationId xmlns:a16="http://schemas.microsoft.com/office/drawing/2014/main" id="{64A66A0F-8CC1-D064-D631-835EF17AE8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700" y="4001294"/>
            <a:ext cx="2857500" cy="24765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onstrained spherical deconvolution-based (CSD) tractography">
            <a:extLst>
              <a:ext uri="{FF2B5EF4-FFF2-40B4-BE49-F238E27FC236}">
                <a16:creationId xmlns:a16="http://schemas.microsoft.com/office/drawing/2014/main" id="{2062C234-DA9F-DAF3-8B09-7687C4BE75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2925" y="4320778"/>
            <a:ext cx="5656150" cy="1837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823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9B253-4729-DF53-5CC0-40C67BE31CA1}"/>
              </a:ext>
            </a:extLst>
          </p:cNvPr>
          <p:cNvSpPr>
            <a:spLocks noGrp="1"/>
          </p:cNvSpPr>
          <p:nvPr>
            <p:ph type="title"/>
          </p:nvPr>
        </p:nvSpPr>
        <p:spPr/>
        <p:txBody>
          <a:bodyPr/>
          <a:lstStyle/>
          <a:p>
            <a:r>
              <a:rPr lang="en-US" dirty="0"/>
              <a:t>Actually…</a:t>
            </a:r>
          </a:p>
        </p:txBody>
      </p:sp>
      <p:pic>
        <p:nvPicPr>
          <p:cNvPr id="5" name="Picture 4">
            <a:extLst>
              <a:ext uri="{FF2B5EF4-FFF2-40B4-BE49-F238E27FC236}">
                <a16:creationId xmlns:a16="http://schemas.microsoft.com/office/drawing/2014/main" id="{BBA0362A-66AF-7A30-664A-6C33DD1FBAC4}"/>
              </a:ext>
            </a:extLst>
          </p:cNvPr>
          <p:cNvPicPr>
            <a:picLocks noChangeAspect="1"/>
          </p:cNvPicPr>
          <p:nvPr/>
        </p:nvPicPr>
        <p:blipFill>
          <a:blip r:embed="rId3"/>
          <a:stretch>
            <a:fillRect/>
          </a:stretch>
        </p:blipFill>
        <p:spPr>
          <a:xfrm>
            <a:off x="1747829" y="1690688"/>
            <a:ext cx="8696341" cy="4621109"/>
          </a:xfrm>
          <a:prstGeom prst="rect">
            <a:avLst/>
          </a:prstGeom>
        </p:spPr>
      </p:pic>
      <p:sp>
        <p:nvSpPr>
          <p:cNvPr id="6" name="TextBox 5">
            <a:extLst>
              <a:ext uri="{FF2B5EF4-FFF2-40B4-BE49-F238E27FC236}">
                <a16:creationId xmlns:a16="http://schemas.microsoft.com/office/drawing/2014/main" id="{FC6318ED-94A9-2918-0091-4DE7BBBD0C9D}"/>
              </a:ext>
            </a:extLst>
          </p:cNvPr>
          <p:cNvSpPr txBox="1"/>
          <p:nvPr/>
        </p:nvSpPr>
        <p:spPr>
          <a:xfrm>
            <a:off x="4655346" y="6311797"/>
            <a:ext cx="2881305" cy="369332"/>
          </a:xfrm>
          <a:prstGeom prst="rect">
            <a:avLst/>
          </a:prstGeom>
          <a:noFill/>
        </p:spPr>
        <p:txBody>
          <a:bodyPr wrap="square">
            <a:spAutoFit/>
          </a:bodyPr>
          <a:lstStyle/>
          <a:p>
            <a:pPr algn="ctr"/>
            <a:r>
              <a:rPr lang="en-US" dirty="0"/>
              <a:t>Figure credit: Ben Newman</a:t>
            </a:r>
          </a:p>
        </p:txBody>
      </p:sp>
    </p:spTree>
    <p:extLst>
      <p:ext uri="{BB962C8B-B14F-4D97-AF65-F5344CB8AC3E}">
        <p14:creationId xmlns:p14="http://schemas.microsoft.com/office/powerpoint/2010/main" val="2440673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35E84-AA64-87A6-39F5-D5D4F4F073C8}"/>
              </a:ext>
            </a:extLst>
          </p:cNvPr>
          <p:cNvSpPr>
            <a:spLocks noGrp="1"/>
          </p:cNvSpPr>
          <p:nvPr>
            <p:ph type="title"/>
          </p:nvPr>
        </p:nvSpPr>
        <p:spPr/>
        <p:txBody>
          <a:bodyPr/>
          <a:lstStyle/>
          <a:p>
            <a:r>
              <a:rPr lang="en-US" dirty="0"/>
              <a:t>Basic Concepts</a:t>
            </a:r>
          </a:p>
        </p:txBody>
      </p:sp>
      <p:sp>
        <p:nvSpPr>
          <p:cNvPr id="3" name="Content Placeholder 2">
            <a:extLst>
              <a:ext uri="{FF2B5EF4-FFF2-40B4-BE49-F238E27FC236}">
                <a16:creationId xmlns:a16="http://schemas.microsoft.com/office/drawing/2014/main" id="{4EB2AC9F-F7C1-217A-F949-4DD9607FA668}"/>
              </a:ext>
            </a:extLst>
          </p:cNvPr>
          <p:cNvSpPr>
            <a:spLocks noGrp="1"/>
          </p:cNvSpPr>
          <p:nvPr>
            <p:ph idx="1"/>
          </p:nvPr>
        </p:nvSpPr>
        <p:spPr/>
        <p:txBody>
          <a:bodyPr/>
          <a:lstStyle/>
          <a:p>
            <a:r>
              <a:rPr lang="en-US" b="1" dirty="0"/>
              <a:t>Brownian motion</a:t>
            </a:r>
            <a:r>
              <a:rPr lang="en-US" dirty="0"/>
              <a:t>: water molecules jitter randomly, structure (e.g., WM) restricts their motion</a:t>
            </a:r>
          </a:p>
          <a:p>
            <a:r>
              <a:rPr lang="en-US" b="1" dirty="0"/>
              <a:t>Anisotropy</a:t>
            </a:r>
            <a:r>
              <a:rPr lang="en-US" dirty="0"/>
              <a:t>: diffusion is easier along myelinated axons than across them (hindered by lipid bilayer)</a:t>
            </a:r>
          </a:p>
        </p:txBody>
      </p:sp>
      <p:pic>
        <p:nvPicPr>
          <p:cNvPr id="342" name="Google Shape;342;p32"/>
          <p:cNvPicPr preferRelativeResize="0"/>
          <p:nvPr/>
        </p:nvPicPr>
        <p:blipFill rotWithShape="1">
          <a:blip r:embed="rId2">
            <a:alphaModFix/>
          </a:blip>
          <a:srcRect/>
          <a:stretch/>
        </p:blipFill>
        <p:spPr>
          <a:xfrm>
            <a:off x="4203034" y="3729896"/>
            <a:ext cx="7443534" cy="2582004"/>
          </a:xfrm>
          <a:prstGeom prst="rect">
            <a:avLst/>
          </a:prstGeom>
          <a:noFill/>
          <a:ln>
            <a:noFill/>
          </a:ln>
        </p:spPr>
      </p:pic>
      <p:pic>
        <p:nvPicPr>
          <p:cNvPr id="3074" name="Picture 2" descr="Diffusion of Water molecules">
            <a:extLst>
              <a:ext uri="{FF2B5EF4-FFF2-40B4-BE49-F238E27FC236}">
                <a16:creationId xmlns:a16="http://schemas.microsoft.com/office/drawing/2014/main" id="{3F846336-7F6C-B279-3BBC-2444D93814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797" y="3729896"/>
            <a:ext cx="2753640" cy="2582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3965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6" name="Group 1065">
            <a:extLst>
              <a:ext uri="{FF2B5EF4-FFF2-40B4-BE49-F238E27FC236}">
                <a16:creationId xmlns:a16="http://schemas.microsoft.com/office/drawing/2014/main" id="{A1438537-DBB5-22B3-12A9-389893E270BA}"/>
              </a:ext>
            </a:extLst>
          </p:cNvPr>
          <p:cNvGrpSpPr/>
          <p:nvPr/>
        </p:nvGrpSpPr>
        <p:grpSpPr>
          <a:xfrm>
            <a:off x="4337806" y="4338945"/>
            <a:ext cx="3524128" cy="1833520"/>
            <a:chOff x="4334631" y="4343443"/>
            <a:chExt cx="3524128" cy="1833520"/>
          </a:xfrm>
        </p:grpSpPr>
        <p:sp>
          <p:nvSpPr>
            <p:cNvPr id="1067" name="Rectangle 1066">
              <a:extLst>
                <a:ext uri="{FF2B5EF4-FFF2-40B4-BE49-F238E27FC236}">
                  <a16:creationId xmlns:a16="http://schemas.microsoft.com/office/drawing/2014/main" id="{87E58A11-A7C2-B525-109F-73F0261C990E}"/>
                </a:ext>
              </a:extLst>
            </p:cNvPr>
            <p:cNvSpPr/>
            <p:nvPr/>
          </p:nvSpPr>
          <p:spPr>
            <a:xfrm>
              <a:off x="5181600" y="4348163"/>
              <a:ext cx="1828800" cy="1828800"/>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 Tesla</a:t>
              </a:r>
            </a:p>
          </p:txBody>
        </p:sp>
        <p:sp>
          <p:nvSpPr>
            <p:cNvPr id="1068" name="TextBox 1067">
              <a:extLst>
                <a:ext uri="{FF2B5EF4-FFF2-40B4-BE49-F238E27FC236}">
                  <a16:creationId xmlns:a16="http://schemas.microsoft.com/office/drawing/2014/main" id="{BA92B78D-28DD-3488-27F4-BF107DD9536F}"/>
                </a:ext>
              </a:extLst>
            </p:cNvPr>
            <p:cNvSpPr txBox="1"/>
            <p:nvPr/>
          </p:nvSpPr>
          <p:spPr>
            <a:xfrm>
              <a:off x="4334631" y="4343444"/>
              <a:ext cx="828613" cy="369332"/>
            </a:xfrm>
            <a:prstGeom prst="rect">
              <a:avLst/>
            </a:prstGeom>
            <a:solidFill>
              <a:schemeClr val="bg1"/>
            </a:solidFill>
            <a:ln>
              <a:solidFill>
                <a:schemeClr val="bg1"/>
              </a:solidFill>
            </a:ln>
          </p:spPr>
          <p:txBody>
            <a:bodyPr wrap="square" rtlCol="0">
              <a:spAutoFit/>
            </a:bodyPr>
            <a:lstStyle/>
            <a:p>
              <a:pPr algn="ctr"/>
              <a:endParaRPr lang="en-US" dirty="0">
                <a:solidFill>
                  <a:srgbClr val="FF0000"/>
                </a:solidFill>
              </a:endParaRPr>
            </a:p>
          </p:txBody>
        </p:sp>
        <p:sp>
          <p:nvSpPr>
            <p:cNvPr id="1069" name="TextBox 1068">
              <a:extLst>
                <a:ext uri="{FF2B5EF4-FFF2-40B4-BE49-F238E27FC236}">
                  <a16:creationId xmlns:a16="http://schemas.microsoft.com/office/drawing/2014/main" id="{2AF01683-A11B-683A-E248-2D7A57F1B8DD}"/>
                </a:ext>
              </a:extLst>
            </p:cNvPr>
            <p:cNvSpPr txBox="1"/>
            <p:nvPr/>
          </p:nvSpPr>
          <p:spPr>
            <a:xfrm>
              <a:off x="7037226" y="4343443"/>
              <a:ext cx="821533" cy="369332"/>
            </a:xfrm>
            <a:prstGeom prst="rect">
              <a:avLst/>
            </a:prstGeom>
            <a:solidFill>
              <a:schemeClr val="bg1"/>
            </a:solidFill>
          </p:spPr>
          <p:txBody>
            <a:bodyPr wrap="square" rtlCol="0">
              <a:spAutoFit/>
            </a:bodyPr>
            <a:lstStyle/>
            <a:p>
              <a:pPr algn="ctr"/>
              <a:endParaRPr lang="en-US" dirty="0">
                <a:solidFill>
                  <a:srgbClr val="FF0000"/>
                </a:solidFill>
              </a:endParaRPr>
            </a:p>
          </p:txBody>
        </p:sp>
      </p:grpSp>
      <p:grpSp>
        <p:nvGrpSpPr>
          <p:cNvPr id="1032" name="Group 1031">
            <a:extLst>
              <a:ext uri="{FF2B5EF4-FFF2-40B4-BE49-F238E27FC236}">
                <a16:creationId xmlns:a16="http://schemas.microsoft.com/office/drawing/2014/main" id="{106EB3B1-5D59-B603-83A8-D5C2A02FADCA}"/>
              </a:ext>
            </a:extLst>
          </p:cNvPr>
          <p:cNvGrpSpPr/>
          <p:nvPr/>
        </p:nvGrpSpPr>
        <p:grpSpPr>
          <a:xfrm>
            <a:off x="4329044" y="4341343"/>
            <a:ext cx="3536796" cy="1830901"/>
            <a:chOff x="4329044" y="4341343"/>
            <a:chExt cx="3536796" cy="1830901"/>
          </a:xfrm>
        </p:grpSpPr>
        <p:sp>
          <p:nvSpPr>
            <p:cNvPr id="1033" name="TextBox 1032">
              <a:extLst>
                <a:ext uri="{FF2B5EF4-FFF2-40B4-BE49-F238E27FC236}">
                  <a16:creationId xmlns:a16="http://schemas.microsoft.com/office/drawing/2014/main" id="{11CAEA76-3945-4D56-E0F3-EB8249716292}"/>
                </a:ext>
              </a:extLst>
            </p:cNvPr>
            <p:cNvSpPr txBox="1"/>
            <p:nvPr/>
          </p:nvSpPr>
          <p:spPr>
            <a:xfrm>
              <a:off x="7031640" y="4341343"/>
              <a:ext cx="834200" cy="369332"/>
            </a:xfrm>
            <a:prstGeom prst="rect">
              <a:avLst/>
            </a:prstGeom>
            <a:solidFill>
              <a:schemeClr val="bg1"/>
            </a:solidFill>
          </p:spPr>
          <p:txBody>
            <a:bodyPr wrap="square" rtlCol="0">
              <a:spAutoFit/>
            </a:bodyPr>
            <a:lstStyle/>
            <a:p>
              <a:pPr algn="ctr"/>
              <a:r>
                <a:rPr lang="en-US" dirty="0">
                  <a:solidFill>
                    <a:srgbClr val="0309F3"/>
                  </a:solidFill>
                </a:rPr>
                <a:t>slow</a:t>
              </a:r>
            </a:p>
          </p:txBody>
        </p:sp>
        <p:sp>
          <p:nvSpPr>
            <p:cNvPr id="1034" name="TextBox 1033">
              <a:extLst>
                <a:ext uri="{FF2B5EF4-FFF2-40B4-BE49-F238E27FC236}">
                  <a16:creationId xmlns:a16="http://schemas.microsoft.com/office/drawing/2014/main" id="{E23F4D3C-038A-A5E7-D899-46801A5C1450}"/>
                </a:ext>
              </a:extLst>
            </p:cNvPr>
            <p:cNvSpPr txBox="1"/>
            <p:nvPr/>
          </p:nvSpPr>
          <p:spPr>
            <a:xfrm>
              <a:off x="4329044" y="4359735"/>
              <a:ext cx="834200" cy="369332"/>
            </a:xfrm>
            <a:prstGeom prst="rect">
              <a:avLst/>
            </a:prstGeom>
            <a:solidFill>
              <a:schemeClr val="bg1"/>
            </a:solidFill>
          </p:spPr>
          <p:txBody>
            <a:bodyPr wrap="square" rtlCol="0">
              <a:spAutoFit/>
            </a:bodyPr>
            <a:lstStyle/>
            <a:p>
              <a:pPr algn="ctr"/>
              <a:r>
                <a:rPr lang="en-US" dirty="0">
                  <a:solidFill>
                    <a:srgbClr val="FF0000"/>
                  </a:solidFill>
                </a:rPr>
                <a:t>fast</a:t>
              </a:r>
            </a:p>
          </p:txBody>
        </p:sp>
        <p:grpSp>
          <p:nvGrpSpPr>
            <p:cNvPr id="1035" name="Group 1034">
              <a:extLst>
                <a:ext uri="{FF2B5EF4-FFF2-40B4-BE49-F238E27FC236}">
                  <a16:creationId xmlns:a16="http://schemas.microsoft.com/office/drawing/2014/main" id="{BCF9D33E-E025-D09D-BE03-A38B51BDD272}"/>
                </a:ext>
              </a:extLst>
            </p:cNvPr>
            <p:cNvGrpSpPr/>
            <p:nvPr/>
          </p:nvGrpSpPr>
          <p:grpSpPr>
            <a:xfrm>
              <a:off x="5189118" y="4343444"/>
              <a:ext cx="1828800" cy="1828800"/>
              <a:chOff x="5181600" y="4236965"/>
              <a:chExt cx="1828800" cy="1828800"/>
            </a:xfrm>
          </p:grpSpPr>
          <p:sp>
            <p:nvSpPr>
              <p:cNvPr id="1036" name="Rectangle 1035">
                <a:extLst>
                  <a:ext uri="{FF2B5EF4-FFF2-40B4-BE49-F238E27FC236}">
                    <a16:creationId xmlns:a16="http://schemas.microsoft.com/office/drawing/2014/main" id="{47197AB9-1255-89BF-0C33-75E81AD5AD70}"/>
                  </a:ext>
                </a:extLst>
              </p:cNvPr>
              <p:cNvSpPr/>
              <p:nvPr/>
            </p:nvSpPr>
            <p:spPr>
              <a:xfrm>
                <a:off x="5181600" y="4236965"/>
                <a:ext cx="1828800" cy="1828800"/>
              </a:xfrm>
              <a:prstGeom prst="rect">
                <a:avLst/>
              </a:prstGeom>
              <a:gradFill flip="none" rotWithShape="1">
                <a:gsLst>
                  <a:gs pos="0">
                    <a:srgbClr val="0309F3"/>
                  </a:gs>
                  <a:gs pos="50000">
                    <a:srgbClr val="7030A0"/>
                  </a:gs>
                  <a:gs pos="100000">
                    <a:srgbClr val="FF0000"/>
                  </a:gs>
                </a:gsLst>
                <a:lin ang="1080000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Arrow: Left 1036">
                <a:extLst>
                  <a:ext uri="{FF2B5EF4-FFF2-40B4-BE49-F238E27FC236}">
                    <a16:creationId xmlns:a16="http://schemas.microsoft.com/office/drawing/2014/main" id="{316F4897-2C6E-A02E-9B86-6BB0477261ED}"/>
                  </a:ext>
                </a:extLst>
              </p:cNvPr>
              <p:cNvSpPr/>
              <p:nvPr/>
            </p:nvSpPr>
            <p:spPr>
              <a:xfrm>
                <a:off x="5601108" y="4909049"/>
                <a:ext cx="978408" cy="484632"/>
              </a:xfrm>
              <a:prstGeom prst="leftArrow">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2</a:t>
                </a:r>
                <a:r>
                  <a:rPr lang="en-US" sz="1050" baseline="30000" dirty="0">
                    <a:solidFill>
                      <a:schemeClr val="tx1"/>
                    </a:solidFill>
                  </a:rPr>
                  <a:t>nd</a:t>
                </a:r>
                <a:r>
                  <a:rPr lang="en-US" sz="1050" dirty="0">
                    <a:solidFill>
                      <a:schemeClr val="tx1"/>
                    </a:solidFill>
                  </a:rPr>
                  <a:t> gradient</a:t>
                </a:r>
              </a:p>
            </p:txBody>
          </p:sp>
        </p:grpSp>
      </p:grpSp>
      <p:grpSp>
        <p:nvGrpSpPr>
          <p:cNvPr id="1046" name="Group 1045">
            <a:extLst>
              <a:ext uri="{FF2B5EF4-FFF2-40B4-BE49-F238E27FC236}">
                <a16:creationId xmlns:a16="http://schemas.microsoft.com/office/drawing/2014/main" id="{B0E84F78-495E-5172-CD1D-3DBD9C69CFAE}"/>
              </a:ext>
            </a:extLst>
          </p:cNvPr>
          <p:cNvGrpSpPr/>
          <p:nvPr/>
        </p:nvGrpSpPr>
        <p:grpSpPr>
          <a:xfrm>
            <a:off x="4336966" y="4338724"/>
            <a:ext cx="3524128" cy="1833520"/>
            <a:chOff x="4334631" y="4343443"/>
            <a:chExt cx="3524128" cy="1833520"/>
          </a:xfrm>
        </p:grpSpPr>
        <p:sp>
          <p:nvSpPr>
            <p:cNvPr id="1047" name="Rectangle 1046">
              <a:extLst>
                <a:ext uri="{FF2B5EF4-FFF2-40B4-BE49-F238E27FC236}">
                  <a16:creationId xmlns:a16="http://schemas.microsoft.com/office/drawing/2014/main" id="{CD320924-B3E8-05FD-C71C-CE2C33171BFE}"/>
                </a:ext>
              </a:extLst>
            </p:cNvPr>
            <p:cNvSpPr/>
            <p:nvPr/>
          </p:nvSpPr>
          <p:spPr>
            <a:xfrm>
              <a:off x="5181600" y="4348163"/>
              <a:ext cx="1828800" cy="1828800"/>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 Tesla</a:t>
              </a:r>
            </a:p>
          </p:txBody>
        </p:sp>
        <p:sp>
          <p:nvSpPr>
            <p:cNvPr id="1048" name="TextBox 1047">
              <a:extLst>
                <a:ext uri="{FF2B5EF4-FFF2-40B4-BE49-F238E27FC236}">
                  <a16:creationId xmlns:a16="http://schemas.microsoft.com/office/drawing/2014/main" id="{1A1E86BA-928D-FA2D-5C32-C571BBB20E41}"/>
                </a:ext>
              </a:extLst>
            </p:cNvPr>
            <p:cNvSpPr txBox="1"/>
            <p:nvPr/>
          </p:nvSpPr>
          <p:spPr>
            <a:xfrm>
              <a:off x="4334631" y="4343444"/>
              <a:ext cx="828613" cy="369332"/>
            </a:xfrm>
            <a:prstGeom prst="rect">
              <a:avLst/>
            </a:prstGeom>
            <a:solidFill>
              <a:schemeClr val="bg1"/>
            </a:solidFill>
            <a:ln>
              <a:solidFill>
                <a:schemeClr val="bg1"/>
              </a:solidFill>
            </a:ln>
          </p:spPr>
          <p:txBody>
            <a:bodyPr wrap="square" rtlCol="0">
              <a:spAutoFit/>
            </a:bodyPr>
            <a:lstStyle/>
            <a:p>
              <a:pPr algn="ctr"/>
              <a:endParaRPr lang="en-US" dirty="0">
                <a:solidFill>
                  <a:srgbClr val="FF0000"/>
                </a:solidFill>
              </a:endParaRPr>
            </a:p>
          </p:txBody>
        </p:sp>
        <p:sp>
          <p:nvSpPr>
            <p:cNvPr id="1049" name="TextBox 1048">
              <a:extLst>
                <a:ext uri="{FF2B5EF4-FFF2-40B4-BE49-F238E27FC236}">
                  <a16:creationId xmlns:a16="http://schemas.microsoft.com/office/drawing/2014/main" id="{91D7C20F-C34F-2475-0A11-79CFB667A08C}"/>
                </a:ext>
              </a:extLst>
            </p:cNvPr>
            <p:cNvSpPr txBox="1"/>
            <p:nvPr/>
          </p:nvSpPr>
          <p:spPr>
            <a:xfrm>
              <a:off x="7037226" y="4343443"/>
              <a:ext cx="821533" cy="369332"/>
            </a:xfrm>
            <a:prstGeom prst="rect">
              <a:avLst/>
            </a:prstGeom>
            <a:solidFill>
              <a:schemeClr val="bg1"/>
            </a:solidFill>
          </p:spPr>
          <p:txBody>
            <a:bodyPr wrap="square" rtlCol="0">
              <a:spAutoFit/>
            </a:bodyPr>
            <a:lstStyle/>
            <a:p>
              <a:pPr algn="ctr"/>
              <a:endParaRPr lang="en-US" dirty="0">
                <a:solidFill>
                  <a:srgbClr val="FF0000"/>
                </a:solidFill>
              </a:endParaRPr>
            </a:p>
          </p:txBody>
        </p:sp>
      </p:grpSp>
      <p:grpSp>
        <p:nvGrpSpPr>
          <p:cNvPr id="1030" name="Group 1029">
            <a:extLst>
              <a:ext uri="{FF2B5EF4-FFF2-40B4-BE49-F238E27FC236}">
                <a16:creationId xmlns:a16="http://schemas.microsoft.com/office/drawing/2014/main" id="{D7897BF5-1464-7D0E-C874-74A49389C2A0}"/>
              </a:ext>
            </a:extLst>
          </p:cNvPr>
          <p:cNvGrpSpPr/>
          <p:nvPr/>
        </p:nvGrpSpPr>
        <p:grpSpPr>
          <a:xfrm>
            <a:off x="4335394" y="4337400"/>
            <a:ext cx="3529716" cy="1834139"/>
            <a:chOff x="4334631" y="4338104"/>
            <a:chExt cx="3529716" cy="1834139"/>
          </a:xfrm>
        </p:grpSpPr>
        <p:grpSp>
          <p:nvGrpSpPr>
            <p:cNvPr id="63" name="Group 62">
              <a:extLst>
                <a:ext uri="{FF2B5EF4-FFF2-40B4-BE49-F238E27FC236}">
                  <a16:creationId xmlns:a16="http://schemas.microsoft.com/office/drawing/2014/main" id="{8F3A1D1E-A510-B692-734C-B3C4A92DA99D}"/>
                </a:ext>
              </a:extLst>
            </p:cNvPr>
            <p:cNvGrpSpPr/>
            <p:nvPr/>
          </p:nvGrpSpPr>
          <p:grpSpPr>
            <a:xfrm rot="10800000">
              <a:off x="5188680" y="4343443"/>
              <a:ext cx="1828800" cy="1828800"/>
              <a:chOff x="5172456" y="4236965"/>
              <a:chExt cx="1828800" cy="1828800"/>
            </a:xfrm>
          </p:grpSpPr>
          <p:sp>
            <p:nvSpPr>
              <p:cNvPr id="1024" name="Rectangle 1023">
                <a:extLst>
                  <a:ext uri="{FF2B5EF4-FFF2-40B4-BE49-F238E27FC236}">
                    <a16:creationId xmlns:a16="http://schemas.microsoft.com/office/drawing/2014/main" id="{066EF055-DF0A-7932-ABB0-ADAFB1DB492B}"/>
                  </a:ext>
                </a:extLst>
              </p:cNvPr>
              <p:cNvSpPr/>
              <p:nvPr/>
            </p:nvSpPr>
            <p:spPr>
              <a:xfrm>
                <a:off x="5172456" y="4236965"/>
                <a:ext cx="1828800" cy="1828800"/>
              </a:xfrm>
              <a:prstGeom prst="rect">
                <a:avLst/>
              </a:prstGeom>
              <a:gradFill flip="none" rotWithShape="1">
                <a:gsLst>
                  <a:gs pos="0">
                    <a:srgbClr val="0309F3"/>
                  </a:gs>
                  <a:gs pos="50000">
                    <a:srgbClr val="7030A0"/>
                  </a:gs>
                  <a:gs pos="100000">
                    <a:srgbClr val="FF0000"/>
                  </a:gs>
                </a:gsLst>
                <a:lin ang="1080000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Arrow: Right 1024">
                <a:extLst>
                  <a:ext uri="{FF2B5EF4-FFF2-40B4-BE49-F238E27FC236}">
                    <a16:creationId xmlns:a16="http://schemas.microsoft.com/office/drawing/2014/main" id="{192FDA9C-16D4-443F-2CFB-2FDB9778F62B}"/>
                  </a:ext>
                </a:extLst>
              </p:cNvPr>
              <p:cNvSpPr/>
              <p:nvPr/>
            </p:nvSpPr>
            <p:spPr>
              <a:xfrm rot="10800000">
                <a:off x="5606796" y="4909049"/>
                <a:ext cx="978408" cy="484632"/>
              </a:xfrm>
              <a:prstGeom prst="rightArrow">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1</a:t>
                </a:r>
                <a:r>
                  <a:rPr lang="en-US" sz="1050" baseline="30000" dirty="0">
                    <a:solidFill>
                      <a:schemeClr val="tx1"/>
                    </a:solidFill>
                  </a:rPr>
                  <a:t>st</a:t>
                </a:r>
                <a:r>
                  <a:rPr lang="en-US" sz="1050" dirty="0">
                    <a:solidFill>
                      <a:schemeClr val="tx1"/>
                    </a:solidFill>
                  </a:rPr>
                  <a:t> gradient</a:t>
                </a:r>
              </a:p>
            </p:txBody>
          </p:sp>
        </p:grpSp>
        <p:sp>
          <p:nvSpPr>
            <p:cNvPr id="37" name="TextBox 36">
              <a:extLst>
                <a:ext uri="{FF2B5EF4-FFF2-40B4-BE49-F238E27FC236}">
                  <a16:creationId xmlns:a16="http://schemas.microsoft.com/office/drawing/2014/main" id="{07255C6D-2263-4683-F74A-C1A3BB4BE4A0}"/>
                </a:ext>
              </a:extLst>
            </p:cNvPr>
            <p:cNvSpPr txBox="1"/>
            <p:nvPr/>
          </p:nvSpPr>
          <p:spPr>
            <a:xfrm>
              <a:off x="7030147" y="4338104"/>
              <a:ext cx="834200" cy="369332"/>
            </a:xfrm>
            <a:prstGeom prst="rect">
              <a:avLst/>
            </a:prstGeom>
            <a:solidFill>
              <a:schemeClr val="bg1"/>
            </a:solidFill>
          </p:spPr>
          <p:txBody>
            <a:bodyPr wrap="square" rtlCol="0">
              <a:spAutoFit/>
            </a:bodyPr>
            <a:lstStyle/>
            <a:p>
              <a:pPr algn="ctr"/>
              <a:r>
                <a:rPr lang="en-US" dirty="0">
                  <a:solidFill>
                    <a:srgbClr val="FF0000"/>
                  </a:solidFill>
                </a:rPr>
                <a:t>fast</a:t>
              </a:r>
            </a:p>
          </p:txBody>
        </p:sp>
        <p:sp>
          <p:nvSpPr>
            <p:cNvPr id="59" name="TextBox 58">
              <a:extLst>
                <a:ext uri="{FF2B5EF4-FFF2-40B4-BE49-F238E27FC236}">
                  <a16:creationId xmlns:a16="http://schemas.microsoft.com/office/drawing/2014/main" id="{8796EF59-E2E8-8022-EBBB-A6701E70B50E}"/>
                </a:ext>
              </a:extLst>
            </p:cNvPr>
            <p:cNvSpPr txBox="1"/>
            <p:nvPr/>
          </p:nvSpPr>
          <p:spPr>
            <a:xfrm>
              <a:off x="4334631" y="4338104"/>
              <a:ext cx="834200" cy="369332"/>
            </a:xfrm>
            <a:prstGeom prst="rect">
              <a:avLst/>
            </a:prstGeom>
            <a:solidFill>
              <a:schemeClr val="bg1"/>
            </a:solidFill>
          </p:spPr>
          <p:txBody>
            <a:bodyPr wrap="square" rtlCol="0">
              <a:spAutoFit/>
            </a:bodyPr>
            <a:lstStyle/>
            <a:p>
              <a:pPr algn="ctr"/>
              <a:r>
                <a:rPr lang="en-US" dirty="0">
                  <a:solidFill>
                    <a:srgbClr val="0309F3"/>
                  </a:solidFill>
                </a:rPr>
                <a:t>slow</a:t>
              </a:r>
            </a:p>
          </p:txBody>
        </p:sp>
      </p:grpSp>
      <p:sp>
        <p:nvSpPr>
          <p:cNvPr id="2" name="Title 1">
            <a:extLst>
              <a:ext uri="{FF2B5EF4-FFF2-40B4-BE49-F238E27FC236}">
                <a16:creationId xmlns:a16="http://schemas.microsoft.com/office/drawing/2014/main" id="{AF4726A1-5BDF-01EF-E363-708C404F35AE}"/>
              </a:ext>
            </a:extLst>
          </p:cNvPr>
          <p:cNvSpPr>
            <a:spLocks noGrp="1"/>
          </p:cNvSpPr>
          <p:nvPr>
            <p:ph type="title"/>
          </p:nvPr>
        </p:nvSpPr>
        <p:spPr/>
        <p:txBody>
          <a:bodyPr/>
          <a:lstStyle/>
          <a:p>
            <a:r>
              <a:rPr lang="en-US" dirty="0"/>
              <a:t>Acquisition</a:t>
            </a:r>
          </a:p>
        </p:txBody>
      </p:sp>
      <p:sp>
        <p:nvSpPr>
          <p:cNvPr id="3" name="Content Placeholder 2">
            <a:extLst>
              <a:ext uri="{FF2B5EF4-FFF2-40B4-BE49-F238E27FC236}">
                <a16:creationId xmlns:a16="http://schemas.microsoft.com/office/drawing/2014/main" id="{3243DF45-C976-7B71-0B73-E812CCA40F28}"/>
              </a:ext>
            </a:extLst>
          </p:cNvPr>
          <p:cNvSpPr>
            <a:spLocks noGrp="1"/>
          </p:cNvSpPr>
          <p:nvPr>
            <p:ph idx="1"/>
          </p:nvPr>
        </p:nvSpPr>
        <p:spPr/>
        <p:txBody>
          <a:bodyPr/>
          <a:lstStyle/>
          <a:p>
            <a:r>
              <a:rPr lang="en-US" dirty="0"/>
              <a:t>Phase tagging:</a:t>
            </a:r>
          </a:p>
          <a:p>
            <a:pPr lvl="1"/>
            <a:r>
              <a:rPr lang="en-US" dirty="0"/>
              <a:t>Spin-echo with two strong pulse gradients</a:t>
            </a:r>
          </a:p>
          <a:p>
            <a:pPr lvl="1"/>
            <a:r>
              <a:rPr lang="en-US" dirty="0"/>
              <a:t>If spins stay put, the second gradient rephases them; if they moved, phases don’t fully re-align</a:t>
            </a:r>
          </a:p>
          <a:p>
            <a:pPr lvl="1"/>
            <a:r>
              <a:rPr lang="en-US" b="1" dirty="0"/>
              <a:t>Signal loss = spin displacement</a:t>
            </a:r>
          </a:p>
        </p:txBody>
      </p:sp>
      <p:grpSp>
        <p:nvGrpSpPr>
          <p:cNvPr id="1075" name="Group 1074">
            <a:extLst>
              <a:ext uri="{FF2B5EF4-FFF2-40B4-BE49-F238E27FC236}">
                <a16:creationId xmlns:a16="http://schemas.microsoft.com/office/drawing/2014/main" id="{AA19286A-13D0-087F-E34F-0D9419C364FE}"/>
              </a:ext>
            </a:extLst>
          </p:cNvPr>
          <p:cNvGrpSpPr/>
          <p:nvPr/>
        </p:nvGrpSpPr>
        <p:grpSpPr>
          <a:xfrm>
            <a:off x="9078012" y="658574"/>
            <a:ext cx="2558083" cy="1767217"/>
            <a:chOff x="9078012" y="658574"/>
            <a:chExt cx="2558083" cy="1767217"/>
          </a:xfrm>
        </p:grpSpPr>
        <p:pic>
          <p:nvPicPr>
            <p:cNvPr id="4" name="Picture 6" descr="Spin echo (SE)">
              <a:extLst>
                <a:ext uri="{FF2B5EF4-FFF2-40B4-BE49-F238E27FC236}">
                  <a16:creationId xmlns:a16="http://schemas.microsoft.com/office/drawing/2014/main" id="{1A8F4125-88F7-F57B-E920-CADA5C78167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3" r="1103"/>
            <a:stretch>
              <a:fillRect/>
            </a:stretch>
          </p:blipFill>
          <p:spPr bwMode="auto">
            <a:xfrm>
              <a:off x="9078012" y="1027906"/>
              <a:ext cx="2275788" cy="139788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1E8300D-996A-04E3-34F7-1628BCDADE9E}"/>
                </a:ext>
              </a:extLst>
            </p:cNvPr>
            <p:cNvSpPr txBox="1"/>
            <p:nvPr/>
          </p:nvSpPr>
          <p:spPr>
            <a:xfrm>
              <a:off x="9078012" y="658574"/>
              <a:ext cx="2558083" cy="369332"/>
            </a:xfrm>
            <a:prstGeom prst="rect">
              <a:avLst/>
            </a:prstGeom>
            <a:noFill/>
          </p:spPr>
          <p:txBody>
            <a:bodyPr wrap="square" rtlCol="0">
              <a:spAutoFit/>
            </a:bodyPr>
            <a:lstStyle/>
            <a:p>
              <a:r>
                <a:rPr lang="en-US" dirty="0"/>
                <a:t>Spin-echo:</a:t>
              </a:r>
            </a:p>
          </p:txBody>
        </p:sp>
      </p:grpSp>
      <p:pic>
        <p:nvPicPr>
          <p:cNvPr id="1028" name="Picture 4">
            <a:extLst>
              <a:ext uri="{FF2B5EF4-FFF2-40B4-BE49-F238E27FC236}">
                <a16:creationId xmlns:a16="http://schemas.microsoft.com/office/drawing/2014/main" id="{5D5C4FC7-A88C-56BE-5427-75A78923D6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6296" y="4729067"/>
            <a:ext cx="390871" cy="9783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2B0B011C-9C4D-8E30-AD5B-5229D03B68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6225" y="4712776"/>
            <a:ext cx="390871" cy="978310"/>
          </a:xfrm>
          <a:prstGeom prst="rect">
            <a:avLst/>
          </a:prstGeom>
          <a:noFill/>
          <a:extLst>
            <a:ext uri="{909E8E84-426E-40DD-AFC4-6F175D3DCCD1}">
              <a14:hiddenFill xmlns:a14="http://schemas.microsoft.com/office/drawing/2010/main">
                <a:solidFill>
                  <a:srgbClr val="FFFFFF"/>
                </a:solidFill>
              </a14:hiddenFill>
            </a:ext>
          </a:extLst>
        </p:spPr>
      </p:pic>
      <p:grpSp>
        <p:nvGrpSpPr>
          <p:cNvPr id="1062" name="Group 1061">
            <a:extLst>
              <a:ext uri="{FF2B5EF4-FFF2-40B4-BE49-F238E27FC236}">
                <a16:creationId xmlns:a16="http://schemas.microsoft.com/office/drawing/2014/main" id="{E097186C-9B65-7058-55A1-EFAE59F0226C}"/>
              </a:ext>
            </a:extLst>
          </p:cNvPr>
          <p:cNvGrpSpPr/>
          <p:nvPr/>
        </p:nvGrpSpPr>
        <p:grpSpPr>
          <a:xfrm>
            <a:off x="4341454" y="4337316"/>
            <a:ext cx="3524128" cy="1833520"/>
            <a:chOff x="4334631" y="4343443"/>
            <a:chExt cx="3524128" cy="1833520"/>
          </a:xfrm>
        </p:grpSpPr>
        <p:sp>
          <p:nvSpPr>
            <p:cNvPr id="1063" name="Rectangle 1062">
              <a:extLst>
                <a:ext uri="{FF2B5EF4-FFF2-40B4-BE49-F238E27FC236}">
                  <a16:creationId xmlns:a16="http://schemas.microsoft.com/office/drawing/2014/main" id="{117DE534-90B1-78C6-300E-998489F478AA}"/>
                </a:ext>
              </a:extLst>
            </p:cNvPr>
            <p:cNvSpPr/>
            <p:nvPr/>
          </p:nvSpPr>
          <p:spPr>
            <a:xfrm>
              <a:off x="5181600" y="4348163"/>
              <a:ext cx="1828800" cy="1828800"/>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 Tesla</a:t>
              </a:r>
            </a:p>
          </p:txBody>
        </p:sp>
        <p:sp>
          <p:nvSpPr>
            <p:cNvPr id="1064" name="TextBox 1063">
              <a:extLst>
                <a:ext uri="{FF2B5EF4-FFF2-40B4-BE49-F238E27FC236}">
                  <a16:creationId xmlns:a16="http://schemas.microsoft.com/office/drawing/2014/main" id="{7CCE54F5-5512-A80F-215E-9FC598FE1E51}"/>
                </a:ext>
              </a:extLst>
            </p:cNvPr>
            <p:cNvSpPr txBox="1"/>
            <p:nvPr/>
          </p:nvSpPr>
          <p:spPr>
            <a:xfrm>
              <a:off x="4334631" y="4343444"/>
              <a:ext cx="828613" cy="369332"/>
            </a:xfrm>
            <a:prstGeom prst="rect">
              <a:avLst/>
            </a:prstGeom>
            <a:solidFill>
              <a:schemeClr val="bg1"/>
            </a:solidFill>
            <a:ln>
              <a:solidFill>
                <a:schemeClr val="bg1"/>
              </a:solidFill>
            </a:ln>
          </p:spPr>
          <p:txBody>
            <a:bodyPr wrap="square" rtlCol="0">
              <a:spAutoFit/>
            </a:bodyPr>
            <a:lstStyle/>
            <a:p>
              <a:pPr algn="ctr"/>
              <a:endParaRPr lang="en-US" dirty="0">
                <a:solidFill>
                  <a:srgbClr val="FF0000"/>
                </a:solidFill>
              </a:endParaRPr>
            </a:p>
          </p:txBody>
        </p:sp>
        <p:sp>
          <p:nvSpPr>
            <p:cNvPr id="1065" name="TextBox 1064">
              <a:extLst>
                <a:ext uri="{FF2B5EF4-FFF2-40B4-BE49-F238E27FC236}">
                  <a16:creationId xmlns:a16="http://schemas.microsoft.com/office/drawing/2014/main" id="{A8765E65-50AD-4238-5FC9-72C33424E68F}"/>
                </a:ext>
              </a:extLst>
            </p:cNvPr>
            <p:cNvSpPr txBox="1"/>
            <p:nvPr/>
          </p:nvSpPr>
          <p:spPr>
            <a:xfrm>
              <a:off x="7037226" y="4343443"/>
              <a:ext cx="821533" cy="369332"/>
            </a:xfrm>
            <a:prstGeom prst="rect">
              <a:avLst/>
            </a:prstGeom>
            <a:solidFill>
              <a:schemeClr val="bg1"/>
            </a:solidFill>
          </p:spPr>
          <p:txBody>
            <a:bodyPr wrap="square" rtlCol="0">
              <a:spAutoFit/>
            </a:bodyPr>
            <a:lstStyle/>
            <a:p>
              <a:pPr algn="ctr"/>
              <a:endParaRPr lang="en-US" dirty="0">
                <a:solidFill>
                  <a:srgbClr val="FF0000"/>
                </a:solidFill>
              </a:endParaRPr>
            </a:p>
          </p:txBody>
        </p:sp>
      </p:grpSp>
      <p:grpSp>
        <p:nvGrpSpPr>
          <p:cNvPr id="1072" name="Group 1071">
            <a:extLst>
              <a:ext uri="{FF2B5EF4-FFF2-40B4-BE49-F238E27FC236}">
                <a16:creationId xmlns:a16="http://schemas.microsoft.com/office/drawing/2014/main" id="{B2991209-B9DB-941D-9FDC-76FCEB4E1665}"/>
              </a:ext>
            </a:extLst>
          </p:cNvPr>
          <p:cNvGrpSpPr/>
          <p:nvPr/>
        </p:nvGrpSpPr>
        <p:grpSpPr>
          <a:xfrm>
            <a:off x="3368445" y="4895056"/>
            <a:ext cx="5451756" cy="684545"/>
            <a:chOff x="3368445" y="4895056"/>
            <a:chExt cx="5451756" cy="684545"/>
          </a:xfrm>
        </p:grpSpPr>
        <p:sp>
          <p:nvSpPr>
            <p:cNvPr id="1070" name="TextBox 1069">
              <a:extLst>
                <a:ext uri="{FF2B5EF4-FFF2-40B4-BE49-F238E27FC236}">
                  <a16:creationId xmlns:a16="http://schemas.microsoft.com/office/drawing/2014/main" id="{F2BE8E8C-40C1-9B9F-4CFB-7153729E2142}"/>
                </a:ext>
              </a:extLst>
            </p:cNvPr>
            <p:cNvSpPr txBox="1"/>
            <p:nvPr/>
          </p:nvSpPr>
          <p:spPr>
            <a:xfrm>
              <a:off x="3368445" y="4933270"/>
              <a:ext cx="959107" cy="646331"/>
            </a:xfrm>
            <a:prstGeom prst="rect">
              <a:avLst/>
            </a:prstGeom>
            <a:noFill/>
          </p:spPr>
          <p:txBody>
            <a:bodyPr wrap="square" rtlCol="0">
              <a:spAutoFit/>
            </a:bodyPr>
            <a:lstStyle/>
            <a:p>
              <a:pPr algn="ctr"/>
              <a:r>
                <a:rPr lang="en-US" dirty="0"/>
                <a:t>phase </a:t>
              </a:r>
              <a:r>
                <a:rPr lang="en-US" b="1" dirty="0"/>
                <a:t>behind</a:t>
              </a:r>
            </a:p>
          </p:txBody>
        </p:sp>
        <p:sp>
          <p:nvSpPr>
            <p:cNvPr id="1071" name="TextBox 1070">
              <a:extLst>
                <a:ext uri="{FF2B5EF4-FFF2-40B4-BE49-F238E27FC236}">
                  <a16:creationId xmlns:a16="http://schemas.microsoft.com/office/drawing/2014/main" id="{01FD7993-0DB5-DABF-EC1C-15C9CDC831A5}"/>
                </a:ext>
              </a:extLst>
            </p:cNvPr>
            <p:cNvSpPr txBox="1"/>
            <p:nvPr/>
          </p:nvSpPr>
          <p:spPr>
            <a:xfrm>
              <a:off x="7861094" y="4895056"/>
              <a:ext cx="959107" cy="646331"/>
            </a:xfrm>
            <a:prstGeom prst="rect">
              <a:avLst/>
            </a:prstGeom>
            <a:noFill/>
          </p:spPr>
          <p:txBody>
            <a:bodyPr wrap="square" rtlCol="0">
              <a:spAutoFit/>
            </a:bodyPr>
            <a:lstStyle/>
            <a:p>
              <a:pPr algn="ctr"/>
              <a:r>
                <a:rPr lang="en-US" dirty="0"/>
                <a:t>phase </a:t>
              </a:r>
              <a:r>
                <a:rPr lang="en-US" b="1" dirty="0"/>
                <a:t>ahead</a:t>
              </a:r>
            </a:p>
          </p:txBody>
        </p:sp>
      </p:grpSp>
      <p:pic>
        <p:nvPicPr>
          <p:cNvPr id="1073" name="Picture 6" descr="DWI - Questions and Answers ​in MRI">
            <a:extLst>
              <a:ext uri="{FF2B5EF4-FFF2-40B4-BE49-F238E27FC236}">
                <a16:creationId xmlns:a16="http://schemas.microsoft.com/office/drawing/2014/main" id="{7C11E400-A13E-4D94-69E8-AB31C66C59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07959" y="4176069"/>
            <a:ext cx="2815894" cy="2051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258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75"/>
                                        </p:tgtEl>
                                        <p:attrNameLst>
                                          <p:attrName>style.visibility</p:attrName>
                                        </p:attrNameLst>
                                      </p:cBhvr>
                                      <p:to>
                                        <p:strVal val="visible"/>
                                      </p:to>
                                    </p:set>
                                    <p:animEffect transition="in" filter="fade">
                                      <p:cBhvr>
                                        <p:cTn id="15" dur="500"/>
                                        <p:tgtEl>
                                          <p:spTgt spid="107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xit" presetSubtype="8" fill="hold" nodeType="clickEffect">
                                  <p:stCondLst>
                                    <p:cond delay="0"/>
                                  </p:stCondLst>
                                  <p:childTnLst>
                                    <p:animEffect transition="out" filter="wipe(left)">
                                      <p:cBhvr>
                                        <p:cTn id="19" dur="500"/>
                                        <p:tgtEl>
                                          <p:spTgt spid="1062"/>
                                        </p:tgtEl>
                                      </p:cBhvr>
                                    </p:animEffect>
                                    <p:set>
                                      <p:cBhvr>
                                        <p:cTn id="20" dur="1" fill="hold">
                                          <p:stCondLst>
                                            <p:cond delay="499"/>
                                          </p:stCondLst>
                                        </p:cTn>
                                        <p:tgtEl>
                                          <p:spTgt spid="106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72"/>
                                        </p:tgtEl>
                                        <p:attrNameLst>
                                          <p:attrName>style.visibility</p:attrName>
                                        </p:attrNameLst>
                                      </p:cBhvr>
                                      <p:to>
                                        <p:strVal val="visible"/>
                                      </p:to>
                                    </p:set>
                                    <p:animEffect transition="in" filter="fade">
                                      <p:cBhvr>
                                        <p:cTn id="25" dur="500"/>
                                        <p:tgtEl>
                                          <p:spTgt spid="107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1030"/>
                                        </p:tgtEl>
                                      </p:cBhvr>
                                    </p:animEffect>
                                    <p:set>
                                      <p:cBhvr>
                                        <p:cTn id="30" dur="1" fill="hold">
                                          <p:stCondLst>
                                            <p:cond delay="499"/>
                                          </p:stCondLst>
                                        </p:cTn>
                                        <p:tgtEl>
                                          <p:spTgt spid="103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2" presetClass="exit" presetSubtype="2" fill="hold" nodeType="clickEffect">
                                  <p:stCondLst>
                                    <p:cond delay="0"/>
                                  </p:stCondLst>
                                  <p:childTnLst>
                                    <p:animEffect transition="out" filter="wipe(right)">
                                      <p:cBhvr>
                                        <p:cTn id="34" dur="500"/>
                                        <p:tgtEl>
                                          <p:spTgt spid="1046"/>
                                        </p:tgtEl>
                                      </p:cBhvr>
                                    </p:animEffect>
                                    <p:set>
                                      <p:cBhvr>
                                        <p:cTn id="35" dur="1" fill="hold">
                                          <p:stCondLst>
                                            <p:cond delay="499"/>
                                          </p:stCondLst>
                                        </p:cTn>
                                        <p:tgtEl>
                                          <p:spTgt spid="1046"/>
                                        </p:tgtEl>
                                        <p:attrNameLst>
                                          <p:attrName>style.visibility</p:attrName>
                                        </p:attrNameLst>
                                      </p:cBhvr>
                                      <p:to>
                                        <p:strVal val="hidden"/>
                                      </p:to>
                                    </p:set>
                                  </p:childTnLst>
                                </p:cTn>
                              </p:par>
                              <p:par>
                                <p:cTn id="36" presetID="1" presetClass="entr" presetSubtype="0" fill="hold" grpId="0" nodeType="withEffect">
                                  <p:stCondLst>
                                    <p:cond delay="0"/>
                                  </p:stCondLst>
                                  <p:childTnLst>
                                    <p:set>
                                      <p:cBhvr>
                                        <p:cTn id="37"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9" presetClass="emph" presetSubtype="0" nodeType="clickEffect">
                                  <p:stCondLst>
                                    <p:cond delay="0"/>
                                  </p:stCondLst>
                                  <p:childTnLst>
                                    <p:set>
                                      <p:cBhvr>
                                        <p:cTn id="41" dur="indefinite"/>
                                        <p:tgtEl>
                                          <p:spTgt spid="1072"/>
                                        </p:tgtEl>
                                        <p:attrNameLst>
                                          <p:attrName>style.opacity</p:attrName>
                                        </p:attrNameLst>
                                      </p:cBhvr>
                                      <p:to>
                                        <p:strVal val="0.5"/>
                                      </p:to>
                                    </p:set>
                                    <p:animEffect filter="image" prLst="opacity: 0.5">
                                      <p:cBhvr rctx="IE">
                                        <p:cTn id="42" dur="indefinite"/>
                                        <p:tgtEl>
                                          <p:spTgt spid="107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500"/>
                                        <p:tgtEl>
                                          <p:spTgt spid="1032"/>
                                        </p:tgtEl>
                                      </p:cBhvr>
                                    </p:animEffect>
                                    <p:set>
                                      <p:cBhvr>
                                        <p:cTn id="47" dur="1" fill="hold">
                                          <p:stCondLst>
                                            <p:cond delay="499"/>
                                          </p:stCondLst>
                                        </p:cTn>
                                        <p:tgtEl>
                                          <p:spTgt spid="1032"/>
                                        </p:tgtEl>
                                        <p:attrNameLst>
                                          <p:attrName>style.visibility</p:attrName>
                                        </p:attrNameLst>
                                      </p:cBhvr>
                                      <p:to>
                                        <p:strVal val="hidden"/>
                                      </p:to>
                                    </p:set>
                                  </p:childTnLst>
                                </p:cTn>
                              </p:par>
                              <p:par>
                                <p:cTn id="48" presetID="1" presetClass="entr" presetSubtype="0" fill="hold" grpId="0" nodeType="withEffect">
                                  <p:stCondLst>
                                    <p:cond delay="0"/>
                                  </p:stCondLst>
                                  <p:childTnLst>
                                    <p:set>
                                      <p:cBhvr>
                                        <p:cTn id="49"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073"/>
                                        </p:tgtEl>
                                        <p:attrNameLst>
                                          <p:attrName>style.visibility</p:attrName>
                                        </p:attrNameLst>
                                      </p:cBhvr>
                                      <p:to>
                                        <p:strVal val="visible"/>
                                      </p:to>
                                    </p:set>
                                    <p:animEffect transition="in" filter="fade">
                                      <p:cBhvr>
                                        <p:cTn id="54" dur="500"/>
                                        <p:tgtEl>
                                          <p:spTgt spid="10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B8BCA-FAF5-9139-C178-DF8C688AA6D9}"/>
              </a:ext>
            </a:extLst>
          </p:cNvPr>
          <p:cNvSpPr>
            <a:spLocks noGrp="1"/>
          </p:cNvSpPr>
          <p:nvPr>
            <p:ph type="title"/>
          </p:nvPr>
        </p:nvSpPr>
        <p:spPr/>
        <p:txBody>
          <a:bodyPr/>
          <a:lstStyle/>
          <a:p>
            <a:r>
              <a:rPr lang="en-US" dirty="0"/>
              <a:t>Acquisition</a:t>
            </a:r>
          </a:p>
        </p:txBody>
      </p:sp>
      <p:pic>
        <p:nvPicPr>
          <p:cNvPr id="4" name="Google Shape;361;p34">
            <a:extLst>
              <a:ext uri="{FF2B5EF4-FFF2-40B4-BE49-F238E27FC236}">
                <a16:creationId xmlns:a16="http://schemas.microsoft.com/office/drawing/2014/main" id="{8DA75B28-1A92-C8C3-283F-F87DA3011C61}"/>
              </a:ext>
            </a:extLst>
          </p:cNvPr>
          <p:cNvPicPr preferRelativeResize="0"/>
          <p:nvPr/>
        </p:nvPicPr>
        <p:blipFill rotWithShape="1">
          <a:blip r:embed="rId2">
            <a:alphaModFix/>
          </a:blip>
          <a:srcRect t="9714"/>
          <a:stretch/>
        </p:blipFill>
        <p:spPr>
          <a:xfrm>
            <a:off x="3419887" y="1660681"/>
            <a:ext cx="5352226" cy="4832194"/>
          </a:xfrm>
          <a:prstGeom prst="rect">
            <a:avLst/>
          </a:prstGeom>
          <a:noFill/>
          <a:ln>
            <a:noFill/>
          </a:ln>
        </p:spPr>
      </p:pic>
      <p:sp>
        <p:nvSpPr>
          <p:cNvPr id="7" name="Rectangle 6">
            <a:extLst>
              <a:ext uri="{FF2B5EF4-FFF2-40B4-BE49-F238E27FC236}">
                <a16:creationId xmlns:a16="http://schemas.microsoft.com/office/drawing/2014/main" id="{7FB36FFD-15AF-9A90-AFA7-AC097777565E}"/>
              </a:ext>
            </a:extLst>
          </p:cNvPr>
          <p:cNvSpPr/>
          <p:nvPr/>
        </p:nvSpPr>
        <p:spPr>
          <a:xfrm>
            <a:off x="4572000" y="1428750"/>
            <a:ext cx="971552" cy="5064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E1B4C01-471E-77E8-EA36-071BAA641F93}"/>
              </a:ext>
            </a:extLst>
          </p:cNvPr>
          <p:cNvSpPr/>
          <p:nvPr/>
        </p:nvSpPr>
        <p:spPr>
          <a:xfrm>
            <a:off x="5562600" y="1428749"/>
            <a:ext cx="752475" cy="5064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F329518-9C4D-4D65-2666-BCEF11E35A5C}"/>
              </a:ext>
            </a:extLst>
          </p:cNvPr>
          <p:cNvSpPr/>
          <p:nvPr/>
        </p:nvSpPr>
        <p:spPr>
          <a:xfrm>
            <a:off x="6315075" y="1428749"/>
            <a:ext cx="2752725" cy="5064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2" name="Google Shape;362;p34"/>
          <p:cNvPicPr preferRelativeResize="0"/>
          <p:nvPr/>
        </p:nvPicPr>
        <p:blipFill rotWithShape="1">
          <a:blip r:embed="rId3">
            <a:alphaModFix/>
          </a:blip>
          <a:srcRect/>
          <a:stretch/>
        </p:blipFill>
        <p:spPr>
          <a:xfrm>
            <a:off x="1973638" y="1660681"/>
            <a:ext cx="8244723" cy="4644869"/>
          </a:xfrm>
          <a:prstGeom prst="rect">
            <a:avLst/>
          </a:prstGeom>
          <a:noFill/>
          <a:ln>
            <a:noFill/>
          </a:ln>
        </p:spPr>
      </p:pic>
    </p:spTree>
    <p:extLst>
      <p:ext uri="{BB962C8B-B14F-4D97-AF65-F5344CB8AC3E}">
        <p14:creationId xmlns:p14="http://schemas.microsoft.com/office/powerpoint/2010/main" val="50815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2"/>
                                        </p:tgtEl>
                                        <p:attrNameLst>
                                          <p:attrName>style.visibility</p:attrName>
                                        </p:attrNameLst>
                                      </p:cBhvr>
                                      <p:to>
                                        <p:strVal val="visible"/>
                                      </p:to>
                                    </p:set>
                                    <p:animEffect transition="in" filter="fade">
                                      <p:cBhvr>
                                        <p:cTn id="27" dur="500"/>
                                        <p:tgtEl>
                                          <p:spTgt spid="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808F7-6B5B-54C2-3276-A548D0499208}"/>
              </a:ext>
            </a:extLst>
          </p:cNvPr>
          <p:cNvSpPr>
            <a:spLocks noGrp="1"/>
          </p:cNvSpPr>
          <p:nvPr>
            <p:ph type="title"/>
          </p:nvPr>
        </p:nvSpPr>
        <p:spPr/>
        <p:txBody>
          <a:bodyPr/>
          <a:lstStyle/>
          <a:p>
            <a:r>
              <a:rPr lang="en-US" dirty="0"/>
              <a:t>Basic Concepts (cont.)</a:t>
            </a:r>
          </a:p>
        </p:txBody>
      </p:sp>
      <p:sp>
        <p:nvSpPr>
          <p:cNvPr id="3" name="Content Placeholder 2">
            <a:extLst>
              <a:ext uri="{FF2B5EF4-FFF2-40B4-BE49-F238E27FC236}">
                <a16:creationId xmlns:a16="http://schemas.microsoft.com/office/drawing/2014/main" id="{47F5C2F6-1DF2-15DF-8C22-2B223A23ECF0}"/>
              </a:ext>
            </a:extLst>
          </p:cNvPr>
          <p:cNvSpPr>
            <a:spLocks noGrp="1"/>
          </p:cNvSpPr>
          <p:nvPr>
            <p:ph idx="1"/>
          </p:nvPr>
        </p:nvSpPr>
        <p:spPr/>
        <p:txBody>
          <a:bodyPr/>
          <a:lstStyle/>
          <a:p>
            <a:r>
              <a:rPr lang="en-US" dirty="0"/>
              <a:t>Angular resolution</a:t>
            </a:r>
          </a:p>
          <a:p>
            <a:r>
              <a:rPr lang="en-US" dirty="0"/>
              <a:t>Shells</a:t>
            </a:r>
          </a:p>
          <a:p>
            <a:pPr lvl="1"/>
            <a:r>
              <a:rPr lang="en-US" dirty="0"/>
              <a:t>b-value</a:t>
            </a:r>
          </a:p>
        </p:txBody>
      </p:sp>
    </p:spTree>
    <p:extLst>
      <p:ext uri="{BB962C8B-B14F-4D97-AF65-F5344CB8AC3E}">
        <p14:creationId xmlns:p14="http://schemas.microsoft.com/office/powerpoint/2010/main" val="4113438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Neuron Images – Browse 504,532 Stock Photos, Vectors, and ...">
            <a:extLst>
              <a:ext uri="{FF2B5EF4-FFF2-40B4-BE49-F238E27FC236}">
                <a16:creationId xmlns:a16="http://schemas.microsoft.com/office/drawing/2014/main" id="{65862E02-1BD5-066E-80C2-EAD244035C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0322" y="242885"/>
            <a:ext cx="5485155" cy="13239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Neuron Images – Browse 504,532 Stock Photos, Vectors, and ...">
            <a:extLst>
              <a:ext uri="{FF2B5EF4-FFF2-40B4-BE49-F238E27FC236}">
                <a16:creationId xmlns:a16="http://schemas.microsoft.com/office/drawing/2014/main" id="{7C82E7A7-440F-171A-A635-6A774AF2D1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5728" y="2443163"/>
            <a:ext cx="4646159" cy="197167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65FC897-4C47-9F25-B5CD-144A14269015}"/>
              </a:ext>
            </a:extLst>
          </p:cNvPr>
          <p:cNvSpPr/>
          <p:nvPr/>
        </p:nvSpPr>
        <p:spPr>
          <a:xfrm>
            <a:off x="4864100" y="0"/>
            <a:ext cx="2463800"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3B19C46-5E02-5B60-9F30-A56EC90655D1}"/>
              </a:ext>
            </a:extLst>
          </p:cNvPr>
          <p:cNvSpPr/>
          <p:nvPr/>
        </p:nvSpPr>
        <p:spPr>
          <a:xfrm>
            <a:off x="9817100" y="0"/>
            <a:ext cx="2374900"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F874A79-FA51-B636-F647-7F046077F518}"/>
              </a:ext>
            </a:extLst>
          </p:cNvPr>
          <p:cNvSpPr/>
          <p:nvPr/>
        </p:nvSpPr>
        <p:spPr>
          <a:xfrm>
            <a:off x="4859851" y="0"/>
            <a:ext cx="2463800" cy="22288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1AE3DE0-74BC-10C1-065C-A6337E512961}"/>
              </a:ext>
            </a:extLst>
          </p:cNvPr>
          <p:cNvSpPr/>
          <p:nvPr/>
        </p:nvSpPr>
        <p:spPr>
          <a:xfrm>
            <a:off x="4859851" y="2228849"/>
            <a:ext cx="2463800" cy="24003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2CFB6C5-C42A-EC85-3928-D796ED62752B}"/>
              </a:ext>
            </a:extLst>
          </p:cNvPr>
          <p:cNvSpPr/>
          <p:nvPr/>
        </p:nvSpPr>
        <p:spPr>
          <a:xfrm>
            <a:off x="4859851" y="4629151"/>
            <a:ext cx="2463800" cy="22288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7925F39-1717-23FA-18D5-EC750F718680}"/>
              </a:ext>
            </a:extLst>
          </p:cNvPr>
          <p:cNvSpPr/>
          <p:nvPr/>
        </p:nvSpPr>
        <p:spPr>
          <a:xfrm>
            <a:off x="9812850" y="0"/>
            <a:ext cx="2379149" cy="22288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35DCF81-A252-938D-2807-DB431D9FD58A}"/>
              </a:ext>
            </a:extLst>
          </p:cNvPr>
          <p:cNvSpPr/>
          <p:nvPr/>
        </p:nvSpPr>
        <p:spPr>
          <a:xfrm>
            <a:off x="9812850" y="2228849"/>
            <a:ext cx="2379149" cy="24003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1EE3407-F8B7-CB0C-7DE4-59EC1A5048FD}"/>
              </a:ext>
            </a:extLst>
          </p:cNvPr>
          <p:cNvSpPr/>
          <p:nvPr/>
        </p:nvSpPr>
        <p:spPr>
          <a:xfrm>
            <a:off x="9812850" y="4629151"/>
            <a:ext cx="2379149" cy="22288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E2CF254E-CA80-C493-DCA9-C0409152F278}"/>
              </a:ext>
            </a:extLst>
          </p:cNvPr>
          <p:cNvCxnSpPr>
            <a:cxnSpLocks/>
          </p:cNvCxnSpPr>
          <p:nvPr/>
        </p:nvCxnSpPr>
        <p:spPr>
          <a:xfrm flipV="1">
            <a:off x="859376" y="3429000"/>
            <a:ext cx="1739900" cy="1270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38" name="Group 37">
            <a:extLst>
              <a:ext uri="{FF2B5EF4-FFF2-40B4-BE49-F238E27FC236}">
                <a16:creationId xmlns:a16="http://schemas.microsoft.com/office/drawing/2014/main" id="{6FFC62E7-AE37-6000-CB89-466DA3872F9B}"/>
              </a:ext>
            </a:extLst>
          </p:cNvPr>
          <p:cNvGrpSpPr/>
          <p:nvPr/>
        </p:nvGrpSpPr>
        <p:grpSpPr>
          <a:xfrm>
            <a:off x="4859851" y="1114424"/>
            <a:ext cx="2463800" cy="0"/>
            <a:chOff x="4859851" y="1114424"/>
            <a:chExt cx="2463800" cy="0"/>
          </a:xfrm>
        </p:grpSpPr>
        <p:cxnSp>
          <p:nvCxnSpPr>
            <p:cNvPr id="16" name="Straight Arrow Connector 15">
              <a:extLst>
                <a:ext uri="{FF2B5EF4-FFF2-40B4-BE49-F238E27FC236}">
                  <a16:creationId xmlns:a16="http://schemas.microsoft.com/office/drawing/2014/main" id="{308BF39D-9B4D-C885-C50F-ECEA8E1A74DB}"/>
                </a:ext>
              </a:extLst>
            </p:cNvPr>
            <p:cNvCxnSpPr>
              <a:cxnSpLocks/>
              <a:stCxn id="7" idx="1"/>
              <a:endCxn id="7" idx="3"/>
            </p:cNvCxnSpPr>
            <p:nvPr/>
          </p:nvCxnSpPr>
          <p:spPr>
            <a:xfrm>
              <a:off x="4859851" y="1114424"/>
              <a:ext cx="2463800" cy="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946448F-85F3-899C-357E-FC11FDED8A0D}"/>
                </a:ext>
              </a:extLst>
            </p:cNvPr>
            <p:cNvCxnSpPr>
              <a:cxnSpLocks/>
            </p:cNvCxnSpPr>
            <p:nvPr/>
          </p:nvCxnSpPr>
          <p:spPr>
            <a:xfrm>
              <a:off x="4965700" y="1114424"/>
              <a:ext cx="2044700" cy="0"/>
            </a:xfrm>
            <a:prstGeom prst="line">
              <a:avLst/>
            </a:prstGeom>
            <a:ln w="38100">
              <a:solidFill>
                <a:srgbClr val="FFFF00"/>
              </a:solidFill>
            </a:ln>
          </p:spPr>
          <p:style>
            <a:lnRef idx="2">
              <a:schemeClr val="accent2"/>
            </a:lnRef>
            <a:fillRef idx="0">
              <a:schemeClr val="accent2"/>
            </a:fillRef>
            <a:effectRef idx="1">
              <a:schemeClr val="accent2"/>
            </a:effectRef>
            <a:fontRef idx="minor">
              <a:schemeClr val="tx1"/>
            </a:fontRef>
          </p:style>
        </p:cxnSp>
      </p:grpSp>
      <p:grpSp>
        <p:nvGrpSpPr>
          <p:cNvPr id="39" name="Group 38">
            <a:extLst>
              <a:ext uri="{FF2B5EF4-FFF2-40B4-BE49-F238E27FC236}">
                <a16:creationId xmlns:a16="http://schemas.microsoft.com/office/drawing/2014/main" id="{44EC8A28-0300-BE96-940A-86DA84612DBD}"/>
              </a:ext>
            </a:extLst>
          </p:cNvPr>
          <p:cNvGrpSpPr/>
          <p:nvPr/>
        </p:nvGrpSpPr>
        <p:grpSpPr>
          <a:xfrm>
            <a:off x="4859851" y="3429000"/>
            <a:ext cx="2463800" cy="1"/>
            <a:chOff x="4859851" y="3429000"/>
            <a:chExt cx="2463800" cy="1"/>
          </a:xfrm>
        </p:grpSpPr>
        <p:cxnSp>
          <p:nvCxnSpPr>
            <p:cNvPr id="15" name="Straight Arrow Connector 14">
              <a:extLst>
                <a:ext uri="{FF2B5EF4-FFF2-40B4-BE49-F238E27FC236}">
                  <a16:creationId xmlns:a16="http://schemas.microsoft.com/office/drawing/2014/main" id="{5D137FB0-C4F8-C883-8C77-A570EA0D8B48}"/>
                </a:ext>
              </a:extLst>
            </p:cNvPr>
            <p:cNvCxnSpPr>
              <a:cxnSpLocks/>
              <a:stCxn id="8" idx="1"/>
              <a:endCxn id="8" idx="3"/>
            </p:cNvCxnSpPr>
            <p:nvPr/>
          </p:nvCxnSpPr>
          <p:spPr>
            <a:xfrm>
              <a:off x="4859851" y="3429001"/>
              <a:ext cx="2463800" cy="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71BB93D2-142D-D205-B598-203803FF6419}"/>
                </a:ext>
              </a:extLst>
            </p:cNvPr>
            <p:cNvCxnSpPr>
              <a:cxnSpLocks/>
            </p:cNvCxnSpPr>
            <p:nvPr/>
          </p:nvCxnSpPr>
          <p:spPr>
            <a:xfrm>
              <a:off x="5892800" y="3429000"/>
              <a:ext cx="660400" cy="0"/>
            </a:xfrm>
            <a:prstGeom prst="line">
              <a:avLst/>
            </a:prstGeom>
            <a:ln w="38100">
              <a:solidFill>
                <a:srgbClr val="FFFF00"/>
              </a:solidFill>
            </a:ln>
          </p:spPr>
          <p:style>
            <a:lnRef idx="2">
              <a:schemeClr val="accent2"/>
            </a:lnRef>
            <a:fillRef idx="0">
              <a:schemeClr val="accent2"/>
            </a:fillRef>
            <a:effectRef idx="1">
              <a:schemeClr val="accent2"/>
            </a:effectRef>
            <a:fontRef idx="minor">
              <a:schemeClr val="tx1"/>
            </a:fontRef>
          </p:style>
        </p:cxnSp>
      </p:grpSp>
      <p:grpSp>
        <p:nvGrpSpPr>
          <p:cNvPr id="40" name="Group 39">
            <a:extLst>
              <a:ext uri="{FF2B5EF4-FFF2-40B4-BE49-F238E27FC236}">
                <a16:creationId xmlns:a16="http://schemas.microsoft.com/office/drawing/2014/main" id="{E5AE9142-1DFC-FF7D-1B5D-7C1C36226295}"/>
              </a:ext>
            </a:extLst>
          </p:cNvPr>
          <p:cNvGrpSpPr/>
          <p:nvPr/>
        </p:nvGrpSpPr>
        <p:grpSpPr>
          <a:xfrm>
            <a:off x="4859851" y="5743575"/>
            <a:ext cx="2463800" cy="1"/>
            <a:chOff x="4859851" y="5743575"/>
            <a:chExt cx="2463800" cy="1"/>
          </a:xfrm>
        </p:grpSpPr>
        <p:cxnSp>
          <p:nvCxnSpPr>
            <p:cNvPr id="17" name="Straight Arrow Connector 16">
              <a:extLst>
                <a:ext uri="{FF2B5EF4-FFF2-40B4-BE49-F238E27FC236}">
                  <a16:creationId xmlns:a16="http://schemas.microsoft.com/office/drawing/2014/main" id="{5E5BD709-500D-57C0-C581-3A869F8DF6E9}"/>
                </a:ext>
              </a:extLst>
            </p:cNvPr>
            <p:cNvCxnSpPr>
              <a:cxnSpLocks/>
              <a:stCxn id="9" idx="1"/>
              <a:endCxn id="9" idx="3"/>
            </p:cNvCxnSpPr>
            <p:nvPr/>
          </p:nvCxnSpPr>
          <p:spPr>
            <a:xfrm>
              <a:off x="4859851" y="5743576"/>
              <a:ext cx="2463800" cy="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CAC6BDD-1707-E8E8-FF36-AA0513A27225}"/>
                </a:ext>
              </a:extLst>
            </p:cNvPr>
            <p:cNvCxnSpPr>
              <a:cxnSpLocks/>
            </p:cNvCxnSpPr>
            <p:nvPr/>
          </p:nvCxnSpPr>
          <p:spPr>
            <a:xfrm>
              <a:off x="4859851" y="5743575"/>
              <a:ext cx="2258956" cy="0"/>
            </a:xfrm>
            <a:prstGeom prst="line">
              <a:avLst/>
            </a:prstGeom>
            <a:ln w="38100">
              <a:solidFill>
                <a:srgbClr val="FFFF00"/>
              </a:solidFill>
            </a:ln>
          </p:spPr>
          <p:style>
            <a:lnRef idx="2">
              <a:schemeClr val="accent2"/>
            </a:lnRef>
            <a:fillRef idx="0">
              <a:schemeClr val="accent2"/>
            </a:fillRef>
            <a:effectRef idx="1">
              <a:schemeClr val="accent2"/>
            </a:effectRef>
            <a:fontRef idx="minor">
              <a:schemeClr val="tx1"/>
            </a:fontRef>
          </p:style>
        </p:cxnSp>
      </p:grpSp>
      <p:grpSp>
        <p:nvGrpSpPr>
          <p:cNvPr id="45" name="Group 44">
            <a:extLst>
              <a:ext uri="{FF2B5EF4-FFF2-40B4-BE49-F238E27FC236}">
                <a16:creationId xmlns:a16="http://schemas.microsoft.com/office/drawing/2014/main" id="{03524D30-504B-09DA-B187-105821522A2C}"/>
              </a:ext>
            </a:extLst>
          </p:cNvPr>
          <p:cNvGrpSpPr/>
          <p:nvPr/>
        </p:nvGrpSpPr>
        <p:grpSpPr>
          <a:xfrm>
            <a:off x="9872946" y="1098548"/>
            <a:ext cx="2258956" cy="4648202"/>
            <a:chOff x="9872946" y="1098548"/>
            <a:chExt cx="2258956" cy="4648202"/>
          </a:xfrm>
        </p:grpSpPr>
        <p:cxnSp>
          <p:nvCxnSpPr>
            <p:cNvPr id="34" name="Straight Connector 33">
              <a:extLst>
                <a:ext uri="{FF2B5EF4-FFF2-40B4-BE49-F238E27FC236}">
                  <a16:creationId xmlns:a16="http://schemas.microsoft.com/office/drawing/2014/main" id="{66B78CF3-E349-984E-A313-F7E55A7F2DD9}"/>
                </a:ext>
              </a:extLst>
            </p:cNvPr>
            <p:cNvCxnSpPr>
              <a:cxnSpLocks/>
            </p:cNvCxnSpPr>
            <p:nvPr/>
          </p:nvCxnSpPr>
          <p:spPr>
            <a:xfrm>
              <a:off x="9980074" y="1098548"/>
              <a:ext cx="2044700" cy="0"/>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35" name="Straight Connector 34">
              <a:extLst>
                <a:ext uri="{FF2B5EF4-FFF2-40B4-BE49-F238E27FC236}">
                  <a16:creationId xmlns:a16="http://schemas.microsoft.com/office/drawing/2014/main" id="{9D56095E-EF89-7268-B9B3-368B7FC9D125}"/>
                </a:ext>
              </a:extLst>
            </p:cNvPr>
            <p:cNvCxnSpPr>
              <a:cxnSpLocks/>
            </p:cNvCxnSpPr>
            <p:nvPr/>
          </p:nvCxnSpPr>
          <p:spPr>
            <a:xfrm>
              <a:off x="10672224" y="3441700"/>
              <a:ext cx="660400" cy="0"/>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36" name="Straight Connector 35">
              <a:extLst>
                <a:ext uri="{FF2B5EF4-FFF2-40B4-BE49-F238E27FC236}">
                  <a16:creationId xmlns:a16="http://schemas.microsoft.com/office/drawing/2014/main" id="{C4C968C1-E4A1-F0E8-8214-540CBE3D165A}"/>
                </a:ext>
              </a:extLst>
            </p:cNvPr>
            <p:cNvCxnSpPr>
              <a:cxnSpLocks/>
            </p:cNvCxnSpPr>
            <p:nvPr/>
          </p:nvCxnSpPr>
          <p:spPr>
            <a:xfrm>
              <a:off x="9872946" y="5746750"/>
              <a:ext cx="2258956" cy="0"/>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grpSp>
      <p:sp>
        <p:nvSpPr>
          <p:cNvPr id="41" name="TextBox 40">
            <a:extLst>
              <a:ext uri="{FF2B5EF4-FFF2-40B4-BE49-F238E27FC236}">
                <a16:creationId xmlns:a16="http://schemas.microsoft.com/office/drawing/2014/main" id="{0E7AB4AD-5EE0-3529-7F8C-DA3BED79EB0A}"/>
              </a:ext>
            </a:extLst>
          </p:cNvPr>
          <p:cNvSpPr txBox="1"/>
          <p:nvPr/>
        </p:nvSpPr>
        <p:spPr>
          <a:xfrm>
            <a:off x="4509431" y="-42538"/>
            <a:ext cx="572593" cy="261610"/>
          </a:xfrm>
          <a:prstGeom prst="rect">
            <a:avLst/>
          </a:prstGeom>
          <a:noFill/>
        </p:spPr>
        <p:txBody>
          <a:bodyPr wrap="square" rtlCol="0">
            <a:spAutoFit/>
          </a:bodyPr>
          <a:lstStyle/>
          <a:p>
            <a:r>
              <a:rPr lang="en-US" sz="1100" dirty="0"/>
              <a:t>WM</a:t>
            </a:r>
          </a:p>
        </p:txBody>
      </p:sp>
      <p:sp>
        <p:nvSpPr>
          <p:cNvPr id="42" name="TextBox 41">
            <a:extLst>
              <a:ext uri="{FF2B5EF4-FFF2-40B4-BE49-F238E27FC236}">
                <a16:creationId xmlns:a16="http://schemas.microsoft.com/office/drawing/2014/main" id="{435C9100-E941-C01C-985B-1C8EEBC40D32}"/>
              </a:ext>
            </a:extLst>
          </p:cNvPr>
          <p:cNvSpPr txBox="1"/>
          <p:nvPr/>
        </p:nvSpPr>
        <p:spPr>
          <a:xfrm>
            <a:off x="4538006" y="2176790"/>
            <a:ext cx="572593" cy="261610"/>
          </a:xfrm>
          <a:prstGeom prst="rect">
            <a:avLst/>
          </a:prstGeom>
          <a:noFill/>
        </p:spPr>
        <p:txBody>
          <a:bodyPr wrap="square" rtlCol="0">
            <a:spAutoFit/>
          </a:bodyPr>
          <a:lstStyle/>
          <a:p>
            <a:r>
              <a:rPr lang="en-US" sz="1100" dirty="0"/>
              <a:t>GM</a:t>
            </a:r>
          </a:p>
        </p:txBody>
      </p:sp>
      <p:sp>
        <p:nvSpPr>
          <p:cNvPr id="43" name="TextBox 42">
            <a:extLst>
              <a:ext uri="{FF2B5EF4-FFF2-40B4-BE49-F238E27FC236}">
                <a16:creationId xmlns:a16="http://schemas.microsoft.com/office/drawing/2014/main" id="{F10A0603-9FCB-78F7-BB7F-CF32508DCEC6}"/>
              </a:ext>
            </a:extLst>
          </p:cNvPr>
          <p:cNvSpPr txBox="1"/>
          <p:nvPr/>
        </p:nvSpPr>
        <p:spPr>
          <a:xfrm>
            <a:off x="4490380" y="4579633"/>
            <a:ext cx="572593" cy="261610"/>
          </a:xfrm>
          <a:prstGeom prst="rect">
            <a:avLst/>
          </a:prstGeom>
          <a:noFill/>
        </p:spPr>
        <p:txBody>
          <a:bodyPr wrap="square" rtlCol="0">
            <a:spAutoFit/>
          </a:bodyPr>
          <a:lstStyle/>
          <a:p>
            <a:r>
              <a:rPr lang="en-US" sz="1100" dirty="0"/>
              <a:t>CSF</a:t>
            </a:r>
          </a:p>
        </p:txBody>
      </p:sp>
      <p:sp>
        <p:nvSpPr>
          <p:cNvPr id="44" name="TextBox 43">
            <a:extLst>
              <a:ext uri="{FF2B5EF4-FFF2-40B4-BE49-F238E27FC236}">
                <a16:creationId xmlns:a16="http://schemas.microsoft.com/office/drawing/2014/main" id="{1221EA10-FD17-5B1C-9952-758BA2517A96}"/>
              </a:ext>
            </a:extLst>
          </p:cNvPr>
          <p:cNvSpPr txBox="1"/>
          <p:nvPr/>
        </p:nvSpPr>
        <p:spPr>
          <a:xfrm>
            <a:off x="22989" y="0"/>
            <a:ext cx="3412674" cy="369332"/>
          </a:xfrm>
          <a:prstGeom prst="rect">
            <a:avLst/>
          </a:prstGeom>
          <a:noFill/>
        </p:spPr>
        <p:txBody>
          <a:bodyPr wrap="square" rtlCol="0">
            <a:spAutoFit/>
          </a:bodyPr>
          <a:lstStyle/>
          <a:p>
            <a:r>
              <a:rPr lang="en-US" dirty="0"/>
              <a:t>More angles = higher resolution</a:t>
            </a:r>
          </a:p>
        </p:txBody>
      </p:sp>
    </p:spTree>
    <p:extLst>
      <p:ext uri="{BB962C8B-B14F-4D97-AF65-F5344CB8AC3E}">
        <p14:creationId xmlns:p14="http://schemas.microsoft.com/office/powerpoint/2010/main" val="2784549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par>
                                <p:cTn id="8" presetID="22" presetClass="entr" presetSubtype="8"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wipe(left)">
                                      <p:cBhvr>
                                        <p:cTn id="10" dur="500"/>
                                        <p:tgtEl>
                                          <p:spTgt spid="39"/>
                                        </p:tgtEl>
                                      </p:cBhvr>
                                    </p:animEffect>
                                  </p:childTnLst>
                                </p:cTn>
                              </p:par>
                              <p:par>
                                <p:cTn id="11" presetID="22" presetClass="entr" presetSubtype="8"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ipe(left)">
                                      <p:cBhvr>
                                        <p:cTn id="13" dur="500"/>
                                        <p:tgtEl>
                                          <p:spTgt spid="4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61F3C-17CF-6DE8-8FC6-83D2D10F7C5D}"/>
            </a:ext>
          </a:extLst>
        </p:cNvPr>
        <p:cNvGrpSpPr/>
        <p:nvPr/>
      </p:nvGrpSpPr>
      <p:grpSpPr>
        <a:xfrm>
          <a:off x="0" y="0"/>
          <a:ext cx="0" cy="0"/>
          <a:chOff x="0" y="0"/>
          <a:chExt cx="0" cy="0"/>
        </a:xfrm>
      </p:grpSpPr>
      <p:pic>
        <p:nvPicPr>
          <p:cNvPr id="4098" name="Picture 2" descr="Neuron Images – Browse 504,532 Stock Photos, Vectors, and ...">
            <a:extLst>
              <a:ext uri="{FF2B5EF4-FFF2-40B4-BE49-F238E27FC236}">
                <a16:creationId xmlns:a16="http://schemas.microsoft.com/office/drawing/2014/main" id="{0C40B137-DD2D-151F-9C0E-1856881355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0322" y="242885"/>
            <a:ext cx="5485155" cy="13239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Neuron Images – Browse 504,532 Stock Photos, Vectors, and ...">
            <a:extLst>
              <a:ext uri="{FF2B5EF4-FFF2-40B4-BE49-F238E27FC236}">
                <a16:creationId xmlns:a16="http://schemas.microsoft.com/office/drawing/2014/main" id="{A22FF108-8993-0E4E-4F6C-6DD8CBF72C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5728" y="2443163"/>
            <a:ext cx="4646159" cy="197167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36BDC1C-2E1D-5333-7743-C5463475AA5E}"/>
              </a:ext>
            </a:extLst>
          </p:cNvPr>
          <p:cNvSpPr/>
          <p:nvPr/>
        </p:nvSpPr>
        <p:spPr>
          <a:xfrm>
            <a:off x="4864100" y="0"/>
            <a:ext cx="2463800"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016365-267A-860B-9328-C14FD4803648}"/>
              </a:ext>
            </a:extLst>
          </p:cNvPr>
          <p:cNvSpPr/>
          <p:nvPr/>
        </p:nvSpPr>
        <p:spPr>
          <a:xfrm>
            <a:off x="9817100" y="0"/>
            <a:ext cx="2374900"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2282A87-291B-2A94-8A8D-C23705FD7555}"/>
              </a:ext>
            </a:extLst>
          </p:cNvPr>
          <p:cNvSpPr/>
          <p:nvPr/>
        </p:nvSpPr>
        <p:spPr>
          <a:xfrm>
            <a:off x="4859851" y="0"/>
            <a:ext cx="2463800" cy="22288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C55AD27-31CB-FF0F-86F2-BF384267C99F}"/>
              </a:ext>
            </a:extLst>
          </p:cNvPr>
          <p:cNvSpPr/>
          <p:nvPr/>
        </p:nvSpPr>
        <p:spPr>
          <a:xfrm>
            <a:off x="4859851" y="2228849"/>
            <a:ext cx="2463800" cy="24003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79F6FEA-F897-86D1-F0CC-FDF56A6851EE}"/>
              </a:ext>
            </a:extLst>
          </p:cNvPr>
          <p:cNvSpPr/>
          <p:nvPr/>
        </p:nvSpPr>
        <p:spPr>
          <a:xfrm>
            <a:off x="4859851" y="4629151"/>
            <a:ext cx="2463800" cy="22288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37B51F9-4BA5-A8D9-B15F-149F43AF1DAB}"/>
              </a:ext>
            </a:extLst>
          </p:cNvPr>
          <p:cNvSpPr/>
          <p:nvPr/>
        </p:nvSpPr>
        <p:spPr>
          <a:xfrm>
            <a:off x="9812850" y="0"/>
            <a:ext cx="2379149" cy="22288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7B03981-5735-7FCA-2D67-1B69C11532D2}"/>
              </a:ext>
            </a:extLst>
          </p:cNvPr>
          <p:cNvSpPr/>
          <p:nvPr/>
        </p:nvSpPr>
        <p:spPr>
          <a:xfrm>
            <a:off x="9812850" y="2228849"/>
            <a:ext cx="2379149" cy="24003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FCF31B3-40A0-FFC8-96F0-5B769B0E4EA6}"/>
              </a:ext>
            </a:extLst>
          </p:cNvPr>
          <p:cNvSpPr/>
          <p:nvPr/>
        </p:nvSpPr>
        <p:spPr>
          <a:xfrm>
            <a:off x="9812850" y="4629151"/>
            <a:ext cx="2379149" cy="22288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E172A2A8-B514-6BDF-4019-2658F72469F2}"/>
              </a:ext>
            </a:extLst>
          </p:cNvPr>
          <p:cNvCxnSpPr>
            <a:cxnSpLocks/>
          </p:cNvCxnSpPr>
          <p:nvPr/>
        </p:nvCxnSpPr>
        <p:spPr>
          <a:xfrm flipV="1">
            <a:off x="859376" y="3429000"/>
            <a:ext cx="1739900" cy="1270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3422D76-A353-86AA-A809-FB1CAB43E76E}"/>
              </a:ext>
            </a:extLst>
          </p:cNvPr>
          <p:cNvCxnSpPr>
            <a:cxnSpLocks/>
          </p:cNvCxnSpPr>
          <p:nvPr/>
        </p:nvCxnSpPr>
        <p:spPr>
          <a:xfrm>
            <a:off x="9980074" y="1098548"/>
            <a:ext cx="2044700" cy="0"/>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35" name="Straight Connector 34">
            <a:extLst>
              <a:ext uri="{FF2B5EF4-FFF2-40B4-BE49-F238E27FC236}">
                <a16:creationId xmlns:a16="http://schemas.microsoft.com/office/drawing/2014/main" id="{40635982-3998-B1FE-67CD-F9D55519FAEF}"/>
              </a:ext>
            </a:extLst>
          </p:cNvPr>
          <p:cNvCxnSpPr>
            <a:cxnSpLocks/>
          </p:cNvCxnSpPr>
          <p:nvPr/>
        </p:nvCxnSpPr>
        <p:spPr>
          <a:xfrm>
            <a:off x="10672224" y="3441700"/>
            <a:ext cx="660400" cy="0"/>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36" name="Straight Connector 35">
            <a:extLst>
              <a:ext uri="{FF2B5EF4-FFF2-40B4-BE49-F238E27FC236}">
                <a16:creationId xmlns:a16="http://schemas.microsoft.com/office/drawing/2014/main" id="{D21BF541-9F45-A0F8-A56A-21DA438011CB}"/>
              </a:ext>
            </a:extLst>
          </p:cNvPr>
          <p:cNvCxnSpPr>
            <a:cxnSpLocks/>
          </p:cNvCxnSpPr>
          <p:nvPr/>
        </p:nvCxnSpPr>
        <p:spPr>
          <a:xfrm>
            <a:off x="9872946" y="5746750"/>
            <a:ext cx="2258956" cy="0"/>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2" name="Straight Arrow Connector 1">
            <a:extLst>
              <a:ext uri="{FF2B5EF4-FFF2-40B4-BE49-F238E27FC236}">
                <a16:creationId xmlns:a16="http://schemas.microsoft.com/office/drawing/2014/main" id="{20393C41-F78A-0637-2CEF-85B85A8FB8DB}"/>
              </a:ext>
            </a:extLst>
          </p:cNvPr>
          <p:cNvCxnSpPr>
            <a:cxnSpLocks/>
          </p:cNvCxnSpPr>
          <p:nvPr/>
        </p:nvCxnSpPr>
        <p:spPr>
          <a:xfrm>
            <a:off x="4864099" y="2264567"/>
            <a:ext cx="2459552" cy="2364583"/>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97C7BDB-512D-81AD-AD25-DA4B52EF73C6}"/>
              </a:ext>
            </a:extLst>
          </p:cNvPr>
          <p:cNvCxnSpPr>
            <a:cxnSpLocks/>
          </p:cNvCxnSpPr>
          <p:nvPr/>
        </p:nvCxnSpPr>
        <p:spPr>
          <a:xfrm>
            <a:off x="1114438" y="2850554"/>
            <a:ext cx="1229776" cy="1182292"/>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62CF4D9-7214-9458-8325-F6A7C46A9709}"/>
              </a:ext>
            </a:extLst>
          </p:cNvPr>
          <p:cNvCxnSpPr>
            <a:cxnSpLocks/>
          </p:cNvCxnSpPr>
          <p:nvPr/>
        </p:nvCxnSpPr>
        <p:spPr>
          <a:xfrm>
            <a:off x="5818982" y="3182937"/>
            <a:ext cx="463381" cy="446088"/>
          </a:xfrm>
          <a:prstGeom prst="line">
            <a:avLst/>
          </a:prstGeom>
          <a:ln w="38100">
            <a:solidFill>
              <a:srgbClr val="FFFF00"/>
            </a:solidFill>
          </a:ln>
        </p:spPr>
        <p:style>
          <a:lnRef idx="2">
            <a:schemeClr val="accent2"/>
          </a:lnRef>
          <a:fillRef idx="0">
            <a:schemeClr val="accent2"/>
          </a:fillRef>
          <a:effectRef idx="1">
            <a:schemeClr val="accent2"/>
          </a:effectRef>
          <a:fontRef idx="minor">
            <a:schemeClr val="tx1"/>
          </a:fontRef>
        </p:style>
      </p:cxnSp>
      <p:cxnSp>
        <p:nvCxnSpPr>
          <p:cNvPr id="27" name="Straight Connector 26">
            <a:extLst>
              <a:ext uri="{FF2B5EF4-FFF2-40B4-BE49-F238E27FC236}">
                <a16:creationId xmlns:a16="http://schemas.microsoft.com/office/drawing/2014/main" id="{7ABAF548-0F78-CCC4-387C-2C665CBB0625}"/>
              </a:ext>
            </a:extLst>
          </p:cNvPr>
          <p:cNvCxnSpPr>
            <a:cxnSpLocks/>
          </p:cNvCxnSpPr>
          <p:nvPr/>
        </p:nvCxnSpPr>
        <p:spPr>
          <a:xfrm>
            <a:off x="10770733" y="3205956"/>
            <a:ext cx="463381" cy="446088"/>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28" name="Straight Arrow Connector 27">
            <a:extLst>
              <a:ext uri="{FF2B5EF4-FFF2-40B4-BE49-F238E27FC236}">
                <a16:creationId xmlns:a16="http://schemas.microsoft.com/office/drawing/2014/main" id="{F50C9CF1-DBD6-8FA5-233F-FAF32A4B9CAC}"/>
              </a:ext>
            </a:extLst>
          </p:cNvPr>
          <p:cNvCxnSpPr>
            <a:cxnSpLocks/>
          </p:cNvCxnSpPr>
          <p:nvPr/>
        </p:nvCxnSpPr>
        <p:spPr>
          <a:xfrm>
            <a:off x="4855602" y="-153593"/>
            <a:ext cx="2459552" cy="2364583"/>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E1DD8130-B90C-EDF8-52F4-58C56AE0958B}"/>
              </a:ext>
            </a:extLst>
          </p:cNvPr>
          <p:cNvCxnSpPr>
            <a:cxnSpLocks/>
          </p:cNvCxnSpPr>
          <p:nvPr/>
        </p:nvCxnSpPr>
        <p:spPr>
          <a:xfrm>
            <a:off x="6157119" y="1098548"/>
            <a:ext cx="63331" cy="60968"/>
          </a:xfrm>
          <a:prstGeom prst="line">
            <a:avLst/>
          </a:prstGeom>
          <a:ln w="38100">
            <a:solidFill>
              <a:srgbClr val="FFFF00"/>
            </a:solidFill>
          </a:ln>
        </p:spPr>
        <p:style>
          <a:lnRef idx="2">
            <a:schemeClr val="accent2"/>
          </a:lnRef>
          <a:fillRef idx="0">
            <a:schemeClr val="accent2"/>
          </a:fillRef>
          <a:effectRef idx="1">
            <a:schemeClr val="accent2"/>
          </a:effectRef>
          <a:fontRef idx="minor">
            <a:schemeClr val="tx1"/>
          </a:fontRef>
        </p:style>
      </p:cxnSp>
      <p:cxnSp>
        <p:nvCxnSpPr>
          <p:cNvPr id="39" name="Straight Connector 38">
            <a:extLst>
              <a:ext uri="{FF2B5EF4-FFF2-40B4-BE49-F238E27FC236}">
                <a16:creationId xmlns:a16="http://schemas.microsoft.com/office/drawing/2014/main" id="{CC7F86DF-7AAA-B240-C1C9-9CFAC8C9B9C1}"/>
              </a:ext>
            </a:extLst>
          </p:cNvPr>
          <p:cNvCxnSpPr>
            <a:cxnSpLocks/>
          </p:cNvCxnSpPr>
          <p:nvPr/>
        </p:nvCxnSpPr>
        <p:spPr>
          <a:xfrm>
            <a:off x="10970757" y="1068064"/>
            <a:ext cx="63331" cy="60968"/>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40" name="Straight Arrow Connector 39">
            <a:extLst>
              <a:ext uri="{FF2B5EF4-FFF2-40B4-BE49-F238E27FC236}">
                <a16:creationId xmlns:a16="http://schemas.microsoft.com/office/drawing/2014/main" id="{43FF5DFB-8585-A583-E865-AB90A89FFC5D}"/>
              </a:ext>
            </a:extLst>
          </p:cNvPr>
          <p:cNvCxnSpPr>
            <a:cxnSpLocks/>
          </p:cNvCxnSpPr>
          <p:nvPr/>
        </p:nvCxnSpPr>
        <p:spPr>
          <a:xfrm>
            <a:off x="4894148" y="4647010"/>
            <a:ext cx="2459552" cy="2364583"/>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52FC18DC-E23A-F905-FF80-35731832B2D2}"/>
              </a:ext>
            </a:extLst>
          </p:cNvPr>
          <p:cNvCxnSpPr>
            <a:cxnSpLocks/>
          </p:cNvCxnSpPr>
          <p:nvPr/>
        </p:nvCxnSpPr>
        <p:spPr>
          <a:xfrm>
            <a:off x="4943475" y="4698257"/>
            <a:ext cx="2175332" cy="2092035"/>
          </a:xfrm>
          <a:prstGeom prst="line">
            <a:avLst/>
          </a:prstGeom>
          <a:ln w="38100">
            <a:solidFill>
              <a:srgbClr val="FFFF00"/>
            </a:solidFill>
          </a:ln>
        </p:spPr>
        <p:style>
          <a:lnRef idx="2">
            <a:schemeClr val="accent2"/>
          </a:lnRef>
          <a:fillRef idx="0">
            <a:schemeClr val="accent2"/>
          </a:fillRef>
          <a:effectRef idx="1">
            <a:schemeClr val="accent2"/>
          </a:effectRef>
          <a:fontRef idx="minor">
            <a:schemeClr val="tx1"/>
          </a:fontRef>
        </p:style>
      </p:cxnSp>
      <p:cxnSp>
        <p:nvCxnSpPr>
          <p:cNvPr id="46" name="Straight Connector 45">
            <a:extLst>
              <a:ext uri="{FF2B5EF4-FFF2-40B4-BE49-F238E27FC236}">
                <a16:creationId xmlns:a16="http://schemas.microsoft.com/office/drawing/2014/main" id="{50AE0B63-D5A8-B5DA-F45B-69DD40DF3296}"/>
              </a:ext>
            </a:extLst>
          </p:cNvPr>
          <p:cNvCxnSpPr>
            <a:cxnSpLocks/>
          </p:cNvCxnSpPr>
          <p:nvPr/>
        </p:nvCxnSpPr>
        <p:spPr>
          <a:xfrm>
            <a:off x="9914756" y="4685032"/>
            <a:ext cx="2175332" cy="2092035"/>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sp>
        <p:nvSpPr>
          <p:cNvPr id="47" name="TextBox 46">
            <a:extLst>
              <a:ext uri="{FF2B5EF4-FFF2-40B4-BE49-F238E27FC236}">
                <a16:creationId xmlns:a16="http://schemas.microsoft.com/office/drawing/2014/main" id="{7AB70BF4-3A84-0FBB-5E68-85E4EE25111E}"/>
              </a:ext>
            </a:extLst>
          </p:cNvPr>
          <p:cNvSpPr txBox="1"/>
          <p:nvPr/>
        </p:nvSpPr>
        <p:spPr>
          <a:xfrm>
            <a:off x="4509431" y="-42538"/>
            <a:ext cx="572593" cy="261610"/>
          </a:xfrm>
          <a:prstGeom prst="rect">
            <a:avLst/>
          </a:prstGeom>
          <a:noFill/>
        </p:spPr>
        <p:txBody>
          <a:bodyPr wrap="square" rtlCol="0">
            <a:spAutoFit/>
          </a:bodyPr>
          <a:lstStyle/>
          <a:p>
            <a:r>
              <a:rPr lang="en-US" sz="1100" dirty="0"/>
              <a:t>WM</a:t>
            </a:r>
          </a:p>
        </p:txBody>
      </p:sp>
      <p:sp>
        <p:nvSpPr>
          <p:cNvPr id="49" name="TextBox 48">
            <a:extLst>
              <a:ext uri="{FF2B5EF4-FFF2-40B4-BE49-F238E27FC236}">
                <a16:creationId xmlns:a16="http://schemas.microsoft.com/office/drawing/2014/main" id="{CFF9FD57-D2BF-6384-CC79-8C211BF61588}"/>
              </a:ext>
            </a:extLst>
          </p:cNvPr>
          <p:cNvSpPr txBox="1"/>
          <p:nvPr/>
        </p:nvSpPr>
        <p:spPr>
          <a:xfrm>
            <a:off x="4538006" y="2176790"/>
            <a:ext cx="572593" cy="261610"/>
          </a:xfrm>
          <a:prstGeom prst="rect">
            <a:avLst/>
          </a:prstGeom>
          <a:noFill/>
        </p:spPr>
        <p:txBody>
          <a:bodyPr wrap="square" rtlCol="0">
            <a:spAutoFit/>
          </a:bodyPr>
          <a:lstStyle/>
          <a:p>
            <a:r>
              <a:rPr lang="en-US" sz="1100" dirty="0"/>
              <a:t>GM</a:t>
            </a:r>
          </a:p>
        </p:txBody>
      </p:sp>
      <p:sp>
        <p:nvSpPr>
          <p:cNvPr id="50" name="TextBox 49">
            <a:extLst>
              <a:ext uri="{FF2B5EF4-FFF2-40B4-BE49-F238E27FC236}">
                <a16:creationId xmlns:a16="http://schemas.microsoft.com/office/drawing/2014/main" id="{1C01457D-FE44-F076-E63F-A235EEE4D2C9}"/>
              </a:ext>
            </a:extLst>
          </p:cNvPr>
          <p:cNvSpPr txBox="1"/>
          <p:nvPr/>
        </p:nvSpPr>
        <p:spPr>
          <a:xfrm>
            <a:off x="4490380" y="4579633"/>
            <a:ext cx="572593" cy="261610"/>
          </a:xfrm>
          <a:prstGeom prst="rect">
            <a:avLst/>
          </a:prstGeom>
          <a:noFill/>
        </p:spPr>
        <p:txBody>
          <a:bodyPr wrap="square" rtlCol="0">
            <a:spAutoFit/>
          </a:bodyPr>
          <a:lstStyle/>
          <a:p>
            <a:r>
              <a:rPr lang="en-US" sz="1100" dirty="0"/>
              <a:t>CSF</a:t>
            </a:r>
          </a:p>
        </p:txBody>
      </p:sp>
      <p:sp>
        <p:nvSpPr>
          <p:cNvPr id="51" name="TextBox 50">
            <a:extLst>
              <a:ext uri="{FF2B5EF4-FFF2-40B4-BE49-F238E27FC236}">
                <a16:creationId xmlns:a16="http://schemas.microsoft.com/office/drawing/2014/main" id="{C22283C0-EAE1-D02D-067A-20E43A020D9D}"/>
              </a:ext>
            </a:extLst>
          </p:cNvPr>
          <p:cNvSpPr txBox="1"/>
          <p:nvPr/>
        </p:nvSpPr>
        <p:spPr>
          <a:xfrm>
            <a:off x="22989" y="0"/>
            <a:ext cx="3412674" cy="369332"/>
          </a:xfrm>
          <a:prstGeom prst="rect">
            <a:avLst/>
          </a:prstGeom>
          <a:noFill/>
        </p:spPr>
        <p:txBody>
          <a:bodyPr wrap="square" rtlCol="0">
            <a:spAutoFit/>
          </a:bodyPr>
          <a:lstStyle/>
          <a:p>
            <a:r>
              <a:rPr lang="en-US" dirty="0"/>
              <a:t>More angles = higher resolution</a:t>
            </a:r>
          </a:p>
        </p:txBody>
      </p:sp>
    </p:spTree>
    <p:extLst>
      <p:ext uri="{BB962C8B-B14F-4D97-AF65-F5344CB8AC3E}">
        <p14:creationId xmlns:p14="http://schemas.microsoft.com/office/powerpoint/2010/main" val="1112886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6DFDC-85E0-FA0F-B99B-617EDCBADFDF}"/>
            </a:ext>
          </a:extLst>
        </p:cNvPr>
        <p:cNvGrpSpPr/>
        <p:nvPr/>
      </p:nvGrpSpPr>
      <p:grpSpPr>
        <a:xfrm>
          <a:off x="0" y="0"/>
          <a:ext cx="0" cy="0"/>
          <a:chOff x="0" y="0"/>
          <a:chExt cx="0" cy="0"/>
        </a:xfrm>
      </p:grpSpPr>
      <p:pic>
        <p:nvPicPr>
          <p:cNvPr id="4098" name="Picture 2" descr="Neuron Images – Browse 504,532 Stock Photos, Vectors, and ...">
            <a:extLst>
              <a:ext uri="{FF2B5EF4-FFF2-40B4-BE49-F238E27FC236}">
                <a16:creationId xmlns:a16="http://schemas.microsoft.com/office/drawing/2014/main" id="{C59C44F1-5B51-8A81-84FB-A32AFDF48B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0322" y="242885"/>
            <a:ext cx="5485155" cy="13239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Neuron Images – Browse 504,532 Stock Photos, Vectors, and ...">
            <a:extLst>
              <a:ext uri="{FF2B5EF4-FFF2-40B4-BE49-F238E27FC236}">
                <a16:creationId xmlns:a16="http://schemas.microsoft.com/office/drawing/2014/main" id="{000C8430-F02D-86B0-F0FC-600E9563EB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5728" y="2443163"/>
            <a:ext cx="4646159" cy="197167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62D79D1-CEE2-D0FE-1D6E-80F149EABE12}"/>
              </a:ext>
            </a:extLst>
          </p:cNvPr>
          <p:cNvSpPr/>
          <p:nvPr/>
        </p:nvSpPr>
        <p:spPr>
          <a:xfrm>
            <a:off x="4864100" y="0"/>
            <a:ext cx="2463800"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9C6FD04-F9C7-F121-AC64-A7E04480205D}"/>
              </a:ext>
            </a:extLst>
          </p:cNvPr>
          <p:cNvSpPr/>
          <p:nvPr/>
        </p:nvSpPr>
        <p:spPr>
          <a:xfrm>
            <a:off x="9817100" y="0"/>
            <a:ext cx="2374900"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A91CC06-0952-3D21-A525-116EEF844629}"/>
              </a:ext>
            </a:extLst>
          </p:cNvPr>
          <p:cNvSpPr/>
          <p:nvPr/>
        </p:nvSpPr>
        <p:spPr>
          <a:xfrm>
            <a:off x="4859851" y="0"/>
            <a:ext cx="2463800" cy="22288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A92C6B7-1BF9-46C0-1EC2-EE9C31939A3F}"/>
              </a:ext>
            </a:extLst>
          </p:cNvPr>
          <p:cNvSpPr/>
          <p:nvPr/>
        </p:nvSpPr>
        <p:spPr>
          <a:xfrm>
            <a:off x="4859851" y="2228849"/>
            <a:ext cx="2463800" cy="24003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486DD8B-E1B5-253A-C6DC-CA353186E794}"/>
              </a:ext>
            </a:extLst>
          </p:cNvPr>
          <p:cNvSpPr/>
          <p:nvPr/>
        </p:nvSpPr>
        <p:spPr>
          <a:xfrm>
            <a:off x="4859851" y="4629151"/>
            <a:ext cx="2463800" cy="22288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A64504-DF88-62ED-CE81-A9767FD49C9A}"/>
              </a:ext>
            </a:extLst>
          </p:cNvPr>
          <p:cNvSpPr/>
          <p:nvPr/>
        </p:nvSpPr>
        <p:spPr>
          <a:xfrm>
            <a:off x="9812850" y="0"/>
            <a:ext cx="2379149" cy="22288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E4129B-6A1B-8D5C-4D8F-3DAD878CD3DE}"/>
              </a:ext>
            </a:extLst>
          </p:cNvPr>
          <p:cNvSpPr/>
          <p:nvPr/>
        </p:nvSpPr>
        <p:spPr>
          <a:xfrm>
            <a:off x="9812850" y="2228849"/>
            <a:ext cx="2379149" cy="24003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33B6637-23A6-95BB-66BB-EAE0E80BE9FA}"/>
              </a:ext>
            </a:extLst>
          </p:cNvPr>
          <p:cNvSpPr/>
          <p:nvPr/>
        </p:nvSpPr>
        <p:spPr>
          <a:xfrm>
            <a:off x="9812850" y="4629151"/>
            <a:ext cx="2379149" cy="22288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75F3205B-2C3A-69D9-ED31-91322DD80E77}"/>
              </a:ext>
            </a:extLst>
          </p:cNvPr>
          <p:cNvCxnSpPr>
            <a:cxnSpLocks/>
          </p:cNvCxnSpPr>
          <p:nvPr/>
        </p:nvCxnSpPr>
        <p:spPr>
          <a:xfrm flipV="1">
            <a:off x="859376" y="3429000"/>
            <a:ext cx="1739900" cy="1270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6E8E218-A725-426D-0FA0-E15DDBFAA902}"/>
              </a:ext>
            </a:extLst>
          </p:cNvPr>
          <p:cNvCxnSpPr>
            <a:cxnSpLocks/>
          </p:cNvCxnSpPr>
          <p:nvPr/>
        </p:nvCxnSpPr>
        <p:spPr>
          <a:xfrm>
            <a:off x="9980074" y="1098548"/>
            <a:ext cx="2044700" cy="0"/>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35" name="Straight Connector 34">
            <a:extLst>
              <a:ext uri="{FF2B5EF4-FFF2-40B4-BE49-F238E27FC236}">
                <a16:creationId xmlns:a16="http://schemas.microsoft.com/office/drawing/2014/main" id="{68DAB749-255C-BA18-46CC-277148769B42}"/>
              </a:ext>
            </a:extLst>
          </p:cNvPr>
          <p:cNvCxnSpPr>
            <a:cxnSpLocks/>
          </p:cNvCxnSpPr>
          <p:nvPr/>
        </p:nvCxnSpPr>
        <p:spPr>
          <a:xfrm>
            <a:off x="10672224" y="3441700"/>
            <a:ext cx="660400" cy="0"/>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36" name="Straight Connector 35">
            <a:extLst>
              <a:ext uri="{FF2B5EF4-FFF2-40B4-BE49-F238E27FC236}">
                <a16:creationId xmlns:a16="http://schemas.microsoft.com/office/drawing/2014/main" id="{CA005346-01D3-9117-94F8-6747E9BB61D5}"/>
              </a:ext>
            </a:extLst>
          </p:cNvPr>
          <p:cNvCxnSpPr>
            <a:cxnSpLocks/>
          </p:cNvCxnSpPr>
          <p:nvPr/>
        </p:nvCxnSpPr>
        <p:spPr>
          <a:xfrm>
            <a:off x="9872946" y="5746750"/>
            <a:ext cx="2258956" cy="0"/>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19" name="Straight Arrow Connector 18">
            <a:extLst>
              <a:ext uri="{FF2B5EF4-FFF2-40B4-BE49-F238E27FC236}">
                <a16:creationId xmlns:a16="http://schemas.microsoft.com/office/drawing/2014/main" id="{F6047A20-D3FC-6919-275E-D64C317EE270}"/>
              </a:ext>
            </a:extLst>
          </p:cNvPr>
          <p:cNvCxnSpPr>
            <a:cxnSpLocks/>
          </p:cNvCxnSpPr>
          <p:nvPr/>
        </p:nvCxnSpPr>
        <p:spPr>
          <a:xfrm>
            <a:off x="1114438" y="2850554"/>
            <a:ext cx="1229776" cy="1182292"/>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AC4BCDF-1524-2C03-5153-F570A12510D7}"/>
              </a:ext>
            </a:extLst>
          </p:cNvPr>
          <p:cNvCxnSpPr>
            <a:cxnSpLocks/>
          </p:cNvCxnSpPr>
          <p:nvPr/>
        </p:nvCxnSpPr>
        <p:spPr>
          <a:xfrm>
            <a:off x="10770733" y="3205956"/>
            <a:ext cx="463381" cy="446088"/>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39" name="Straight Connector 38">
            <a:extLst>
              <a:ext uri="{FF2B5EF4-FFF2-40B4-BE49-F238E27FC236}">
                <a16:creationId xmlns:a16="http://schemas.microsoft.com/office/drawing/2014/main" id="{7B5A7A12-D7C4-056D-2E85-063853A29343}"/>
              </a:ext>
            </a:extLst>
          </p:cNvPr>
          <p:cNvCxnSpPr>
            <a:cxnSpLocks/>
          </p:cNvCxnSpPr>
          <p:nvPr/>
        </p:nvCxnSpPr>
        <p:spPr>
          <a:xfrm>
            <a:off x="10970757" y="1068064"/>
            <a:ext cx="63331" cy="60968"/>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46" name="Straight Connector 45">
            <a:extLst>
              <a:ext uri="{FF2B5EF4-FFF2-40B4-BE49-F238E27FC236}">
                <a16:creationId xmlns:a16="http://schemas.microsoft.com/office/drawing/2014/main" id="{89E24AC6-1051-EE56-E515-9EB3BCACAABB}"/>
              </a:ext>
            </a:extLst>
          </p:cNvPr>
          <p:cNvCxnSpPr>
            <a:cxnSpLocks/>
          </p:cNvCxnSpPr>
          <p:nvPr/>
        </p:nvCxnSpPr>
        <p:spPr>
          <a:xfrm>
            <a:off x="9914756" y="4685032"/>
            <a:ext cx="2175332" cy="2092035"/>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3" name="Straight Arrow Connector 2">
            <a:extLst>
              <a:ext uri="{FF2B5EF4-FFF2-40B4-BE49-F238E27FC236}">
                <a16:creationId xmlns:a16="http://schemas.microsoft.com/office/drawing/2014/main" id="{CF23C557-8E65-1B76-82CF-432247033DF8}"/>
              </a:ext>
            </a:extLst>
          </p:cNvPr>
          <p:cNvCxnSpPr>
            <a:cxnSpLocks/>
          </p:cNvCxnSpPr>
          <p:nvPr/>
        </p:nvCxnSpPr>
        <p:spPr>
          <a:xfrm flipV="1">
            <a:off x="4864098" y="2237729"/>
            <a:ext cx="2451056" cy="2373564"/>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4079467-0EE8-3317-2210-85416FA92A63}"/>
              </a:ext>
            </a:extLst>
          </p:cNvPr>
          <p:cNvCxnSpPr>
            <a:cxnSpLocks/>
          </p:cNvCxnSpPr>
          <p:nvPr/>
        </p:nvCxnSpPr>
        <p:spPr>
          <a:xfrm flipV="1">
            <a:off x="1117229" y="2850554"/>
            <a:ext cx="1224194" cy="1185491"/>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C4995F34-CDCC-F6A4-1C95-54866929C511}"/>
              </a:ext>
            </a:extLst>
          </p:cNvPr>
          <p:cNvCxnSpPr>
            <a:cxnSpLocks/>
          </p:cNvCxnSpPr>
          <p:nvPr/>
        </p:nvCxnSpPr>
        <p:spPr>
          <a:xfrm flipV="1">
            <a:off x="4902644" y="-198295"/>
            <a:ext cx="2451056" cy="2373564"/>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1AC7747-2511-8C8B-ED55-41E0C9168F01}"/>
              </a:ext>
            </a:extLst>
          </p:cNvPr>
          <p:cNvCxnSpPr>
            <a:cxnSpLocks/>
          </p:cNvCxnSpPr>
          <p:nvPr/>
        </p:nvCxnSpPr>
        <p:spPr>
          <a:xfrm flipV="1">
            <a:off x="4855602" y="4654303"/>
            <a:ext cx="2451056" cy="2373564"/>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CC787BD-28ED-F698-70C5-28A7E4CA6421}"/>
              </a:ext>
            </a:extLst>
          </p:cNvPr>
          <p:cNvCxnSpPr>
            <a:cxnSpLocks/>
          </p:cNvCxnSpPr>
          <p:nvPr/>
        </p:nvCxnSpPr>
        <p:spPr>
          <a:xfrm flipV="1">
            <a:off x="5965825" y="3205956"/>
            <a:ext cx="352425" cy="337344"/>
          </a:xfrm>
          <a:prstGeom prst="line">
            <a:avLst/>
          </a:prstGeom>
          <a:ln w="38100">
            <a:solidFill>
              <a:srgbClr val="FFFF00"/>
            </a:solidFill>
          </a:ln>
        </p:spPr>
        <p:style>
          <a:lnRef idx="2">
            <a:schemeClr val="accent2"/>
          </a:lnRef>
          <a:fillRef idx="0">
            <a:schemeClr val="accent2"/>
          </a:fillRef>
          <a:effectRef idx="1">
            <a:schemeClr val="accent2"/>
          </a:effectRef>
          <a:fontRef idx="minor">
            <a:schemeClr val="tx1"/>
          </a:fontRef>
        </p:style>
      </p:cxnSp>
      <p:cxnSp>
        <p:nvCxnSpPr>
          <p:cNvPr id="32" name="Straight Connector 31">
            <a:extLst>
              <a:ext uri="{FF2B5EF4-FFF2-40B4-BE49-F238E27FC236}">
                <a16:creationId xmlns:a16="http://schemas.microsoft.com/office/drawing/2014/main" id="{33791BAB-F47E-0B4F-D5E7-477B3DDF3450}"/>
              </a:ext>
            </a:extLst>
          </p:cNvPr>
          <p:cNvCxnSpPr>
            <a:cxnSpLocks/>
          </p:cNvCxnSpPr>
          <p:nvPr/>
        </p:nvCxnSpPr>
        <p:spPr>
          <a:xfrm flipV="1">
            <a:off x="5064125" y="4781550"/>
            <a:ext cx="2111375" cy="2044700"/>
          </a:xfrm>
          <a:prstGeom prst="line">
            <a:avLst/>
          </a:prstGeom>
          <a:ln w="38100">
            <a:solidFill>
              <a:srgbClr val="FFFF00"/>
            </a:solidFill>
          </a:ln>
        </p:spPr>
        <p:style>
          <a:lnRef idx="2">
            <a:schemeClr val="accent2"/>
          </a:lnRef>
          <a:fillRef idx="0">
            <a:schemeClr val="accent2"/>
          </a:fillRef>
          <a:effectRef idx="1">
            <a:schemeClr val="accent2"/>
          </a:effectRef>
          <a:fontRef idx="minor">
            <a:schemeClr val="tx1"/>
          </a:fontRef>
        </p:style>
      </p:cxnSp>
      <p:cxnSp>
        <p:nvCxnSpPr>
          <p:cNvPr id="44" name="Straight Connector 43">
            <a:extLst>
              <a:ext uri="{FF2B5EF4-FFF2-40B4-BE49-F238E27FC236}">
                <a16:creationId xmlns:a16="http://schemas.microsoft.com/office/drawing/2014/main" id="{D15E990F-3AF3-1852-B273-13F539A296AB}"/>
              </a:ext>
            </a:extLst>
          </p:cNvPr>
          <p:cNvCxnSpPr>
            <a:cxnSpLocks/>
          </p:cNvCxnSpPr>
          <p:nvPr/>
        </p:nvCxnSpPr>
        <p:spPr>
          <a:xfrm flipV="1">
            <a:off x="5932793" y="1098548"/>
            <a:ext cx="85111" cy="81469"/>
          </a:xfrm>
          <a:prstGeom prst="line">
            <a:avLst/>
          </a:prstGeom>
          <a:ln w="38100">
            <a:solidFill>
              <a:srgbClr val="FFFF00"/>
            </a:solidFill>
          </a:ln>
        </p:spPr>
        <p:style>
          <a:lnRef idx="2">
            <a:schemeClr val="accent2"/>
          </a:lnRef>
          <a:fillRef idx="0">
            <a:schemeClr val="accent2"/>
          </a:fillRef>
          <a:effectRef idx="1">
            <a:schemeClr val="accent2"/>
          </a:effectRef>
          <a:fontRef idx="minor">
            <a:schemeClr val="tx1"/>
          </a:fontRef>
        </p:style>
      </p:cxnSp>
      <p:cxnSp>
        <p:nvCxnSpPr>
          <p:cNvPr id="48" name="Straight Connector 47">
            <a:extLst>
              <a:ext uri="{FF2B5EF4-FFF2-40B4-BE49-F238E27FC236}">
                <a16:creationId xmlns:a16="http://schemas.microsoft.com/office/drawing/2014/main" id="{3E1BBDA3-7DA1-8D07-CB24-ADCB8CFBB855}"/>
              </a:ext>
            </a:extLst>
          </p:cNvPr>
          <p:cNvCxnSpPr>
            <a:cxnSpLocks/>
          </p:cNvCxnSpPr>
          <p:nvPr/>
        </p:nvCxnSpPr>
        <p:spPr>
          <a:xfrm flipV="1">
            <a:off x="10959866" y="1057813"/>
            <a:ext cx="85111" cy="81469"/>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49" name="Straight Connector 48">
            <a:extLst>
              <a:ext uri="{FF2B5EF4-FFF2-40B4-BE49-F238E27FC236}">
                <a16:creationId xmlns:a16="http://schemas.microsoft.com/office/drawing/2014/main" id="{02039D7E-A120-DAFD-390F-89623AD6A1CB}"/>
              </a:ext>
            </a:extLst>
          </p:cNvPr>
          <p:cNvCxnSpPr>
            <a:cxnSpLocks/>
          </p:cNvCxnSpPr>
          <p:nvPr/>
        </p:nvCxnSpPr>
        <p:spPr>
          <a:xfrm flipV="1">
            <a:off x="10857875" y="3255839"/>
            <a:ext cx="352425" cy="337344"/>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50" name="Straight Connector 49">
            <a:extLst>
              <a:ext uri="{FF2B5EF4-FFF2-40B4-BE49-F238E27FC236}">
                <a16:creationId xmlns:a16="http://schemas.microsoft.com/office/drawing/2014/main" id="{9C002906-6B5F-A85C-86B1-B3A78E6F5BA2}"/>
              </a:ext>
            </a:extLst>
          </p:cNvPr>
          <p:cNvCxnSpPr>
            <a:cxnSpLocks/>
          </p:cNvCxnSpPr>
          <p:nvPr/>
        </p:nvCxnSpPr>
        <p:spPr>
          <a:xfrm flipV="1">
            <a:off x="9946733" y="4732367"/>
            <a:ext cx="2111375" cy="2044700"/>
          </a:xfrm>
          <a:prstGeom prst="line">
            <a:avLst/>
          </a:prstGeom>
          <a:ln w="38100">
            <a:solidFill>
              <a:srgbClr val="FFC000"/>
            </a:solidFill>
          </a:ln>
        </p:spPr>
        <p:style>
          <a:lnRef idx="2">
            <a:schemeClr val="accent2"/>
          </a:lnRef>
          <a:fillRef idx="0">
            <a:schemeClr val="accent2"/>
          </a:fillRef>
          <a:effectRef idx="1">
            <a:schemeClr val="accent2"/>
          </a:effectRef>
          <a:fontRef idx="minor">
            <a:schemeClr val="tx1"/>
          </a:fontRef>
        </p:style>
      </p:cxnSp>
      <p:sp>
        <p:nvSpPr>
          <p:cNvPr id="51" name="TextBox 50">
            <a:extLst>
              <a:ext uri="{FF2B5EF4-FFF2-40B4-BE49-F238E27FC236}">
                <a16:creationId xmlns:a16="http://schemas.microsoft.com/office/drawing/2014/main" id="{F9610BFA-5049-0BCF-09E5-858BC2232365}"/>
              </a:ext>
            </a:extLst>
          </p:cNvPr>
          <p:cNvSpPr txBox="1"/>
          <p:nvPr/>
        </p:nvSpPr>
        <p:spPr>
          <a:xfrm>
            <a:off x="4509431" y="-42538"/>
            <a:ext cx="572593" cy="261610"/>
          </a:xfrm>
          <a:prstGeom prst="rect">
            <a:avLst/>
          </a:prstGeom>
          <a:noFill/>
        </p:spPr>
        <p:txBody>
          <a:bodyPr wrap="square" rtlCol="0">
            <a:spAutoFit/>
          </a:bodyPr>
          <a:lstStyle/>
          <a:p>
            <a:r>
              <a:rPr lang="en-US" sz="1100" dirty="0"/>
              <a:t>WM</a:t>
            </a:r>
          </a:p>
        </p:txBody>
      </p:sp>
      <p:sp>
        <p:nvSpPr>
          <p:cNvPr id="53" name="TextBox 52">
            <a:extLst>
              <a:ext uri="{FF2B5EF4-FFF2-40B4-BE49-F238E27FC236}">
                <a16:creationId xmlns:a16="http://schemas.microsoft.com/office/drawing/2014/main" id="{BD9D53CC-9C05-E988-07EA-D405E4E1D43E}"/>
              </a:ext>
            </a:extLst>
          </p:cNvPr>
          <p:cNvSpPr txBox="1"/>
          <p:nvPr/>
        </p:nvSpPr>
        <p:spPr>
          <a:xfrm>
            <a:off x="4538006" y="2176790"/>
            <a:ext cx="572593" cy="261610"/>
          </a:xfrm>
          <a:prstGeom prst="rect">
            <a:avLst/>
          </a:prstGeom>
          <a:noFill/>
        </p:spPr>
        <p:txBody>
          <a:bodyPr wrap="square" rtlCol="0">
            <a:spAutoFit/>
          </a:bodyPr>
          <a:lstStyle/>
          <a:p>
            <a:r>
              <a:rPr lang="en-US" sz="1100" dirty="0"/>
              <a:t>GM</a:t>
            </a:r>
          </a:p>
        </p:txBody>
      </p:sp>
      <p:sp>
        <p:nvSpPr>
          <p:cNvPr id="54" name="TextBox 53">
            <a:extLst>
              <a:ext uri="{FF2B5EF4-FFF2-40B4-BE49-F238E27FC236}">
                <a16:creationId xmlns:a16="http://schemas.microsoft.com/office/drawing/2014/main" id="{F671E817-BC98-8D5C-5FD9-6D043884F1D0}"/>
              </a:ext>
            </a:extLst>
          </p:cNvPr>
          <p:cNvSpPr txBox="1"/>
          <p:nvPr/>
        </p:nvSpPr>
        <p:spPr>
          <a:xfrm>
            <a:off x="4490380" y="4579633"/>
            <a:ext cx="572593" cy="261610"/>
          </a:xfrm>
          <a:prstGeom prst="rect">
            <a:avLst/>
          </a:prstGeom>
          <a:noFill/>
        </p:spPr>
        <p:txBody>
          <a:bodyPr wrap="square" rtlCol="0">
            <a:spAutoFit/>
          </a:bodyPr>
          <a:lstStyle/>
          <a:p>
            <a:r>
              <a:rPr lang="en-US" sz="1100" dirty="0"/>
              <a:t>CSF</a:t>
            </a:r>
          </a:p>
        </p:txBody>
      </p:sp>
      <p:sp>
        <p:nvSpPr>
          <p:cNvPr id="55" name="TextBox 54">
            <a:extLst>
              <a:ext uri="{FF2B5EF4-FFF2-40B4-BE49-F238E27FC236}">
                <a16:creationId xmlns:a16="http://schemas.microsoft.com/office/drawing/2014/main" id="{3531F4F0-A990-F803-0BBE-A8EE117DE997}"/>
              </a:ext>
            </a:extLst>
          </p:cNvPr>
          <p:cNvSpPr txBox="1"/>
          <p:nvPr/>
        </p:nvSpPr>
        <p:spPr>
          <a:xfrm>
            <a:off x="22989" y="0"/>
            <a:ext cx="3412674" cy="369332"/>
          </a:xfrm>
          <a:prstGeom prst="rect">
            <a:avLst/>
          </a:prstGeom>
          <a:noFill/>
        </p:spPr>
        <p:txBody>
          <a:bodyPr wrap="square" rtlCol="0">
            <a:spAutoFit/>
          </a:bodyPr>
          <a:lstStyle/>
          <a:p>
            <a:r>
              <a:rPr lang="en-US" dirty="0"/>
              <a:t>More angles = higher resolution</a:t>
            </a:r>
          </a:p>
        </p:txBody>
      </p:sp>
    </p:spTree>
    <p:extLst>
      <p:ext uri="{BB962C8B-B14F-4D97-AF65-F5344CB8AC3E}">
        <p14:creationId xmlns:p14="http://schemas.microsoft.com/office/powerpoint/2010/main" val="3942428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A0CBE-9544-69AA-C79E-287BC2B8EBFA}"/>
              </a:ext>
            </a:extLst>
          </p:cNvPr>
          <p:cNvSpPr>
            <a:spLocks noGrp="1"/>
          </p:cNvSpPr>
          <p:nvPr>
            <p:ph type="title"/>
          </p:nvPr>
        </p:nvSpPr>
        <p:spPr/>
        <p:txBody>
          <a:bodyPr/>
          <a:lstStyle/>
          <a:p>
            <a:r>
              <a:rPr lang="en-US" dirty="0"/>
              <a:t>Shells / b-value</a:t>
            </a:r>
          </a:p>
        </p:txBody>
      </p:sp>
      <p:sp>
        <p:nvSpPr>
          <p:cNvPr id="3" name="Content Placeholder 2">
            <a:extLst>
              <a:ext uri="{FF2B5EF4-FFF2-40B4-BE49-F238E27FC236}">
                <a16:creationId xmlns:a16="http://schemas.microsoft.com/office/drawing/2014/main" id="{8F41AFCD-4D24-5986-87D5-BFB38323B5E0}"/>
              </a:ext>
            </a:extLst>
          </p:cNvPr>
          <p:cNvSpPr>
            <a:spLocks noGrp="1"/>
          </p:cNvSpPr>
          <p:nvPr>
            <p:ph idx="1"/>
          </p:nvPr>
        </p:nvSpPr>
        <p:spPr/>
        <p:txBody>
          <a:bodyPr/>
          <a:lstStyle/>
          <a:p>
            <a:r>
              <a:rPr lang="en-US" dirty="0"/>
              <a:t>b-value reflects the strength and timing of the diffusion gradients</a:t>
            </a:r>
          </a:p>
        </p:txBody>
      </p:sp>
      <p:pic>
        <p:nvPicPr>
          <p:cNvPr id="5122" name="Picture 2">
            <a:extLst>
              <a:ext uri="{FF2B5EF4-FFF2-40B4-BE49-F238E27FC236}">
                <a16:creationId xmlns:a16="http://schemas.microsoft.com/office/drawing/2014/main" id="{6638F9BF-6DA8-B903-69D4-85FFE29865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170" y="2816219"/>
            <a:ext cx="5715000" cy="3124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ACE509B-0F19-6237-E019-66781E8AA84F}"/>
              </a:ext>
            </a:extLst>
          </p:cNvPr>
          <p:cNvSpPr txBox="1"/>
          <p:nvPr/>
        </p:nvSpPr>
        <p:spPr>
          <a:xfrm>
            <a:off x="1663343" y="3136612"/>
            <a:ext cx="3504067" cy="584775"/>
          </a:xfrm>
          <a:prstGeom prst="rect">
            <a:avLst/>
          </a:prstGeom>
          <a:noFill/>
          <a:ln>
            <a:solidFill>
              <a:schemeClr val="tx1"/>
            </a:solidFill>
          </a:ln>
        </p:spPr>
        <p:txBody>
          <a:bodyPr wrap="square">
            <a:spAutoFit/>
          </a:bodyPr>
          <a:lstStyle/>
          <a:p>
            <a:pPr algn="ctr">
              <a:spcAft>
                <a:spcPts val="750"/>
              </a:spcAft>
              <a:buNone/>
            </a:pPr>
            <a:r>
              <a:rPr lang="en-US" sz="3200" b="1" i="1" dirty="0">
                <a:effectLst/>
                <a:latin typeface="Aptos Display" panose="020B0004020202020204" pitchFamily="34" charset="0"/>
              </a:rPr>
              <a:t>b</a:t>
            </a:r>
            <a:r>
              <a:rPr lang="en-US" sz="3200" b="1" i="0" dirty="0">
                <a:effectLst/>
                <a:latin typeface="Aptos Display" panose="020B0004020202020204" pitchFamily="34" charset="0"/>
              </a:rPr>
              <a:t> = </a:t>
            </a:r>
            <a:r>
              <a:rPr lang="el-GR" sz="3200" b="1" i="1" dirty="0">
                <a:effectLst/>
                <a:latin typeface="Aptos Display" panose="020B0004020202020204" pitchFamily="34" charset="0"/>
              </a:rPr>
              <a:t>γ</a:t>
            </a:r>
            <a:r>
              <a:rPr lang="el-GR" sz="3200" b="1" i="0" dirty="0">
                <a:effectLst/>
                <a:latin typeface="Aptos Display" panose="020B0004020202020204" pitchFamily="34" charset="0"/>
              </a:rPr>
              <a:t>² </a:t>
            </a:r>
            <a:r>
              <a:rPr lang="en-US" sz="3200" b="1" i="0" dirty="0">
                <a:solidFill>
                  <a:srgbClr val="0309F3"/>
                </a:solidFill>
                <a:effectLst/>
                <a:latin typeface="Aptos Display" panose="020B0004020202020204" pitchFamily="34" charset="0"/>
              </a:rPr>
              <a:t>G</a:t>
            </a:r>
            <a:r>
              <a:rPr lang="en-US" sz="3200" b="1" i="0" dirty="0">
                <a:effectLst/>
                <a:latin typeface="Aptos Display" panose="020B0004020202020204" pitchFamily="34" charset="0"/>
              </a:rPr>
              <a:t>² </a:t>
            </a:r>
            <a:r>
              <a:rPr lang="el-GR" sz="3200" b="1" i="0" dirty="0">
                <a:solidFill>
                  <a:srgbClr val="00B050"/>
                </a:solidFill>
                <a:effectLst/>
                <a:latin typeface="Aptos Display" panose="020B0004020202020204" pitchFamily="34" charset="0"/>
              </a:rPr>
              <a:t>δ</a:t>
            </a:r>
            <a:r>
              <a:rPr lang="el-GR" sz="3200" b="1" i="0" dirty="0">
                <a:effectLst/>
                <a:latin typeface="Aptos Display" panose="020B0004020202020204" pitchFamily="34" charset="0"/>
              </a:rPr>
              <a:t>² (</a:t>
            </a:r>
            <a:r>
              <a:rPr lang="el-GR" sz="3200" b="1" i="0" dirty="0">
                <a:solidFill>
                  <a:srgbClr val="FF0000"/>
                </a:solidFill>
                <a:effectLst/>
                <a:latin typeface="Aptos Display" panose="020B0004020202020204" pitchFamily="34" charset="0"/>
              </a:rPr>
              <a:t>Δ</a:t>
            </a:r>
            <a:r>
              <a:rPr lang="el-GR" sz="3200" b="1" i="0" dirty="0">
                <a:effectLst/>
                <a:latin typeface="Aptos Display" panose="020B0004020202020204" pitchFamily="34" charset="0"/>
              </a:rPr>
              <a:t>−</a:t>
            </a:r>
            <a:r>
              <a:rPr lang="el-GR" sz="3200" b="1" i="0" dirty="0">
                <a:solidFill>
                  <a:srgbClr val="00B050"/>
                </a:solidFill>
                <a:effectLst/>
                <a:latin typeface="Aptos Display" panose="020B0004020202020204" pitchFamily="34" charset="0"/>
              </a:rPr>
              <a:t>δ</a:t>
            </a:r>
            <a:r>
              <a:rPr lang="el-GR" sz="3200" b="1" i="0" dirty="0">
                <a:effectLst/>
                <a:latin typeface="Aptos Display" panose="020B0004020202020204" pitchFamily="34" charset="0"/>
              </a:rPr>
              <a:t>/3)</a:t>
            </a:r>
          </a:p>
        </p:txBody>
      </p:sp>
      <p:sp>
        <p:nvSpPr>
          <p:cNvPr id="8" name="TextBox 7">
            <a:extLst>
              <a:ext uri="{FF2B5EF4-FFF2-40B4-BE49-F238E27FC236}">
                <a16:creationId xmlns:a16="http://schemas.microsoft.com/office/drawing/2014/main" id="{7A12462E-62D1-AC79-CEBA-1855F3E7C7D6}"/>
              </a:ext>
            </a:extLst>
          </p:cNvPr>
          <p:cNvSpPr txBox="1"/>
          <p:nvPr/>
        </p:nvSpPr>
        <p:spPr>
          <a:xfrm>
            <a:off x="2729094" y="3946921"/>
            <a:ext cx="2080185" cy="369332"/>
          </a:xfrm>
          <a:prstGeom prst="rect">
            <a:avLst/>
          </a:prstGeom>
          <a:noFill/>
        </p:spPr>
        <p:txBody>
          <a:bodyPr wrap="square" rtlCol="0">
            <a:spAutoFit/>
          </a:bodyPr>
          <a:lstStyle/>
          <a:p>
            <a:r>
              <a:rPr lang="en-US" dirty="0"/>
              <a:t>Gyromagnetic ratio</a:t>
            </a:r>
          </a:p>
        </p:txBody>
      </p:sp>
      <p:sp>
        <p:nvSpPr>
          <p:cNvPr id="9" name="TextBox 8">
            <a:extLst>
              <a:ext uri="{FF2B5EF4-FFF2-40B4-BE49-F238E27FC236}">
                <a16:creationId xmlns:a16="http://schemas.microsoft.com/office/drawing/2014/main" id="{89E97905-D17A-D37A-A986-3B53BD364AAD}"/>
              </a:ext>
            </a:extLst>
          </p:cNvPr>
          <p:cNvSpPr txBox="1"/>
          <p:nvPr/>
        </p:nvSpPr>
        <p:spPr>
          <a:xfrm>
            <a:off x="2739097" y="4581829"/>
            <a:ext cx="2059447" cy="369332"/>
          </a:xfrm>
          <a:prstGeom prst="rect">
            <a:avLst/>
          </a:prstGeom>
          <a:noFill/>
          <a:ln>
            <a:solidFill>
              <a:srgbClr val="0309F3"/>
            </a:solidFill>
          </a:ln>
        </p:spPr>
        <p:txBody>
          <a:bodyPr wrap="square" rtlCol="0">
            <a:spAutoFit/>
          </a:bodyPr>
          <a:lstStyle/>
          <a:p>
            <a:r>
              <a:rPr lang="en-US" dirty="0"/>
              <a:t>Gradient </a:t>
            </a:r>
            <a:r>
              <a:rPr lang="en-US" b="1" dirty="0"/>
              <a:t>strength</a:t>
            </a:r>
          </a:p>
        </p:txBody>
      </p:sp>
      <p:sp>
        <p:nvSpPr>
          <p:cNvPr id="10" name="TextBox 9">
            <a:extLst>
              <a:ext uri="{FF2B5EF4-FFF2-40B4-BE49-F238E27FC236}">
                <a16:creationId xmlns:a16="http://schemas.microsoft.com/office/drawing/2014/main" id="{5183127B-C7BF-F38E-2D5C-26A16157F7B9}"/>
              </a:ext>
            </a:extLst>
          </p:cNvPr>
          <p:cNvSpPr txBox="1"/>
          <p:nvPr/>
        </p:nvSpPr>
        <p:spPr>
          <a:xfrm>
            <a:off x="2729094" y="5216738"/>
            <a:ext cx="2070182" cy="369332"/>
          </a:xfrm>
          <a:prstGeom prst="rect">
            <a:avLst/>
          </a:prstGeom>
          <a:noFill/>
          <a:ln>
            <a:solidFill>
              <a:srgbClr val="00B050"/>
            </a:solidFill>
          </a:ln>
        </p:spPr>
        <p:txBody>
          <a:bodyPr wrap="square" rtlCol="0">
            <a:spAutoFit/>
          </a:bodyPr>
          <a:lstStyle/>
          <a:p>
            <a:r>
              <a:rPr lang="en-US" dirty="0"/>
              <a:t>Gradient </a:t>
            </a:r>
            <a:r>
              <a:rPr lang="en-US" b="1" dirty="0"/>
              <a:t>duration</a:t>
            </a:r>
          </a:p>
        </p:txBody>
      </p:sp>
      <p:cxnSp>
        <p:nvCxnSpPr>
          <p:cNvPr id="12" name="Connector: Elbow 11">
            <a:extLst>
              <a:ext uri="{FF2B5EF4-FFF2-40B4-BE49-F238E27FC236}">
                <a16:creationId xmlns:a16="http://schemas.microsoft.com/office/drawing/2014/main" id="{EC947A90-7CFC-4A44-5036-95C792F11EF6}"/>
              </a:ext>
            </a:extLst>
          </p:cNvPr>
          <p:cNvCxnSpPr>
            <a:cxnSpLocks/>
            <a:endCxn id="8" idx="1"/>
          </p:cNvCxnSpPr>
          <p:nvPr/>
        </p:nvCxnSpPr>
        <p:spPr>
          <a:xfrm rot="16200000" flipH="1">
            <a:off x="2385752" y="3788245"/>
            <a:ext cx="375788" cy="310896"/>
          </a:xfrm>
          <a:prstGeom prst="bentConnector2">
            <a:avLst/>
          </a:prstGeom>
          <a:ln cap="rnd">
            <a:solidFill>
              <a:schemeClr val="tx1"/>
            </a:solidFill>
            <a:round/>
            <a:tailEnd type="triangle"/>
          </a:ln>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E17DA978-49E0-AF3F-D690-80F529E90F86}"/>
              </a:ext>
            </a:extLst>
          </p:cNvPr>
          <p:cNvCxnSpPr>
            <a:cxnSpLocks/>
            <a:endCxn id="9" idx="1"/>
          </p:cNvCxnSpPr>
          <p:nvPr/>
        </p:nvCxnSpPr>
        <p:spPr>
          <a:xfrm rot="16200000" flipH="1">
            <a:off x="1029901" y="3057299"/>
            <a:ext cx="1795996" cy="1622396"/>
          </a:xfrm>
          <a:prstGeom prst="bentConnector2">
            <a:avLst/>
          </a:prstGeom>
          <a:ln cap="rnd">
            <a:solidFill>
              <a:srgbClr val="0309F3"/>
            </a:solidFill>
            <a:round/>
            <a:tailEnd type="triangle"/>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EC3FC9C4-4BFA-CEDF-F333-DC2AC34A6EFC}"/>
              </a:ext>
            </a:extLst>
          </p:cNvPr>
          <p:cNvCxnSpPr>
            <a:cxnSpLocks/>
          </p:cNvCxnSpPr>
          <p:nvPr/>
        </p:nvCxnSpPr>
        <p:spPr>
          <a:xfrm>
            <a:off x="1116702" y="2961353"/>
            <a:ext cx="1798320" cy="0"/>
          </a:xfrm>
          <a:prstGeom prst="line">
            <a:avLst/>
          </a:prstGeom>
          <a:ln cap="rnd">
            <a:solidFill>
              <a:srgbClr val="0309F3"/>
            </a:solidFill>
            <a:round/>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C810887-DFB8-4622-E3DE-FBACA19E5559}"/>
              </a:ext>
            </a:extLst>
          </p:cNvPr>
          <p:cNvCxnSpPr>
            <a:cxnSpLocks/>
          </p:cNvCxnSpPr>
          <p:nvPr/>
        </p:nvCxnSpPr>
        <p:spPr>
          <a:xfrm>
            <a:off x="2915022" y="2961353"/>
            <a:ext cx="0" cy="139412"/>
          </a:xfrm>
          <a:prstGeom prst="line">
            <a:avLst/>
          </a:prstGeom>
          <a:ln cap="rnd">
            <a:solidFill>
              <a:srgbClr val="0309F3"/>
            </a:solidFill>
            <a:round/>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25B53029-AE02-0455-7757-8C01210F6E08}"/>
              </a:ext>
            </a:extLst>
          </p:cNvPr>
          <p:cNvCxnSpPr>
            <a:cxnSpLocks/>
          </p:cNvCxnSpPr>
          <p:nvPr/>
        </p:nvCxnSpPr>
        <p:spPr>
          <a:xfrm>
            <a:off x="3415376" y="2849593"/>
            <a:ext cx="0" cy="251172"/>
          </a:xfrm>
          <a:prstGeom prst="line">
            <a:avLst/>
          </a:prstGeom>
          <a:ln cap="rnd">
            <a:solidFill>
              <a:srgbClr val="00B050"/>
            </a:solidFill>
            <a:round/>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40DEA57D-944E-ED05-93C4-2154FE91B418}"/>
              </a:ext>
            </a:extLst>
          </p:cNvPr>
          <p:cNvCxnSpPr>
            <a:cxnSpLocks/>
          </p:cNvCxnSpPr>
          <p:nvPr/>
        </p:nvCxnSpPr>
        <p:spPr>
          <a:xfrm>
            <a:off x="977002" y="2849593"/>
            <a:ext cx="2438374" cy="0"/>
          </a:xfrm>
          <a:prstGeom prst="line">
            <a:avLst/>
          </a:prstGeom>
          <a:ln cap="rnd">
            <a:solidFill>
              <a:srgbClr val="00B050"/>
            </a:solidFill>
            <a:round/>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95EA88D8-0454-5AF4-F171-67573AB64202}"/>
              </a:ext>
            </a:extLst>
          </p:cNvPr>
          <p:cNvCxnSpPr>
            <a:cxnSpLocks/>
            <a:endCxn id="10" idx="1"/>
          </p:cNvCxnSpPr>
          <p:nvPr/>
        </p:nvCxnSpPr>
        <p:spPr>
          <a:xfrm rot="16200000" flipH="1">
            <a:off x="581715" y="3254025"/>
            <a:ext cx="2542666" cy="1752092"/>
          </a:xfrm>
          <a:prstGeom prst="bentConnector2">
            <a:avLst/>
          </a:prstGeom>
          <a:ln cap="rnd">
            <a:solidFill>
              <a:srgbClr val="00B050"/>
            </a:solidFill>
            <a:round/>
            <a:tailEnd type="triangle"/>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9ECD6054-897F-EF08-07AF-D1C0476E8E56}"/>
              </a:ext>
            </a:extLst>
          </p:cNvPr>
          <p:cNvCxnSpPr>
            <a:cxnSpLocks/>
          </p:cNvCxnSpPr>
          <p:nvPr/>
        </p:nvCxnSpPr>
        <p:spPr>
          <a:xfrm>
            <a:off x="3996401" y="2724150"/>
            <a:ext cx="0" cy="376615"/>
          </a:xfrm>
          <a:prstGeom prst="line">
            <a:avLst/>
          </a:prstGeom>
          <a:ln cap="rnd">
            <a:solidFill>
              <a:srgbClr val="FF0000"/>
            </a:solidFill>
            <a:round/>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3FDC383E-2CF9-A599-3B19-224655C4BE7E}"/>
              </a:ext>
            </a:extLst>
          </p:cNvPr>
          <p:cNvCxnSpPr>
            <a:cxnSpLocks/>
          </p:cNvCxnSpPr>
          <p:nvPr/>
        </p:nvCxnSpPr>
        <p:spPr>
          <a:xfrm>
            <a:off x="838200" y="2724150"/>
            <a:ext cx="3158201" cy="0"/>
          </a:xfrm>
          <a:prstGeom prst="line">
            <a:avLst/>
          </a:prstGeom>
          <a:ln cap="rnd">
            <a:solidFill>
              <a:srgbClr val="FF0000"/>
            </a:solidFill>
            <a:round/>
          </a:ln>
        </p:spPr>
        <p:style>
          <a:lnRef idx="2">
            <a:schemeClr val="accent1"/>
          </a:lnRef>
          <a:fillRef idx="0">
            <a:schemeClr val="accent1"/>
          </a:fillRef>
          <a:effectRef idx="1">
            <a:schemeClr val="accent1"/>
          </a:effectRef>
          <a:fontRef idx="minor">
            <a:schemeClr val="tx1"/>
          </a:fontRef>
        </p:style>
      </p:cxnSp>
      <p:cxnSp>
        <p:nvCxnSpPr>
          <p:cNvPr id="56" name="Connector: Elbow 55">
            <a:extLst>
              <a:ext uri="{FF2B5EF4-FFF2-40B4-BE49-F238E27FC236}">
                <a16:creationId xmlns:a16="http://schemas.microsoft.com/office/drawing/2014/main" id="{B924DEB1-E2EB-9CA8-12F9-4D3F1006824D}"/>
              </a:ext>
            </a:extLst>
          </p:cNvPr>
          <p:cNvCxnSpPr>
            <a:cxnSpLocks/>
            <a:endCxn id="57" idx="1"/>
          </p:cNvCxnSpPr>
          <p:nvPr/>
        </p:nvCxnSpPr>
        <p:spPr>
          <a:xfrm rot="16200000" flipH="1">
            <a:off x="180514" y="3381836"/>
            <a:ext cx="3216268" cy="1900898"/>
          </a:xfrm>
          <a:prstGeom prst="bentConnector2">
            <a:avLst/>
          </a:prstGeom>
          <a:ln cap="rnd">
            <a:solidFill>
              <a:srgbClr val="FF0000"/>
            </a:solidFill>
            <a:round/>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C604B5E1-6C6C-087E-3787-43A64BD05D02}"/>
              </a:ext>
            </a:extLst>
          </p:cNvPr>
          <p:cNvSpPr txBox="1"/>
          <p:nvPr/>
        </p:nvSpPr>
        <p:spPr>
          <a:xfrm>
            <a:off x="2739097" y="5755753"/>
            <a:ext cx="2070182" cy="369332"/>
          </a:xfrm>
          <a:prstGeom prst="rect">
            <a:avLst/>
          </a:prstGeom>
          <a:noFill/>
          <a:ln>
            <a:solidFill>
              <a:srgbClr val="FF0000"/>
            </a:solidFill>
          </a:ln>
        </p:spPr>
        <p:txBody>
          <a:bodyPr wrap="square" rtlCol="0">
            <a:spAutoFit/>
          </a:bodyPr>
          <a:lstStyle/>
          <a:p>
            <a:r>
              <a:rPr lang="en-US" dirty="0"/>
              <a:t>Gradient </a:t>
            </a:r>
            <a:r>
              <a:rPr lang="en-US" b="1" dirty="0"/>
              <a:t>interval</a:t>
            </a:r>
          </a:p>
        </p:txBody>
      </p:sp>
    </p:spTree>
    <p:extLst>
      <p:ext uri="{BB962C8B-B14F-4D97-AF65-F5344CB8AC3E}">
        <p14:creationId xmlns:p14="http://schemas.microsoft.com/office/powerpoint/2010/main" val="37237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96AF5-E4AD-A694-1B24-6097521DA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32732-1F23-E74A-868D-73589BE31DEF}"/>
              </a:ext>
            </a:extLst>
          </p:cNvPr>
          <p:cNvSpPr>
            <a:spLocks noGrp="1"/>
          </p:cNvSpPr>
          <p:nvPr>
            <p:ph type="title"/>
          </p:nvPr>
        </p:nvSpPr>
        <p:spPr/>
        <p:txBody>
          <a:bodyPr/>
          <a:lstStyle/>
          <a:p>
            <a:r>
              <a:rPr lang="en-US" dirty="0"/>
              <a:t>Shells / b-value</a:t>
            </a:r>
          </a:p>
        </p:txBody>
      </p:sp>
      <p:sp>
        <p:nvSpPr>
          <p:cNvPr id="3" name="Content Placeholder 2">
            <a:extLst>
              <a:ext uri="{FF2B5EF4-FFF2-40B4-BE49-F238E27FC236}">
                <a16:creationId xmlns:a16="http://schemas.microsoft.com/office/drawing/2014/main" id="{DEC541BF-1445-7D87-1F9F-70D7E65C5EAD}"/>
              </a:ext>
            </a:extLst>
          </p:cNvPr>
          <p:cNvSpPr>
            <a:spLocks noGrp="1"/>
          </p:cNvSpPr>
          <p:nvPr>
            <p:ph idx="1"/>
          </p:nvPr>
        </p:nvSpPr>
        <p:spPr/>
        <p:txBody>
          <a:bodyPr/>
          <a:lstStyle/>
          <a:p>
            <a:r>
              <a:rPr lang="en-US" dirty="0"/>
              <a:t>Tissue contrast differs across b-values</a:t>
            </a:r>
          </a:p>
        </p:txBody>
      </p:sp>
      <p:pic>
        <p:nvPicPr>
          <p:cNvPr id="5" name="Picture 4">
            <a:extLst>
              <a:ext uri="{FF2B5EF4-FFF2-40B4-BE49-F238E27FC236}">
                <a16:creationId xmlns:a16="http://schemas.microsoft.com/office/drawing/2014/main" id="{A64C7ED9-7F7C-879E-F6BA-37CFC5376510}"/>
              </a:ext>
            </a:extLst>
          </p:cNvPr>
          <p:cNvPicPr>
            <a:picLocks noChangeAspect="1"/>
          </p:cNvPicPr>
          <p:nvPr/>
        </p:nvPicPr>
        <p:blipFill>
          <a:blip r:embed="rId2"/>
          <a:stretch>
            <a:fillRect/>
          </a:stretch>
        </p:blipFill>
        <p:spPr>
          <a:xfrm>
            <a:off x="7321704" y="2657163"/>
            <a:ext cx="4130127" cy="3305487"/>
          </a:xfrm>
          <a:prstGeom prst="rect">
            <a:avLst/>
          </a:prstGeom>
        </p:spPr>
      </p:pic>
      <p:pic>
        <p:nvPicPr>
          <p:cNvPr id="8194" name="Picture 2">
            <a:extLst>
              <a:ext uri="{FF2B5EF4-FFF2-40B4-BE49-F238E27FC236}">
                <a16:creationId xmlns:a16="http://schemas.microsoft.com/office/drawing/2014/main" id="{89DB991C-1E4C-47D8-55C1-22B60C4766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5982" y="2657163"/>
            <a:ext cx="5707941" cy="231488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0F10523-3567-6955-1A9A-9F4D44FD34CF}"/>
              </a:ext>
            </a:extLst>
          </p:cNvPr>
          <p:cNvSpPr txBox="1"/>
          <p:nvPr/>
        </p:nvSpPr>
        <p:spPr>
          <a:xfrm>
            <a:off x="1866900" y="5020508"/>
            <a:ext cx="561372" cy="369332"/>
          </a:xfrm>
          <a:prstGeom prst="rect">
            <a:avLst/>
          </a:prstGeom>
          <a:noFill/>
        </p:spPr>
        <p:txBody>
          <a:bodyPr wrap="none" rtlCol="0">
            <a:spAutoFit/>
          </a:bodyPr>
          <a:lstStyle/>
          <a:p>
            <a:pPr algn="ctr"/>
            <a:r>
              <a:rPr lang="en-US" dirty="0"/>
              <a:t>b=0</a:t>
            </a:r>
          </a:p>
        </p:txBody>
      </p:sp>
      <p:sp>
        <p:nvSpPr>
          <p:cNvPr id="6" name="TextBox 5">
            <a:extLst>
              <a:ext uri="{FF2B5EF4-FFF2-40B4-BE49-F238E27FC236}">
                <a16:creationId xmlns:a16="http://schemas.microsoft.com/office/drawing/2014/main" id="{DA8DF844-3C4D-54B1-1845-CFDF7C331FF4}"/>
              </a:ext>
            </a:extLst>
          </p:cNvPr>
          <p:cNvSpPr txBox="1"/>
          <p:nvPr/>
        </p:nvSpPr>
        <p:spPr>
          <a:xfrm>
            <a:off x="3634653" y="5020508"/>
            <a:ext cx="931665" cy="369332"/>
          </a:xfrm>
          <a:prstGeom prst="rect">
            <a:avLst/>
          </a:prstGeom>
          <a:noFill/>
        </p:spPr>
        <p:txBody>
          <a:bodyPr wrap="none" rtlCol="0">
            <a:spAutoFit/>
          </a:bodyPr>
          <a:lstStyle/>
          <a:p>
            <a:pPr algn="ctr"/>
            <a:r>
              <a:rPr lang="en-US" dirty="0"/>
              <a:t>b=1000</a:t>
            </a:r>
          </a:p>
        </p:txBody>
      </p:sp>
      <p:sp>
        <p:nvSpPr>
          <p:cNvPr id="7" name="TextBox 6">
            <a:extLst>
              <a:ext uri="{FF2B5EF4-FFF2-40B4-BE49-F238E27FC236}">
                <a16:creationId xmlns:a16="http://schemas.microsoft.com/office/drawing/2014/main" id="{1657D20A-D836-7020-4556-B7A78BEE4277}"/>
              </a:ext>
            </a:extLst>
          </p:cNvPr>
          <p:cNvSpPr txBox="1"/>
          <p:nvPr/>
        </p:nvSpPr>
        <p:spPr>
          <a:xfrm>
            <a:off x="5563492" y="5020508"/>
            <a:ext cx="931665" cy="369332"/>
          </a:xfrm>
          <a:prstGeom prst="rect">
            <a:avLst/>
          </a:prstGeom>
          <a:noFill/>
        </p:spPr>
        <p:txBody>
          <a:bodyPr wrap="none" rtlCol="0">
            <a:spAutoFit/>
          </a:bodyPr>
          <a:lstStyle/>
          <a:p>
            <a:pPr algn="ctr"/>
            <a:r>
              <a:rPr lang="en-US" dirty="0"/>
              <a:t>b=3000</a:t>
            </a:r>
          </a:p>
        </p:txBody>
      </p:sp>
    </p:spTree>
    <p:extLst>
      <p:ext uri="{BB962C8B-B14F-4D97-AF65-F5344CB8AC3E}">
        <p14:creationId xmlns:p14="http://schemas.microsoft.com/office/powerpoint/2010/main" val="1149109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30085E-14F3-37CC-3DE0-9246A9545BE3}"/>
              </a:ext>
            </a:extLst>
          </p:cNvPr>
          <p:cNvPicPr>
            <a:picLocks noChangeAspect="1"/>
          </p:cNvPicPr>
          <p:nvPr/>
        </p:nvPicPr>
        <p:blipFill>
          <a:blip r:embed="rId2"/>
          <a:stretch>
            <a:fillRect/>
          </a:stretch>
        </p:blipFill>
        <p:spPr>
          <a:xfrm>
            <a:off x="988801" y="468508"/>
            <a:ext cx="10214397" cy="5920984"/>
          </a:xfrm>
          <a:prstGeom prst="rect">
            <a:avLst/>
          </a:prstGeom>
        </p:spPr>
      </p:pic>
      <p:sp>
        <p:nvSpPr>
          <p:cNvPr id="6" name="TextBox 5">
            <a:extLst>
              <a:ext uri="{FF2B5EF4-FFF2-40B4-BE49-F238E27FC236}">
                <a16:creationId xmlns:a16="http://schemas.microsoft.com/office/drawing/2014/main" id="{56AF54D0-9361-ACBE-ACBE-58CEDF85AC0F}"/>
              </a:ext>
            </a:extLst>
          </p:cNvPr>
          <p:cNvSpPr txBox="1"/>
          <p:nvPr/>
        </p:nvSpPr>
        <p:spPr>
          <a:xfrm>
            <a:off x="9408321" y="0"/>
            <a:ext cx="2881305" cy="369332"/>
          </a:xfrm>
          <a:prstGeom prst="rect">
            <a:avLst/>
          </a:prstGeom>
          <a:noFill/>
        </p:spPr>
        <p:txBody>
          <a:bodyPr wrap="square">
            <a:spAutoFit/>
          </a:bodyPr>
          <a:lstStyle/>
          <a:p>
            <a:pPr algn="ctr"/>
            <a:r>
              <a:rPr lang="en-US" dirty="0"/>
              <a:t>Slide credit: Ben Newman</a:t>
            </a:r>
          </a:p>
        </p:txBody>
      </p:sp>
    </p:spTree>
    <p:extLst>
      <p:ext uri="{BB962C8B-B14F-4D97-AF65-F5344CB8AC3E}">
        <p14:creationId xmlns:p14="http://schemas.microsoft.com/office/powerpoint/2010/main" val="2371004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3"/>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Autofit/>
          </a:bodyPr>
          <a:lstStyle/>
          <a:p>
            <a:r>
              <a:rPr lang="en" dirty="0"/>
              <a:t>ADC</a:t>
            </a:r>
            <a:endParaRPr dirty="0"/>
          </a:p>
        </p:txBody>
      </p:sp>
      <p:pic>
        <p:nvPicPr>
          <p:cNvPr id="349" name="Google Shape;349;p33"/>
          <p:cNvPicPr preferRelativeResize="0"/>
          <p:nvPr/>
        </p:nvPicPr>
        <p:blipFill rotWithShape="1">
          <a:blip r:embed="rId3">
            <a:alphaModFix/>
          </a:blip>
          <a:srcRect l="53093" t="45468"/>
          <a:stretch/>
        </p:blipFill>
        <p:spPr>
          <a:xfrm>
            <a:off x="8880782" y="2433768"/>
            <a:ext cx="2271652" cy="2730763"/>
          </a:xfrm>
          <a:prstGeom prst="rect">
            <a:avLst/>
          </a:prstGeom>
          <a:noFill/>
          <a:ln>
            <a:noFill/>
          </a:ln>
        </p:spPr>
      </p:pic>
      <p:sp>
        <p:nvSpPr>
          <p:cNvPr id="350" name="Google Shape;350;p33"/>
          <p:cNvSpPr txBox="1"/>
          <p:nvPr/>
        </p:nvSpPr>
        <p:spPr>
          <a:xfrm>
            <a:off x="3109400" y="6481200"/>
            <a:ext cx="5973200" cy="376800"/>
          </a:xfrm>
          <a:prstGeom prst="rect">
            <a:avLst/>
          </a:prstGeom>
          <a:noFill/>
          <a:ln>
            <a:noFill/>
          </a:ln>
        </p:spPr>
        <p:txBody>
          <a:bodyPr spcFirstLastPara="1" wrap="square" lIns="121900" tIns="121900" rIns="121900" bIns="121900" anchor="t" anchorCtr="0">
            <a:noAutofit/>
          </a:bodyPr>
          <a:lstStyle/>
          <a:p>
            <a:pPr algn="ctr">
              <a:buClr>
                <a:srgbClr val="000000"/>
              </a:buClr>
              <a:buSzPts val="700"/>
            </a:pPr>
            <a:r>
              <a:rPr lang="en" sz="933">
                <a:solidFill>
                  <a:srgbClr val="595959"/>
                </a:solidFill>
                <a:latin typeface="Verdana"/>
                <a:ea typeface="Verdana"/>
                <a:cs typeface="Verdana"/>
                <a:sym typeface="Verdana"/>
              </a:rPr>
              <a:t>https://www.radiologycafe.com/frcr-physics-notes/mr-imaging/diffusion-weighted-imaging/</a:t>
            </a:r>
            <a:endParaRPr sz="933">
              <a:solidFill>
                <a:srgbClr val="595959"/>
              </a:solidFill>
              <a:latin typeface="Verdana"/>
              <a:ea typeface="Verdana"/>
              <a:cs typeface="Verdana"/>
              <a:sym typeface="Verdana"/>
            </a:endParaRPr>
          </a:p>
        </p:txBody>
      </p:sp>
      <p:pic>
        <p:nvPicPr>
          <p:cNvPr id="351" name="Google Shape;351;p33"/>
          <p:cNvPicPr preferRelativeResize="0"/>
          <p:nvPr/>
        </p:nvPicPr>
        <p:blipFill rotWithShape="1">
          <a:blip r:embed="rId3">
            <a:alphaModFix/>
          </a:blip>
          <a:srcRect t="45468" r="50243"/>
          <a:stretch/>
        </p:blipFill>
        <p:spPr>
          <a:xfrm>
            <a:off x="6471101" y="2433749"/>
            <a:ext cx="2409681" cy="2730763"/>
          </a:xfrm>
          <a:prstGeom prst="rect">
            <a:avLst/>
          </a:prstGeom>
          <a:noFill/>
          <a:ln>
            <a:noFill/>
          </a:ln>
        </p:spPr>
      </p:pic>
      <p:pic>
        <p:nvPicPr>
          <p:cNvPr id="352" name="Google Shape;352;p33"/>
          <p:cNvPicPr preferRelativeResize="0"/>
          <p:nvPr/>
        </p:nvPicPr>
        <p:blipFill rotWithShape="1">
          <a:blip r:embed="rId3">
            <a:alphaModFix/>
          </a:blip>
          <a:srcRect l="53093" b="55050"/>
          <a:stretch/>
        </p:blipFill>
        <p:spPr>
          <a:xfrm>
            <a:off x="3839499" y="2673654"/>
            <a:ext cx="2271652" cy="2250956"/>
          </a:xfrm>
          <a:prstGeom prst="rect">
            <a:avLst/>
          </a:prstGeom>
          <a:noFill/>
          <a:ln>
            <a:noFill/>
          </a:ln>
        </p:spPr>
      </p:pic>
      <p:pic>
        <p:nvPicPr>
          <p:cNvPr id="353" name="Google Shape;353;p33"/>
          <p:cNvPicPr preferRelativeResize="0"/>
          <p:nvPr/>
        </p:nvPicPr>
        <p:blipFill rotWithShape="1">
          <a:blip r:embed="rId3">
            <a:alphaModFix/>
          </a:blip>
          <a:srcRect r="50243" b="52230"/>
          <a:stretch/>
        </p:blipFill>
        <p:spPr>
          <a:xfrm>
            <a:off x="1039567" y="2673653"/>
            <a:ext cx="2750819" cy="2730763"/>
          </a:xfrm>
          <a:prstGeom prst="rect">
            <a:avLst/>
          </a:prstGeom>
          <a:noFill/>
          <a:ln>
            <a:noFill/>
          </a:ln>
        </p:spPr>
      </p:pic>
      <p:sp>
        <p:nvSpPr>
          <p:cNvPr id="354" name="Google Shape;354;p33"/>
          <p:cNvSpPr txBox="1">
            <a:spLocks noGrp="1"/>
          </p:cNvSpPr>
          <p:nvPr>
            <p:ph type="body" idx="1"/>
          </p:nvPr>
        </p:nvSpPr>
        <p:spPr>
          <a:xfrm>
            <a:off x="415600" y="1536633"/>
            <a:ext cx="11360800" cy="4555200"/>
          </a:xfrm>
          <a:prstGeom prst="rect">
            <a:avLst/>
          </a:prstGeom>
          <a:noFill/>
          <a:ln>
            <a:noFill/>
          </a:ln>
        </p:spPr>
        <p:txBody>
          <a:bodyPr spcFirstLastPara="1" vert="horz" wrap="square" lIns="121900" tIns="121900" rIns="121900" bIns="121900" rtlCol="0" anchor="t" anchorCtr="0">
            <a:noAutofit/>
          </a:bodyPr>
          <a:lstStyle/>
          <a:p>
            <a:pPr>
              <a:buChar char="-"/>
            </a:pPr>
            <a:r>
              <a:rPr lang="en"/>
              <a:t>Apparent diffusion coefficient (ADC)</a:t>
            </a:r>
            <a:endParaRPr/>
          </a:p>
        </p:txBody>
      </p:sp>
    </p:spTree>
    <p:extLst>
      <p:ext uri="{BB962C8B-B14F-4D97-AF65-F5344CB8AC3E}">
        <p14:creationId xmlns:p14="http://schemas.microsoft.com/office/powerpoint/2010/main" val="2199615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727F3-646C-7105-17D6-D066AA2279C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67FFB81-7B47-ABB5-60AE-168B0945FB31}"/>
              </a:ext>
            </a:extLst>
          </p:cNvPr>
          <p:cNvPicPr>
            <a:picLocks noChangeAspect="1"/>
          </p:cNvPicPr>
          <p:nvPr/>
        </p:nvPicPr>
        <p:blipFill>
          <a:blip r:embed="rId2"/>
          <a:stretch>
            <a:fillRect/>
          </a:stretch>
        </p:blipFill>
        <p:spPr>
          <a:xfrm>
            <a:off x="817351" y="468508"/>
            <a:ext cx="10993649" cy="5659726"/>
          </a:xfrm>
          <a:prstGeom prst="rect">
            <a:avLst/>
          </a:prstGeom>
        </p:spPr>
      </p:pic>
      <p:sp>
        <p:nvSpPr>
          <p:cNvPr id="4" name="TextBox 3">
            <a:extLst>
              <a:ext uri="{FF2B5EF4-FFF2-40B4-BE49-F238E27FC236}">
                <a16:creationId xmlns:a16="http://schemas.microsoft.com/office/drawing/2014/main" id="{EF482A81-9B3D-6D07-D6D7-4BF5E92C1D5D}"/>
              </a:ext>
            </a:extLst>
          </p:cNvPr>
          <p:cNvSpPr txBox="1"/>
          <p:nvPr/>
        </p:nvSpPr>
        <p:spPr>
          <a:xfrm>
            <a:off x="9408321" y="0"/>
            <a:ext cx="2881305" cy="369332"/>
          </a:xfrm>
          <a:prstGeom prst="rect">
            <a:avLst/>
          </a:prstGeom>
          <a:noFill/>
        </p:spPr>
        <p:txBody>
          <a:bodyPr wrap="square">
            <a:spAutoFit/>
          </a:bodyPr>
          <a:lstStyle/>
          <a:p>
            <a:pPr algn="ctr"/>
            <a:r>
              <a:rPr lang="en-US" dirty="0"/>
              <a:t>Slide credit: Ben Newman</a:t>
            </a:r>
          </a:p>
        </p:txBody>
      </p:sp>
    </p:spTree>
    <p:extLst>
      <p:ext uri="{BB962C8B-B14F-4D97-AF65-F5344CB8AC3E}">
        <p14:creationId xmlns:p14="http://schemas.microsoft.com/office/powerpoint/2010/main" val="3315940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8A7C1-A934-BFE8-35D9-79B5D59B0A5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4F0D489-32C5-7E6C-627E-76BE4870740F}"/>
              </a:ext>
            </a:extLst>
          </p:cNvPr>
          <p:cNvPicPr>
            <a:picLocks noChangeAspect="1"/>
          </p:cNvPicPr>
          <p:nvPr/>
        </p:nvPicPr>
        <p:blipFill>
          <a:blip r:embed="rId2"/>
          <a:stretch>
            <a:fillRect/>
          </a:stretch>
        </p:blipFill>
        <p:spPr>
          <a:xfrm>
            <a:off x="1114425" y="424045"/>
            <a:ext cx="9963149" cy="6009909"/>
          </a:xfrm>
          <a:prstGeom prst="rect">
            <a:avLst/>
          </a:prstGeom>
        </p:spPr>
      </p:pic>
      <p:sp>
        <p:nvSpPr>
          <p:cNvPr id="5" name="TextBox 4">
            <a:extLst>
              <a:ext uri="{FF2B5EF4-FFF2-40B4-BE49-F238E27FC236}">
                <a16:creationId xmlns:a16="http://schemas.microsoft.com/office/drawing/2014/main" id="{BF299B16-B03E-B948-37A6-4D0E01DA5AA1}"/>
              </a:ext>
            </a:extLst>
          </p:cNvPr>
          <p:cNvSpPr txBox="1"/>
          <p:nvPr/>
        </p:nvSpPr>
        <p:spPr>
          <a:xfrm>
            <a:off x="4655346" y="6249288"/>
            <a:ext cx="2881305" cy="369332"/>
          </a:xfrm>
          <a:prstGeom prst="rect">
            <a:avLst/>
          </a:prstGeom>
          <a:noFill/>
        </p:spPr>
        <p:txBody>
          <a:bodyPr wrap="square">
            <a:spAutoFit/>
          </a:bodyPr>
          <a:lstStyle/>
          <a:p>
            <a:pPr algn="ctr"/>
            <a:r>
              <a:rPr lang="en-US" dirty="0"/>
              <a:t>Figure credit: Ben Newman</a:t>
            </a:r>
          </a:p>
        </p:txBody>
      </p:sp>
    </p:spTree>
    <p:extLst>
      <p:ext uri="{BB962C8B-B14F-4D97-AF65-F5344CB8AC3E}">
        <p14:creationId xmlns:p14="http://schemas.microsoft.com/office/powerpoint/2010/main" val="2194052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D5328-94A2-7E0B-0B15-72D122E0B848}"/>
              </a:ext>
            </a:extLst>
          </p:cNvPr>
          <p:cNvSpPr>
            <a:spLocks noGrp="1"/>
          </p:cNvSpPr>
          <p:nvPr>
            <p:ph type="title"/>
          </p:nvPr>
        </p:nvSpPr>
        <p:spPr/>
        <p:txBody>
          <a:bodyPr/>
          <a:lstStyle/>
          <a:p>
            <a:r>
              <a:rPr lang="en-US" dirty="0"/>
              <a:t>What can we glean from this?</a:t>
            </a:r>
          </a:p>
        </p:txBody>
      </p:sp>
      <p:sp>
        <p:nvSpPr>
          <p:cNvPr id="3" name="Content Placeholder 2">
            <a:extLst>
              <a:ext uri="{FF2B5EF4-FFF2-40B4-BE49-F238E27FC236}">
                <a16:creationId xmlns:a16="http://schemas.microsoft.com/office/drawing/2014/main" id="{ED6A5EF6-B9A4-A917-7932-D7905EFDA53D}"/>
              </a:ext>
            </a:extLst>
          </p:cNvPr>
          <p:cNvSpPr>
            <a:spLocks noGrp="1"/>
          </p:cNvSpPr>
          <p:nvPr>
            <p:ph idx="1"/>
          </p:nvPr>
        </p:nvSpPr>
        <p:spPr/>
        <p:txBody>
          <a:bodyPr/>
          <a:lstStyle/>
          <a:p>
            <a:r>
              <a:rPr lang="en-US" dirty="0"/>
              <a:t>Scalar diffusion measures:</a:t>
            </a:r>
          </a:p>
          <a:p>
            <a:pPr lvl="1"/>
            <a:r>
              <a:rPr lang="en-US" dirty="0"/>
              <a:t>Axial / Longitudinal Diffusivity (=): 𝜆</a:t>
            </a:r>
            <a:r>
              <a:rPr lang="en-US" baseline="-25000" dirty="0"/>
              <a:t>1</a:t>
            </a:r>
          </a:p>
          <a:p>
            <a:pPr lvl="1"/>
            <a:r>
              <a:rPr lang="en-US" dirty="0"/>
              <a:t>Radial / Transverse Diffusivity (⊥): (𝜆</a:t>
            </a:r>
            <a:r>
              <a:rPr lang="en-US" baseline="-25000" dirty="0"/>
              <a:t>2</a:t>
            </a:r>
            <a:r>
              <a:rPr lang="en-US" dirty="0"/>
              <a:t>+𝜆</a:t>
            </a:r>
            <a:r>
              <a:rPr lang="en-US" baseline="-25000" dirty="0"/>
              <a:t>3</a:t>
            </a:r>
            <a:r>
              <a:rPr lang="en-US" dirty="0"/>
              <a:t>)÷2</a:t>
            </a:r>
          </a:p>
          <a:p>
            <a:pPr lvl="1"/>
            <a:r>
              <a:rPr lang="en-US" dirty="0"/>
              <a:t>Mean Diffusivity (</a:t>
            </a:r>
            <a:r>
              <a:rPr lang="en-US" b="1" dirty="0"/>
              <a:t>MD</a:t>
            </a:r>
            <a:r>
              <a:rPr lang="en-US" dirty="0"/>
              <a:t>)</a:t>
            </a:r>
          </a:p>
          <a:p>
            <a:pPr lvl="1"/>
            <a:r>
              <a:rPr lang="en-US" dirty="0"/>
              <a:t>Fractional Anisotropy (</a:t>
            </a:r>
            <a:r>
              <a:rPr lang="en-US" b="1" dirty="0"/>
              <a:t>FA</a:t>
            </a:r>
            <a:r>
              <a:rPr lang="en-US" dirty="0"/>
              <a:t>)</a:t>
            </a:r>
          </a:p>
          <a:p>
            <a:r>
              <a:rPr lang="en-US" dirty="0"/>
              <a:t>Orientation of primary diffusion:</a:t>
            </a:r>
          </a:p>
          <a:p>
            <a:pPr lvl="1"/>
            <a:r>
              <a:rPr lang="en-US" b="1" i="1" dirty="0"/>
              <a:t>~Tractography~</a:t>
            </a:r>
          </a:p>
        </p:txBody>
      </p:sp>
      <p:pic>
        <p:nvPicPr>
          <p:cNvPr id="5" name="Picture 2" descr="DTI - Questions and Answers ​in MRI">
            <a:extLst>
              <a:ext uri="{FF2B5EF4-FFF2-40B4-BE49-F238E27FC236}">
                <a16:creationId xmlns:a16="http://schemas.microsoft.com/office/drawing/2014/main" id="{BB98E461-E4A6-A55F-B2BC-DAA7B83AC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9425" y="2160588"/>
            <a:ext cx="4524375" cy="392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227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8895E-48F0-D6B2-F2CD-629379AA9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643499-35A7-AA73-CDED-0BCB8BC29C6B}"/>
              </a:ext>
            </a:extLst>
          </p:cNvPr>
          <p:cNvSpPr>
            <a:spLocks noGrp="1"/>
          </p:cNvSpPr>
          <p:nvPr>
            <p:ph type="title"/>
          </p:nvPr>
        </p:nvSpPr>
        <p:spPr/>
        <p:txBody>
          <a:bodyPr/>
          <a:lstStyle/>
          <a:p>
            <a:r>
              <a:rPr lang="en-US" dirty="0"/>
              <a:t>What can we do with this?</a:t>
            </a:r>
          </a:p>
        </p:txBody>
      </p:sp>
      <p:sp>
        <p:nvSpPr>
          <p:cNvPr id="3" name="Content Placeholder 2">
            <a:extLst>
              <a:ext uri="{FF2B5EF4-FFF2-40B4-BE49-F238E27FC236}">
                <a16:creationId xmlns:a16="http://schemas.microsoft.com/office/drawing/2014/main" id="{9926A7BC-0111-0CF0-0518-A3B01A73FB0F}"/>
              </a:ext>
            </a:extLst>
          </p:cNvPr>
          <p:cNvSpPr>
            <a:spLocks noGrp="1"/>
          </p:cNvSpPr>
          <p:nvPr>
            <p:ph idx="1"/>
          </p:nvPr>
        </p:nvSpPr>
        <p:spPr/>
        <p:txBody>
          <a:bodyPr/>
          <a:lstStyle/>
          <a:p>
            <a:pPr marL="0" indent="0">
              <a:buNone/>
            </a:pPr>
            <a:r>
              <a:rPr lang="en-US" dirty="0"/>
              <a:t>Mean Diffusivity</a:t>
            </a:r>
          </a:p>
          <a:p>
            <a:pPr marL="0" indent="0">
              <a:buNone/>
            </a:pPr>
            <a:endParaRPr lang="en-US" dirty="0"/>
          </a:p>
        </p:txBody>
      </p:sp>
      <p:pic>
        <p:nvPicPr>
          <p:cNvPr id="5" name="Picture 2" descr="DTI - Questions and Answers ​in MRI">
            <a:extLst>
              <a:ext uri="{FF2B5EF4-FFF2-40B4-BE49-F238E27FC236}">
                <a16:creationId xmlns:a16="http://schemas.microsoft.com/office/drawing/2014/main" id="{EE4BAD46-A942-3B6E-ACA9-68EFC303D2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9425" y="2160588"/>
            <a:ext cx="4524375" cy="39211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D7DDF52-241F-EB74-65E4-A97215E367E6}"/>
              </a:ext>
            </a:extLst>
          </p:cNvPr>
          <p:cNvPicPr>
            <a:picLocks noChangeAspect="1"/>
          </p:cNvPicPr>
          <p:nvPr/>
        </p:nvPicPr>
        <p:blipFill>
          <a:blip r:embed="rId3"/>
          <a:stretch>
            <a:fillRect/>
          </a:stretch>
        </p:blipFill>
        <p:spPr>
          <a:xfrm>
            <a:off x="2169993" y="2842419"/>
            <a:ext cx="3327639" cy="1177925"/>
          </a:xfrm>
          <a:prstGeom prst="rect">
            <a:avLst/>
          </a:prstGeom>
          <a:ln>
            <a:solidFill>
              <a:schemeClr val="tx1"/>
            </a:solidFill>
          </a:ln>
        </p:spPr>
      </p:pic>
      <p:sp>
        <p:nvSpPr>
          <p:cNvPr id="7" name="TextBox 6">
            <a:extLst>
              <a:ext uri="{FF2B5EF4-FFF2-40B4-BE49-F238E27FC236}">
                <a16:creationId xmlns:a16="http://schemas.microsoft.com/office/drawing/2014/main" id="{5D862F66-3131-9E23-8EF2-5F9E85D51986}"/>
              </a:ext>
            </a:extLst>
          </p:cNvPr>
          <p:cNvSpPr txBox="1"/>
          <p:nvPr/>
        </p:nvSpPr>
        <p:spPr>
          <a:xfrm>
            <a:off x="838200" y="4558267"/>
            <a:ext cx="2319225" cy="369332"/>
          </a:xfrm>
          <a:prstGeom prst="rect">
            <a:avLst/>
          </a:prstGeom>
          <a:noFill/>
        </p:spPr>
        <p:txBody>
          <a:bodyPr wrap="none" rtlCol="0">
            <a:spAutoFit/>
          </a:bodyPr>
          <a:lstStyle/>
          <a:p>
            <a:r>
              <a:rPr lang="en-US" dirty="0"/>
              <a:t>Average diffusion rate</a:t>
            </a:r>
          </a:p>
        </p:txBody>
      </p:sp>
      <p:sp>
        <p:nvSpPr>
          <p:cNvPr id="8" name="TextBox 7">
            <a:extLst>
              <a:ext uri="{FF2B5EF4-FFF2-40B4-BE49-F238E27FC236}">
                <a16:creationId xmlns:a16="http://schemas.microsoft.com/office/drawing/2014/main" id="{BB47572C-A4D4-85C9-A270-21773F022EFC}"/>
              </a:ext>
            </a:extLst>
          </p:cNvPr>
          <p:cNvSpPr txBox="1"/>
          <p:nvPr/>
        </p:nvSpPr>
        <p:spPr>
          <a:xfrm>
            <a:off x="838200" y="5037138"/>
            <a:ext cx="2787943" cy="369332"/>
          </a:xfrm>
          <a:prstGeom prst="rect">
            <a:avLst/>
          </a:prstGeom>
          <a:noFill/>
        </p:spPr>
        <p:txBody>
          <a:bodyPr wrap="none" rtlCol="0">
            <a:spAutoFit/>
          </a:bodyPr>
          <a:lstStyle/>
          <a:p>
            <a:r>
              <a:rPr lang="en-US" dirty="0"/>
              <a:t>Can reflect tissue damage</a:t>
            </a:r>
          </a:p>
        </p:txBody>
      </p:sp>
    </p:spTree>
    <p:extLst>
      <p:ext uri="{BB962C8B-B14F-4D97-AF65-F5344CB8AC3E}">
        <p14:creationId xmlns:p14="http://schemas.microsoft.com/office/powerpoint/2010/main" val="1645054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BEE4B-0FCC-D622-7944-2DFBA8E6E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14393-28E3-00B9-53FC-98CBB5698165}"/>
              </a:ext>
            </a:extLst>
          </p:cNvPr>
          <p:cNvSpPr>
            <a:spLocks noGrp="1"/>
          </p:cNvSpPr>
          <p:nvPr>
            <p:ph type="title"/>
          </p:nvPr>
        </p:nvSpPr>
        <p:spPr/>
        <p:txBody>
          <a:bodyPr/>
          <a:lstStyle/>
          <a:p>
            <a:r>
              <a:rPr lang="en-US" dirty="0"/>
              <a:t>What can we do with this?</a:t>
            </a:r>
          </a:p>
        </p:txBody>
      </p:sp>
      <p:sp>
        <p:nvSpPr>
          <p:cNvPr id="3" name="Content Placeholder 2">
            <a:extLst>
              <a:ext uri="{FF2B5EF4-FFF2-40B4-BE49-F238E27FC236}">
                <a16:creationId xmlns:a16="http://schemas.microsoft.com/office/drawing/2014/main" id="{5EFA8F7C-BFA3-E12F-E4FE-9D79E00A0092}"/>
              </a:ext>
            </a:extLst>
          </p:cNvPr>
          <p:cNvSpPr>
            <a:spLocks noGrp="1"/>
          </p:cNvSpPr>
          <p:nvPr>
            <p:ph idx="1"/>
          </p:nvPr>
        </p:nvSpPr>
        <p:spPr/>
        <p:txBody>
          <a:bodyPr/>
          <a:lstStyle/>
          <a:p>
            <a:pPr marL="0" indent="0">
              <a:buNone/>
            </a:pPr>
            <a:r>
              <a:rPr lang="en-US" dirty="0"/>
              <a:t>Fractional Anisotropy</a:t>
            </a:r>
          </a:p>
          <a:p>
            <a:pPr marL="0" indent="0">
              <a:buNone/>
            </a:pPr>
            <a:endParaRPr lang="en-US" dirty="0"/>
          </a:p>
        </p:txBody>
      </p:sp>
      <p:pic>
        <p:nvPicPr>
          <p:cNvPr id="5" name="Picture 2" descr="DTI - Questions and Answers ​in MRI">
            <a:extLst>
              <a:ext uri="{FF2B5EF4-FFF2-40B4-BE49-F238E27FC236}">
                <a16:creationId xmlns:a16="http://schemas.microsoft.com/office/drawing/2014/main" id="{75A7D10B-15DE-8737-9D3D-C90CADAC2A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9425" y="2160588"/>
            <a:ext cx="4524375" cy="39211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10B116B-CF5F-D0A2-312C-C2BE38D75F27}"/>
              </a:ext>
            </a:extLst>
          </p:cNvPr>
          <p:cNvPicPr>
            <a:picLocks noChangeAspect="1"/>
          </p:cNvPicPr>
          <p:nvPr/>
        </p:nvPicPr>
        <p:blipFill>
          <a:blip r:embed="rId3"/>
          <a:stretch>
            <a:fillRect/>
          </a:stretch>
        </p:blipFill>
        <p:spPr>
          <a:xfrm>
            <a:off x="838200" y="2809476"/>
            <a:ext cx="6291975" cy="1469235"/>
          </a:xfrm>
          <a:prstGeom prst="rect">
            <a:avLst/>
          </a:prstGeom>
          <a:ln>
            <a:solidFill>
              <a:schemeClr val="tx1"/>
            </a:solidFill>
          </a:ln>
        </p:spPr>
      </p:pic>
      <p:sp>
        <p:nvSpPr>
          <p:cNvPr id="8" name="TextBox 7">
            <a:extLst>
              <a:ext uri="{FF2B5EF4-FFF2-40B4-BE49-F238E27FC236}">
                <a16:creationId xmlns:a16="http://schemas.microsoft.com/office/drawing/2014/main" id="{E4EC621B-0C5F-6EB3-99F6-1284D9D29782}"/>
              </a:ext>
            </a:extLst>
          </p:cNvPr>
          <p:cNvSpPr txBox="1"/>
          <p:nvPr/>
        </p:nvSpPr>
        <p:spPr>
          <a:xfrm>
            <a:off x="838200" y="4558267"/>
            <a:ext cx="2897524" cy="369332"/>
          </a:xfrm>
          <a:prstGeom prst="rect">
            <a:avLst/>
          </a:prstGeom>
          <a:noFill/>
        </p:spPr>
        <p:txBody>
          <a:bodyPr wrap="none" rtlCol="0">
            <a:spAutoFit/>
          </a:bodyPr>
          <a:lstStyle/>
          <a:p>
            <a:r>
              <a:rPr lang="en-US" dirty="0"/>
              <a:t>Variance of the eigenvalues</a:t>
            </a:r>
          </a:p>
        </p:txBody>
      </p:sp>
      <p:sp>
        <p:nvSpPr>
          <p:cNvPr id="9" name="TextBox 8">
            <a:extLst>
              <a:ext uri="{FF2B5EF4-FFF2-40B4-BE49-F238E27FC236}">
                <a16:creationId xmlns:a16="http://schemas.microsoft.com/office/drawing/2014/main" id="{CF087AE6-089B-3D15-CD75-35E864429A6D}"/>
              </a:ext>
            </a:extLst>
          </p:cNvPr>
          <p:cNvSpPr txBox="1"/>
          <p:nvPr/>
        </p:nvSpPr>
        <p:spPr>
          <a:xfrm>
            <a:off x="838200" y="5022489"/>
            <a:ext cx="2285754" cy="369332"/>
          </a:xfrm>
          <a:prstGeom prst="rect">
            <a:avLst/>
          </a:prstGeom>
          <a:noFill/>
        </p:spPr>
        <p:txBody>
          <a:bodyPr wrap="none" rtlCol="0">
            <a:spAutoFit/>
          </a:bodyPr>
          <a:lstStyle/>
          <a:p>
            <a:r>
              <a:rPr lang="en-US" dirty="0"/>
              <a:t>Reflects WM integrity</a:t>
            </a:r>
          </a:p>
        </p:txBody>
      </p:sp>
    </p:spTree>
    <p:extLst>
      <p:ext uri="{BB962C8B-B14F-4D97-AF65-F5344CB8AC3E}">
        <p14:creationId xmlns:p14="http://schemas.microsoft.com/office/powerpoint/2010/main" val="620171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D26B6C-834A-4854-275C-A48EAF7FBB1D}"/>
              </a:ext>
            </a:extLst>
          </p:cNvPr>
          <p:cNvPicPr>
            <a:picLocks noChangeAspect="1"/>
          </p:cNvPicPr>
          <p:nvPr/>
        </p:nvPicPr>
        <p:blipFill>
          <a:blip r:embed="rId3"/>
          <a:stretch>
            <a:fillRect/>
          </a:stretch>
        </p:blipFill>
        <p:spPr>
          <a:xfrm>
            <a:off x="860759" y="561975"/>
            <a:ext cx="10470482" cy="5734049"/>
          </a:xfrm>
          <a:prstGeom prst="rect">
            <a:avLst/>
          </a:prstGeom>
        </p:spPr>
      </p:pic>
    </p:spTree>
    <p:extLst>
      <p:ext uri="{BB962C8B-B14F-4D97-AF65-F5344CB8AC3E}">
        <p14:creationId xmlns:p14="http://schemas.microsoft.com/office/powerpoint/2010/main" val="3903561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4290B8-F7D7-84D3-9277-5FE855F5B409}"/>
              </a:ext>
            </a:extLst>
          </p:cNvPr>
          <p:cNvPicPr>
            <a:picLocks noChangeAspect="1"/>
          </p:cNvPicPr>
          <p:nvPr/>
        </p:nvPicPr>
        <p:blipFill>
          <a:blip r:embed="rId2"/>
          <a:stretch>
            <a:fillRect/>
          </a:stretch>
        </p:blipFill>
        <p:spPr>
          <a:xfrm>
            <a:off x="1083139" y="928687"/>
            <a:ext cx="10025722" cy="5000625"/>
          </a:xfrm>
          <a:prstGeom prst="rect">
            <a:avLst/>
          </a:prstGeom>
        </p:spPr>
      </p:pic>
      <p:sp>
        <p:nvSpPr>
          <p:cNvPr id="6" name="TextBox 5">
            <a:extLst>
              <a:ext uri="{FF2B5EF4-FFF2-40B4-BE49-F238E27FC236}">
                <a16:creationId xmlns:a16="http://schemas.microsoft.com/office/drawing/2014/main" id="{373398ED-16A7-B06B-A1D2-FFA3A7101F0B}"/>
              </a:ext>
            </a:extLst>
          </p:cNvPr>
          <p:cNvSpPr txBox="1"/>
          <p:nvPr/>
        </p:nvSpPr>
        <p:spPr>
          <a:xfrm>
            <a:off x="9408321" y="0"/>
            <a:ext cx="2881305" cy="369332"/>
          </a:xfrm>
          <a:prstGeom prst="rect">
            <a:avLst/>
          </a:prstGeom>
          <a:noFill/>
        </p:spPr>
        <p:txBody>
          <a:bodyPr wrap="square">
            <a:spAutoFit/>
          </a:bodyPr>
          <a:lstStyle/>
          <a:p>
            <a:pPr algn="ctr"/>
            <a:r>
              <a:rPr lang="en-US" dirty="0"/>
              <a:t>Slide credit: Ben Newman</a:t>
            </a:r>
          </a:p>
        </p:txBody>
      </p:sp>
    </p:spTree>
    <p:extLst>
      <p:ext uri="{BB962C8B-B14F-4D97-AF65-F5344CB8AC3E}">
        <p14:creationId xmlns:p14="http://schemas.microsoft.com/office/powerpoint/2010/main" val="4064471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5D481C1-5F49-D6A1-F64C-219304A5665A}"/>
              </a:ext>
            </a:extLst>
          </p:cNvPr>
          <p:cNvPicPr>
            <a:picLocks noChangeAspect="1"/>
          </p:cNvPicPr>
          <p:nvPr/>
        </p:nvPicPr>
        <p:blipFill>
          <a:blip r:embed="rId2"/>
          <a:stretch>
            <a:fillRect/>
          </a:stretch>
        </p:blipFill>
        <p:spPr>
          <a:xfrm>
            <a:off x="957263" y="516773"/>
            <a:ext cx="10277474" cy="5824453"/>
          </a:xfrm>
          <a:prstGeom prst="rect">
            <a:avLst/>
          </a:prstGeom>
        </p:spPr>
      </p:pic>
      <p:sp>
        <p:nvSpPr>
          <p:cNvPr id="6" name="TextBox 5">
            <a:extLst>
              <a:ext uri="{FF2B5EF4-FFF2-40B4-BE49-F238E27FC236}">
                <a16:creationId xmlns:a16="http://schemas.microsoft.com/office/drawing/2014/main" id="{E7D92353-581E-28F6-F61B-D8157FC63314}"/>
              </a:ext>
            </a:extLst>
          </p:cNvPr>
          <p:cNvSpPr txBox="1"/>
          <p:nvPr/>
        </p:nvSpPr>
        <p:spPr>
          <a:xfrm>
            <a:off x="4655347" y="6341226"/>
            <a:ext cx="2881305" cy="369332"/>
          </a:xfrm>
          <a:prstGeom prst="rect">
            <a:avLst/>
          </a:prstGeom>
          <a:noFill/>
        </p:spPr>
        <p:txBody>
          <a:bodyPr wrap="square">
            <a:spAutoFit/>
          </a:bodyPr>
          <a:lstStyle/>
          <a:p>
            <a:pPr algn="ctr"/>
            <a:r>
              <a:rPr lang="en-US" dirty="0"/>
              <a:t>Figure credit: Ben Newman</a:t>
            </a:r>
          </a:p>
        </p:txBody>
      </p:sp>
    </p:spTree>
    <p:extLst>
      <p:ext uri="{BB962C8B-B14F-4D97-AF65-F5344CB8AC3E}">
        <p14:creationId xmlns:p14="http://schemas.microsoft.com/office/powerpoint/2010/main" val="1506401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4285D-B987-C4B5-3078-08E16B9E0A4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A5D62C0-A79B-C065-4634-15F228A45592}"/>
              </a:ext>
            </a:extLst>
          </p:cNvPr>
          <p:cNvPicPr>
            <a:picLocks noChangeAspect="1"/>
          </p:cNvPicPr>
          <p:nvPr/>
        </p:nvPicPr>
        <p:blipFill>
          <a:blip r:embed="rId2"/>
          <a:stretch>
            <a:fillRect/>
          </a:stretch>
        </p:blipFill>
        <p:spPr>
          <a:xfrm>
            <a:off x="473464" y="742949"/>
            <a:ext cx="11245072" cy="5372101"/>
          </a:xfrm>
          <a:prstGeom prst="rect">
            <a:avLst/>
          </a:prstGeom>
        </p:spPr>
      </p:pic>
      <p:sp>
        <p:nvSpPr>
          <p:cNvPr id="4" name="TextBox 3">
            <a:extLst>
              <a:ext uri="{FF2B5EF4-FFF2-40B4-BE49-F238E27FC236}">
                <a16:creationId xmlns:a16="http://schemas.microsoft.com/office/drawing/2014/main" id="{063358FF-E9FD-EE46-80B8-5854CBDF96A6}"/>
              </a:ext>
            </a:extLst>
          </p:cNvPr>
          <p:cNvSpPr txBox="1"/>
          <p:nvPr/>
        </p:nvSpPr>
        <p:spPr>
          <a:xfrm>
            <a:off x="9408321" y="0"/>
            <a:ext cx="2881305" cy="369332"/>
          </a:xfrm>
          <a:prstGeom prst="rect">
            <a:avLst/>
          </a:prstGeom>
          <a:noFill/>
        </p:spPr>
        <p:txBody>
          <a:bodyPr wrap="square">
            <a:spAutoFit/>
          </a:bodyPr>
          <a:lstStyle/>
          <a:p>
            <a:pPr algn="ctr"/>
            <a:r>
              <a:rPr lang="en-US" dirty="0"/>
              <a:t>Slide credit: Ben Newman</a:t>
            </a:r>
          </a:p>
        </p:txBody>
      </p:sp>
    </p:spTree>
    <p:extLst>
      <p:ext uri="{BB962C8B-B14F-4D97-AF65-F5344CB8AC3E}">
        <p14:creationId xmlns:p14="http://schemas.microsoft.com/office/powerpoint/2010/main" val="2071821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1726F-0F1A-2258-004B-438138CBE35A}"/>
              </a:ext>
            </a:extLst>
          </p:cNvPr>
          <p:cNvSpPr>
            <a:spLocks noGrp="1"/>
          </p:cNvSpPr>
          <p:nvPr>
            <p:ph type="title"/>
          </p:nvPr>
        </p:nvSpPr>
        <p:spPr/>
        <p:txBody>
          <a:bodyPr/>
          <a:lstStyle/>
          <a:p>
            <a:r>
              <a:rPr lang="en-US" dirty="0"/>
              <a:t>Preprocessing steps</a:t>
            </a:r>
          </a:p>
        </p:txBody>
      </p:sp>
      <p:sp>
        <p:nvSpPr>
          <p:cNvPr id="3" name="Content Placeholder 2">
            <a:extLst>
              <a:ext uri="{FF2B5EF4-FFF2-40B4-BE49-F238E27FC236}">
                <a16:creationId xmlns:a16="http://schemas.microsoft.com/office/drawing/2014/main" id="{83B4E85B-9E8A-CA08-F4B2-014EFF1462BC}"/>
              </a:ext>
            </a:extLst>
          </p:cNvPr>
          <p:cNvSpPr>
            <a:spLocks noGrp="1"/>
          </p:cNvSpPr>
          <p:nvPr>
            <p:ph idx="1"/>
          </p:nvPr>
        </p:nvSpPr>
        <p:spPr/>
        <p:txBody>
          <a:bodyPr/>
          <a:lstStyle/>
          <a:p>
            <a:r>
              <a:rPr lang="en-US" dirty="0"/>
              <a:t>Denoising</a:t>
            </a:r>
          </a:p>
          <a:p>
            <a:r>
              <a:rPr lang="en-US" b="1" dirty="0"/>
              <a:t>Gibbs unringing</a:t>
            </a:r>
          </a:p>
          <a:p>
            <a:r>
              <a:rPr lang="en-US" b="1" dirty="0"/>
              <a:t>Susceptibility + motion + eddy correction</a:t>
            </a:r>
          </a:p>
          <a:p>
            <a:r>
              <a:rPr lang="en-US" b="1" dirty="0"/>
              <a:t>B1 bias-field correction on b0</a:t>
            </a:r>
          </a:p>
          <a:p>
            <a:r>
              <a:rPr lang="en-US" dirty="0"/>
              <a:t>Registration (mean b0 to T1)</a:t>
            </a:r>
          </a:p>
        </p:txBody>
      </p:sp>
    </p:spTree>
    <p:extLst>
      <p:ext uri="{BB962C8B-B14F-4D97-AF65-F5344CB8AC3E}">
        <p14:creationId xmlns:p14="http://schemas.microsoft.com/office/powerpoint/2010/main" val="42355639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C5EA3-41E0-109C-E7BF-0E989E7B8A08}"/>
              </a:ext>
            </a:extLst>
          </p:cNvPr>
          <p:cNvSpPr>
            <a:spLocks noGrp="1"/>
          </p:cNvSpPr>
          <p:nvPr>
            <p:ph type="title"/>
          </p:nvPr>
        </p:nvSpPr>
        <p:spPr/>
        <p:txBody>
          <a:bodyPr/>
          <a:lstStyle/>
          <a:p>
            <a:r>
              <a:rPr lang="en-US" dirty="0"/>
              <a:t>Gibbs ringing</a:t>
            </a:r>
          </a:p>
        </p:txBody>
      </p:sp>
      <p:sp>
        <p:nvSpPr>
          <p:cNvPr id="3" name="Content Placeholder 2">
            <a:extLst>
              <a:ext uri="{FF2B5EF4-FFF2-40B4-BE49-F238E27FC236}">
                <a16:creationId xmlns:a16="http://schemas.microsoft.com/office/drawing/2014/main" id="{F8E9857F-0C42-0060-5FA4-A379B19FA3A1}"/>
              </a:ext>
            </a:extLst>
          </p:cNvPr>
          <p:cNvSpPr>
            <a:spLocks noGrp="1"/>
          </p:cNvSpPr>
          <p:nvPr>
            <p:ph idx="1"/>
          </p:nvPr>
        </p:nvSpPr>
        <p:spPr>
          <a:xfrm>
            <a:off x="838200" y="1825625"/>
            <a:ext cx="5638800" cy="4351338"/>
          </a:xfrm>
        </p:spPr>
        <p:txBody>
          <a:bodyPr/>
          <a:lstStyle/>
          <a:p>
            <a:r>
              <a:rPr lang="en-US" dirty="0"/>
              <a:t>Consequence of using Fourier transforms to reconstruct MR signals into images</a:t>
            </a:r>
          </a:p>
          <a:p>
            <a:r>
              <a:rPr lang="en-US" dirty="0"/>
              <a:t>Bias tracts @ edges</a:t>
            </a:r>
          </a:p>
          <a:p>
            <a:r>
              <a:rPr lang="en-US" dirty="0" err="1"/>
              <a:t>Mrtrix</a:t>
            </a:r>
            <a:r>
              <a:rPr lang="en-US" dirty="0"/>
              <a:t> algo: </a:t>
            </a:r>
            <a:r>
              <a:rPr lang="en-US" dirty="0" err="1"/>
              <a:t>mrdegibbs</a:t>
            </a:r>
            <a:endParaRPr lang="en-US" dirty="0"/>
          </a:p>
        </p:txBody>
      </p:sp>
      <p:pic>
        <p:nvPicPr>
          <p:cNvPr id="9218" name="Picture 2" descr="Gibbs (Truncation) Artifact">
            <a:extLst>
              <a:ext uri="{FF2B5EF4-FFF2-40B4-BE49-F238E27FC236}">
                <a16:creationId xmlns:a16="http://schemas.microsoft.com/office/drawing/2014/main" id="{BB247A29-8199-5966-077C-478EF42CA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8950" y="1825625"/>
            <a:ext cx="4514850" cy="4181475"/>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Gibbs (Truncation) Artifact">
            <a:extLst>
              <a:ext uri="{FF2B5EF4-FFF2-40B4-BE49-F238E27FC236}">
                <a16:creationId xmlns:a16="http://schemas.microsoft.com/office/drawing/2014/main" id="{4B4459C5-F8A4-3195-7F8D-737264D6B3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2411" y="3429000"/>
            <a:ext cx="3471389" cy="2578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4921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18D10-AD97-D797-2DED-A8435AB1D9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974379-AEA7-6BEB-E5BB-FA0B5F6B6F33}"/>
              </a:ext>
            </a:extLst>
          </p:cNvPr>
          <p:cNvSpPr>
            <a:spLocks noGrp="1"/>
          </p:cNvSpPr>
          <p:nvPr>
            <p:ph type="title"/>
          </p:nvPr>
        </p:nvSpPr>
        <p:spPr/>
        <p:txBody>
          <a:bodyPr/>
          <a:lstStyle/>
          <a:p>
            <a:r>
              <a:rPr lang="en-US" dirty="0"/>
              <a:t>Recall: Eddy Currents</a:t>
            </a:r>
          </a:p>
        </p:txBody>
      </p:sp>
      <p:sp>
        <p:nvSpPr>
          <p:cNvPr id="5" name="Content Placeholder 4">
            <a:extLst>
              <a:ext uri="{FF2B5EF4-FFF2-40B4-BE49-F238E27FC236}">
                <a16:creationId xmlns:a16="http://schemas.microsoft.com/office/drawing/2014/main" id="{CC295181-3525-A5A2-0317-EFC2CA5C7BB4}"/>
              </a:ext>
            </a:extLst>
          </p:cNvPr>
          <p:cNvSpPr>
            <a:spLocks noGrp="1"/>
          </p:cNvSpPr>
          <p:nvPr>
            <p:ph idx="1"/>
          </p:nvPr>
        </p:nvSpPr>
        <p:spPr/>
        <p:txBody>
          <a:bodyPr/>
          <a:lstStyle/>
          <a:p>
            <a:pPr marL="0" indent="0">
              <a:buNone/>
            </a:pPr>
            <a:r>
              <a:rPr lang="en-US" dirty="0"/>
              <a:t>Unwanted phase shifts</a:t>
            </a:r>
          </a:p>
        </p:txBody>
      </p:sp>
      <p:pic>
        <p:nvPicPr>
          <p:cNvPr id="3074" name="Picture 2">
            <a:extLst>
              <a:ext uri="{FF2B5EF4-FFF2-40B4-BE49-F238E27FC236}">
                <a16:creationId xmlns:a16="http://schemas.microsoft.com/office/drawing/2014/main" id="{0F17FAA6-640C-EDA4-2511-54DBEC27C2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6171" y="2790298"/>
            <a:ext cx="3246606" cy="338296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C7D9B872-8228-3BCD-1E91-5463181B1D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2777" y="2790298"/>
            <a:ext cx="3081023" cy="3382963"/>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Eddy Currents - Definition, Demonstration, Drawbacks, Application">
            <a:extLst>
              <a:ext uri="{FF2B5EF4-FFF2-40B4-BE49-F238E27FC236}">
                <a16:creationId xmlns:a16="http://schemas.microsoft.com/office/drawing/2014/main" id="{91212716-C6C7-5DCF-8C91-EA34B5C1B12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807" t="2058" r="1817" b="13791"/>
          <a:stretch>
            <a:fillRect/>
          </a:stretch>
        </p:blipFill>
        <p:spPr bwMode="auto">
          <a:xfrm>
            <a:off x="838200" y="2790298"/>
            <a:ext cx="3708400" cy="338666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B1EB3B4-E23B-82C7-B683-A7DF48A751AF}"/>
              </a:ext>
            </a:extLst>
          </p:cNvPr>
          <p:cNvSpPr txBox="1"/>
          <p:nvPr/>
        </p:nvSpPr>
        <p:spPr>
          <a:xfrm>
            <a:off x="838200" y="2420966"/>
            <a:ext cx="1637308" cy="369332"/>
          </a:xfrm>
          <a:prstGeom prst="rect">
            <a:avLst/>
          </a:prstGeom>
          <a:noFill/>
        </p:spPr>
        <p:txBody>
          <a:bodyPr wrap="none" rtlCol="0">
            <a:spAutoFit/>
          </a:bodyPr>
          <a:lstStyle/>
          <a:p>
            <a:r>
              <a:rPr lang="en-US" b="1" dirty="0"/>
              <a:t>Eddy currents</a:t>
            </a:r>
          </a:p>
        </p:txBody>
      </p:sp>
    </p:spTree>
    <p:extLst>
      <p:ext uri="{BB962C8B-B14F-4D97-AF65-F5344CB8AC3E}">
        <p14:creationId xmlns:p14="http://schemas.microsoft.com/office/powerpoint/2010/main" val="1391906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fade">
                                      <p:cBhvr>
                                        <p:cTn id="12"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CA5C8-BF6C-09D7-E45C-ECA881762F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B4F4D7-7BFD-E44B-2B32-9FE8B970B5CB}"/>
              </a:ext>
            </a:extLst>
          </p:cNvPr>
          <p:cNvSpPr>
            <a:spLocks noGrp="1"/>
          </p:cNvSpPr>
          <p:nvPr>
            <p:ph type="title"/>
          </p:nvPr>
        </p:nvSpPr>
        <p:spPr/>
        <p:txBody>
          <a:bodyPr/>
          <a:lstStyle/>
          <a:p>
            <a:r>
              <a:rPr lang="en-US" dirty="0"/>
              <a:t>Recall: Susceptibility Distortion</a:t>
            </a:r>
          </a:p>
        </p:txBody>
      </p:sp>
      <p:sp>
        <p:nvSpPr>
          <p:cNvPr id="5" name="Content Placeholder 4">
            <a:extLst>
              <a:ext uri="{FF2B5EF4-FFF2-40B4-BE49-F238E27FC236}">
                <a16:creationId xmlns:a16="http://schemas.microsoft.com/office/drawing/2014/main" id="{EDC384E6-8E8A-3C00-3F5F-7E220B15A029}"/>
              </a:ext>
            </a:extLst>
          </p:cNvPr>
          <p:cNvSpPr>
            <a:spLocks noGrp="1"/>
          </p:cNvSpPr>
          <p:nvPr>
            <p:ph idx="1"/>
          </p:nvPr>
        </p:nvSpPr>
        <p:spPr>
          <a:xfrm>
            <a:off x="838200" y="1825625"/>
            <a:ext cx="5881099" cy="4351338"/>
          </a:xfrm>
        </p:spPr>
        <p:txBody>
          <a:bodyPr/>
          <a:lstStyle/>
          <a:p>
            <a:pPr marL="0" indent="0">
              <a:buNone/>
            </a:pPr>
            <a:r>
              <a:rPr lang="en-US" b="1" dirty="0"/>
              <a:t>Susceptibility distortion correction</a:t>
            </a:r>
          </a:p>
          <a:p>
            <a:r>
              <a:rPr lang="en-US" dirty="0"/>
              <a:t>Air/tissue interfaces (sinuses, ear canals) disturb the main B₀ field</a:t>
            </a:r>
          </a:p>
          <a:p>
            <a:r>
              <a:rPr lang="en-US" dirty="0"/>
              <a:t>In single-shot EPI the off-resonance accumulates during the echo train</a:t>
            </a:r>
          </a:p>
          <a:p>
            <a:pPr lvl="1"/>
            <a:r>
              <a:rPr lang="en-US" b="1" dirty="0"/>
              <a:t>Causes geometric stretch/compression</a:t>
            </a:r>
            <a:r>
              <a:rPr lang="en-US" dirty="0"/>
              <a:t> along the </a:t>
            </a:r>
            <a:r>
              <a:rPr lang="en-US" b="1" dirty="0"/>
              <a:t>phase-encoding axis</a:t>
            </a:r>
            <a:r>
              <a:rPr lang="en-US" dirty="0"/>
              <a:t> (usually “</a:t>
            </a:r>
            <a:r>
              <a:rPr lang="en-US" b="1" dirty="0"/>
              <a:t>y</a:t>
            </a:r>
            <a:r>
              <a:rPr lang="en-US" dirty="0"/>
              <a:t>”)</a:t>
            </a:r>
          </a:p>
          <a:p>
            <a:r>
              <a:rPr lang="en-US" dirty="0">
                <a:solidFill>
                  <a:srgbClr val="FF0000"/>
                </a:solidFill>
              </a:rPr>
              <a:t>REQUIRES FIELD MAP </a:t>
            </a:r>
            <a:r>
              <a:rPr lang="en-US" dirty="0"/>
              <a:t>(sort of…)</a:t>
            </a:r>
          </a:p>
        </p:txBody>
      </p:sp>
      <p:pic>
        <p:nvPicPr>
          <p:cNvPr id="19458" name="Picture 2" descr="How to fieldmap correct | Caroline Nettekoven">
            <a:extLst>
              <a:ext uri="{FF2B5EF4-FFF2-40B4-BE49-F238E27FC236}">
                <a16:creationId xmlns:a16="http://schemas.microsoft.com/office/drawing/2014/main" id="{239813DA-A9E0-082D-E73B-3B9C698E84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4540" y="2875392"/>
            <a:ext cx="4592115" cy="2580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4266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84C64-0626-632F-45AD-BC4D2CB1CC7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B85B65-5E1A-57FE-EE27-B5C1A6A5054F}"/>
              </a:ext>
            </a:extLst>
          </p:cNvPr>
          <p:cNvSpPr>
            <a:spLocks noGrp="1"/>
          </p:cNvSpPr>
          <p:nvPr>
            <p:ph type="title"/>
          </p:nvPr>
        </p:nvSpPr>
        <p:spPr/>
        <p:txBody>
          <a:bodyPr/>
          <a:lstStyle/>
          <a:p>
            <a:r>
              <a:rPr lang="en-US" dirty="0"/>
              <a:t>Recall: Bias Field Correction</a:t>
            </a:r>
          </a:p>
        </p:txBody>
      </p:sp>
      <p:sp>
        <p:nvSpPr>
          <p:cNvPr id="2" name="Content Placeholder 1">
            <a:extLst>
              <a:ext uri="{FF2B5EF4-FFF2-40B4-BE49-F238E27FC236}">
                <a16:creationId xmlns:a16="http://schemas.microsoft.com/office/drawing/2014/main" id="{27355D8C-D087-4E96-03BC-9002591580DD}"/>
              </a:ext>
            </a:extLst>
          </p:cNvPr>
          <p:cNvSpPr>
            <a:spLocks noGrp="1"/>
          </p:cNvSpPr>
          <p:nvPr>
            <p:ph idx="1"/>
          </p:nvPr>
        </p:nvSpPr>
        <p:spPr>
          <a:xfrm>
            <a:off x="838200" y="1573212"/>
            <a:ext cx="5726987" cy="4603751"/>
          </a:xfrm>
        </p:spPr>
        <p:txBody>
          <a:bodyPr/>
          <a:lstStyle/>
          <a:p>
            <a:r>
              <a:rPr lang="en-US" dirty="0"/>
              <a:t>Signal weakens as a function of distance from the RF coils</a:t>
            </a:r>
          </a:p>
          <a:p>
            <a:r>
              <a:rPr lang="en-US" dirty="0"/>
              <a:t>Uncorrected bias inflates tissue-class overlap</a:t>
            </a:r>
          </a:p>
          <a:p>
            <a:r>
              <a:rPr lang="en-US" dirty="0"/>
              <a:t>In </a:t>
            </a:r>
            <a:r>
              <a:rPr lang="en-US" dirty="0" err="1"/>
              <a:t>dMRI</a:t>
            </a:r>
            <a:r>
              <a:rPr lang="en-US" dirty="0"/>
              <a:t>, we use the b0 shell </a:t>
            </a:r>
          </a:p>
        </p:txBody>
      </p:sp>
      <p:pic>
        <p:nvPicPr>
          <p:cNvPr id="12290" name="Picture 2" descr="Fig. 1">
            <a:extLst>
              <a:ext uri="{FF2B5EF4-FFF2-40B4-BE49-F238E27FC236}">
                <a16:creationId xmlns:a16="http://schemas.microsoft.com/office/drawing/2014/main" id="{F284A822-8FE5-13B8-78CC-F5C19C0B85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3807" y="1573212"/>
            <a:ext cx="4273139" cy="485616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11924BE-86C4-7DE6-DD63-1E4C3ABAAE95}"/>
              </a:ext>
            </a:extLst>
          </p:cNvPr>
          <p:cNvPicPr>
            <a:picLocks noChangeAspect="1"/>
          </p:cNvPicPr>
          <p:nvPr/>
        </p:nvPicPr>
        <p:blipFill>
          <a:blip r:embed="rId4"/>
          <a:stretch>
            <a:fillRect/>
          </a:stretch>
        </p:blipFill>
        <p:spPr>
          <a:xfrm>
            <a:off x="1721468" y="3934680"/>
            <a:ext cx="3617549" cy="2242283"/>
          </a:xfrm>
          <a:prstGeom prst="rect">
            <a:avLst/>
          </a:prstGeom>
        </p:spPr>
      </p:pic>
    </p:spTree>
    <p:extLst>
      <p:ext uri="{BB962C8B-B14F-4D97-AF65-F5344CB8AC3E}">
        <p14:creationId xmlns:p14="http://schemas.microsoft.com/office/powerpoint/2010/main" val="3344828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0E59E-F59E-5B2E-49D9-432688F950E3}"/>
              </a:ext>
            </a:extLst>
          </p:cNvPr>
          <p:cNvSpPr>
            <a:spLocks noGrp="1"/>
          </p:cNvSpPr>
          <p:nvPr>
            <p:ph type="title"/>
          </p:nvPr>
        </p:nvSpPr>
        <p:spPr/>
        <p:txBody>
          <a:bodyPr/>
          <a:lstStyle/>
          <a:p>
            <a:r>
              <a:rPr lang="en-US" dirty="0"/>
              <a:t>Example Image Acquisition</a:t>
            </a:r>
          </a:p>
        </p:txBody>
      </p:sp>
      <p:sp>
        <p:nvSpPr>
          <p:cNvPr id="3" name="Content Placeholder 2">
            <a:extLst>
              <a:ext uri="{FF2B5EF4-FFF2-40B4-BE49-F238E27FC236}">
                <a16:creationId xmlns:a16="http://schemas.microsoft.com/office/drawing/2014/main" id="{34419B3D-3FF3-71A4-D6B3-E8BF74737E39}"/>
              </a:ext>
            </a:extLst>
          </p:cNvPr>
          <p:cNvSpPr>
            <a:spLocks noGrp="1"/>
          </p:cNvSpPr>
          <p:nvPr>
            <p:ph idx="1"/>
          </p:nvPr>
        </p:nvSpPr>
        <p:spPr/>
        <p:txBody>
          <a:bodyPr/>
          <a:lstStyle/>
          <a:p>
            <a:pPr marL="0" indent="0">
              <a:buNone/>
            </a:pPr>
            <a:r>
              <a:rPr lang="en-US" b="1" dirty="0"/>
              <a:t>Multi-shell</a:t>
            </a:r>
            <a:r>
              <a:rPr lang="en-US" dirty="0"/>
              <a:t> HARDI</a:t>
            </a:r>
          </a:p>
          <a:p>
            <a:r>
              <a:rPr lang="en-US" dirty="0"/>
              <a:t>&gt;= 3 non-zero b-values + b=0</a:t>
            </a:r>
          </a:p>
          <a:p>
            <a:pPr lvl="1"/>
            <a:r>
              <a:rPr lang="en-US" dirty="0"/>
              <a:t>E.g., 0 / 1000 / 2000 / 3000 s/mm^2</a:t>
            </a:r>
          </a:p>
          <a:p>
            <a:r>
              <a:rPr lang="en-US" dirty="0"/>
              <a:t>Directions per shell: </a:t>
            </a:r>
          </a:p>
          <a:p>
            <a:pPr lvl="1"/>
            <a:r>
              <a:rPr lang="en-US" dirty="0"/>
              <a:t>b0: 5</a:t>
            </a:r>
          </a:p>
          <a:p>
            <a:pPr lvl="1"/>
            <a:r>
              <a:rPr lang="en-US" dirty="0"/>
              <a:t>b1000: 20</a:t>
            </a:r>
          </a:p>
          <a:p>
            <a:pPr lvl="1"/>
            <a:r>
              <a:rPr lang="en-US" dirty="0"/>
              <a:t>b2000: 32</a:t>
            </a:r>
          </a:p>
          <a:p>
            <a:pPr lvl="1"/>
            <a:r>
              <a:rPr lang="en-US" dirty="0"/>
              <a:t>b3000: 50</a:t>
            </a:r>
          </a:p>
          <a:p>
            <a:r>
              <a:rPr lang="en-US" dirty="0"/>
              <a:t>Collect at least one reversed-PE (b=0) for susceptibility correction</a:t>
            </a:r>
          </a:p>
          <a:p>
            <a:pPr lvl="1"/>
            <a:endParaRPr lang="en-US" dirty="0"/>
          </a:p>
        </p:txBody>
      </p:sp>
      <p:pic>
        <p:nvPicPr>
          <p:cNvPr id="4" name="Google Shape;362;p34">
            <a:extLst>
              <a:ext uri="{FF2B5EF4-FFF2-40B4-BE49-F238E27FC236}">
                <a16:creationId xmlns:a16="http://schemas.microsoft.com/office/drawing/2014/main" id="{2A83933B-061E-02FF-6EBE-38CFC27793B4}"/>
              </a:ext>
            </a:extLst>
          </p:cNvPr>
          <p:cNvPicPr preferRelativeResize="0"/>
          <p:nvPr/>
        </p:nvPicPr>
        <p:blipFill rotWithShape="1">
          <a:blip r:embed="rId2">
            <a:alphaModFix/>
          </a:blip>
          <a:srcRect/>
          <a:stretch/>
        </p:blipFill>
        <p:spPr>
          <a:xfrm>
            <a:off x="6648007" y="1825624"/>
            <a:ext cx="4705793" cy="2651125"/>
          </a:xfrm>
          <a:prstGeom prst="rect">
            <a:avLst/>
          </a:prstGeom>
          <a:noFill/>
          <a:ln>
            <a:noFill/>
          </a:ln>
        </p:spPr>
      </p:pic>
    </p:spTree>
    <p:extLst>
      <p:ext uri="{BB962C8B-B14F-4D97-AF65-F5344CB8AC3E}">
        <p14:creationId xmlns:p14="http://schemas.microsoft.com/office/powerpoint/2010/main" val="1282470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7DB43733BD8C740B63A67A2364CA59C" ma:contentTypeVersion="12" ma:contentTypeDescription="Create a new document." ma:contentTypeScope="" ma:versionID="f586146fbcc2535f439a0d38b7ce45a5">
  <xsd:schema xmlns:xsd="http://www.w3.org/2001/XMLSchema" xmlns:xs="http://www.w3.org/2001/XMLSchema" xmlns:p="http://schemas.microsoft.com/office/2006/metadata/properties" xmlns:ns3="bbcfe6c7-694b-44e3-b0b8-34d9d5d98fd0" xmlns:ns4="43f03b47-e816-491c-bede-cfb684e8766b" targetNamespace="http://schemas.microsoft.com/office/2006/metadata/properties" ma:root="true" ma:fieldsID="ec1a77fb0572f5b1344323850bcebff0" ns3:_="" ns4:_="">
    <xsd:import namespace="bbcfe6c7-694b-44e3-b0b8-34d9d5d98fd0"/>
    <xsd:import namespace="43f03b47-e816-491c-bede-cfb684e8766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4:MigrationSourceID"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cfe6c7-694b-44e3-b0b8-34d9d5d98fd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3f03b47-e816-491c-bede-cfb684e8766b" elementFormDefault="qualified">
    <xsd:import namespace="http://schemas.microsoft.com/office/2006/documentManagement/types"/>
    <xsd:import namespace="http://schemas.microsoft.com/office/infopath/2007/PartnerControls"/>
    <xsd:element name="MigrationSourceID" ma:index="13" nillable="true" ma:displayName="MigrationSourceID" ma:internalName="MigrationSourceID"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C3CD925-250D-4DE1-8405-FB149111A4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bcfe6c7-694b-44e3-b0b8-34d9d5d98fd0"/>
    <ds:schemaRef ds:uri="43f03b47-e816-491c-bede-cfb684e876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0D84F91-9869-4CE7-9CA6-2C3EC504BEBB}">
  <ds:schemaRefs>
    <ds:schemaRef ds:uri="http://schemas.microsoft.com/sharepoint/v3/contenttype/forms"/>
  </ds:schemaRefs>
</ds:datastoreItem>
</file>

<file path=customXml/itemProps3.xml><?xml version="1.0" encoding="utf-8"?>
<ds:datastoreItem xmlns:ds="http://schemas.openxmlformats.org/officeDocument/2006/customXml" ds:itemID="{A8669072-8FDD-4791-9644-B192EF9DEDC6}">
  <ds:schemaRefs>
    <ds:schemaRef ds:uri="http://schemas.openxmlformats.org/package/2006/metadata/core-properties"/>
    <ds:schemaRef ds:uri="http://purl.org/dc/dcmitype/"/>
    <ds:schemaRef ds:uri="http://schemas.microsoft.com/office/2006/metadata/properties"/>
    <ds:schemaRef ds:uri="http://schemas.microsoft.com/office/2006/documentManagement/types"/>
    <ds:schemaRef ds:uri="http://purl.org/dc/terms/"/>
    <ds:schemaRef ds:uri="bbcfe6c7-694b-44e3-b0b8-34d9d5d98fd0"/>
    <ds:schemaRef ds:uri="http://schemas.microsoft.com/office/infopath/2007/PartnerControls"/>
    <ds:schemaRef ds:uri="43f03b47-e816-491c-bede-cfb684e8766b"/>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345</TotalTime>
  <Words>1556</Words>
  <Application>Microsoft Office PowerPoint</Application>
  <PresentationFormat>Widescreen</PresentationFormat>
  <Paragraphs>199</Paragraphs>
  <Slides>30</Slides>
  <Notes>7</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30</vt:i4>
      </vt:variant>
    </vt:vector>
  </HeadingPairs>
  <TitlesOfParts>
    <vt:vector size="37" baseType="lpstr">
      <vt:lpstr>Aptos</vt:lpstr>
      <vt:lpstr>Aptos Display</vt:lpstr>
      <vt:lpstr>Arial</vt:lpstr>
      <vt:lpstr>Verdana</vt:lpstr>
      <vt:lpstr>Office Theme</vt:lpstr>
      <vt:lpstr>1_Office Theme</vt:lpstr>
      <vt:lpstr>Office Theme</vt:lpstr>
      <vt:lpstr>UVA Brainhack!</vt:lpstr>
      <vt:lpstr>Agenda</vt:lpstr>
      <vt:lpstr>Diffusion-weighted MRI (dMRI)</vt:lpstr>
      <vt:lpstr>Actually…</vt:lpstr>
      <vt:lpstr>Basic Concepts</vt:lpstr>
      <vt:lpstr>Acquisition</vt:lpstr>
      <vt:lpstr>Acquisition</vt:lpstr>
      <vt:lpstr>Basic Concepts (cont.)</vt:lpstr>
      <vt:lpstr>PowerPoint Presentation</vt:lpstr>
      <vt:lpstr>PowerPoint Presentation</vt:lpstr>
      <vt:lpstr>PowerPoint Presentation</vt:lpstr>
      <vt:lpstr>Shells / b-value</vt:lpstr>
      <vt:lpstr>Shells / b-value</vt:lpstr>
      <vt:lpstr>PowerPoint Presentation</vt:lpstr>
      <vt:lpstr>ADC</vt:lpstr>
      <vt:lpstr>PowerPoint Presentation</vt:lpstr>
      <vt:lpstr>PowerPoint Presentation</vt:lpstr>
      <vt:lpstr>What can we glean from this?</vt:lpstr>
      <vt:lpstr>What can we do with this?</vt:lpstr>
      <vt:lpstr>What can we do with this?</vt:lpstr>
      <vt:lpstr>PowerPoint Presentation</vt:lpstr>
      <vt:lpstr>PowerPoint Presentation</vt:lpstr>
      <vt:lpstr>PowerPoint Presentation</vt:lpstr>
      <vt:lpstr>PowerPoint Presentation</vt:lpstr>
      <vt:lpstr>Preprocessing steps</vt:lpstr>
      <vt:lpstr>Gibbs ringing</vt:lpstr>
      <vt:lpstr>Recall: Eddy Currents</vt:lpstr>
      <vt:lpstr>Recall: Susceptibility Distortion</vt:lpstr>
      <vt:lpstr>Recall: Bias Field Correction</vt:lpstr>
      <vt:lpstr>Example Image Acquisition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Gallagher, Richard Craig (rcg7jb)</dc:creator>
  <cp:lastModifiedBy>Gallagher, Richard Craig (rcg7jb)</cp:lastModifiedBy>
  <cp:revision>15</cp:revision>
  <dcterms:created xsi:type="dcterms:W3CDTF">2025-08-08T12:06:16Z</dcterms:created>
  <dcterms:modified xsi:type="dcterms:W3CDTF">2025-08-08T17:51:19Z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0x01010057DB43733BD8C740B63A67A2364CA59C</vt:lpwstr>
  </property>
</Properties>
</file>