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4" r:id="rId3"/>
    <p:sldMasterId id="2147483662" r:id="rId4"/>
    <p:sldMasterId id="2147483666" r:id="rId5"/>
    <p:sldMasterId id="2147483670" r:id="rId6"/>
  </p:sldMasterIdLst>
  <p:notesMasterIdLst>
    <p:notesMasterId r:id="rId41"/>
  </p:notesMasterIdLst>
  <p:sldIdLst>
    <p:sldId id="257" r:id="rId7"/>
    <p:sldId id="258" r:id="rId8"/>
    <p:sldId id="259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6" r:id="rId17"/>
    <p:sldId id="269" r:id="rId18"/>
    <p:sldId id="273" r:id="rId19"/>
    <p:sldId id="274" r:id="rId20"/>
    <p:sldId id="270" r:id="rId21"/>
    <p:sldId id="271" r:id="rId22"/>
    <p:sldId id="275" r:id="rId23"/>
    <p:sldId id="272" r:id="rId24"/>
    <p:sldId id="276" r:id="rId25"/>
    <p:sldId id="260" r:id="rId26"/>
    <p:sldId id="283" r:id="rId27"/>
    <p:sldId id="284" r:id="rId28"/>
    <p:sldId id="285" r:id="rId29"/>
    <p:sldId id="277" r:id="rId30"/>
    <p:sldId id="286" r:id="rId31"/>
    <p:sldId id="280" r:id="rId32"/>
    <p:sldId id="281" r:id="rId33"/>
    <p:sldId id="282" r:id="rId34"/>
    <p:sldId id="287" r:id="rId35"/>
    <p:sldId id="278" r:id="rId36"/>
    <p:sldId id="288" r:id="rId37"/>
    <p:sldId id="289" r:id="rId38"/>
    <p:sldId id="290" r:id="rId39"/>
    <p:sldId id="27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84" autoAdjust="0"/>
  </p:normalViewPr>
  <p:slideViewPr>
    <p:cSldViewPr snapToGrid="0">
      <p:cViewPr>
        <p:scale>
          <a:sx n="100" d="100"/>
          <a:sy n="100" d="100"/>
        </p:scale>
        <p:origin x="39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E7EB46-1DF9-4386-ADD2-7F23AE3E489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2FDDF-0146-40A3-B043-A4BB86480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1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 just interested in which kinds of stimuli most strongly drive a region, but what</a:t>
            </a:r>
            <a:r>
              <a:rPr lang="en-US" b="1" dirty="0"/>
              <a:t> information is represented in each region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FDDF-0146-40A3-B043-A4BB86480E7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11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c6ccb8ce80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c6ccb8ce80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just interested in which kinds of stimuli most strongly drive a region, but what</a:t>
            </a:r>
            <a:r>
              <a:rPr lang="en" b="1"/>
              <a:t> information is represented in each region</a:t>
            </a:r>
            <a:endParaRPr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3a106388a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3a106388a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Not just interested in which kinds of stimuli most strongly drive a region, but what</a:t>
            </a:r>
            <a:r>
              <a:rPr lang="en" b="1" dirty="0"/>
              <a:t> information is represented in each region</a:t>
            </a:r>
            <a:endParaRPr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c7ec2846b2_2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c7ec2846b2_2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4946-3056-1AD5-9FAF-BAA81AEB7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5A778-4FFE-7300-7EDA-234AACDD6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8E4E7-A294-FAC6-6CDD-FD3C60C8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FA2EA-32B1-CEB2-F67C-49EBD6FD8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C5CD8-780A-28BE-7A04-302C02F8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30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E8D5F-7B23-9BDE-E351-85F302B4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62134-5B34-015E-9DBD-DF08C5B48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823B6-7397-7484-900B-DDC3F4FE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93C6F-A4FB-8F8D-F65E-3A6A42B1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31B20-763C-45E5-CED8-4A6ACD69F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3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E622-27BC-744A-356E-5AF984AF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BA310-12DE-C69A-DCB2-48CA3056C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9C6C7-02F8-7B64-0EE8-37EC9DA71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E5E96-EAC2-3CFC-84AB-7B6FD3E6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2AF34-E466-4181-E346-1AEF4663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1EA9-626A-C3D1-EF0D-F8A00BE9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63327-B004-2495-1F40-D48C4DB00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55A92-EFD4-D587-E69E-AE5726818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0090A-2600-AC71-52D0-E0C20B70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29F7A-15B2-1EF5-E384-6BE26FBF5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0B973-D565-9032-82C6-1BB34419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0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6422-226A-FDA0-30C2-0C50F696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86F85-5AF7-433F-B67A-6F3B51970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C702E-100D-7B64-8F95-A696A1E30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48034-D046-B027-5A7A-6B67E70D5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EED991-0231-8A6E-CDC1-B9B258DA00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04D46E-401E-821A-BF05-B276B6514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84F535-EF80-4A6D-3EE6-C9D3C76ED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C88BE-2C89-199B-19EA-4AD6CC116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6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5CA4-5DE8-0AFF-2358-D7FB9450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8E75F-EF55-BA70-215E-C4FB4662D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44EFE-CCF9-5DA5-7026-F542BC86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7885C-5F9F-3230-4F24-F9DAC76D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50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FCD7DA-1F54-3AA2-FCFE-50D8C1340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4F479-301F-B83B-A9A5-30A04686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06B2B-C709-DD7E-E138-B4A6A2CEE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9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3205-158C-C027-F642-47C15FCA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DF9EC-63ED-DB79-9999-3815BC058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56EF3-B4EE-F862-3B35-C8357237A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4A241-F08B-B547-F2CC-435824967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28477-3984-C875-F45E-690840E9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1F2DA-B648-BE38-9FE2-4D0C72081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9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028C-6D58-3B4E-B0D7-092C8A82E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CF05F6-C9EC-C8C6-E3D5-A94F9E307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290D5-76C5-E0B7-87B2-00611EBA9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FE95D-2B95-82EC-B741-5B5F2ADE4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1E3F2-3A70-B2F3-6E7A-E5EA48DEC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E37FE-3EF6-AA20-D305-DFA22069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3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17652-1166-8013-05A5-344E3044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694CF-24D0-44C2-A822-2650C8112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32E46-8B90-33D8-E358-EF22F612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2AE58-F69B-E57B-25CA-3CA77C5D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ADDA0-F8BC-C379-92F6-9D18EB63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87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71B15C-D5E0-8680-1361-6E7553384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47C92-48B8-2BCD-F534-D8252C3EF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2BB45-B308-A83F-FDF4-CFDA16AE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1E33D-3AA9-FD86-FF3E-6C0DC36A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A1027-B7D2-00F4-F093-E80AC7C0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14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13E1-6B18-668E-B11B-E8831FBB6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2C340-9253-61BD-C68B-149F0C28C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7D0B2-9443-B9EC-7A90-D47A97A2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FCB0-C154-4AC2-8FB1-CED0B549503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63D1F-85EA-3804-8C36-DC3BBCB6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4E6F6-B413-34BC-371C-BB627AAD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7CF5-9678-47F9-9B3F-FC35A2EE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87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E3EB-A309-7095-E65D-D4232BF7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6E85-D05A-FCB9-2165-A1829D18E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51543-0F83-588A-94F6-70FF3A123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DCC2D-24E8-4D19-A3D4-BF5D7547EDA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D2ADB-87BD-C48D-D497-78A9CE6A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01428-CFA6-46CB-E4F8-0D0E5945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4C6-7476-4DDF-AE74-1E71E8908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61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E6BC0-E443-FDE4-DEB7-08E32EE75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102B-2E3A-906F-E4AD-4A6DFBD2E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2446A-5463-4914-0FC0-8781B2EC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4C2AB-AEBD-160F-DFE6-FDF6D7DA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7F88-73BA-3D5D-911D-2469FD6D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96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C93C-60A7-81D4-1CD6-68656C1B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083C5-1F9B-00C7-C43C-08E9C1816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1D747-26A9-DAA4-57A2-370AA1F3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DEBF5-02C1-6146-C1DB-1227B2AE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C67AF-1AA8-3D54-3D48-B910D187D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21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CF6DB0-0EC8-2EA8-53EB-51B2E027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24943-317F-C8FE-2AD9-99E36F909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0AED0-C183-E64C-81A1-9C2A38F2C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7BEFA-3441-42E3-A1AF-B69092FC616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F15B3-0E90-09EB-F7A7-89D8A9692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99481-6955-C6EE-ACF2-DD204F2A9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1653B-7A07-44CC-9E0D-6D79D08D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8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784C3-1790-12B5-E837-F108EF8B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8925C-5DD3-0B3F-3153-C8088EB3F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36B0A-DA2A-87FB-E81D-BF5F2B739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7FCB0-C154-4AC2-8FB1-CED0B549503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EB7BD-9500-39CF-AF68-35BB85FCA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174DC-2A0A-E174-D33C-5F9264B14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57CF5-9678-47F9-9B3F-FC35A2EE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7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C6C6E-FACC-4737-DA84-4933F836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D3C38-1D60-0BB4-765D-DF524761A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72A44-EDB5-51A5-814A-47EBF2AEB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DCC2D-24E8-4D19-A3D4-BF5D7547EDA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04F52-E9AF-55DC-F905-B07D0BB09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B978E-8C5A-D991-BC3F-55C82CAC0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764C6-7476-4DDF-AE74-1E71E8908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5B2BA-05AF-E6BF-2A2D-66351DF87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83CDA-1783-9148-3BFF-A987D82C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54E23-20EF-1350-1944-50807399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CBB19-2299-49C9-A838-84182D89A2B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F48CA-2ADE-709A-C95D-149691FB6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9FBFE-29F0-6366-8DAF-D2E2E1C9C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9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07072-12AE-A567-147A-2EC0E0DA3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9AB85-D768-CB36-4244-97853594B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8B81D-3520-E3B5-9136-9C73AEDC6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7BB17-60DC-4BE2-8392-97CCBA00DC5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A7622-DA67-6174-50E5-0C7F171BA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0D992-4022-BB4A-1A96-842537333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7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"/>
              <a:buNone/>
              <a:defRPr sz="28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eorgia"/>
              <a:buChar char="●"/>
              <a:defRPr sz="1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jpe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png"/><Relationship Id="rId5" Type="http://schemas.openxmlformats.org/officeDocument/2006/relationships/image" Target="../media/image22.gif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png"/><Relationship Id="rId5" Type="http://schemas.openxmlformats.org/officeDocument/2006/relationships/image" Target="../media/image24.gif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6354C4B-A321-2406-7D6C-7EB884DDCC2C}"/>
              </a:ext>
            </a:extLst>
          </p:cNvPr>
          <p:cNvGrpSpPr/>
          <p:nvPr/>
        </p:nvGrpSpPr>
        <p:grpSpPr>
          <a:xfrm>
            <a:off x="110703" y="49488"/>
            <a:ext cx="11995595" cy="6441663"/>
            <a:chOff x="110703" y="49488"/>
            <a:chExt cx="11995595" cy="6441663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2144F7E5-A3DE-C3B4-B75A-D4849B684F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3969542" y="1880350"/>
              <a:ext cx="4651538" cy="4606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7928141-054E-BD22-A501-161BE96F1B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3476244" y="5139447"/>
              <a:ext cx="1360344" cy="1347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F21624BD-DEFD-549C-EE49-339704C186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2750734" y="3594575"/>
              <a:ext cx="1460214" cy="1445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6B52F817-82BE-23EC-0964-310D34AEBD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375396" y="3183805"/>
              <a:ext cx="2354756" cy="2331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5186EF19-31E3-3BF4-4499-6329F183C1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10703" y="1122597"/>
              <a:ext cx="1242102" cy="1229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6FD863E0-829E-4606-63D8-A25D9164B7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1597155" y="49488"/>
              <a:ext cx="1933784" cy="1914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5829CFD8-D81A-7AF1-04D7-E416B33A2F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2720896" y="2119790"/>
              <a:ext cx="1205645" cy="119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81ECEA6B-DD5B-2267-2284-016B8FB1E9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4014376" y="1684198"/>
              <a:ext cx="620864" cy="614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AD4023EC-E81F-6627-D025-83E80B14FF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1330527" y="2120264"/>
              <a:ext cx="873353" cy="864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01BBE522-8701-2265-A668-C58A02E1D3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8356801" y="1150710"/>
              <a:ext cx="1610592" cy="1594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2EB0F1FA-6FF9-4CC7-65E7-9B21AC2FD7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9816480" y="169770"/>
              <a:ext cx="1064045" cy="1053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03D8D9A5-BF5A-BEAB-2787-489E3E0175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9905375" y="2162381"/>
              <a:ext cx="1014697" cy="10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545F69C3-08C3-C3EA-5D47-B9EFC2AAE7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8141249" y="3010732"/>
              <a:ext cx="844774" cy="836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D7383249-1E68-FDB7-B515-0CC7180F0C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0135975" y="4540042"/>
              <a:ext cx="1970323" cy="19511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CA5ADDA8-A3CE-C5BA-ACF9-B4E28EE4E0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8240783" y="5124462"/>
              <a:ext cx="1360345" cy="1347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99A36D67-C077-E252-A4BC-0C9842E67B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0763153" y="3010732"/>
              <a:ext cx="1320626" cy="1307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F84C7FEE-0431-655A-E762-902A736117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8950335" y="3479528"/>
              <a:ext cx="1483563" cy="1469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93C7D5-9357-0BE6-37B8-E0C51C8AF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97" y="666352"/>
            <a:ext cx="10558405" cy="3044335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UVA Brainhack!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B5031-D951-D78E-CF2A-18BF4B0D5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===== Week 8 =====</a:t>
            </a:r>
          </a:p>
          <a:p>
            <a:r>
              <a:rPr lang="en-US" dirty="0">
                <a:solidFill>
                  <a:schemeClr val="bg1"/>
                </a:solidFill>
              </a:rPr>
              <a:t>7/18/2025</a:t>
            </a:r>
          </a:p>
        </p:txBody>
      </p:sp>
    </p:spTree>
    <p:extLst>
      <p:ext uri="{BB962C8B-B14F-4D97-AF65-F5344CB8AC3E}">
        <p14:creationId xmlns:p14="http://schemas.microsoft.com/office/powerpoint/2010/main" val="292325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4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0 -1.48148E-6 L 0 -0.10347 " pathEditMode="relative" rAng="0" ptsTypes="AA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85"/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34" presetClass="emph" presetSubtype="0" repeatCount="indefinite" fill="hold" grpId="1" nodeType="withEffect">
                                  <p:stCondLst>
                                    <p:cond delay="47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-4.16667E-7 -2.96296E-6 L -0.00026 -0.05324 " pathEditMode="relative" rAng="0" ptsTypes="AA">
                                      <p:cBhvr>
                                        <p:cTn id="21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662"/>
                                    </p:animMotion>
                                    <p:animRot by="1500000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5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34" presetClass="emph" presetSubtype="0" repeatCount="indefinite" fill="hold" nodeType="withEffect">
                                  <p:stCondLst>
                                    <p:cond delay="125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-2.08333E-7 -3.7037E-7 L -0.00013 -0.01343 " pathEditMode="relative" rAng="0" ptsTypes="AA">
                                      <p:cBhvr>
                                        <p:cTn id="27" dur="1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671"/>
                                    </p:animMotion>
                                    <p:animRot by="1500000">
                                      <p:cBhvr>
                                        <p:cTn id="2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7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75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750" fill="hold">
                                          <p:stCondLst>
                                            <p:cond delay="2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uiExpand="1" build="p"/>
      <p:bldP spid="3" grpId="1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8B9B6-F811-B299-F5B1-F469CB6E3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b="1"/>
              <a:t>Agenda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03BC01-DDFC-2D25-A5E3-E6EBCA972D6A}"/>
              </a:ext>
            </a:extLst>
          </p:cNvPr>
          <p:cNvGrpSpPr/>
          <p:nvPr/>
        </p:nvGrpSpPr>
        <p:grpSpPr>
          <a:xfrm>
            <a:off x="836675" y="1912761"/>
            <a:ext cx="10515600" cy="474974"/>
            <a:chOff x="0" y="37268"/>
            <a:chExt cx="10515600" cy="9828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04F23B0-C585-A519-43C0-BA23017149CF}"/>
                </a:ext>
              </a:extLst>
            </p:cNvPr>
            <p:cNvSpPr/>
            <p:nvPr/>
          </p:nvSpPr>
          <p:spPr>
            <a:xfrm>
              <a:off x="0" y="37268"/>
              <a:ext cx="10515600" cy="982800"/>
            </a:xfrm>
            <a:prstGeom prst="roundRect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ED0174B2-9756-D3B9-233E-37EEC5B02B09}"/>
                </a:ext>
              </a:extLst>
            </p:cNvPr>
            <p:cNvSpPr txBox="1"/>
            <p:nvPr/>
          </p:nvSpPr>
          <p:spPr>
            <a:xfrm>
              <a:off x="47976" y="85244"/>
              <a:ext cx="9231806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Check-in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87EE89-A3FC-B9BB-5F2E-C5CD4B0EDA86}"/>
              </a:ext>
            </a:extLst>
          </p:cNvPr>
          <p:cNvGrpSpPr/>
          <p:nvPr/>
        </p:nvGrpSpPr>
        <p:grpSpPr>
          <a:xfrm>
            <a:off x="1578391" y="3365962"/>
            <a:ext cx="9766706" cy="474973"/>
            <a:chOff x="0" y="1135269"/>
            <a:chExt cx="10515600" cy="9828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93C4F3F-4D7B-07A8-4DAA-9093A449A4EE}"/>
                </a:ext>
              </a:extLst>
            </p:cNvPr>
            <p:cNvSpPr/>
            <p:nvPr/>
          </p:nvSpPr>
          <p:spPr>
            <a:xfrm>
              <a:off x="0" y="1135269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FFFF00"/>
                </a:gs>
                <a:gs pos="50000">
                  <a:srgbClr val="FFFF00"/>
                </a:gs>
                <a:gs pos="100000">
                  <a:srgbClr val="FFFF99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FF8190A1-87C8-CBC4-89A4-CF9B904C3F32}"/>
                </a:ext>
              </a:extLst>
            </p:cNvPr>
            <p:cNvSpPr txBox="1"/>
            <p:nvPr/>
          </p:nvSpPr>
          <p:spPr>
            <a:xfrm>
              <a:off x="47976" y="1183245"/>
              <a:ext cx="9449520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MVPA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89E1B3-7DA3-61AF-F3BA-8CB422DE6862}"/>
              </a:ext>
            </a:extLst>
          </p:cNvPr>
          <p:cNvGrpSpPr/>
          <p:nvPr/>
        </p:nvGrpSpPr>
        <p:grpSpPr>
          <a:xfrm>
            <a:off x="1578391" y="4781966"/>
            <a:ext cx="9789165" cy="474972"/>
            <a:chOff x="0" y="2233269"/>
            <a:chExt cx="10515600" cy="9828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155CD7FD-CF50-51A0-4C14-093728B3C602}"/>
                </a:ext>
              </a:extLst>
            </p:cNvPr>
            <p:cNvSpPr/>
            <p:nvPr/>
          </p:nvSpPr>
          <p:spPr>
            <a:xfrm>
              <a:off x="0" y="2233269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FFC000"/>
                </a:gs>
                <a:gs pos="50000">
                  <a:srgbClr val="FFCC00"/>
                </a:gs>
                <a:gs pos="100000">
                  <a:srgbClr val="FFCC00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2CCD40DA-E508-D96F-7662-8528143775A0}"/>
                </a:ext>
              </a:extLst>
            </p:cNvPr>
            <p:cNvSpPr txBox="1"/>
            <p:nvPr/>
          </p:nvSpPr>
          <p:spPr>
            <a:xfrm>
              <a:off x="47976" y="2281245"/>
              <a:ext cx="9972035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TBM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448856C-684D-0FB0-625F-312F4859B0B5}"/>
              </a:ext>
            </a:extLst>
          </p:cNvPr>
          <p:cNvGrpSpPr/>
          <p:nvPr/>
        </p:nvGrpSpPr>
        <p:grpSpPr>
          <a:xfrm>
            <a:off x="836675" y="5506019"/>
            <a:ext cx="10515600" cy="474971"/>
            <a:chOff x="0" y="3368538"/>
            <a:chExt cx="10515600" cy="98280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33A8BE7-5A45-01F1-2CC7-D9D0D28E1F4B}"/>
                </a:ext>
              </a:extLst>
            </p:cNvPr>
            <p:cNvSpPr/>
            <p:nvPr/>
          </p:nvSpPr>
          <p:spPr>
            <a:xfrm>
              <a:off x="0" y="3368538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FF5050"/>
                </a:gs>
                <a:gs pos="50000">
                  <a:srgbClr val="CC0000"/>
                </a:gs>
                <a:gs pos="100000">
                  <a:srgbClr val="CC0000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D93FAA92-EDBB-B28B-34A5-2392107F2AEC}"/>
                </a:ext>
              </a:extLst>
            </p:cNvPr>
            <p:cNvSpPr txBox="1"/>
            <p:nvPr/>
          </p:nvSpPr>
          <p:spPr>
            <a:xfrm>
              <a:off x="47976" y="3416514"/>
              <a:ext cx="9696263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Hacking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742DAE9-D134-CBFA-07A7-91F2E303CD4F}"/>
              </a:ext>
            </a:extLst>
          </p:cNvPr>
          <p:cNvGrpSpPr/>
          <p:nvPr/>
        </p:nvGrpSpPr>
        <p:grpSpPr>
          <a:xfrm>
            <a:off x="836675" y="2636814"/>
            <a:ext cx="10508422" cy="474974"/>
            <a:chOff x="0" y="37268"/>
            <a:chExt cx="10515600" cy="9828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67C5D2-0F4A-D223-52B6-13DC35CA4116}"/>
                </a:ext>
              </a:extLst>
            </p:cNvPr>
            <p:cNvSpPr/>
            <p:nvPr/>
          </p:nvSpPr>
          <p:spPr>
            <a:xfrm>
              <a:off x="0" y="37268"/>
              <a:ext cx="10515600" cy="982800"/>
            </a:xfrm>
            <a:prstGeom prst="roundRect">
              <a:avLst/>
            </a:prstGeom>
            <a:gradFill>
              <a:gsLst>
                <a:gs pos="0">
                  <a:schemeClr val="tx2">
                    <a:lumMod val="50000"/>
                    <a:lumOff val="50000"/>
                  </a:schemeClr>
                </a:gs>
                <a:gs pos="50000">
                  <a:schemeClr val="tx2">
                    <a:lumMod val="50000"/>
                    <a:lumOff val="5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96782766-A12B-8DF2-D986-3641AF85E895}"/>
                </a:ext>
              </a:extLst>
            </p:cNvPr>
            <p:cNvSpPr txBox="1"/>
            <p:nvPr/>
          </p:nvSpPr>
          <p:spPr>
            <a:xfrm>
              <a:off x="47976" y="85244"/>
              <a:ext cx="9231806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Advanced Analysis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6295ED6-1917-55E6-AEDF-E8EEE16F1039}"/>
              </a:ext>
            </a:extLst>
          </p:cNvPr>
          <p:cNvGrpSpPr/>
          <p:nvPr/>
        </p:nvGrpSpPr>
        <p:grpSpPr>
          <a:xfrm>
            <a:off x="1578391" y="4057911"/>
            <a:ext cx="9728958" cy="474974"/>
            <a:chOff x="0" y="37268"/>
            <a:chExt cx="10515600" cy="9828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D9160BB-2012-9C31-4211-8AA4BB461591}"/>
                </a:ext>
              </a:extLst>
            </p:cNvPr>
            <p:cNvSpPr/>
            <p:nvPr/>
          </p:nvSpPr>
          <p:spPr>
            <a:xfrm>
              <a:off x="0" y="37268"/>
              <a:ext cx="10515600" cy="982800"/>
            </a:xfrm>
            <a:prstGeom prst="roundRect">
              <a:avLst/>
            </a:pr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50000">
                  <a:schemeClr val="accent6">
                    <a:lumMod val="60000"/>
                    <a:lumOff val="40000"/>
                  </a:schemeClr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5A6574FE-5D20-C1C6-5204-9E6BC1C47C13}"/>
                </a:ext>
              </a:extLst>
            </p:cNvPr>
            <p:cNvSpPr txBox="1"/>
            <p:nvPr/>
          </p:nvSpPr>
          <p:spPr>
            <a:xfrm>
              <a:off x="47976" y="85244"/>
              <a:ext cx="9231806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dirty="0">
                  <a:solidFill>
                    <a:schemeClr val="tx1"/>
                  </a:solidFill>
                </a:rPr>
                <a:t>RSA</a:t>
              </a:r>
              <a:endParaRPr lang="en-US" sz="40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715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"/>
                            </p:stCondLst>
                            <p:childTnLst>
                              <p:par>
                                <p:cTn id="3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A4817E-0DF5-5DEA-6F89-3CF259603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100" y="1071563"/>
            <a:ext cx="10515600" cy="2852737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 Check-in</a:t>
            </a:r>
          </a:p>
        </p:txBody>
      </p:sp>
      <p:pic>
        <p:nvPicPr>
          <p:cNvPr id="1026" name="Picture 2" descr="Using “Animal Crossing: New Horizons” to Escape Coronavirus Anxiety? I've  Been There | KQED">
            <a:extLst>
              <a:ext uri="{FF2B5EF4-FFF2-40B4-BE49-F238E27FC236}">
                <a16:creationId xmlns:a16="http://schemas.microsoft.com/office/drawing/2014/main" id="{B57EEF2E-7298-031C-5615-452A54EB3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260" y="1604168"/>
            <a:ext cx="6793090" cy="382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51668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9E986-B5E6-A785-0E67-1FD46E516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953745-5C00-D463-983A-8AF13EA4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30677-100E-FF4B-6EDE-1E6627538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5818866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722D-344D-7124-0F58-349D99A52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Linear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2310F-6F26-8ECE-8656-F307D67C6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858" y="2535549"/>
            <a:ext cx="5656284" cy="89345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E36358B-B047-0433-8252-3C638B70D1C4}"/>
              </a:ext>
            </a:extLst>
          </p:cNvPr>
          <p:cNvGrpSpPr/>
          <p:nvPr/>
        </p:nvGrpSpPr>
        <p:grpSpPr>
          <a:xfrm>
            <a:off x="1149292" y="3329700"/>
            <a:ext cx="2691188" cy="1192291"/>
            <a:chOff x="1149292" y="3329700"/>
            <a:chExt cx="2691188" cy="119229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DFD1C9-9371-A8DC-433D-E3F187268DB3}"/>
                </a:ext>
              </a:extLst>
            </p:cNvPr>
            <p:cNvSpPr txBox="1"/>
            <p:nvPr/>
          </p:nvSpPr>
          <p:spPr>
            <a:xfrm>
              <a:off x="1149292" y="4152659"/>
              <a:ext cx="1813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Measured signal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C7C18EF-8842-159A-F1AE-A4DB9E0B7108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055983" y="3520440"/>
              <a:ext cx="1047659" cy="6322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350E287-3745-D42F-8EE4-C02CDD0EB38F}"/>
                </a:ext>
              </a:extLst>
            </p:cNvPr>
            <p:cNvSpPr/>
            <p:nvPr/>
          </p:nvSpPr>
          <p:spPr>
            <a:xfrm>
              <a:off x="3267858" y="3329700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D94AE90-03CB-EB11-CD2A-0D72B2DF3EFD}"/>
              </a:ext>
            </a:extLst>
          </p:cNvPr>
          <p:cNvGrpSpPr/>
          <p:nvPr/>
        </p:nvGrpSpPr>
        <p:grpSpPr>
          <a:xfrm>
            <a:off x="3360137" y="3329699"/>
            <a:ext cx="2309607" cy="2275869"/>
            <a:chOff x="3360137" y="3329699"/>
            <a:chExt cx="2309607" cy="227586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DEF383-C07C-D19E-3E55-D797C823A448}"/>
                </a:ext>
              </a:extLst>
            </p:cNvPr>
            <p:cNvSpPr txBox="1"/>
            <p:nvPr/>
          </p:nvSpPr>
          <p:spPr>
            <a:xfrm>
              <a:off x="3360137" y="5236236"/>
              <a:ext cx="2309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Amplitude (unknown)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405DA96-A5F4-6170-F15D-5110884A09B1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4514941" y="3520440"/>
              <a:ext cx="274777" cy="17157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309EC7-19FC-D4F7-F6FE-F483547FEFA3}"/>
                </a:ext>
              </a:extLst>
            </p:cNvPr>
            <p:cNvSpPr/>
            <p:nvPr/>
          </p:nvSpPr>
          <p:spPr>
            <a:xfrm>
              <a:off x="4598040" y="3329699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DBF1BB8-2991-6396-3A16-2ECF09B02542}"/>
              </a:ext>
            </a:extLst>
          </p:cNvPr>
          <p:cNvGrpSpPr/>
          <p:nvPr/>
        </p:nvGrpSpPr>
        <p:grpSpPr>
          <a:xfrm>
            <a:off x="5138602" y="3329698"/>
            <a:ext cx="3045001" cy="1351806"/>
            <a:chOff x="5138602" y="3329698"/>
            <a:chExt cx="3045001" cy="135180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D11E01-FAC3-F9C6-FA30-1409F6595CA9}"/>
                </a:ext>
              </a:extLst>
            </p:cNvPr>
            <p:cNvSpPr txBox="1"/>
            <p:nvPr/>
          </p:nvSpPr>
          <p:spPr>
            <a:xfrm>
              <a:off x="5138602" y="4035173"/>
              <a:ext cx="30450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Design matrix</a:t>
              </a:r>
            </a:p>
            <a:p>
              <a:pPr algn="ctr"/>
              <a:r>
                <a:rPr lang="en-US" dirty="0"/>
                <a:t>(events </a:t>
              </a:r>
              <a:r>
                <a:rPr lang="en-US" b="1" dirty="0"/>
                <a:t>convolved</a:t>
              </a:r>
              <a:r>
                <a:rPr lang="en-US" dirty="0"/>
                <a:t> with HRF)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B07F5EE-5857-B31F-4A1A-C332EF6254F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6661102" y="3520440"/>
              <a:ext cx="1" cy="5147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FFCEA9B-1340-F8D9-1A46-F19E8D7A831F}"/>
                </a:ext>
              </a:extLst>
            </p:cNvPr>
            <p:cNvSpPr/>
            <p:nvPr/>
          </p:nvSpPr>
          <p:spPr>
            <a:xfrm>
              <a:off x="5503445" y="3329698"/>
              <a:ext cx="1976845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3D438DB-45F9-009C-2F80-F32A040D96C0}"/>
              </a:ext>
            </a:extLst>
          </p:cNvPr>
          <p:cNvGrpSpPr/>
          <p:nvPr/>
        </p:nvGrpSpPr>
        <p:grpSpPr>
          <a:xfrm>
            <a:off x="7486992" y="3329697"/>
            <a:ext cx="3741986" cy="2275871"/>
            <a:chOff x="7486992" y="3329697"/>
            <a:chExt cx="3741986" cy="22758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2DEDC4-2A5A-5867-34D0-496AD4E0CCC6}"/>
                </a:ext>
              </a:extLst>
            </p:cNvPr>
            <p:cNvSpPr txBox="1"/>
            <p:nvPr/>
          </p:nvSpPr>
          <p:spPr>
            <a:xfrm>
              <a:off x="7486992" y="5236236"/>
              <a:ext cx="3741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Normally distributed random noise</a:t>
              </a:r>
              <a:endParaRPr lang="en-US" b="1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7918382-9561-F038-DF19-941FE8AC5E83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8860335" y="3520440"/>
              <a:ext cx="497650" cy="17157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70C657D-3A05-9301-713F-91488B1D8A7F}"/>
                </a:ext>
              </a:extLst>
            </p:cNvPr>
            <p:cNvSpPr/>
            <p:nvPr/>
          </p:nvSpPr>
          <p:spPr>
            <a:xfrm>
              <a:off x="8399145" y="3329697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98" name="Picture 2" descr="linear regression">
            <a:extLst>
              <a:ext uri="{FF2B5EF4-FFF2-40B4-BE49-F238E27FC236}">
                <a16:creationId xmlns:a16="http://schemas.microsoft.com/office/drawing/2014/main" id="{C348235F-389F-CD52-5984-3647450C1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1767" y="205721"/>
            <a:ext cx="2847975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4854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EC4A1-D0C4-4404-71DB-9B48EDE2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0F5AC7-F838-6005-73F4-B4C1A4A03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Matrix</a:t>
            </a:r>
          </a:p>
        </p:txBody>
      </p:sp>
      <p:pic>
        <p:nvPicPr>
          <p:cNvPr id="5122" name="Picture 2" descr="General Linear model">
            <a:extLst>
              <a:ext uri="{FF2B5EF4-FFF2-40B4-BE49-F238E27FC236}">
                <a16:creationId xmlns:a16="http://schemas.microsoft.com/office/drawing/2014/main" id="{C508A2E0-7FCD-5571-8AB4-E5648296F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7134"/>
            <a:ext cx="6777037" cy="481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7B242F2-6DBF-0D95-3008-24917C84CD84}"/>
              </a:ext>
            </a:extLst>
          </p:cNvPr>
          <p:cNvGrpSpPr/>
          <p:nvPr/>
        </p:nvGrpSpPr>
        <p:grpSpPr>
          <a:xfrm>
            <a:off x="8458200" y="1267802"/>
            <a:ext cx="2755900" cy="2535478"/>
            <a:chOff x="8458200" y="1267802"/>
            <a:chExt cx="2755900" cy="2535478"/>
          </a:xfrm>
        </p:grpSpPr>
        <p:pic>
          <p:nvPicPr>
            <p:cNvPr id="3074" name="Picture 2" descr="Picture">
              <a:extLst>
                <a:ext uri="{FF2B5EF4-FFF2-40B4-BE49-F238E27FC236}">
                  <a16:creationId xmlns:a16="http://schemas.microsoft.com/office/drawing/2014/main" id="{BEF40201-CFE6-7375-7CD7-CE3BC2F1D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1690688"/>
              <a:ext cx="2755900" cy="21125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9FD917-2DD0-57D8-F85E-97B4F0453A72}"/>
                </a:ext>
              </a:extLst>
            </p:cNvPr>
            <p:cNvSpPr txBox="1"/>
            <p:nvPr/>
          </p:nvSpPr>
          <p:spPr>
            <a:xfrm>
              <a:off x="8458200" y="1267802"/>
              <a:ext cx="13454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Recall: HRF</a:t>
              </a:r>
            </a:p>
          </p:txBody>
        </p:sp>
      </p:grpSp>
      <p:pic>
        <p:nvPicPr>
          <p:cNvPr id="5124" name="Picture 4" descr="modeled HRF for a task in GLM">
            <a:extLst>
              <a:ext uri="{FF2B5EF4-FFF2-40B4-BE49-F238E27FC236}">
                <a16:creationId xmlns:a16="http://schemas.microsoft.com/office/drawing/2014/main" id="{AF6E5C4B-3C3F-0C90-0B24-5367CA300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525" y="4020716"/>
            <a:ext cx="2381250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2F46549-C826-9791-9C32-5356547A8411}"/>
              </a:ext>
            </a:extLst>
          </p:cNvPr>
          <p:cNvSpPr/>
          <p:nvPr/>
        </p:nvSpPr>
        <p:spPr>
          <a:xfrm>
            <a:off x="3831336" y="1956817"/>
            <a:ext cx="2334851" cy="45360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025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93DC-9EAE-61A7-DD63-9209231E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FF4802-C569-C494-9B03-7D994BC0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Matrix</a:t>
            </a:r>
          </a:p>
        </p:txBody>
      </p:sp>
      <p:pic>
        <p:nvPicPr>
          <p:cNvPr id="5122" name="Picture 2" descr="General Linear model">
            <a:extLst>
              <a:ext uri="{FF2B5EF4-FFF2-40B4-BE49-F238E27FC236}">
                <a16:creationId xmlns:a16="http://schemas.microsoft.com/office/drawing/2014/main" id="{C0CF5DE7-C411-AB87-94A9-1BCC50A14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7134"/>
            <a:ext cx="6777037" cy="481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C02D33-698B-02DB-A8B1-CE5AE18F11A9}"/>
              </a:ext>
            </a:extLst>
          </p:cNvPr>
          <p:cNvGrpSpPr/>
          <p:nvPr/>
        </p:nvGrpSpPr>
        <p:grpSpPr>
          <a:xfrm>
            <a:off x="8458200" y="1267802"/>
            <a:ext cx="2755900" cy="2535478"/>
            <a:chOff x="8458200" y="1267802"/>
            <a:chExt cx="2755900" cy="2535478"/>
          </a:xfrm>
        </p:grpSpPr>
        <p:pic>
          <p:nvPicPr>
            <p:cNvPr id="3074" name="Picture 2" descr="Picture">
              <a:extLst>
                <a:ext uri="{FF2B5EF4-FFF2-40B4-BE49-F238E27FC236}">
                  <a16:creationId xmlns:a16="http://schemas.microsoft.com/office/drawing/2014/main" id="{883DBA2A-FBBB-627A-F0F6-9EBCC8856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1690688"/>
              <a:ext cx="2755900" cy="21125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C2D3D65-B6CC-BFA2-1877-F1EAC0D9B206}"/>
                </a:ext>
              </a:extLst>
            </p:cNvPr>
            <p:cNvSpPr txBox="1"/>
            <p:nvPr/>
          </p:nvSpPr>
          <p:spPr>
            <a:xfrm>
              <a:off x="8458200" y="1267802"/>
              <a:ext cx="13454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Recall: HRF</a:t>
              </a:r>
            </a:p>
          </p:txBody>
        </p:sp>
      </p:grpSp>
      <p:pic>
        <p:nvPicPr>
          <p:cNvPr id="6" name="Picture 4" descr="modeled HRF for a task in GLM">
            <a:extLst>
              <a:ext uri="{FF2B5EF4-FFF2-40B4-BE49-F238E27FC236}">
                <a16:creationId xmlns:a16="http://schemas.microsoft.com/office/drawing/2014/main" id="{E37A1B9C-6E3D-2FCE-C16E-C200172C2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19246" y="3710149"/>
            <a:ext cx="3718399" cy="143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0FA57F-55B2-E4A3-D875-DD8DE3A74ECB}"/>
              </a:ext>
            </a:extLst>
          </p:cNvPr>
          <p:cNvSpPr txBox="1"/>
          <p:nvPr/>
        </p:nvSpPr>
        <p:spPr>
          <a:xfrm>
            <a:off x="2019300" y="6454775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          B          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CBFDE2-AE16-2A97-5D51-49AC81B56EB9}"/>
              </a:ext>
            </a:extLst>
          </p:cNvPr>
          <p:cNvSpPr/>
          <p:nvPr/>
        </p:nvSpPr>
        <p:spPr>
          <a:xfrm>
            <a:off x="1187450" y="2260599"/>
            <a:ext cx="514350" cy="42322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4" descr="modeled HRF for a task in GLM">
            <a:extLst>
              <a:ext uri="{FF2B5EF4-FFF2-40B4-BE49-F238E27FC236}">
                <a16:creationId xmlns:a16="http://schemas.microsoft.com/office/drawing/2014/main" id="{935B6002-C5F5-8406-5409-A3D0DBE6DA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2" b="39044"/>
          <a:stretch>
            <a:fillRect/>
          </a:stretch>
        </p:blipFill>
        <p:spPr bwMode="auto">
          <a:xfrm>
            <a:off x="7976950" y="4224102"/>
            <a:ext cx="3718399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modeled HRF for a task in GLM">
            <a:extLst>
              <a:ext uri="{FF2B5EF4-FFF2-40B4-BE49-F238E27FC236}">
                <a16:creationId xmlns:a16="http://schemas.microsoft.com/office/drawing/2014/main" id="{F2E82A2D-7F56-9D2F-9BC9-C29057E0AC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2" b="39044"/>
          <a:stretch>
            <a:fillRect/>
          </a:stretch>
        </p:blipFill>
        <p:spPr bwMode="auto">
          <a:xfrm>
            <a:off x="7976950" y="3856834"/>
            <a:ext cx="3718399" cy="94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odeled HRF for a task in GLM">
            <a:extLst>
              <a:ext uri="{FF2B5EF4-FFF2-40B4-BE49-F238E27FC236}">
                <a16:creationId xmlns:a16="http://schemas.microsoft.com/office/drawing/2014/main" id="{A9811179-4DEB-A7C7-EBC0-1D6F66ACC3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2" b="39044"/>
          <a:stretch>
            <a:fillRect/>
          </a:stretch>
        </p:blipFill>
        <p:spPr bwMode="auto">
          <a:xfrm>
            <a:off x="7976950" y="4328717"/>
            <a:ext cx="3718399" cy="23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1AC967E-6468-C2F4-CCFB-48F6C569B69A}"/>
              </a:ext>
            </a:extLst>
          </p:cNvPr>
          <p:cNvSpPr/>
          <p:nvPr/>
        </p:nvSpPr>
        <p:spPr>
          <a:xfrm>
            <a:off x="6464300" y="3347802"/>
            <a:ext cx="533400" cy="2159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DD0B77-4C0B-3332-0777-4EB369B1D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3350" y="4854154"/>
            <a:ext cx="3845598" cy="15495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B787CF3-58F4-A267-5C62-914A1600D81C}"/>
              </a:ext>
            </a:extLst>
          </p:cNvPr>
          <p:cNvSpPr/>
          <p:nvPr/>
        </p:nvSpPr>
        <p:spPr>
          <a:xfrm>
            <a:off x="3831336" y="1892809"/>
            <a:ext cx="2334851" cy="46000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B88B57-F572-67D6-E743-B01C917CBD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058" y="1044722"/>
            <a:ext cx="7479890" cy="562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70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4BDF-FF56-D63A-F95E-41C70148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D74358-893E-22FC-5EEA-4BAAF86A8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out structured noise</a:t>
            </a:r>
          </a:p>
        </p:txBody>
      </p:sp>
      <p:pic>
        <p:nvPicPr>
          <p:cNvPr id="5122" name="Picture 2" descr="General Linear model">
            <a:extLst>
              <a:ext uri="{FF2B5EF4-FFF2-40B4-BE49-F238E27FC236}">
                <a16:creationId xmlns:a16="http://schemas.microsoft.com/office/drawing/2014/main" id="{0EF07888-6992-B634-BE93-8130A6B80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7134"/>
            <a:ext cx="6777037" cy="481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B3FFFE2-0E79-36DD-72E8-4D84490FA8F4}"/>
              </a:ext>
            </a:extLst>
          </p:cNvPr>
          <p:cNvGrpSpPr/>
          <p:nvPr/>
        </p:nvGrpSpPr>
        <p:grpSpPr>
          <a:xfrm>
            <a:off x="3980198" y="6483993"/>
            <a:ext cx="1965090" cy="422985"/>
            <a:chOff x="3980198" y="6483993"/>
            <a:chExt cx="1965090" cy="422985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FED4773D-5CCA-55FB-D2C1-3A9B939F2CEA}"/>
                </a:ext>
              </a:extLst>
            </p:cNvPr>
            <p:cNvSpPr/>
            <p:nvPr/>
          </p:nvSpPr>
          <p:spPr>
            <a:xfrm rot="5400000">
              <a:off x="4844745" y="5619446"/>
              <a:ext cx="107307" cy="1836401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56B16BB-4A1C-ED39-CB95-81AE1D66AF07}"/>
                </a:ext>
              </a:extLst>
            </p:cNvPr>
            <p:cNvSpPr txBox="1"/>
            <p:nvPr/>
          </p:nvSpPr>
          <p:spPr>
            <a:xfrm>
              <a:off x="3980198" y="6537646"/>
              <a:ext cx="19650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Motion regressors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8497DC3-B319-21F9-35AF-B7662FF73FF9}"/>
              </a:ext>
            </a:extLst>
          </p:cNvPr>
          <p:cNvSpPr/>
          <p:nvPr/>
        </p:nvSpPr>
        <p:spPr>
          <a:xfrm>
            <a:off x="3831336" y="1883665"/>
            <a:ext cx="2334851" cy="46092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6C4CFB-016F-B2FB-0040-51C0781DD024}"/>
              </a:ext>
            </a:extLst>
          </p:cNvPr>
          <p:cNvGrpSpPr/>
          <p:nvPr/>
        </p:nvGrpSpPr>
        <p:grpSpPr>
          <a:xfrm>
            <a:off x="6246714" y="2851386"/>
            <a:ext cx="5387157" cy="3934971"/>
            <a:chOff x="6246714" y="2851386"/>
            <a:chExt cx="5387157" cy="393497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9822545-62AC-021A-FB3A-062ACD484AE4}"/>
                </a:ext>
              </a:extLst>
            </p:cNvPr>
            <p:cNvSpPr/>
            <p:nvPr/>
          </p:nvSpPr>
          <p:spPr>
            <a:xfrm>
              <a:off x="6246714" y="5220866"/>
              <a:ext cx="3794760" cy="1565491"/>
            </a:xfrm>
            <a:custGeom>
              <a:avLst/>
              <a:gdLst>
                <a:gd name="connsiteX0" fmla="*/ 0 w 3794760"/>
                <a:gd name="connsiteY0" fmla="*/ 1325880 h 1565491"/>
                <a:gd name="connsiteX1" fmla="*/ 1828800 w 3794760"/>
                <a:gd name="connsiteY1" fmla="*/ 1463040 h 1565491"/>
                <a:gd name="connsiteX2" fmla="*/ 3794760 w 3794760"/>
                <a:gd name="connsiteY2" fmla="*/ 0 h 156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94760" h="1565491">
                  <a:moveTo>
                    <a:pt x="0" y="1325880"/>
                  </a:moveTo>
                  <a:cubicBezTo>
                    <a:pt x="598170" y="1504950"/>
                    <a:pt x="1196340" y="1684020"/>
                    <a:pt x="1828800" y="1463040"/>
                  </a:cubicBezTo>
                  <a:cubicBezTo>
                    <a:pt x="2461260" y="1242060"/>
                    <a:pt x="3128010" y="621030"/>
                    <a:pt x="3794760" y="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CF646E9-E019-D5E4-A74F-601A561878D5}"/>
                </a:ext>
              </a:extLst>
            </p:cNvPr>
            <p:cNvGrpSpPr/>
            <p:nvPr/>
          </p:nvGrpSpPr>
          <p:grpSpPr>
            <a:xfrm>
              <a:off x="8415339" y="2851386"/>
              <a:ext cx="3218532" cy="1957255"/>
              <a:chOff x="8415339" y="2851386"/>
              <a:chExt cx="3218532" cy="1957255"/>
            </a:xfrm>
          </p:grpSpPr>
          <p:pic>
            <p:nvPicPr>
              <p:cNvPr id="9218" name="Picture 2" descr="fmri temporal filtering">
                <a:extLst>
                  <a:ext uri="{FF2B5EF4-FFF2-40B4-BE49-F238E27FC236}">
                    <a16:creationId xmlns:a16="http://schemas.microsoft.com/office/drawing/2014/main" id="{883258E3-823C-1814-7C26-C36F1638C8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15339" y="3220718"/>
                <a:ext cx="3218532" cy="15879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B18278-6941-1A85-43A8-8C0A6697884E}"/>
                  </a:ext>
                </a:extLst>
              </p:cNvPr>
              <p:cNvSpPr txBox="1"/>
              <p:nvPr/>
            </p:nvSpPr>
            <p:spPr>
              <a:xfrm>
                <a:off x="8452283" y="2851386"/>
                <a:ext cx="31446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Temporal filtering / detrending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160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DCD89-801A-91A6-7DDD-CAE1589A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eneral Linear model">
            <a:extLst>
              <a:ext uri="{FF2B5EF4-FFF2-40B4-BE49-F238E27FC236}">
                <a16:creationId xmlns:a16="http://schemas.microsoft.com/office/drawing/2014/main" id="{4A77D038-6CD6-15B8-19BE-5AD75B365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74" y="570936"/>
            <a:ext cx="8040949" cy="5716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2755E7-B970-A514-4580-0E5235175E44}"/>
              </a:ext>
            </a:extLst>
          </p:cNvPr>
          <p:cNvSpPr txBox="1"/>
          <p:nvPr/>
        </p:nvSpPr>
        <p:spPr>
          <a:xfrm>
            <a:off x="9071670" y="1951671"/>
            <a:ext cx="22684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Estimate Beta coefficients for </a:t>
            </a:r>
            <a:r>
              <a:rPr lang="en-US" sz="2000" b="1" dirty="0"/>
              <a:t>all regressors </a:t>
            </a:r>
            <a:r>
              <a:rPr lang="en-US" sz="2000" dirty="0"/>
              <a:t>at </a:t>
            </a:r>
            <a:r>
              <a:rPr lang="en-US" sz="2000" b="1" i="1" dirty="0"/>
              <a:t>every single voxel</a:t>
            </a:r>
            <a:endParaRPr lang="en-US" sz="20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CEB519-7A9A-54A0-8CD5-5C1551FCF81B}"/>
              </a:ext>
            </a:extLst>
          </p:cNvPr>
          <p:cNvSpPr/>
          <p:nvPr/>
        </p:nvSpPr>
        <p:spPr>
          <a:xfrm>
            <a:off x="8858865" y="1824928"/>
            <a:ext cx="2694038" cy="40263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00CC0C9-04A4-51D9-3589-48E9ECEBFA27}"/>
              </a:ext>
            </a:extLst>
          </p:cNvPr>
          <p:cNvGrpSpPr/>
          <p:nvPr/>
        </p:nvGrpSpPr>
        <p:grpSpPr>
          <a:xfrm>
            <a:off x="9082125" y="3327591"/>
            <a:ext cx="2282268" cy="2362625"/>
            <a:chOff x="9082125" y="3327591"/>
            <a:chExt cx="2282268" cy="2362625"/>
          </a:xfrm>
        </p:grpSpPr>
        <p:pic>
          <p:nvPicPr>
            <p:cNvPr id="14" name="Picture 2" descr="Picture">
              <a:extLst>
                <a:ext uri="{FF2B5EF4-FFF2-40B4-BE49-F238E27FC236}">
                  <a16:creationId xmlns:a16="http://schemas.microsoft.com/office/drawing/2014/main" id="{34884BDB-0350-C3E2-E6C2-A0C5EA06C8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9660"/>
            <a:stretch>
              <a:fillRect/>
            </a:stretch>
          </p:blipFill>
          <p:spPr bwMode="auto">
            <a:xfrm>
              <a:off x="9223301" y="3743941"/>
              <a:ext cx="1965165" cy="1946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63A4605-D3D0-43D0-51EF-8CF2DD30C517}"/>
                </a:ext>
              </a:extLst>
            </p:cNvPr>
            <p:cNvGrpSpPr/>
            <p:nvPr/>
          </p:nvGrpSpPr>
          <p:grpSpPr>
            <a:xfrm>
              <a:off x="9082125" y="3327591"/>
              <a:ext cx="2282268" cy="416350"/>
              <a:chOff x="9082125" y="3327591"/>
              <a:chExt cx="2282268" cy="41635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9410759-8B6B-A6F7-9540-CEFABF5B80B0}"/>
                  </a:ext>
                </a:extLst>
              </p:cNvPr>
              <p:cNvSpPr/>
              <p:nvPr/>
            </p:nvSpPr>
            <p:spPr>
              <a:xfrm>
                <a:off x="9223301" y="3570205"/>
                <a:ext cx="173736" cy="1737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2274E98-D82E-21FE-90CE-BA8B2FE13D25}"/>
                  </a:ext>
                </a:extLst>
              </p:cNvPr>
              <p:cNvSpPr/>
              <p:nvPr/>
            </p:nvSpPr>
            <p:spPr>
              <a:xfrm>
                <a:off x="10119015" y="3570205"/>
                <a:ext cx="173736" cy="173736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AD2DCB4-8534-5A53-9161-FCC009088E21}"/>
                  </a:ext>
                </a:extLst>
              </p:cNvPr>
              <p:cNvSpPr/>
              <p:nvPr/>
            </p:nvSpPr>
            <p:spPr>
              <a:xfrm>
                <a:off x="11014729" y="3570205"/>
                <a:ext cx="173736" cy="17373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8B97C2F1-99B5-9C73-6DF4-D82387BAA81B}"/>
                  </a:ext>
                </a:extLst>
              </p:cNvPr>
              <p:cNvCxnSpPr>
                <a:stCxn id="16" idx="3"/>
                <a:endCxn id="18" idx="1"/>
              </p:cNvCxnSpPr>
              <p:nvPr/>
            </p:nvCxnSpPr>
            <p:spPr>
              <a:xfrm>
                <a:off x="9397037" y="3657073"/>
                <a:ext cx="72197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01CFB20F-C9A4-1405-9F8B-82493C91E1AD}"/>
                  </a:ext>
                </a:extLst>
              </p:cNvPr>
              <p:cNvCxnSpPr>
                <a:stCxn id="18" idx="3"/>
                <a:endCxn id="19" idx="1"/>
              </p:cNvCxnSpPr>
              <p:nvPr/>
            </p:nvCxnSpPr>
            <p:spPr>
              <a:xfrm>
                <a:off x="10292751" y="3657073"/>
                <a:ext cx="72197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CC826C-55F5-6165-5560-776EE424DEFB}"/>
                  </a:ext>
                </a:extLst>
              </p:cNvPr>
              <p:cNvSpPr txBox="1"/>
              <p:nvPr/>
            </p:nvSpPr>
            <p:spPr>
              <a:xfrm>
                <a:off x="9082125" y="3327592"/>
                <a:ext cx="4560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Low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5E47F16-A4F2-06DE-69D6-6CD77B3C4CD5}"/>
                  </a:ext>
                </a:extLst>
              </p:cNvPr>
              <p:cNvSpPr txBox="1"/>
              <p:nvPr/>
            </p:nvSpPr>
            <p:spPr>
              <a:xfrm>
                <a:off x="9979774" y="3331762"/>
                <a:ext cx="4748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Med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16B848-45E1-C0E9-DE27-B62D003CD1DD}"/>
                  </a:ext>
                </a:extLst>
              </p:cNvPr>
              <p:cNvSpPr txBox="1"/>
              <p:nvPr/>
            </p:nvSpPr>
            <p:spPr>
              <a:xfrm>
                <a:off x="10873553" y="3327591"/>
                <a:ext cx="4908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High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53031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972019-9255-4D78-BD36-FE01C8A95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Univariate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F3FB5F-D262-0D63-1158-24E853649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Fitting a separate model for </a:t>
            </a:r>
            <a:r>
              <a:rPr lang="en-US" b="1" i="1" dirty="0"/>
              <a:t>each voxel</a:t>
            </a:r>
          </a:p>
        </p:txBody>
      </p:sp>
      <p:pic>
        <p:nvPicPr>
          <p:cNvPr id="8" name="Google Shape;241;p21">
            <a:extLst>
              <a:ext uri="{FF2B5EF4-FFF2-40B4-BE49-F238E27FC236}">
                <a16:creationId xmlns:a16="http://schemas.microsoft.com/office/drawing/2014/main" id="{5C26578C-308C-C393-98D4-B7F73D3CAE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27795" y="2408978"/>
            <a:ext cx="3220639" cy="41658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42;p21">
            <a:extLst>
              <a:ext uri="{FF2B5EF4-FFF2-40B4-BE49-F238E27FC236}">
                <a16:creationId xmlns:a16="http://schemas.microsoft.com/office/drawing/2014/main" id="{1D689B6B-ED8A-5A25-0BF6-8FA920C5D1F9}"/>
              </a:ext>
            </a:extLst>
          </p:cNvPr>
          <p:cNvSpPr/>
          <p:nvPr/>
        </p:nvSpPr>
        <p:spPr>
          <a:xfrm>
            <a:off x="1452831" y="3659310"/>
            <a:ext cx="864400" cy="1142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" name="Google Shape;243;p21">
            <a:extLst>
              <a:ext uri="{FF2B5EF4-FFF2-40B4-BE49-F238E27FC236}">
                <a16:creationId xmlns:a16="http://schemas.microsoft.com/office/drawing/2014/main" id="{E7E57ACE-7B68-6CE1-A95B-0645F640DB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9014" y="2408978"/>
            <a:ext cx="3113971" cy="416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44;p21">
            <a:extLst>
              <a:ext uri="{FF2B5EF4-FFF2-40B4-BE49-F238E27FC236}">
                <a16:creationId xmlns:a16="http://schemas.microsoft.com/office/drawing/2014/main" id="{DF5938E4-6BD6-6D43-ABC1-E97C1A6B9B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43596" y="2408978"/>
            <a:ext cx="3035621" cy="416583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45;p21">
            <a:extLst>
              <a:ext uri="{FF2B5EF4-FFF2-40B4-BE49-F238E27FC236}">
                <a16:creationId xmlns:a16="http://schemas.microsoft.com/office/drawing/2014/main" id="{829AC551-B88E-A82A-9C5A-326BAD6339F9}"/>
              </a:ext>
            </a:extLst>
          </p:cNvPr>
          <p:cNvSpPr/>
          <p:nvPr/>
        </p:nvSpPr>
        <p:spPr>
          <a:xfrm>
            <a:off x="5781347" y="3345110"/>
            <a:ext cx="396400" cy="524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" name="Picture 2" descr="General Linear model">
            <a:extLst>
              <a:ext uri="{FF2B5EF4-FFF2-40B4-BE49-F238E27FC236}">
                <a16:creationId xmlns:a16="http://schemas.microsoft.com/office/drawing/2014/main" id="{F5FC7792-A27F-C4AF-EF7E-18DDAB345C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07" r="84843"/>
          <a:stretch>
            <a:fillRect/>
          </a:stretch>
        </p:blipFill>
        <p:spPr bwMode="auto">
          <a:xfrm rot="16200000">
            <a:off x="9399229" y="-556582"/>
            <a:ext cx="873271" cy="352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91CB8C-E169-A3D4-54DE-534AFDE10AA7}"/>
              </a:ext>
            </a:extLst>
          </p:cNvPr>
          <p:cNvCxnSpPr>
            <a:stCxn id="14" idx="0"/>
          </p:cNvCxnSpPr>
          <p:nvPr/>
        </p:nvCxnSpPr>
        <p:spPr>
          <a:xfrm flipV="1">
            <a:off x="8319594" y="1825625"/>
            <a:ext cx="431214" cy="9503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Google Shape;245;p21">
            <a:extLst>
              <a:ext uri="{FF2B5EF4-FFF2-40B4-BE49-F238E27FC236}">
                <a16:creationId xmlns:a16="http://schemas.microsoft.com/office/drawing/2014/main" id="{131283BF-2426-A341-38EA-F0EBA1E517ED}"/>
              </a:ext>
            </a:extLst>
          </p:cNvPr>
          <p:cNvSpPr/>
          <p:nvPr/>
        </p:nvSpPr>
        <p:spPr>
          <a:xfrm>
            <a:off x="8144412" y="2775936"/>
            <a:ext cx="350364" cy="387888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8E265E-644B-3103-C885-2C087563D6C4}"/>
              </a:ext>
            </a:extLst>
          </p:cNvPr>
          <p:cNvSpPr txBox="1"/>
          <p:nvPr/>
        </p:nvSpPr>
        <p:spPr>
          <a:xfrm>
            <a:off x="9184565" y="1825625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 500,000</a:t>
            </a:r>
          </a:p>
        </p:txBody>
      </p:sp>
    </p:spTree>
    <p:extLst>
      <p:ext uri="{BB962C8B-B14F-4D97-AF65-F5344CB8AC3E}">
        <p14:creationId xmlns:p14="http://schemas.microsoft.com/office/powerpoint/2010/main" val="4001648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 animBg="1"/>
      <p:bldP spid="12" grpId="0" animBg="1"/>
      <p:bldP spid="14" grpId="0" animBg="1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5372-52FA-B3EB-AF37-9E88F4D9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6093-EE81-1B44-D44F-C8812295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coefficient weights</a:t>
            </a:r>
          </a:p>
        </p:txBody>
      </p:sp>
      <p:pic>
        <p:nvPicPr>
          <p:cNvPr id="6146" name="Picture 2" descr="Picture">
            <a:extLst>
              <a:ext uri="{FF2B5EF4-FFF2-40B4-BE49-F238E27FC236}">
                <a16:creationId xmlns:a16="http://schemas.microsoft.com/office/drawing/2014/main" id="{D7A109A9-8479-E1DC-DEC4-B937A0CE3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435" y="2132266"/>
            <a:ext cx="9661365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icture">
            <a:extLst>
              <a:ext uri="{FF2B5EF4-FFF2-40B4-BE49-F238E27FC236}">
                <a16:creationId xmlns:a16="http://schemas.microsoft.com/office/drawing/2014/main" id="{5CD1696C-445D-8D43-8EBC-155BA92FB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434" y="4078541"/>
            <a:ext cx="9661365" cy="196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F5052F-0DFF-550E-FA06-1973E052A377}"/>
              </a:ext>
            </a:extLst>
          </p:cNvPr>
          <p:cNvSpPr txBox="1"/>
          <p:nvPr/>
        </p:nvSpPr>
        <p:spPr>
          <a:xfrm>
            <a:off x="622204" y="1624648"/>
            <a:ext cx="6126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Individual statistical map </a:t>
            </a:r>
            <a:r>
              <a:rPr lang="en-US" u="sng" dirty="0" err="1"/>
              <a:t>thresholded</a:t>
            </a:r>
            <a:r>
              <a:rPr lang="en-US" u="sng" dirty="0"/>
              <a:t> by significance (p-</a:t>
            </a:r>
            <a:r>
              <a:rPr lang="en-US" u="sng" dirty="0" err="1"/>
              <a:t>val</a:t>
            </a:r>
            <a:r>
              <a:rPr lang="en-US" u="sng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23043-D52D-EF56-1C6E-01CD5639D85D}"/>
              </a:ext>
            </a:extLst>
          </p:cNvPr>
          <p:cNvSpPr txBox="1"/>
          <p:nvPr/>
        </p:nvSpPr>
        <p:spPr>
          <a:xfrm>
            <a:off x="622204" y="4439091"/>
            <a:ext cx="10702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Adjusted</a:t>
            </a:r>
          </a:p>
          <a:p>
            <a:pPr algn="ctr"/>
            <a:r>
              <a:rPr lang="en-US" dirty="0"/>
              <a:t>p-</a:t>
            </a:r>
            <a:r>
              <a:rPr lang="en-US" dirty="0" err="1"/>
              <a:t>val</a:t>
            </a:r>
            <a:endParaRPr lang="en-US" dirty="0"/>
          </a:p>
          <a:p>
            <a:pPr algn="ctr"/>
            <a:r>
              <a:rPr lang="en-US" dirty="0"/>
              <a:t>(</a:t>
            </a:r>
            <a:r>
              <a:rPr lang="en-US" dirty="0" err="1"/>
              <a:t>Bonf</a:t>
            </a:r>
            <a:r>
              <a:rPr lang="en-US" dirty="0"/>
              <a:t>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00504-3EB5-4FC5-EB58-B2C157624F3E}"/>
              </a:ext>
            </a:extLst>
          </p:cNvPr>
          <p:cNvSpPr txBox="1"/>
          <p:nvPr/>
        </p:nvSpPr>
        <p:spPr>
          <a:xfrm>
            <a:off x="484416" y="2569513"/>
            <a:ext cx="1345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Original</a:t>
            </a:r>
          </a:p>
          <a:p>
            <a:pPr algn="ctr"/>
            <a:r>
              <a:rPr lang="en-US" dirty="0"/>
              <a:t>p-</a:t>
            </a:r>
            <a:r>
              <a:rPr lang="en-US" dirty="0" err="1"/>
              <a:t>val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D962CD-9A1B-7F74-B8E8-F0914265D285}"/>
              </a:ext>
            </a:extLst>
          </p:cNvPr>
          <p:cNvSpPr/>
          <p:nvPr/>
        </p:nvSpPr>
        <p:spPr>
          <a:xfrm>
            <a:off x="3651250" y="2139473"/>
            <a:ext cx="1906588" cy="1946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9B2720-2CB1-71AF-2913-8D3BCF7D53E9}"/>
              </a:ext>
            </a:extLst>
          </p:cNvPr>
          <p:cNvSpPr/>
          <p:nvPr/>
        </p:nvSpPr>
        <p:spPr>
          <a:xfrm>
            <a:off x="5557838" y="2139473"/>
            <a:ext cx="1929317" cy="1946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6788A5-8E00-F445-FD51-158A735A74FE}"/>
              </a:ext>
            </a:extLst>
          </p:cNvPr>
          <p:cNvSpPr/>
          <p:nvPr/>
        </p:nvSpPr>
        <p:spPr>
          <a:xfrm>
            <a:off x="7487155" y="2139473"/>
            <a:ext cx="1929317" cy="1946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8981B7-A67D-C308-EF9D-6A4C926AC23B}"/>
              </a:ext>
            </a:extLst>
          </p:cNvPr>
          <p:cNvSpPr/>
          <p:nvPr/>
        </p:nvSpPr>
        <p:spPr>
          <a:xfrm>
            <a:off x="9416472" y="2139473"/>
            <a:ext cx="1929317" cy="1946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2E7BC9-08F1-7E31-C887-7DB546FFDFB9}"/>
              </a:ext>
            </a:extLst>
          </p:cNvPr>
          <p:cNvSpPr/>
          <p:nvPr/>
        </p:nvSpPr>
        <p:spPr>
          <a:xfrm>
            <a:off x="9416471" y="4085747"/>
            <a:ext cx="1929317" cy="19462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56655A-A46B-DCEA-A693-ECAEC1D0742C}"/>
              </a:ext>
            </a:extLst>
          </p:cNvPr>
          <p:cNvSpPr/>
          <p:nvPr/>
        </p:nvSpPr>
        <p:spPr>
          <a:xfrm>
            <a:off x="552450" y="4100161"/>
            <a:ext cx="10801349" cy="19318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687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5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1232-A74D-DE67-D5CB-8CB582C2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D094D-F352-7CD1-302C-D8BA69264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go from </a:t>
            </a:r>
            <a:r>
              <a:rPr lang="en-US" b="1" dirty="0"/>
              <a:t>subject-level</a:t>
            </a:r>
            <a:r>
              <a:rPr lang="en-US" dirty="0"/>
              <a:t> maps to </a:t>
            </a:r>
            <a:r>
              <a:rPr lang="en-US" b="1" dirty="0"/>
              <a:t>population-level</a:t>
            </a:r>
            <a:r>
              <a:rPr lang="en-US" dirty="0"/>
              <a:t> inferences?</a:t>
            </a:r>
          </a:p>
          <a:p>
            <a:r>
              <a:rPr lang="en-US" dirty="0"/>
              <a:t>How do we determine where in the brain activations are </a:t>
            </a:r>
            <a:r>
              <a:rPr lang="en-US" i="1" dirty="0"/>
              <a:t>statistically meaningful</a:t>
            </a:r>
            <a:r>
              <a:rPr lang="en-US" dirty="0"/>
              <a:t>?</a:t>
            </a:r>
          </a:p>
        </p:txBody>
      </p:sp>
      <p:pic>
        <p:nvPicPr>
          <p:cNvPr id="5" name="Google Shape;241;p21">
            <a:extLst>
              <a:ext uri="{FF2B5EF4-FFF2-40B4-BE49-F238E27FC236}">
                <a16:creationId xmlns:a16="http://schemas.microsoft.com/office/drawing/2014/main" id="{4E004471-C572-BCB5-8DF4-54736655CE7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1651227" y="3974313"/>
            <a:ext cx="1845174" cy="2415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482B17-F080-CBEC-EA37-3602F6757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026241">
            <a:off x="464035" y="4034631"/>
            <a:ext cx="1354942" cy="214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165F76-8026-50D9-3E5B-DAB6BEA8D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933794">
            <a:off x="3728132" y="5074876"/>
            <a:ext cx="1354943" cy="214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CA81F4-4541-AAA6-E69A-8656103D2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37730">
            <a:off x="809139" y="6276009"/>
            <a:ext cx="1354943" cy="21402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2D221B-C374-E398-110D-352747069310}"/>
              </a:ext>
            </a:extLst>
          </p:cNvPr>
          <p:cNvCxnSpPr>
            <a:stCxn id="6" idx="2"/>
          </p:cNvCxnSpPr>
          <p:nvPr/>
        </p:nvCxnSpPr>
        <p:spPr>
          <a:xfrm>
            <a:off x="1188801" y="4237635"/>
            <a:ext cx="981086" cy="446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6595E7-64EE-0D2E-29ED-0C80EC7799B8}"/>
              </a:ext>
            </a:extLst>
          </p:cNvPr>
          <p:cNvCxnSpPr>
            <a:stCxn id="7" idx="0"/>
          </p:cNvCxnSpPr>
          <p:nvPr/>
        </p:nvCxnSpPr>
        <p:spPr>
          <a:xfrm flipH="1">
            <a:off x="3373120" y="5130176"/>
            <a:ext cx="938796" cy="3359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710BA0-4EA1-9493-B844-AC2E22581AF0}"/>
              </a:ext>
            </a:extLst>
          </p:cNvPr>
          <p:cNvCxnSpPr>
            <a:stCxn id="8" idx="0"/>
          </p:cNvCxnSpPr>
          <p:nvPr/>
        </p:nvCxnSpPr>
        <p:spPr>
          <a:xfrm flipV="1">
            <a:off x="1512431" y="5588000"/>
            <a:ext cx="570369" cy="691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39BB19-C6E7-3D19-2BB7-5E703F35ED05}"/>
              </a:ext>
            </a:extLst>
          </p:cNvPr>
          <p:cNvGrpSpPr/>
          <p:nvPr/>
        </p:nvGrpSpPr>
        <p:grpSpPr>
          <a:xfrm>
            <a:off x="3946540" y="4037474"/>
            <a:ext cx="4048580" cy="2455401"/>
            <a:chOff x="4290174" y="4034631"/>
            <a:chExt cx="4048580" cy="2455401"/>
          </a:xfrm>
        </p:grpSpPr>
        <p:pic>
          <p:nvPicPr>
            <p:cNvPr id="19" name="Google Shape;241;p21">
              <a:extLst>
                <a:ext uri="{FF2B5EF4-FFF2-40B4-BE49-F238E27FC236}">
                  <a16:creationId xmlns:a16="http://schemas.microsoft.com/office/drawing/2014/main" id="{C940AE35-BBAA-980D-632D-6D3CA8F849C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 rot="5400000">
              <a:off x="5477366" y="3974313"/>
              <a:ext cx="1845174" cy="2415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4A25380-F5C8-1009-BCBA-6B0F53B5A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0026241">
              <a:off x="4290174" y="4034631"/>
              <a:ext cx="1354942" cy="21402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7B9A2CC-C56B-3150-FE1E-76DE768B0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7933794">
              <a:off x="7554271" y="5074876"/>
              <a:ext cx="1354943" cy="21402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0CF574F-9200-B7FB-81CF-A938820DD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837730">
              <a:off x="4635278" y="6276009"/>
              <a:ext cx="1354943" cy="214023"/>
            </a:xfrm>
            <a:prstGeom prst="rect">
              <a:avLst/>
            </a:prstGeom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BD060E3-A220-4F4B-F776-797EE6BA50A2}"/>
                </a:ext>
              </a:extLst>
            </p:cNvPr>
            <p:cNvCxnSpPr>
              <a:stCxn id="20" idx="2"/>
            </p:cNvCxnSpPr>
            <p:nvPr/>
          </p:nvCxnSpPr>
          <p:spPr>
            <a:xfrm>
              <a:off x="5014940" y="4237635"/>
              <a:ext cx="981086" cy="4461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5A882A3-BFFD-85D0-2D5E-B130DDD8E24A}"/>
                </a:ext>
              </a:extLst>
            </p:cNvPr>
            <p:cNvCxnSpPr>
              <a:stCxn id="21" idx="0"/>
            </p:cNvCxnSpPr>
            <p:nvPr/>
          </p:nvCxnSpPr>
          <p:spPr>
            <a:xfrm flipH="1">
              <a:off x="7199259" y="5130176"/>
              <a:ext cx="938796" cy="3359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C1C005B-49E7-16FF-3DE6-6D4E48DE9958}"/>
                </a:ext>
              </a:extLst>
            </p:cNvPr>
            <p:cNvCxnSpPr>
              <a:stCxn id="22" idx="0"/>
            </p:cNvCxnSpPr>
            <p:nvPr/>
          </p:nvCxnSpPr>
          <p:spPr>
            <a:xfrm flipV="1">
              <a:off x="5338570" y="5588000"/>
              <a:ext cx="570369" cy="6911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FEA4FC-36BA-DFF9-36F5-B045E93FE8D1}"/>
              </a:ext>
            </a:extLst>
          </p:cNvPr>
          <p:cNvGrpSpPr/>
          <p:nvPr/>
        </p:nvGrpSpPr>
        <p:grpSpPr>
          <a:xfrm>
            <a:off x="7467046" y="4037474"/>
            <a:ext cx="4048580" cy="2455401"/>
            <a:chOff x="4290174" y="4034631"/>
            <a:chExt cx="4048580" cy="2455401"/>
          </a:xfrm>
        </p:grpSpPr>
        <p:pic>
          <p:nvPicPr>
            <p:cNvPr id="28" name="Google Shape;241;p21">
              <a:extLst>
                <a:ext uri="{FF2B5EF4-FFF2-40B4-BE49-F238E27FC236}">
                  <a16:creationId xmlns:a16="http://schemas.microsoft.com/office/drawing/2014/main" id="{5A5B7D07-716C-7C18-D376-3CE209FCE7C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rcRect/>
            <a:stretch/>
          </p:blipFill>
          <p:spPr>
            <a:xfrm rot="5400000">
              <a:off x="5477366" y="3974313"/>
              <a:ext cx="1845174" cy="2415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F293FA0-49F5-F8B8-FAA1-86E5E218D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0026241">
              <a:off x="4290174" y="4034631"/>
              <a:ext cx="1354942" cy="21402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9FBC0EA-0502-3EEB-D5A3-3476BF834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7933794">
              <a:off x="7554271" y="5074876"/>
              <a:ext cx="1354943" cy="214023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5CE9C58-3961-D2E4-9A00-1B7D45EDE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837730">
              <a:off x="4635278" y="6276009"/>
              <a:ext cx="1354943" cy="214023"/>
            </a:xfrm>
            <a:prstGeom prst="rect">
              <a:avLst/>
            </a:prstGeom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A8B2A29-7AF1-74F9-5EA6-4C1768BD47AD}"/>
                </a:ext>
              </a:extLst>
            </p:cNvPr>
            <p:cNvCxnSpPr>
              <a:stCxn id="29" idx="2"/>
            </p:cNvCxnSpPr>
            <p:nvPr/>
          </p:nvCxnSpPr>
          <p:spPr>
            <a:xfrm>
              <a:off x="5014940" y="4237635"/>
              <a:ext cx="981086" cy="4461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5E1B207-FA89-EE6F-7A9C-652D133D948E}"/>
                </a:ext>
              </a:extLst>
            </p:cNvPr>
            <p:cNvCxnSpPr>
              <a:stCxn id="30" idx="0"/>
            </p:cNvCxnSpPr>
            <p:nvPr/>
          </p:nvCxnSpPr>
          <p:spPr>
            <a:xfrm flipH="1">
              <a:off x="7199259" y="5130176"/>
              <a:ext cx="938796" cy="3359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DB3A38F-58CA-5EAB-A454-4536F92C1932}"/>
                </a:ext>
              </a:extLst>
            </p:cNvPr>
            <p:cNvCxnSpPr>
              <a:stCxn id="31" idx="0"/>
            </p:cNvCxnSpPr>
            <p:nvPr/>
          </p:nvCxnSpPr>
          <p:spPr>
            <a:xfrm flipV="1">
              <a:off x="5338570" y="5588000"/>
              <a:ext cx="570369" cy="6911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2439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881B-FC80-3A48-574F-398C398D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4C92D-5BF6-319D-0D6A-6CC318627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Goal</a:t>
            </a:r>
            <a:r>
              <a:rPr lang="en-US" dirty="0"/>
              <a:t>: Estimate the average effect and variability in the population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“First-level” (within-subject)</a:t>
            </a:r>
          </a:p>
          <a:p>
            <a:pPr lvl="1"/>
            <a:r>
              <a:rPr lang="en-US" dirty="0"/>
              <a:t>Generate statistical maps for each subject (</a:t>
            </a:r>
            <a:r>
              <a:rPr lang="el-GR" b="1" dirty="0"/>
              <a:t>β</a:t>
            </a:r>
            <a:r>
              <a:rPr lang="en-US" b="1" dirty="0"/>
              <a:t> weights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Each predictor (task condition) has a corresponding statistical map</a:t>
            </a:r>
          </a:p>
          <a:p>
            <a:pPr lvl="1"/>
            <a:r>
              <a:rPr lang="en-US" dirty="0"/>
              <a:t>Generate contrast image</a:t>
            </a:r>
          </a:p>
          <a:p>
            <a:pPr lvl="2"/>
            <a:r>
              <a:rPr lang="en-US" i="1" dirty="0"/>
              <a:t>Contrasts are linear combinations of the </a:t>
            </a:r>
            <a:r>
              <a:rPr lang="el-GR" i="1" dirty="0"/>
              <a:t>β</a:t>
            </a:r>
            <a:r>
              <a:rPr lang="en-US" i="1" dirty="0"/>
              <a:t> weights</a:t>
            </a:r>
          </a:p>
          <a:p>
            <a:pPr lvl="2"/>
            <a:r>
              <a:rPr lang="en-US" dirty="0"/>
              <a:t>E.g., Faces &gt; Houses = +1*Faces -1*Houses</a:t>
            </a:r>
          </a:p>
          <a:p>
            <a:pPr lvl="1"/>
            <a:r>
              <a:rPr lang="en-US" dirty="0"/>
              <a:t>Result:</a:t>
            </a:r>
          </a:p>
          <a:p>
            <a:pPr marL="914400" lvl="2" indent="0">
              <a:buNone/>
            </a:pPr>
            <a:r>
              <a:rPr lang="en-US" b="1" dirty="0"/>
              <a:t>Contrast estimate + standard error for each voxel</a:t>
            </a:r>
          </a:p>
          <a:p>
            <a:pPr marL="914400" lvl="2" indent="0">
              <a:buNone/>
            </a:pPr>
            <a:r>
              <a:rPr lang="en-US" dirty="0"/>
              <a:t>(Within-subject variance = Residual </a:t>
            </a:r>
            <a:r>
              <a:rPr lang="en-US" dirty="0" err="1"/>
              <a:t>SS_w</a:t>
            </a:r>
            <a:r>
              <a:rPr lang="en-US" dirty="0"/>
              <a:t> / </a:t>
            </a:r>
            <a:r>
              <a:rPr lang="en-US" dirty="0" err="1"/>
              <a:t>df_w</a:t>
            </a:r>
            <a:r>
              <a:rPr lang="en-US" dirty="0"/>
              <a:t>)</a:t>
            </a:r>
          </a:p>
          <a:p>
            <a:pPr lvl="2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EB0D11A-38DE-1A15-9793-D76DFDD49130}"/>
              </a:ext>
            </a:extLst>
          </p:cNvPr>
          <p:cNvGrpSpPr/>
          <p:nvPr/>
        </p:nvGrpSpPr>
        <p:grpSpPr>
          <a:xfrm>
            <a:off x="6831806" y="5867400"/>
            <a:ext cx="4704874" cy="494229"/>
            <a:chOff x="6831806" y="5867400"/>
            <a:chExt cx="4704874" cy="49422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15AD76A-EDB3-E7E6-C0F9-FD5C8B05B745}"/>
                </a:ext>
              </a:extLst>
            </p:cNvPr>
            <p:cNvSpPr txBox="1"/>
            <p:nvPr/>
          </p:nvSpPr>
          <p:spPr>
            <a:xfrm>
              <a:off x="7810916" y="5992297"/>
              <a:ext cx="3725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#Observations (trials) - #Regressors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419E525-39A5-D77D-8AE9-2805B7E8D0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806" y="5867400"/>
              <a:ext cx="0" cy="309563"/>
            </a:xfrm>
            <a:prstGeom prst="straightConnector1">
              <a:avLst/>
            </a:prstGeom>
            <a:ln cap="rnd">
              <a:solidFill>
                <a:schemeClr val="tx1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0D679EF-BCF3-05FC-7B42-1D57B7A06E5E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6831806" y="6176963"/>
              <a:ext cx="97911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3116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A95FB-563C-0997-ACD2-CC0F9604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2371-46B8-BB39-580E-43CA13A57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00B02-6780-6503-6759-5E8E40E7C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Goal</a:t>
            </a:r>
            <a:r>
              <a:rPr lang="en-US" dirty="0"/>
              <a:t>: Estimate the average effect and variability in the population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“Second-level” (between-subject)</a:t>
            </a:r>
          </a:p>
          <a:p>
            <a:pPr lvl="1"/>
            <a:r>
              <a:rPr lang="en-US" dirty="0"/>
              <a:t>Combine contrast estimates @each location</a:t>
            </a:r>
          </a:p>
          <a:p>
            <a:pPr lvl="2"/>
            <a:r>
              <a:rPr lang="en-US" dirty="0"/>
              <a:t>Each voxel location now has a distribution of effect sizes from our sample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9CC7D-9274-2D87-D8C6-8BBB40D1B8FF}"/>
              </a:ext>
            </a:extLst>
          </p:cNvPr>
          <p:cNvSpPr txBox="1"/>
          <p:nvPr/>
        </p:nvSpPr>
        <p:spPr>
          <a:xfrm>
            <a:off x="4787435" y="3936258"/>
            <a:ext cx="26171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Y = </a:t>
            </a:r>
            <a:r>
              <a:rPr lang="el-GR" sz="4400" b="1" dirty="0"/>
              <a:t>β</a:t>
            </a:r>
            <a:r>
              <a:rPr lang="en-US" sz="4400" b="1" dirty="0"/>
              <a:t>X </a:t>
            </a:r>
            <a:r>
              <a:rPr lang="el-GR" sz="4400" b="1" dirty="0"/>
              <a:t>+</a:t>
            </a:r>
            <a:r>
              <a:rPr lang="en-US" sz="4400" b="1" dirty="0"/>
              <a:t> </a:t>
            </a:r>
            <a:r>
              <a:rPr lang="el-GR" sz="4400" b="1" dirty="0"/>
              <a:t>ε</a:t>
            </a:r>
            <a:endParaRPr lang="en-US" sz="4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17E05-D741-061C-51C2-193E3CD39AE4}"/>
              </a:ext>
            </a:extLst>
          </p:cNvPr>
          <p:cNvSpPr txBox="1"/>
          <p:nvPr/>
        </p:nvSpPr>
        <p:spPr>
          <a:xfrm>
            <a:off x="2940731" y="4928813"/>
            <a:ext cx="2089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 estimates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0AF4A2-F4FD-3549-B19D-07BBADF2A6BE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3985280" y="4489404"/>
            <a:ext cx="897616" cy="4394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271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E955-0D77-5656-BB78-56910EDD3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983B2B-8DBF-5D16-7BA3-D042F26AC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Normalization + Co-Registration</a:t>
            </a:r>
          </a:p>
        </p:txBody>
      </p:sp>
      <p:pic>
        <p:nvPicPr>
          <p:cNvPr id="2" name="Google Shape;244;p21">
            <a:extLst>
              <a:ext uri="{FF2B5EF4-FFF2-40B4-BE49-F238E27FC236}">
                <a16:creationId xmlns:a16="http://schemas.microsoft.com/office/drawing/2014/main" id="{DDC5FEEC-20C0-2DB2-F1BF-14D42D07F2E7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 rot="20279499">
            <a:off x="1278839" y="2011063"/>
            <a:ext cx="3035621" cy="416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44;p21">
            <a:extLst>
              <a:ext uri="{FF2B5EF4-FFF2-40B4-BE49-F238E27FC236}">
                <a16:creationId xmlns:a16="http://schemas.microsoft.com/office/drawing/2014/main" id="{5A8368B7-027F-BD8A-E080-A44404219962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 rot="521265">
            <a:off x="1449526" y="2011064"/>
            <a:ext cx="3035621" cy="416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44;p21">
            <a:extLst>
              <a:ext uri="{FF2B5EF4-FFF2-40B4-BE49-F238E27FC236}">
                <a16:creationId xmlns:a16="http://schemas.microsoft.com/office/drawing/2014/main" id="{968FD885-EDF5-7012-A792-E4A8764CF9D2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 rot="1747879">
            <a:off x="1971680" y="2007516"/>
            <a:ext cx="3035621" cy="41658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FB8353-AC14-2A06-D8E1-D3A775B42C0A}"/>
              </a:ext>
            </a:extLst>
          </p:cNvPr>
          <p:cNvSpPr txBox="1"/>
          <p:nvPr/>
        </p:nvSpPr>
        <p:spPr>
          <a:xfrm>
            <a:off x="6786315" y="3309152"/>
            <a:ext cx="36131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Brains must be aligned to compare statistical maps across individuals!</a:t>
            </a:r>
          </a:p>
        </p:txBody>
      </p:sp>
    </p:spTree>
    <p:extLst>
      <p:ext uri="{BB962C8B-B14F-4D97-AF65-F5344CB8AC3E}">
        <p14:creationId xmlns:p14="http://schemas.microsoft.com/office/powerpoint/2010/main" val="22052316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D9A04-F666-C889-E9F4-FD00EB58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87DD12-15FA-C326-6698-EE8ECDAF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Normalization + Co-Registration</a:t>
            </a:r>
          </a:p>
        </p:txBody>
      </p:sp>
      <p:pic>
        <p:nvPicPr>
          <p:cNvPr id="6" name="Google Shape;244;p21">
            <a:extLst>
              <a:ext uri="{FF2B5EF4-FFF2-40B4-BE49-F238E27FC236}">
                <a16:creationId xmlns:a16="http://schemas.microsoft.com/office/drawing/2014/main" id="{1A13FDD1-6914-700D-DB63-CCA0656FAD91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6747484" y="1941601"/>
            <a:ext cx="3035621" cy="416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4;p21">
            <a:extLst>
              <a:ext uri="{FF2B5EF4-FFF2-40B4-BE49-F238E27FC236}">
                <a16:creationId xmlns:a16="http://schemas.microsoft.com/office/drawing/2014/main" id="{D9C5A516-F21E-1DF8-698B-E0223E1DF0AF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747484" y="1941601"/>
            <a:ext cx="3035621" cy="416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44;p21">
            <a:extLst>
              <a:ext uri="{FF2B5EF4-FFF2-40B4-BE49-F238E27FC236}">
                <a16:creationId xmlns:a16="http://schemas.microsoft.com/office/drawing/2014/main" id="{A892F0AE-BDD2-B63E-4F99-46513BA1EF3A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747484" y="1941600"/>
            <a:ext cx="3035621" cy="41658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BB4F5E-064C-C296-18E0-4F175CDE19B2}"/>
              </a:ext>
            </a:extLst>
          </p:cNvPr>
          <p:cNvSpPr txBox="1"/>
          <p:nvPr/>
        </p:nvSpPr>
        <p:spPr>
          <a:xfrm>
            <a:off x="1712544" y="2988345"/>
            <a:ext cx="39796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Alignment results in a </a:t>
            </a:r>
            <a:r>
              <a:rPr lang="en-US" sz="2400" b="1" dirty="0"/>
              <a:t>distribution of effect sizes </a:t>
            </a:r>
            <a:r>
              <a:rPr lang="en-US" sz="2400" dirty="0"/>
              <a:t>at each location (voxel) in a standard coordinate space</a:t>
            </a:r>
          </a:p>
          <a:p>
            <a:pPr algn="ctr"/>
            <a:r>
              <a:rPr lang="en-US" sz="2400" dirty="0"/>
              <a:t>(e.g., MNI space)</a:t>
            </a:r>
          </a:p>
        </p:txBody>
      </p:sp>
    </p:spTree>
    <p:extLst>
      <p:ext uri="{BB962C8B-B14F-4D97-AF65-F5344CB8AC3E}">
        <p14:creationId xmlns:p14="http://schemas.microsoft.com/office/powerpoint/2010/main" val="2943662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0E2C-8D08-358A-5029-A4F88C56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4755C-BF2B-05C3-2FB6-5586BB59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3C1070-88CF-BF1E-C362-89DC189E7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609" y="1862592"/>
            <a:ext cx="9236782" cy="426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39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E392-936C-D8FC-5D38-E3238CA9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760CC-2FDC-F08B-5C2B-FD5B6D7C2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Fixed Effects</a:t>
            </a:r>
          </a:p>
          <a:p>
            <a:pPr marL="457200" lvl="1" indent="0">
              <a:buNone/>
            </a:pPr>
            <a:r>
              <a:rPr lang="en-US" dirty="0"/>
              <a:t>- Sample-specific</a:t>
            </a:r>
          </a:p>
          <a:p>
            <a:pPr lvl="1">
              <a:buFontTx/>
              <a:buChar char="-"/>
            </a:pPr>
            <a:r>
              <a:rPr lang="en-US" dirty="0"/>
              <a:t>Assume results are only relevant to </a:t>
            </a:r>
            <a:r>
              <a:rPr lang="en-US" i="1" dirty="0"/>
              <a:t>these exact subjects</a:t>
            </a:r>
          </a:p>
          <a:p>
            <a:pPr marL="457200" lvl="1" indent="0">
              <a:buNone/>
            </a:pPr>
            <a:r>
              <a:rPr lang="en-US" dirty="0"/>
              <a:t>- Not really used for publication-level inference…</a:t>
            </a:r>
          </a:p>
          <a:p>
            <a:r>
              <a:rPr lang="en-US" b="1" dirty="0"/>
              <a:t>Random Effects</a:t>
            </a:r>
          </a:p>
          <a:p>
            <a:pPr marL="457200" lvl="1" indent="0">
              <a:buNone/>
            </a:pPr>
            <a:r>
              <a:rPr lang="en-US" dirty="0"/>
              <a:t>Assume:</a:t>
            </a:r>
          </a:p>
          <a:p>
            <a:pPr marL="457200" lvl="1" indent="0">
              <a:buNone/>
            </a:pPr>
            <a:r>
              <a:rPr lang="en-US" dirty="0"/>
              <a:t>  - subject-specific effects are </a:t>
            </a:r>
            <a:r>
              <a:rPr lang="en-US" b="1" dirty="0"/>
              <a:t>drawn from a population distribution</a:t>
            </a:r>
          </a:p>
          <a:p>
            <a:pPr marL="457200" lvl="1" indent="0">
              <a:buNone/>
            </a:pPr>
            <a:r>
              <a:rPr lang="en-US" dirty="0"/>
              <a:t>  - individual effect sizes are normally distributed</a:t>
            </a:r>
          </a:p>
          <a:p>
            <a:pPr marL="457200" lvl="1" indent="0">
              <a:buNone/>
            </a:pPr>
            <a:r>
              <a:rPr lang="en-US" b="1" dirty="0"/>
              <a:t>**</a:t>
            </a:r>
            <a:r>
              <a:rPr lang="en-US" dirty="0"/>
              <a:t>We want to estimate the mean and variance </a:t>
            </a:r>
            <a:r>
              <a:rPr lang="en-US" i="1" dirty="0"/>
              <a:t>of the pop. distribution</a:t>
            </a:r>
            <a:r>
              <a:rPr lang="en-US" b="1" dirty="0"/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564488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3F74-079B-A96E-E0F4-E8F20A9A3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DC20-9E08-0AAF-3CF9-33D03108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8E59-DE91-6980-5D72-3C7F588CB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32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Goal</a:t>
            </a:r>
            <a:r>
              <a:rPr lang="en-US" dirty="0"/>
              <a:t>: Estimate the average effect and variability in the population</a:t>
            </a:r>
          </a:p>
          <a:p>
            <a:pPr marL="0" indent="0">
              <a:buNone/>
            </a:pPr>
            <a:r>
              <a:rPr lang="en-US" b="1" u="sng" dirty="0"/>
              <a:t>OLS vs. GLS</a:t>
            </a:r>
          </a:p>
          <a:p>
            <a:pPr>
              <a:buFontTx/>
              <a:buChar char="-"/>
            </a:pPr>
            <a:r>
              <a:rPr lang="en-US" b="1" dirty="0"/>
              <a:t>Ordinary</a:t>
            </a:r>
          </a:p>
          <a:p>
            <a:pPr lvl="1">
              <a:buFontTx/>
              <a:buChar char="-"/>
            </a:pPr>
            <a:r>
              <a:rPr lang="en-US" dirty="0"/>
              <a:t>Each subject contributes equally to the group estimate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  <a:p>
            <a:pPr lvl="1">
              <a:buFontTx/>
              <a:buChar char="-"/>
            </a:pPr>
            <a:r>
              <a:rPr lang="en-US" b="1" dirty="0"/>
              <a:t>Assume within-subject variance is the same for all subjects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Never true... and it INFLATES FALSE POS RATE!</a:t>
            </a:r>
          </a:p>
          <a:p>
            <a:pPr lvl="1">
              <a:buFontTx/>
              <a:buChar char="-"/>
            </a:pPr>
            <a:r>
              <a:rPr lang="en-US" dirty="0"/>
              <a:t>Default in most applications (e.g., SPM, </a:t>
            </a:r>
            <a:r>
              <a:rPr lang="en-US" dirty="0" err="1"/>
              <a:t>NiLearn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</a:t>
            </a:r>
          </a:p>
          <a:p>
            <a:pPr>
              <a:buFontTx/>
              <a:buChar char="-"/>
            </a:pPr>
            <a:r>
              <a:rPr lang="en-US" b="1" dirty="0"/>
              <a:t>Generalized / weighted</a:t>
            </a:r>
          </a:p>
          <a:p>
            <a:pPr lvl="1">
              <a:buFontTx/>
              <a:buChar char="-"/>
            </a:pPr>
            <a:r>
              <a:rPr lang="en-US" dirty="0"/>
              <a:t>Scale individual contributions by within-subject error variance (whitening)</a:t>
            </a:r>
          </a:p>
          <a:p>
            <a:pPr lvl="1">
              <a:buFontTx/>
              <a:buChar char="-"/>
            </a:pPr>
            <a:r>
              <a:rPr lang="en-US" dirty="0"/>
              <a:t>Noisier subjects (lots of movement) contribute less to effect size estimate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A6950-BFC6-D137-5B8F-F45D3C087967}"/>
              </a:ext>
            </a:extLst>
          </p:cNvPr>
          <p:cNvSpPr txBox="1"/>
          <p:nvPr/>
        </p:nvSpPr>
        <p:spPr>
          <a:xfrm>
            <a:off x="1540764" y="6258480"/>
            <a:ext cx="8250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Linear Algebra: </a:t>
            </a:r>
            <a:r>
              <a:rPr lang="es-ES" b="1" dirty="0" err="1"/>
              <a:t>Group</a:t>
            </a:r>
            <a:r>
              <a:rPr lang="es-ES" b="1" dirty="0"/>
              <a:t> </a:t>
            </a:r>
            <a:r>
              <a:rPr lang="es-ES" b="1" dirty="0" err="1"/>
              <a:t>effect</a:t>
            </a:r>
            <a:r>
              <a:rPr lang="es-ES" b="1" dirty="0"/>
              <a:t> </a:t>
            </a:r>
            <a:r>
              <a:rPr lang="es-ES" b="1" dirty="0" err="1"/>
              <a:t>size</a:t>
            </a:r>
            <a:r>
              <a:rPr lang="es-ES" b="1" dirty="0"/>
              <a:t> ​= (</a:t>
            </a:r>
            <a:r>
              <a:rPr lang="es-ES" b="1" i="1" dirty="0"/>
              <a:t>X</a:t>
            </a:r>
            <a:r>
              <a:rPr lang="es-ES" b="1" baseline="30000" dirty="0"/>
              <a:t>T</a:t>
            </a:r>
            <a:r>
              <a:rPr lang="es-ES" b="1" dirty="0"/>
              <a:t>Σ</a:t>
            </a:r>
            <a:r>
              <a:rPr lang="es-ES" b="1" baseline="30000" dirty="0"/>
              <a:t>−1</a:t>
            </a:r>
            <a:r>
              <a:rPr lang="es-ES" b="1" i="1" dirty="0"/>
              <a:t>X</a:t>
            </a:r>
            <a:r>
              <a:rPr lang="es-ES" b="1" dirty="0"/>
              <a:t>)</a:t>
            </a:r>
            <a:r>
              <a:rPr lang="es-ES" b="1" baseline="30000" dirty="0"/>
              <a:t>−1</a:t>
            </a:r>
            <a:r>
              <a:rPr lang="es-ES" b="1" i="1" dirty="0"/>
              <a:t>X</a:t>
            </a:r>
            <a:r>
              <a:rPr lang="es-ES" b="1" baseline="30000" dirty="0"/>
              <a:t>T</a:t>
            </a:r>
            <a:r>
              <a:rPr lang="es-ES" b="1" dirty="0"/>
              <a:t>Σ</a:t>
            </a:r>
            <a:r>
              <a:rPr lang="es-ES" b="1" baseline="30000" dirty="0"/>
              <a:t>−1</a:t>
            </a:r>
            <a:r>
              <a:rPr lang="es-ES" b="1" dirty="0"/>
              <a:t>y     </a:t>
            </a:r>
            <a:r>
              <a:rPr lang="es-ES" b="1" dirty="0" err="1"/>
              <a:t>with</a:t>
            </a:r>
            <a:r>
              <a:rPr lang="es-ES" b="1" dirty="0"/>
              <a:t> </a:t>
            </a:r>
            <a:r>
              <a:rPr lang="es-ES" b="1" dirty="0" err="1"/>
              <a:t>variance</a:t>
            </a:r>
            <a:r>
              <a:rPr lang="es-ES" b="1" dirty="0"/>
              <a:t> = (</a:t>
            </a:r>
            <a:r>
              <a:rPr lang="es-ES" b="1" i="1" dirty="0"/>
              <a:t>X</a:t>
            </a:r>
            <a:r>
              <a:rPr lang="es-ES" b="1" baseline="30000" dirty="0"/>
              <a:t>T</a:t>
            </a:r>
            <a:r>
              <a:rPr lang="es-ES" b="1" dirty="0"/>
              <a:t>Σ</a:t>
            </a:r>
            <a:r>
              <a:rPr lang="es-ES" b="1" baseline="30000" dirty="0"/>
              <a:t>−1</a:t>
            </a:r>
            <a:r>
              <a:rPr lang="es-ES" b="1" i="1" dirty="0"/>
              <a:t>X</a:t>
            </a:r>
            <a:r>
              <a:rPr lang="es-ES" b="1" dirty="0"/>
              <a:t>)</a:t>
            </a:r>
            <a:r>
              <a:rPr lang="es-ES" b="1" baseline="30000" dirty="0"/>
              <a:t>−1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5AE44-D34A-656D-DBCB-8E0C3A9A43D3}"/>
              </a:ext>
            </a:extLst>
          </p:cNvPr>
          <p:cNvSpPr txBox="1"/>
          <p:nvPr/>
        </p:nvSpPr>
        <p:spPr>
          <a:xfrm>
            <a:off x="2674239" y="2877105"/>
            <a:ext cx="8250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Linear Algebra: </a:t>
            </a:r>
            <a:r>
              <a:rPr lang="es-ES" b="1" dirty="0" err="1"/>
              <a:t>Group</a:t>
            </a:r>
            <a:r>
              <a:rPr lang="es-ES" b="1" dirty="0"/>
              <a:t> </a:t>
            </a:r>
            <a:r>
              <a:rPr lang="es-ES" b="1" dirty="0" err="1"/>
              <a:t>effect</a:t>
            </a:r>
            <a:r>
              <a:rPr lang="es-ES" b="1" dirty="0"/>
              <a:t> </a:t>
            </a:r>
            <a:r>
              <a:rPr lang="es-ES" b="1" dirty="0" err="1"/>
              <a:t>size</a:t>
            </a:r>
            <a:r>
              <a:rPr lang="es-ES" b="1" dirty="0"/>
              <a:t> ​= (</a:t>
            </a:r>
            <a:r>
              <a:rPr lang="es-ES" b="1" i="1" dirty="0"/>
              <a:t>X</a:t>
            </a:r>
            <a:r>
              <a:rPr lang="es-ES" b="1" baseline="30000" dirty="0"/>
              <a:t>T</a:t>
            </a:r>
            <a:r>
              <a:rPr lang="es-ES" b="1" i="1" dirty="0"/>
              <a:t>X</a:t>
            </a:r>
            <a:r>
              <a:rPr lang="es-ES" b="1" dirty="0"/>
              <a:t>)</a:t>
            </a:r>
            <a:r>
              <a:rPr lang="es-ES" b="1" baseline="30000" dirty="0"/>
              <a:t>−1</a:t>
            </a:r>
            <a:r>
              <a:rPr lang="es-ES" b="1" i="1" dirty="0"/>
              <a:t>X</a:t>
            </a:r>
            <a:r>
              <a:rPr lang="es-ES" b="1" baseline="30000" dirty="0"/>
              <a:t>T</a:t>
            </a:r>
            <a:r>
              <a:rPr lang="es-ES" b="1" dirty="0"/>
              <a:t>y     </a:t>
            </a:r>
            <a:r>
              <a:rPr lang="es-ES" b="1" dirty="0" err="1"/>
              <a:t>with</a:t>
            </a:r>
            <a:r>
              <a:rPr lang="es-ES" b="1" dirty="0"/>
              <a:t> </a:t>
            </a:r>
            <a:r>
              <a:rPr lang="es-ES" b="1" dirty="0" err="1"/>
              <a:t>variance</a:t>
            </a:r>
            <a:r>
              <a:rPr lang="es-ES" b="1" dirty="0"/>
              <a:t> = </a:t>
            </a:r>
            <a:r>
              <a:rPr lang="el-GR" b="1" dirty="0"/>
              <a:t>σ</a:t>
            </a:r>
            <a:r>
              <a:rPr lang="en-US" b="1" baseline="30000" dirty="0"/>
              <a:t>2</a:t>
            </a:r>
            <a:r>
              <a:rPr lang="es-ES" b="1" dirty="0"/>
              <a:t>(</a:t>
            </a:r>
            <a:r>
              <a:rPr lang="es-ES" b="1" i="1" dirty="0"/>
              <a:t>X</a:t>
            </a:r>
            <a:r>
              <a:rPr lang="es-ES" b="1" baseline="30000" dirty="0"/>
              <a:t>T</a:t>
            </a:r>
            <a:r>
              <a:rPr lang="es-ES" b="1" i="1" dirty="0"/>
              <a:t>X</a:t>
            </a:r>
            <a:r>
              <a:rPr lang="es-ES" b="1" dirty="0"/>
              <a:t>)</a:t>
            </a:r>
            <a:r>
              <a:rPr lang="es-ES" b="1" baseline="30000" dirty="0"/>
              <a:t>−1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931253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4090FE-7D02-D234-8C1C-97C62368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ECB41-258E-9A55-190E-ADB2781E7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the basics</a:t>
            </a:r>
          </a:p>
        </p:txBody>
      </p:sp>
    </p:spTree>
    <p:extLst>
      <p:ext uri="{BB962C8B-B14F-4D97-AF65-F5344CB8AC3E}">
        <p14:creationId xmlns:p14="http://schemas.microsoft.com/office/powerpoint/2010/main" val="2226553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DDCB-DDA6-B84A-0A92-6B2BB8113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F16243-DB90-2F07-EC03-A7257CD57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Multi-Voxel Pattern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5CA4A5-F3EF-0165-B483-6A6625253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Traditional Analysis</a:t>
            </a:r>
          </a:p>
          <a:p>
            <a:pPr lvl="1"/>
            <a:r>
              <a:rPr lang="en-US" dirty="0"/>
              <a:t>“Is BOLD signal </a:t>
            </a:r>
            <a:r>
              <a:rPr lang="en-US" b="1" dirty="0"/>
              <a:t>stronger</a:t>
            </a:r>
            <a:r>
              <a:rPr lang="en-US" dirty="0"/>
              <a:t>, </a:t>
            </a:r>
            <a:r>
              <a:rPr lang="en-US" i="1" dirty="0"/>
              <a:t>on average</a:t>
            </a:r>
            <a:r>
              <a:rPr lang="en-US" dirty="0"/>
              <a:t>, in condition A than B?”</a:t>
            </a:r>
          </a:p>
          <a:p>
            <a:pPr marL="0" indent="0">
              <a:buNone/>
            </a:pPr>
            <a:r>
              <a:rPr lang="en-US" i="1" dirty="0"/>
              <a:t>MVPA</a:t>
            </a:r>
          </a:p>
          <a:p>
            <a:pPr lvl="1"/>
            <a:r>
              <a:rPr lang="en-US" dirty="0"/>
              <a:t>Goal: Determine what info. is represented in each voxel/region</a:t>
            </a:r>
          </a:p>
          <a:p>
            <a:pPr lvl="1"/>
            <a:r>
              <a:rPr lang="en-US" dirty="0"/>
              <a:t>“At each timepoint, can I predict the current condition based on the spatial pattern of BOLD activity?”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3B52F5-D14D-B93A-C58D-44B128EF6E68}"/>
              </a:ext>
            </a:extLst>
          </p:cNvPr>
          <p:cNvGrpSpPr/>
          <p:nvPr/>
        </p:nvGrpSpPr>
        <p:grpSpPr>
          <a:xfrm>
            <a:off x="4429849" y="4546600"/>
            <a:ext cx="3332301" cy="1946275"/>
            <a:chOff x="3923713" y="4546600"/>
            <a:chExt cx="3332301" cy="1946275"/>
          </a:xfrm>
        </p:grpSpPr>
        <p:pic>
          <p:nvPicPr>
            <p:cNvPr id="2" name="Picture 2" descr="Picture">
              <a:extLst>
                <a:ext uri="{FF2B5EF4-FFF2-40B4-BE49-F238E27FC236}">
                  <a16:creationId xmlns:a16="http://schemas.microsoft.com/office/drawing/2014/main" id="{AFE5273C-41E0-2125-00B8-78BFA66A75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9660"/>
            <a:stretch>
              <a:fillRect/>
            </a:stretch>
          </p:blipFill>
          <p:spPr bwMode="auto">
            <a:xfrm>
              <a:off x="3923713" y="4546600"/>
              <a:ext cx="1965165" cy="1946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B0AC386-266B-386D-6B81-A4EF8AF07010}"/>
                </a:ext>
              </a:extLst>
            </p:cNvPr>
            <p:cNvSpPr txBox="1"/>
            <p:nvPr/>
          </p:nvSpPr>
          <p:spPr>
            <a:xfrm>
              <a:off x="6122050" y="5135012"/>
              <a:ext cx="48603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=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4932CA-6678-4198-4372-34143B41DAA5}"/>
                </a:ext>
              </a:extLst>
            </p:cNvPr>
            <p:cNvSpPr txBox="1"/>
            <p:nvPr/>
          </p:nvSpPr>
          <p:spPr>
            <a:xfrm>
              <a:off x="6608080" y="4919567"/>
              <a:ext cx="64793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954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AC4E0-A368-26F8-465C-77D09649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5DBFD68-A076-C43F-0C8B-D521DA627E27}"/>
              </a:ext>
            </a:extLst>
          </p:cNvPr>
          <p:cNvGrpSpPr/>
          <p:nvPr/>
        </p:nvGrpSpPr>
        <p:grpSpPr>
          <a:xfrm>
            <a:off x="3379039" y="3377945"/>
            <a:ext cx="1502495" cy="3202926"/>
            <a:chOff x="3379039" y="3377945"/>
            <a:chExt cx="1502495" cy="3202926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D7BF53E7-18CC-B0EA-1B3E-1BD9640DF5A6}"/>
                </a:ext>
              </a:extLst>
            </p:cNvPr>
            <p:cNvCxnSpPr>
              <a:cxnSpLocks/>
            </p:cNvCxnSpPr>
            <p:nvPr/>
          </p:nvCxnSpPr>
          <p:spPr>
            <a:xfrm>
              <a:off x="3562837" y="4036328"/>
              <a:ext cx="0" cy="22660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oogle Shape;373;p40">
              <a:extLst>
                <a:ext uri="{FF2B5EF4-FFF2-40B4-BE49-F238E27FC236}">
                  <a16:creationId xmlns:a16="http://schemas.microsoft.com/office/drawing/2014/main" id="{0E77B557-EB08-05CC-5536-882E1B4F6D26}"/>
                </a:ext>
              </a:extLst>
            </p:cNvPr>
            <p:cNvGrpSpPr/>
            <p:nvPr/>
          </p:nvGrpSpPr>
          <p:grpSpPr>
            <a:xfrm>
              <a:off x="3564767" y="3377945"/>
              <a:ext cx="1316767" cy="1316767"/>
              <a:chOff x="7721400" y="2691963"/>
              <a:chExt cx="987575" cy="987575"/>
            </a:xfrm>
          </p:grpSpPr>
          <p:pic>
            <p:nvPicPr>
              <p:cNvPr id="32" name="Google Shape;375;p40">
                <a:extLst>
                  <a:ext uri="{FF2B5EF4-FFF2-40B4-BE49-F238E27FC236}">
                    <a16:creationId xmlns:a16="http://schemas.microsoft.com/office/drawing/2014/main" id="{A4A05819-10B7-DDA3-48C1-B4EF98C4041B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721400" y="2691963"/>
                <a:ext cx="987575" cy="9875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" name="Google Shape;376;p40">
                <a:extLst>
                  <a:ext uri="{FF2B5EF4-FFF2-40B4-BE49-F238E27FC236}">
                    <a16:creationId xmlns:a16="http://schemas.microsoft.com/office/drawing/2014/main" id="{A3331BB4-440C-11A6-2A23-B55B685CA90E}"/>
                  </a:ext>
                </a:extLst>
              </p:cNvPr>
              <p:cNvSpPr/>
              <p:nvPr/>
            </p:nvSpPr>
            <p:spPr>
              <a:xfrm>
                <a:off x="7819400" y="2827125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" name="Google Shape;377;p40">
                <a:extLst>
                  <a:ext uri="{FF2B5EF4-FFF2-40B4-BE49-F238E27FC236}">
                    <a16:creationId xmlns:a16="http://schemas.microsoft.com/office/drawing/2014/main" id="{879F158F-83CE-5284-979C-1CDFA284E20E}"/>
                  </a:ext>
                </a:extLst>
              </p:cNvPr>
              <p:cNvSpPr/>
              <p:nvPr/>
            </p:nvSpPr>
            <p:spPr>
              <a:xfrm>
                <a:off x="8101325" y="2827125"/>
                <a:ext cx="227700" cy="220800"/>
              </a:xfrm>
              <a:prstGeom prst="rect">
                <a:avLst/>
              </a:prstGeom>
              <a:solidFill>
                <a:schemeClr val="bg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" name="Google Shape;378;p40">
                <a:extLst>
                  <a:ext uri="{FF2B5EF4-FFF2-40B4-BE49-F238E27FC236}">
                    <a16:creationId xmlns:a16="http://schemas.microsoft.com/office/drawing/2014/main" id="{4F7D0ADB-E960-544E-AFFA-07E3AD882D9A}"/>
                  </a:ext>
                </a:extLst>
              </p:cNvPr>
              <p:cNvSpPr/>
              <p:nvPr/>
            </p:nvSpPr>
            <p:spPr>
              <a:xfrm>
                <a:off x="8383250" y="282712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6" name="Google Shape;379;p40">
                <a:extLst>
                  <a:ext uri="{FF2B5EF4-FFF2-40B4-BE49-F238E27FC236}">
                    <a16:creationId xmlns:a16="http://schemas.microsoft.com/office/drawing/2014/main" id="{4B875E94-D2B9-146C-B6D3-A9D3FDBD2C99}"/>
                  </a:ext>
                </a:extLst>
              </p:cNvPr>
              <p:cNvSpPr/>
              <p:nvPr/>
            </p:nvSpPr>
            <p:spPr>
              <a:xfrm>
                <a:off x="7819400" y="3075350"/>
                <a:ext cx="227700" cy="2208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7" name="Google Shape;380;p40">
                <a:extLst>
                  <a:ext uri="{FF2B5EF4-FFF2-40B4-BE49-F238E27FC236}">
                    <a16:creationId xmlns:a16="http://schemas.microsoft.com/office/drawing/2014/main" id="{72AE25F0-BD7B-AC38-EBD3-F0271479AB38}"/>
                  </a:ext>
                </a:extLst>
              </p:cNvPr>
              <p:cNvSpPr/>
              <p:nvPr/>
            </p:nvSpPr>
            <p:spPr>
              <a:xfrm>
                <a:off x="8101338" y="3075350"/>
                <a:ext cx="227700" cy="220800"/>
              </a:xfrm>
              <a:prstGeom prst="rect">
                <a:avLst/>
              </a:prstGeom>
              <a:solidFill>
                <a:srgbClr val="CCCCCC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8" name="Google Shape;381;p40">
                <a:extLst>
                  <a:ext uri="{FF2B5EF4-FFF2-40B4-BE49-F238E27FC236}">
                    <a16:creationId xmlns:a16="http://schemas.microsoft.com/office/drawing/2014/main" id="{3F30BC5C-51A8-A3B5-5DCB-49B0B0610542}"/>
                  </a:ext>
                </a:extLst>
              </p:cNvPr>
              <p:cNvSpPr/>
              <p:nvPr/>
            </p:nvSpPr>
            <p:spPr>
              <a:xfrm>
                <a:off x="8383300" y="3075350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9" name="Google Shape;382;p40">
                <a:extLst>
                  <a:ext uri="{FF2B5EF4-FFF2-40B4-BE49-F238E27FC236}">
                    <a16:creationId xmlns:a16="http://schemas.microsoft.com/office/drawing/2014/main" id="{495AB18A-3D11-6716-9964-6F801D771808}"/>
                  </a:ext>
                </a:extLst>
              </p:cNvPr>
              <p:cNvSpPr/>
              <p:nvPr/>
            </p:nvSpPr>
            <p:spPr>
              <a:xfrm>
                <a:off x="7819400" y="3323575"/>
                <a:ext cx="227700" cy="220800"/>
              </a:xfrm>
              <a:prstGeom prst="rect">
                <a:avLst/>
              </a:prstGeom>
              <a:solidFill>
                <a:srgbClr val="9999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0" name="Google Shape;383;p40">
                <a:extLst>
                  <a:ext uri="{FF2B5EF4-FFF2-40B4-BE49-F238E27FC236}">
                    <a16:creationId xmlns:a16="http://schemas.microsoft.com/office/drawing/2014/main" id="{0FEF759A-4F5E-10D4-0D57-1FFF5CC02856}"/>
                  </a:ext>
                </a:extLst>
              </p:cNvPr>
              <p:cNvSpPr/>
              <p:nvPr/>
            </p:nvSpPr>
            <p:spPr>
              <a:xfrm>
                <a:off x="8101325" y="332357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1" name="Google Shape;384;p40">
                <a:extLst>
                  <a:ext uri="{FF2B5EF4-FFF2-40B4-BE49-F238E27FC236}">
                    <a16:creationId xmlns:a16="http://schemas.microsoft.com/office/drawing/2014/main" id="{8C922B76-E5CC-2456-8003-785CBAEF26F2}"/>
                  </a:ext>
                </a:extLst>
              </p:cNvPr>
              <p:cNvSpPr/>
              <p:nvPr/>
            </p:nvSpPr>
            <p:spPr>
              <a:xfrm>
                <a:off x="8383250" y="3323575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pic>
          <p:nvPicPr>
            <p:cNvPr id="144" name="Picture 2" descr="House Clipart Images – Browse 254,406 Stock Photos, Vectors ...">
              <a:extLst>
                <a:ext uri="{FF2B5EF4-FFF2-40B4-BE49-F238E27FC236}">
                  <a16:creationId xmlns:a16="http://schemas.microsoft.com/office/drawing/2014/main" id="{E2211DD8-CE48-14F1-79F5-E0B130C531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039" y="6311899"/>
              <a:ext cx="367595" cy="268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80109BA7-CAE8-6ACC-0AFD-9EAF5EA9B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Multi-Voxel Pattern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1B4847-8984-286B-A207-62AFE9B1E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Why?</a:t>
            </a:r>
          </a:p>
          <a:p>
            <a:pPr lvl="1"/>
            <a:r>
              <a:rPr lang="en-US" dirty="0"/>
              <a:t>Sensitive to distributed / subtle patterns that may not show a mean-level difference at any single voxel</a:t>
            </a: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94ECDBC-DCFB-18BA-F2CF-E6D3C6D374F1}"/>
              </a:ext>
            </a:extLst>
          </p:cNvPr>
          <p:cNvGrpSpPr/>
          <p:nvPr/>
        </p:nvGrpSpPr>
        <p:grpSpPr>
          <a:xfrm>
            <a:off x="7781730" y="3200398"/>
            <a:ext cx="1575658" cy="3181739"/>
            <a:chOff x="7781730" y="3200398"/>
            <a:chExt cx="1575658" cy="3181739"/>
          </a:xfrm>
        </p:grpSpPr>
        <p:grpSp>
          <p:nvGrpSpPr>
            <p:cNvPr id="75" name="Google Shape;373;p40">
              <a:extLst>
                <a:ext uri="{FF2B5EF4-FFF2-40B4-BE49-F238E27FC236}">
                  <a16:creationId xmlns:a16="http://schemas.microsoft.com/office/drawing/2014/main" id="{42F72863-FC11-5E23-EA3C-6594486F4D6A}"/>
                </a:ext>
              </a:extLst>
            </p:cNvPr>
            <p:cNvGrpSpPr/>
            <p:nvPr/>
          </p:nvGrpSpPr>
          <p:grpSpPr>
            <a:xfrm>
              <a:off x="8018351" y="3377944"/>
              <a:ext cx="1316767" cy="1316767"/>
              <a:chOff x="7721400" y="2691963"/>
              <a:chExt cx="987575" cy="987575"/>
            </a:xfrm>
          </p:grpSpPr>
          <p:pic>
            <p:nvPicPr>
              <p:cNvPr id="76" name="Google Shape;375;p40">
                <a:extLst>
                  <a:ext uri="{FF2B5EF4-FFF2-40B4-BE49-F238E27FC236}">
                    <a16:creationId xmlns:a16="http://schemas.microsoft.com/office/drawing/2014/main" id="{C3083A99-284C-0580-E72B-0113C807521C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721400" y="2691963"/>
                <a:ext cx="987575" cy="9875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376;p40">
                <a:extLst>
                  <a:ext uri="{FF2B5EF4-FFF2-40B4-BE49-F238E27FC236}">
                    <a16:creationId xmlns:a16="http://schemas.microsoft.com/office/drawing/2014/main" id="{0CAEB0B9-1568-B08A-8D37-0B09920B7327}"/>
                  </a:ext>
                </a:extLst>
              </p:cNvPr>
              <p:cNvSpPr/>
              <p:nvPr/>
            </p:nvSpPr>
            <p:spPr>
              <a:xfrm>
                <a:off x="7819400" y="2827125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8" name="Google Shape;377;p40">
                <a:extLst>
                  <a:ext uri="{FF2B5EF4-FFF2-40B4-BE49-F238E27FC236}">
                    <a16:creationId xmlns:a16="http://schemas.microsoft.com/office/drawing/2014/main" id="{D2F0E367-6D3A-3B34-CD36-E244E71E4975}"/>
                  </a:ext>
                </a:extLst>
              </p:cNvPr>
              <p:cNvSpPr/>
              <p:nvPr/>
            </p:nvSpPr>
            <p:spPr>
              <a:xfrm>
                <a:off x="8101325" y="2827125"/>
                <a:ext cx="227700" cy="220800"/>
              </a:xfrm>
              <a:prstGeom prst="rect">
                <a:avLst/>
              </a:prstGeom>
              <a:solidFill>
                <a:srgbClr val="9999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9" name="Google Shape;378;p40">
                <a:extLst>
                  <a:ext uri="{FF2B5EF4-FFF2-40B4-BE49-F238E27FC236}">
                    <a16:creationId xmlns:a16="http://schemas.microsoft.com/office/drawing/2014/main" id="{667E04A8-87F5-08BC-F153-10B576885365}"/>
                  </a:ext>
                </a:extLst>
              </p:cNvPr>
              <p:cNvSpPr/>
              <p:nvPr/>
            </p:nvSpPr>
            <p:spPr>
              <a:xfrm>
                <a:off x="8383250" y="282712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" name="Google Shape;379;p40">
                <a:extLst>
                  <a:ext uri="{FF2B5EF4-FFF2-40B4-BE49-F238E27FC236}">
                    <a16:creationId xmlns:a16="http://schemas.microsoft.com/office/drawing/2014/main" id="{3B1EB39C-7226-4D9E-1E62-65A15FEBC5D9}"/>
                  </a:ext>
                </a:extLst>
              </p:cNvPr>
              <p:cNvSpPr/>
              <p:nvPr/>
            </p:nvSpPr>
            <p:spPr>
              <a:xfrm>
                <a:off x="7819400" y="3075350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" name="Google Shape;380;p40">
                <a:extLst>
                  <a:ext uri="{FF2B5EF4-FFF2-40B4-BE49-F238E27FC236}">
                    <a16:creationId xmlns:a16="http://schemas.microsoft.com/office/drawing/2014/main" id="{12486428-BF97-1D73-DC11-22D101AE4FC6}"/>
                  </a:ext>
                </a:extLst>
              </p:cNvPr>
              <p:cNvSpPr/>
              <p:nvPr/>
            </p:nvSpPr>
            <p:spPr>
              <a:xfrm>
                <a:off x="8101338" y="3075350"/>
                <a:ext cx="227700" cy="220800"/>
              </a:xfrm>
              <a:prstGeom prst="rect">
                <a:avLst/>
              </a:prstGeom>
              <a:solidFill>
                <a:srgbClr val="CCCCCC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" name="Google Shape;381;p40">
                <a:extLst>
                  <a:ext uri="{FF2B5EF4-FFF2-40B4-BE49-F238E27FC236}">
                    <a16:creationId xmlns:a16="http://schemas.microsoft.com/office/drawing/2014/main" id="{BC410933-EEA2-79AD-692F-0B5D4D5BDED0}"/>
                  </a:ext>
                </a:extLst>
              </p:cNvPr>
              <p:cNvSpPr/>
              <p:nvPr/>
            </p:nvSpPr>
            <p:spPr>
              <a:xfrm>
                <a:off x="8383300" y="3075350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" name="Google Shape;382;p40">
                <a:extLst>
                  <a:ext uri="{FF2B5EF4-FFF2-40B4-BE49-F238E27FC236}">
                    <a16:creationId xmlns:a16="http://schemas.microsoft.com/office/drawing/2014/main" id="{D09F458D-2DB8-2355-C9BF-189D898F95DA}"/>
                  </a:ext>
                </a:extLst>
              </p:cNvPr>
              <p:cNvSpPr/>
              <p:nvPr/>
            </p:nvSpPr>
            <p:spPr>
              <a:xfrm>
                <a:off x="7819400" y="3323575"/>
                <a:ext cx="227700" cy="220800"/>
              </a:xfrm>
              <a:prstGeom prst="rect">
                <a:avLst/>
              </a:prstGeom>
              <a:solidFill>
                <a:srgbClr val="9999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" name="Google Shape;383;p40">
                <a:extLst>
                  <a:ext uri="{FF2B5EF4-FFF2-40B4-BE49-F238E27FC236}">
                    <a16:creationId xmlns:a16="http://schemas.microsoft.com/office/drawing/2014/main" id="{0DAC1993-FA67-9164-8261-7E1787F8DC8C}"/>
                  </a:ext>
                </a:extLst>
              </p:cNvPr>
              <p:cNvSpPr/>
              <p:nvPr/>
            </p:nvSpPr>
            <p:spPr>
              <a:xfrm>
                <a:off x="8101325" y="332357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" name="Google Shape;384;p40">
                <a:extLst>
                  <a:ext uri="{FF2B5EF4-FFF2-40B4-BE49-F238E27FC236}">
                    <a16:creationId xmlns:a16="http://schemas.microsoft.com/office/drawing/2014/main" id="{7B736632-FD41-B9B3-C852-03C1059558F7}"/>
                  </a:ext>
                </a:extLst>
              </p:cNvPr>
              <p:cNvSpPr/>
              <p:nvPr/>
            </p:nvSpPr>
            <p:spPr>
              <a:xfrm>
                <a:off x="8383250" y="3323575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89" name="Google Shape;373;p40">
              <a:extLst>
                <a:ext uri="{FF2B5EF4-FFF2-40B4-BE49-F238E27FC236}">
                  <a16:creationId xmlns:a16="http://schemas.microsoft.com/office/drawing/2014/main" id="{3B1105B2-848A-E6B5-29FF-D5DE316F8AD6}"/>
                </a:ext>
              </a:extLst>
            </p:cNvPr>
            <p:cNvGrpSpPr/>
            <p:nvPr/>
          </p:nvGrpSpPr>
          <p:grpSpPr>
            <a:xfrm>
              <a:off x="8040621" y="4860196"/>
              <a:ext cx="1316767" cy="1316767"/>
              <a:chOff x="7721400" y="2691963"/>
              <a:chExt cx="987575" cy="987575"/>
            </a:xfrm>
          </p:grpSpPr>
          <p:pic>
            <p:nvPicPr>
              <p:cNvPr id="90" name="Google Shape;375;p40">
                <a:extLst>
                  <a:ext uri="{FF2B5EF4-FFF2-40B4-BE49-F238E27FC236}">
                    <a16:creationId xmlns:a16="http://schemas.microsoft.com/office/drawing/2014/main" id="{904B4F06-B62C-90B0-132C-DFC240850144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721400" y="2691963"/>
                <a:ext cx="987575" cy="9875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" name="Google Shape;376;p40">
                <a:extLst>
                  <a:ext uri="{FF2B5EF4-FFF2-40B4-BE49-F238E27FC236}">
                    <a16:creationId xmlns:a16="http://schemas.microsoft.com/office/drawing/2014/main" id="{041936EC-DF73-F5CF-5860-81CF5CFBFE3A}"/>
                  </a:ext>
                </a:extLst>
              </p:cNvPr>
              <p:cNvSpPr/>
              <p:nvPr/>
            </p:nvSpPr>
            <p:spPr>
              <a:xfrm>
                <a:off x="7819400" y="2827125"/>
                <a:ext cx="227700" cy="2208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" name="Google Shape;377;p40">
                <a:extLst>
                  <a:ext uri="{FF2B5EF4-FFF2-40B4-BE49-F238E27FC236}">
                    <a16:creationId xmlns:a16="http://schemas.microsoft.com/office/drawing/2014/main" id="{E4D2539D-4DDC-2389-736D-1E7F1FC64445}"/>
                  </a:ext>
                </a:extLst>
              </p:cNvPr>
              <p:cNvSpPr/>
              <p:nvPr/>
            </p:nvSpPr>
            <p:spPr>
              <a:xfrm>
                <a:off x="8101325" y="2827125"/>
                <a:ext cx="227700" cy="220800"/>
              </a:xfrm>
              <a:prstGeom prst="rect">
                <a:avLst/>
              </a:prstGeom>
              <a:solidFill>
                <a:srgbClr val="9999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3" name="Google Shape;378;p40">
                <a:extLst>
                  <a:ext uri="{FF2B5EF4-FFF2-40B4-BE49-F238E27FC236}">
                    <a16:creationId xmlns:a16="http://schemas.microsoft.com/office/drawing/2014/main" id="{9C0D534A-3BF2-E303-DAEF-A9169E74812A}"/>
                  </a:ext>
                </a:extLst>
              </p:cNvPr>
              <p:cNvSpPr/>
              <p:nvPr/>
            </p:nvSpPr>
            <p:spPr>
              <a:xfrm>
                <a:off x="8383250" y="282712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" name="Google Shape;379;p40">
                <a:extLst>
                  <a:ext uri="{FF2B5EF4-FFF2-40B4-BE49-F238E27FC236}">
                    <a16:creationId xmlns:a16="http://schemas.microsoft.com/office/drawing/2014/main" id="{ED534246-E35F-56A4-F0E1-67CB8BEFC5B4}"/>
                  </a:ext>
                </a:extLst>
              </p:cNvPr>
              <p:cNvSpPr/>
              <p:nvPr/>
            </p:nvSpPr>
            <p:spPr>
              <a:xfrm>
                <a:off x="7819400" y="3075350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5" name="Google Shape;380;p40">
                <a:extLst>
                  <a:ext uri="{FF2B5EF4-FFF2-40B4-BE49-F238E27FC236}">
                    <a16:creationId xmlns:a16="http://schemas.microsoft.com/office/drawing/2014/main" id="{0A1E1782-18C6-A700-80F8-BB85C542FCC8}"/>
                  </a:ext>
                </a:extLst>
              </p:cNvPr>
              <p:cNvSpPr/>
              <p:nvPr/>
            </p:nvSpPr>
            <p:spPr>
              <a:xfrm>
                <a:off x="8101338" y="3075350"/>
                <a:ext cx="227700" cy="22080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6" name="Google Shape;381;p40">
                <a:extLst>
                  <a:ext uri="{FF2B5EF4-FFF2-40B4-BE49-F238E27FC236}">
                    <a16:creationId xmlns:a16="http://schemas.microsoft.com/office/drawing/2014/main" id="{E8175B88-5CBE-8332-B274-80013CD44020}"/>
                  </a:ext>
                </a:extLst>
              </p:cNvPr>
              <p:cNvSpPr/>
              <p:nvPr/>
            </p:nvSpPr>
            <p:spPr>
              <a:xfrm>
                <a:off x="8383300" y="3075350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" name="Google Shape;382;p40">
                <a:extLst>
                  <a:ext uri="{FF2B5EF4-FFF2-40B4-BE49-F238E27FC236}">
                    <a16:creationId xmlns:a16="http://schemas.microsoft.com/office/drawing/2014/main" id="{45B2FD0F-CF93-5F3F-18B4-81AA0CF4C45A}"/>
                  </a:ext>
                </a:extLst>
              </p:cNvPr>
              <p:cNvSpPr/>
              <p:nvPr/>
            </p:nvSpPr>
            <p:spPr>
              <a:xfrm>
                <a:off x="7819400" y="3323575"/>
                <a:ext cx="227700" cy="2208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8" name="Google Shape;383;p40">
                <a:extLst>
                  <a:ext uri="{FF2B5EF4-FFF2-40B4-BE49-F238E27FC236}">
                    <a16:creationId xmlns:a16="http://schemas.microsoft.com/office/drawing/2014/main" id="{B13B6465-100B-E5F2-6B73-5157E0080898}"/>
                  </a:ext>
                </a:extLst>
              </p:cNvPr>
              <p:cNvSpPr/>
              <p:nvPr/>
            </p:nvSpPr>
            <p:spPr>
              <a:xfrm>
                <a:off x="8101325" y="332357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9" name="Google Shape;384;p40">
                <a:extLst>
                  <a:ext uri="{FF2B5EF4-FFF2-40B4-BE49-F238E27FC236}">
                    <a16:creationId xmlns:a16="http://schemas.microsoft.com/office/drawing/2014/main" id="{F65A1637-8B44-4EAD-0EB5-D574EFB98C6E}"/>
                  </a:ext>
                </a:extLst>
              </p:cNvPr>
              <p:cNvSpPr/>
              <p:nvPr/>
            </p:nvSpPr>
            <p:spPr>
              <a:xfrm>
                <a:off x="8383250" y="3323575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4D6F9F6-3087-2519-EE01-70B8734D7D34}"/>
                </a:ext>
              </a:extLst>
            </p:cNvPr>
            <p:cNvCxnSpPr/>
            <p:nvPr/>
          </p:nvCxnSpPr>
          <p:spPr>
            <a:xfrm>
              <a:off x="7781730" y="3200398"/>
              <a:ext cx="0" cy="31817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D3BAD82-DE8C-3670-DA5D-27E66100E282}"/>
              </a:ext>
            </a:extLst>
          </p:cNvPr>
          <p:cNvCxnSpPr>
            <a:cxnSpLocks/>
          </p:cNvCxnSpPr>
          <p:nvPr/>
        </p:nvCxnSpPr>
        <p:spPr>
          <a:xfrm>
            <a:off x="1203649" y="6302351"/>
            <a:ext cx="60275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E231D05F-91EA-FDEB-389A-B8A9BCF610F8}"/>
              </a:ext>
            </a:extLst>
          </p:cNvPr>
          <p:cNvSpPr txBox="1"/>
          <p:nvPr/>
        </p:nvSpPr>
        <p:spPr>
          <a:xfrm rot="19580437">
            <a:off x="368816" y="3463612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HOUSES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3254423-44F5-ED32-EE3A-2C1CC30058A7}"/>
              </a:ext>
            </a:extLst>
          </p:cNvPr>
          <p:cNvSpPr txBox="1"/>
          <p:nvPr/>
        </p:nvSpPr>
        <p:spPr>
          <a:xfrm rot="19580437">
            <a:off x="475094" y="4951895"/>
            <a:ext cx="848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FACES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B485CE1-39E1-E7FD-305D-E87D957F5C83}"/>
              </a:ext>
            </a:extLst>
          </p:cNvPr>
          <p:cNvGrpSpPr/>
          <p:nvPr/>
        </p:nvGrpSpPr>
        <p:grpSpPr>
          <a:xfrm>
            <a:off x="1122753" y="3377944"/>
            <a:ext cx="1513921" cy="3202927"/>
            <a:chOff x="1122753" y="3377944"/>
            <a:chExt cx="1513921" cy="3202927"/>
          </a:xfrm>
        </p:grpSpPr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790DB8AC-1AF9-E8F1-113A-7DA160CDF5F1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>
              <a:off x="1319907" y="4036328"/>
              <a:ext cx="0" cy="22660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oogle Shape;373;p40">
              <a:extLst>
                <a:ext uri="{FF2B5EF4-FFF2-40B4-BE49-F238E27FC236}">
                  <a16:creationId xmlns:a16="http://schemas.microsoft.com/office/drawing/2014/main" id="{FE9B83E6-16DD-2523-4C10-4789B35382CC}"/>
                </a:ext>
              </a:extLst>
            </p:cNvPr>
            <p:cNvGrpSpPr/>
            <p:nvPr/>
          </p:nvGrpSpPr>
          <p:grpSpPr>
            <a:xfrm>
              <a:off x="1319907" y="3377944"/>
              <a:ext cx="1316767" cy="1316767"/>
              <a:chOff x="7721400" y="2691963"/>
              <a:chExt cx="987575" cy="987575"/>
            </a:xfrm>
          </p:grpSpPr>
          <p:pic>
            <p:nvPicPr>
              <p:cNvPr id="21" name="Google Shape;375;p40">
                <a:extLst>
                  <a:ext uri="{FF2B5EF4-FFF2-40B4-BE49-F238E27FC236}">
                    <a16:creationId xmlns:a16="http://schemas.microsoft.com/office/drawing/2014/main" id="{BA7266D0-856F-536A-F643-88E99098A440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721400" y="2691963"/>
                <a:ext cx="987575" cy="9875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" name="Google Shape;376;p40">
                <a:extLst>
                  <a:ext uri="{FF2B5EF4-FFF2-40B4-BE49-F238E27FC236}">
                    <a16:creationId xmlns:a16="http://schemas.microsoft.com/office/drawing/2014/main" id="{056487D0-9AFC-3C76-06CE-5EB9BF4854A3}"/>
                  </a:ext>
                </a:extLst>
              </p:cNvPr>
              <p:cNvSpPr/>
              <p:nvPr/>
            </p:nvSpPr>
            <p:spPr>
              <a:xfrm>
                <a:off x="7819400" y="2827125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" name="Google Shape;377;p40">
                <a:extLst>
                  <a:ext uri="{FF2B5EF4-FFF2-40B4-BE49-F238E27FC236}">
                    <a16:creationId xmlns:a16="http://schemas.microsoft.com/office/drawing/2014/main" id="{ADDEE23C-36E8-8751-0978-ECB1BE725A88}"/>
                  </a:ext>
                </a:extLst>
              </p:cNvPr>
              <p:cNvSpPr/>
              <p:nvPr/>
            </p:nvSpPr>
            <p:spPr>
              <a:xfrm>
                <a:off x="8101325" y="2827125"/>
                <a:ext cx="227700" cy="220800"/>
              </a:xfrm>
              <a:prstGeom prst="rect">
                <a:avLst/>
              </a:prstGeom>
              <a:solidFill>
                <a:srgbClr val="9999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" name="Google Shape;378;p40">
                <a:extLst>
                  <a:ext uri="{FF2B5EF4-FFF2-40B4-BE49-F238E27FC236}">
                    <a16:creationId xmlns:a16="http://schemas.microsoft.com/office/drawing/2014/main" id="{6CA2A224-9896-B84B-9FD9-213C861596E5}"/>
                  </a:ext>
                </a:extLst>
              </p:cNvPr>
              <p:cNvSpPr/>
              <p:nvPr/>
            </p:nvSpPr>
            <p:spPr>
              <a:xfrm>
                <a:off x="8383250" y="282712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" name="Google Shape;379;p40">
                <a:extLst>
                  <a:ext uri="{FF2B5EF4-FFF2-40B4-BE49-F238E27FC236}">
                    <a16:creationId xmlns:a16="http://schemas.microsoft.com/office/drawing/2014/main" id="{42E05C6B-C71A-A089-D794-A256FFA51939}"/>
                  </a:ext>
                </a:extLst>
              </p:cNvPr>
              <p:cNvSpPr/>
              <p:nvPr/>
            </p:nvSpPr>
            <p:spPr>
              <a:xfrm>
                <a:off x="7819400" y="3075350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" name="Google Shape;380;p40">
                <a:extLst>
                  <a:ext uri="{FF2B5EF4-FFF2-40B4-BE49-F238E27FC236}">
                    <a16:creationId xmlns:a16="http://schemas.microsoft.com/office/drawing/2014/main" id="{20D6B539-B5FE-3EC8-7358-4583ABCBF075}"/>
                  </a:ext>
                </a:extLst>
              </p:cNvPr>
              <p:cNvSpPr/>
              <p:nvPr/>
            </p:nvSpPr>
            <p:spPr>
              <a:xfrm>
                <a:off x="8101338" y="3075350"/>
                <a:ext cx="227700" cy="220800"/>
              </a:xfrm>
              <a:prstGeom prst="rect">
                <a:avLst/>
              </a:prstGeom>
              <a:solidFill>
                <a:srgbClr val="CCCCCC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" name="Google Shape;381;p40">
                <a:extLst>
                  <a:ext uri="{FF2B5EF4-FFF2-40B4-BE49-F238E27FC236}">
                    <a16:creationId xmlns:a16="http://schemas.microsoft.com/office/drawing/2014/main" id="{4025F2A3-2237-2C39-140E-A73FAFC57BED}"/>
                  </a:ext>
                </a:extLst>
              </p:cNvPr>
              <p:cNvSpPr/>
              <p:nvPr/>
            </p:nvSpPr>
            <p:spPr>
              <a:xfrm>
                <a:off x="8383300" y="3075350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8" name="Google Shape;382;p40">
                <a:extLst>
                  <a:ext uri="{FF2B5EF4-FFF2-40B4-BE49-F238E27FC236}">
                    <a16:creationId xmlns:a16="http://schemas.microsoft.com/office/drawing/2014/main" id="{67D543CD-5C6D-C197-78E6-72A4549C6B38}"/>
                  </a:ext>
                </a:extLst>
              </p:cNvPr>
              <p:cNvSpPr/>
              <p:nvPr/>
            </p:nvSpPr>
            <p:spPr>
              <a:xfrm>
                <a:off x="7819400" y="3323575"/>
                <a:ext cx="227700" cy="220800"/>
              </a:xfrm>
              <a:prstGeom prst="rect">
                <a:avLst/>
              </a:prstGeom>
              <a:solidFill>
                <a:srgbClr val="9999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" name="Google Shape;383;p40">
                <a:extLst>
                  <a:ext uri="{FF2B5EF4-FFF2-40B4-BE49-F238E27FC236}">
                    <a16:creationId xmlns:a16="http://schemas.microsoft.com/office/drawing/2014/main" id="{7F2F0F59-1489-C050-003C-674A0F709C40}"/>
                  </a:ext>
                </a:extLst>
              </p:cNvPr>
              <p:cNvSpPr/>
              <p:nvPr/>
            </p:nvSpPr>
            <p:spPr>
              <a:xfrm>
                <a:off x="8101325" y="332357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0" name="Google Shape;384;p40">
                <a:extLst>
                  <a:ext uri="{FF2B5EF4-FFF2-40B4-BE49-F238E27FC236}">
                    <a16:creationId xmlns:a16="http://schemas.microsoft.com/office/drawing/2014/main" id="{3F52A00F-DD7E-910F-7D08-8ACB0C923017}"/>
                  </a:ext>
                </a:extLst>
              </p:cNvPr>
              <p:cNvSpPr/>
              <p:nvPr/>
            </p:nvSpPr>
            <p:spPr>
              <a:xfrm>
                <a:off x="8383250" y="3323575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pic>
          <p:nvPicPr>
            <p:cNvPr id="2050" name="Picture 2" descr="House Clipart Images – Browse 254,406 Stock Photos, Vectors ...">
              <a:extLst>
                <a:ext uri="{FF2B5EF4-FFF2-40B4-BE49-F238E27FC236}">
                  <a16:creationId xmlns:a16="http://schemas.microsoft.com/office/drawing/2014/main" id="{004C37B2-46E8-0D07-6EEC-CCCF8721F2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753" y="6311899"/>
              <a:ext cx="367595" cy="268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6158AA0-F0DF-A9BD-9A73-8F514EBFE5AA}"/>
              </a:ext>
            </a:extLst>
          </p:cNvPr>
          <p:cNvGrpSpPr/>
          <p:nvPr/>
        </p:nvGrpSpPr>
        <p:grpSpPr>
          <a:xfrm>
            <a:off x="4942143" y="3377944"/>
            <a:ext cx="1500565" cy="3202927"/>
            <a:chOff x="4942143" y="3377944"/>
            <a:chExt cx="1500565" cy="3202927"/>
          </a:xfrm>
        </p:grpSpPr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02B3DC4E-FC37-742D-B6B0-DF2E374D84E2}"/>
                </a:ext>
              </a:extLst>
            </p:cNvPr>
            <p:cNvCxnSpPr>
              <a:cxnSpLocks/>
            </p:cNvCxnSpPr>
            <p:nvPr/>
          </p:nvCxnSpPr>
          <p:spPr>
            <a:xfrm>
              <a:off x="5125941" y="4036508"/>
              <a:ext cx="0" cy="22660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oogle Shape;373;p40">
              <a:extLst>
                <a:ext uri="{FF2B5EF4-FFF2-40B4-BE49-F238E27FC236}">
                  <a16:creationId xmlns:a16="http://schemas.microsoft.com/office/drawing/2014/main" id="{02F5D7AE-1386-5B92-9E10-C9EC260F3975}"/>
                </a:ext>
              </a:extLst>
            </p:cNvPr>
            <p:cNvGrpSpPr/>
            <p:nvPr/>
          </p:nvGrpSpPr>
          <p:grpSpPr>
            <a:xfrm>
              <a:off x="5125941" y="3377944"/>
              <a:ext cx="1316767" cy="1316767"/>
              <a:chOff x="7721400" y="2691963"/>
              <a:chExt cx="987575" cy="987575"/>
            </a:xfrm>
          </p:grpSpPr>
          <p:pic>
            <p:nvPicPr>
              <p:cNvPr id="43" name="Google Shape;375;p40">
                <a:extLst>
                  <a:ext uri="{FF2B5EF4-FFF2-40B4-BE49-F238E27FC236}">
                    <a16:creationId xmlns:a16="http://schemas.microsoft.com/office/drawing/2014/main" id="{2533B92E-06AE-B150-84D0-1893C2C7037D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721400" y="2691963"/>
                <a:ext cx="987575" cy="9875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" name="Google Shape;376;p40">
                <a:extLst>
                  <a:ext uri="{FF2B5EF4-FFF2-40B4-BE49-F238E27FC236}">
                    <a16:creationId xmlns:a16="http://schemas.microsoft.com/office/drawing/2014/main" id="{77C9A02F-D856-F096-4659-D17E5CA63037}"/>
                  </a:ext>
                </a:extLst>
              </p:cNvPr>
              <p:cNvSpPr/>
              <p:nvPr/>
            </p:nvSpPr>
            <p:spPr>
              <a:xfrm>
                <a:off x="7819400" y="2827125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5" name="Google Shape;377;p40">
                <a:extLst>
                  <a:ext uri="{FF2B5EF4-FFF2-40B4-BE49-F238E27FC236}">
                    <a16:creationId xmlns:a16="http://schemas.microsoft.com/office/drawing/2014/main" id="{5BE1C765-0DC2-6F6A-69F4-7A789861F0E1}"/>
                  </a:ext>
                </a:extLst>
              </p:cNvPr>
              <p:cNvSpPr/>
              <p:nvPr/>
            </p:nvSpPr>
            <p:spPr>
              <a:xfrm>
                <a:off x="8101325" y="2827125"/>
                <a:ext cx="227700" cy="2208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6" name="Google Shape;378;p40">
                <a:extLst>
                  <a:ext uri="{FF2B5EF4-FFF2-40B4-BE49-F238E27FC236}">
                    <a16:creationId xmlns:a16="http://schemas.microsoft.com/office/drawing/2014/main" id="{FAB89763-0921-8BAC-3AD2-B99C88AFD182}"/>
                  </a:ext>
                </a:extLst>
              </p:cNvPr>
              <p:cNvSpPr/>
              <p:nvPr/>
            </p:nvSpPr>
            <p:spPr>
              <a:xfrm>
                <a:off x="8383250" y="282712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7" name="Google Shape;379;p40">
                <a:extLst>
                  <a:ext uri="{FF2B5EF4-FFF2-40B4-BE49-F238E27FC236}">
                    <a16:creationId xmlns:a16="http://schemas.microsoft.com/office/drawing/2014/main" id="{842875C8-1BA4-B89C-E38C-46E347EC2B08}"/>
                  </a:ext>
                </a:extLst>
              </p:cNvPr>
              <p:cNvSpPr/>
              <p:nvPr/>
            </p:nvSpPr>
            <p:spPr>
              <a:xfrm>
                <a:off x="7819400" y="3075350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8" name="Google Shape;380;p40">
                <a:extLst>
                  <a:ext uri="{FF2B5EF4-FFF2-40B4-BE49-F238E27FC236}">
                    <a16:creationId xmlns:a16="http://schemas.microsoft.com/office/drawing/2014/main" id="{2449F9DB-E50E-1E3A-5EB0-C16985B475F6}"/>
                  </a:ext>
                </a:extLst>
              </p:cNvPr>
              <p:cNvSpPr/>
              <p:nvPr/>
            </p:nvSpPr>
            <p:spPr>
              <a:xfrm>
                <a:off x="8101338" y="3075350"/>
                <a:ext cx="227700" cy="220800"/>
              </a:xfrm>
              <a:prstGeom prst="rect">
                <a:avLst/>
              </a:prstGeom>
              <a:solidFill>
                <a:srgbClr val="CCCCCC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9" name="Google Shape;381;p40">
                <a:extLst>
                  <a:ext uri="{FF2B5EF4-FFF2-40B4-BE49-F238E27FC236}">
                    <a16:creationId xmlns:a16="http://schemas.microsoft.com/office/drawing/2014/main" id="{734C6B58-F196-D372-207B-18D5C03C367D}"/>
                  </a:ext>
                </a:extLst>
              </p:cNvPr>
              <p:cNvSpPr/>
              <p:nvPr/>
            </p:nvSpPr>
            <p:spPr>
              <a:xfrm>
                <a:off x="8383300" y="3075350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0" name="Google Shape;382;p40">
                <a:extLst>
                  <a:ext uri="{FF2B5EF4-FFF2-40B4-BE49-F238E27FC236}">
                    <a16:creationId xmlns:a16="http://schemas.microsoft.com/office/drawing/2014/main" id="{A7FA43A8-001C-E71E-5671-C09D5AA7A0F9}"/>
                  </a:ext>
                </a:extLst>
              </p:cNvPr>
              <p:cNvSpPr/>
              <p:nvPr/>
            </p:nvSpPr>
            <p:spPr>
              <a:xfrm>
                <a:off x="7819400" y="3323575"/>
                <a:ext cx="227700" cy="220800"/>
              </a:xfrm>
              <a:prstGeom prst="rect">
                <a:avLst/>
              </a:prstGeom>
              <a:solidFill>
                <a:srgbClr val="9999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1" name="Google Shape;383;p40">
                <a:extLst>
                  <a:ext uri="{FF2B5EF4-FFF2-40B4-BE49-F238E27FC236}">
                    <a16:creationId xmlns:a16="http://schemas.microsoft.com/office/drawing/2014/main" id="{90AD7B08-B36B-1177-9A57-42F1CB788410}"/>
                  </a:ext>
                </a:extLst>
              </p:cNvPr>
              <p:cNvSpPr/>
              <p:nvPr/>
            </p:nvSpPr>
            <p:spPr>
              <a:xfrm>
                <a:off x="8101325" y="332357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2" name="Google Shape;384;p40">
                <a:extLst>
                  <a:ext uri="{FF2B5EF4-FFF2-40B4-BE49-F238E27FC236}">
                    <a16:creationId xmlns:a16="http://schemas.microsoft.com/office/drawing/2014/main" id="{C19243D5-5B63-3CE9-1556-B8E7D2C9988E}"/>
                  </a:ext>
                </a:extLst>
              </p:cNvPr>
              <p:cNvSpPr/>
              <p:nvPr/>
            </p:nvSpPr>
            <p:spPr>
              <a:xfrm>
                <a:off x="8383250" y="3323575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pic>
          <p:nvPicPr>
            <p:cNvPr id="145" name="Picture 2" descr="House Clipart Images – Browse 254,406 Stock Photos, Vectors ...">
              <a:extLst>
                <a:ext uri="{FF2B5EF4-FFF2-40B4-BE49-F238E27FC236}">
                  <a16:creationId xmlns:a16="http://schemas.microsoft.com/office/drawing/2014/main" id="{3781937A-F991-FCA3-50E0-A9CB8B8E6A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2143" y="6311899"/>
              <a:ext cx="367595" cy="268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AC0C227-B4A6-45D2-729A-DBC9A31B7EF2}"/>
              </a:ext>
            </a:extLst>
          </p:cNvPr>
          <p:cNvGrpSpPr/>
          <p:nvPr/>
        </p:nvGrpSpPr>
        <p:grpSpPr>
          <a:xfrm>
            <a:off x="1550783" y="4860196"/>
            <a:ext cx="1454923" cy="1728832"/>
            <a:chOff x="1550783" y="4860196"/>
            <a:chExt cx="1454923" cy="1728832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8C9DD28-AB74-BF17-AB2E-CAAF0268295B}"/>
                </a:ext>
              </a:extLst>
            </p:cNvPr>
            <p:cNvCxnSpPr>
              <a:cxnSpLocks/>
            </p:cNvCxnSpPr>
            <p:nvPr/>
          </p:nvCxnSpPr>
          <p:spPr>
            <a:xfrm>
              <a:off x="1689348" y="5525535"/>
              <a:ext cx="0" cy="76726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oogle Shape;373;p40">
              <a:extLst>
                <a:ext uri="{FF2B5EF4-FFF2-40B4-BE49-F238E27FC236}">
                  <a16:creationId xmlns:a16="http://schemas.microsoft.com/office/drawing/2014/main" id="{EF889D90-699E-9889-A284-CD2394BA6101}"/>
                </a:ext>
              </a:extLst>
            </p:cNvPr>
            <p:cNvGrpSpPr/>
            <p:nvPr/>
          </p:nvGrpSpPr>
          <p:grpSpPr>
            <a:xfrm>
              <a:off x="1688939" y="4860196"/>
              <a:ext cx="1316767" cy="1316767"/>
              <a:chOff x="7721400" y="2691963"/>
              <a:chExt cx="987575" cy="987575"/>
            </a:xfrm>
          </p:grpSpPr>
          <p:pic>
            <p:nvPicPr>
              <p:cNvPr id="10" name="Google Shape;375;p40">
                <a:extLst>
                  <a:ext uri="{FF2B5EF4-FFF2-40B4-BE49-F238E27FC236}">
                    <a16:creationId xmlns:a16="http://schemas.microsoft.com/office/drawing/2014/main" id="{42767005-3326-B309-6FA1-602CFB5C0304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721400" y="2691963"/>
                <a:ext cx="987575" cy="9875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" name="Google Shape;376;p40">
                <a:extLst>
                  <a:ext uri="{FF2B5EF4-FFF2-40B4-BE49-F238E27FC236}">
                    <a16:creationId xmlns:a16="http://schemas.microsoft.com/office/drawing/2014/main" id="{D733B247-D9CC-8D5F-1425-56A94AC113DF}"/>
                  </a:ext>
                </a:extLst>
              </p:cNvPr>
              <p:cNvSpPr/>
              <p:nvPr/>
            </p:nvSpPr>
            <p:spPr>
              <a:xfrm>
                <a:off x="7819400" y="2827125"/>
                <a:ext cx="227700" cy="2208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2" name="Google Shape;377;p40">
                <a:extLst>
                  <a:ext uri="{FF2B5EF4-FFF2-40B4-BE49-F238E27FC236}">
                    <a16:creationId xmlns:a16="http://schemas.microsoft.com/office/drawing/2014/main" id="{749B16FE-A947-9447-E0BE-C247ACA723C9}"/>
                  </a:ext>
                </a:extLst>
              </p:cNvPr>
              <p:cNvSpPr/>
              <p:nvPr/>
            </p:nvSpPr>
            <p:spPr>
              <a:xfrm>
                <a:off x="8101325" y="2827125"/>
                <a:ext cx="227700" cy="220800"/>
              </a:xfrm>
              <a:prstGeom prst="rect">
                <a:avLst/>
              </a:prstGeom>
              <a:solidFill>
                <a:srgbClr val="9999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3" name="Google Shape;378;p40">
                <a:extLst>
                  <a:ext uri="{FF2B5EF4-FFF2-40B4-BE49-F238E27FC236}">
                    <a16:creationId xmlns:a16="http://schemas.microsoft.com/office/drawing/2014/main" id="{C5DCE63D-D3A6-D720-21E1-FAF31204A549}"/>
                  </a:ext>
                </a:extLst>
              </p:cNvPr>
              <p:cNvSpPr/>
              <p:nvPr/>
            </p:nvSpPr>
            <p:spPr>
              <a:xfrm>
                <a:off x="8383250" y="2827125"/>
                <a:ext cx="227700" cy="22080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4" name="Google Shape;379;p40">
                <a:extLst>
                  <a:ext uri="{FF2B5EF4-FFF2-40B4-BE49-F238E27FC236}">
                    <a16:creationId xmlns:a16="http://schemas.microsoft.com/office/drawing/2014/main" id="{C3515439-E191-B4A2-7182-CE7BB8B8809C}"/>
                  </a:ext>
                </a:extLst>
              </p:cNvPr>
              <p:cNvSpPr/>
              <p:nvPr/>
            </p:nvSpPr>
            <p:spPr>
              <a:xfrm>
                <a:off x="7819400" y="3075350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5" name="Google Shape;380;p40">
                <a:extLst>
                  <a:ext uri="{FF2B5EF4-FFF2-40B4-BE49-F238E27FC236}">
                    <a16:creationId xmlns:a16="http://schemas.microsoft.com/office/drawing/2014/main" id="{1555E39D-219C-3532-BA74-268BBE6457C6}"/>
                  </a:ext>
                </a:extLst>
              </p:cNvPr>
              <p:cNvSpPr/>
              <p:nvPr/>
            </p:nvSpPr>
            <p:spPr>
              <a:xfrm>
                <a:off x="8101338" y="3075350"/>
                <a:ext cx="227700" cy="22080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6" name="Google Shape;381;p40">
                <a:extLst>
                  <a:ext uri="{FF2B5EF4-FFF2-40B4-BE49-F238E27FC236}">
                    <a16:creationId xmlns:a16="http://schemas.microsoft.com/office/drawing/2014/main" id="{6D4AE8FF-0C6A-960C-DA1E-549301352185}"/>
                  </a:ext>
                </a:extLst>
              </p:cNvPr>
              <p:cNvSpPr/>
              <p:nvPr/>
            </p:nvSpPr>
            <p:spPr>
              <a:xfrm>
                <a:off x="8383300" y="3075350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7" name="Google Shape;382;p40">
                <a:extLst>
                  <a:ext uri="{FF2B5EF4-FFF2-40B4-BE49-F238E27FC236}">
                    <a16:creationId xmlns:a16="http://schemas.microsoft.com/office/drawing/2014/main" id="{42E8F27B-2347-1A39-2D2A-081382860724}"/>
                  </a:ext>
                </a:extLst>
              </p:cNvPr>
              <p:cNvSpPr/>
              <p:nvPr/>
            </p:nvSpPr>
            <p:spPr>
              <a:xfrm>
                <a:off x="7819400" y="3323575"/>
                <a:ext cx="227700" cy="220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8" name="Google Shape;383;p40">
                <a:extLst>
                  <a:ext uri="{FF2B5EF4-FFF2-40B4-BE49-F238E27FC236}">
                    <a16:creationId xmlns:a16="http://schemas.microsoft.com/office/drawing/2014/main" id="{2429ACA7-D598-C13A-58AD-14AEDE299066}"/>
                  </a:ext>
                </a:extLst>
              </p:cNvPr>
              <p:cNvSpPr/>
              <p:nvPr/>
            </p:nvSpPr>
            <p:spPr>
              <a:xfrm>
                <a:off x="8101325" y="332357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9" name="Google Shape;384;p40">
                <a:extLst>
                  <a:ext uri="{FF2B5EF4-FFF2-40B4-BE49-F238E27FC236}">
                    <a16:creationId xmlns:a16="http://schemas.microsoft.com/office/drawing/2014/main" id="{06DAB879-CF48-5B85-37AB-AC995019480E}"/>
                  </a:ext>
                </a:extLst>
              </p:cNvPr>
              <p:cNvSpPr/>
              <p:nvPr/>
            </p:nvSpPr>
            <p:spPr>
              <a:xfrm>
                <a:off x="8383250" y="3323575"/>
                <a:ext cx="227700" cy="2208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pic>
          <p:nvPicPr>
            <p:cNvPr id="2052" name="Picture 4" descr="Googly Eyes Smileys">
              <a:extLst>
                <a:ext uri="{FF2B5EF4-FFF2-40B4-BE49-F238E27FC236}">
                  <a16:creationId xmlns:a16="http://schemas.microsoft.com/office/drawing/2014/main" id="{CABFDC4B-C1BD-3B1D-65E8-C8BFF73B2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0783" y="6311899"/>
              <a:ext cx="277129" cy="277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5E2F809-F19E-C97C-BF1E-1341E55828D3}"/>
              </a:ext>
            </a:extLst>
          </p:cNvPr>
          <p:cNvGrpSpPr/>
          <p:nvPr/>
        </p:nvGrpSpPr>
        <p:grpSpPr>
          <a:xfrm>
            <a:off x="3198253" y="4860196"/>
            <a:ext cx="1459198" cy="1728832"/>
            <a:chOff x="3198253" y="4860196"/>
            <a:chExt cx="1459198" cy="1728832"/>
          </a:xfrm>
        </p:grpSpPr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2505A04-DABD-A8A2-260D-674B4F4D3B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0684" y="5499483"/>
              <a:ext cx="1929" cy="7933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oogle Shape;373;p40">
              <a:extLst>
                <a:ext uri="{FF2B5EF4-FFF2-40B4-BE49-F238E27FC236}">
                  <a16:creationId xmlns:a16="http://schemas.microsoft.com/office/drawing/2014/main" id="{FD3873A8-0321-DBD3-B119-01B040AE4EF0}"/>
                </a:ext>
              </a:extLst>
            </p:cNvPr>
            <p:cNvGrpSpPr/>
            <p:nvPr/>
          </p:nvGrpSpPr>
          <p:grpSpPr>
            <a:xfrm>
              <a:off x="3340684" y="4860196"/>
              <a:ext cx="1316767" cy="1316767"/>
              <a:chOff x="7721400" y="2691963"/>
              <a:chExt cx="987575" cy="987575"/>
            </a:xfrm>
          </p:grpSpPr>
          <p:pic>
            <p:nvPicPr>
              <p:cNvPr id="54" name="Google Shape;375;p40">
                <a:extLst>
                  <a:ext uri="{FF2B5EF4-FFF2-40B4-BE49-F238E27FC236}">
                    <a16:creationId xmlns:a16="http://schemas.microsoft.com/office/drawing/2014/main" id="{89159993-FC02-CD22-F9E4-369739DAC761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721400" y="2691963"/>
                <a:ext cx="987575" cy="9875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" name="Google Shape;376;p40">
                <a:extLst>
                  <a:ext uri="{FF2B5EF4-FFF2-40B4-BE49-F238E27FC236}">
                    <a16:creationId xmlns:a16="http://schemas.microsoft.com/office/drawing/2014/main" id="{39213E37-3CD7-F568-A279-45AA3CAD198C}"/>
                  </a:ext>
                </a:extLst>
              </p:cNvPr>
              <p:cNvSpPr/>
              <p:nvPr/>
            </p:nvSpPr>
            <p:spPr>
              <a:xfrm>
                <a:off x="7819400" y="2827125"/>
                <a:ext cx="227700" cy="220800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 dirty="0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6" name="Google Shape;377;p40">
                <a:extLst>
                  <a:ext uri="{FF2B5EF4-FFF2-40B4-BE49-F238E27FC236}">
                    <a16:creationId xmlns:a16="http://schemas.microsoft.com/office/drawing/2014/main" id="{054CAB87-6EF0-4A6F-E091-9AB5A51A7A2E}"/>
                  </a:ext>
                </a:extLst>
              </p:cNvPr>
              <p:cNvSpPr/>
              <p:nvPr/>
            </p:nvSpPr>
            <p:spPr>
              <a:xfrm>
                <a:off x="8101325" y="2827125"/>
                <a:ext cx="227700" cy="220800"/>
              </a:xfrm>
              <a:prstGeom prst="rect">
                <a:avLst/>
              </a:prstGeom>
              <a:solidFill>
                <a:srgbClr val="9999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7" name="Google Shape;378;p40">
                <a:extLst>
                  <a:ext uri="{FF2B5EF4-FFF2-40B4-BE49-F238E27FC236}">
                    <a16:creationId xmlns:a16="http://schemas.microsoft.com/office/drawing/2014/main" id="{D5D8AAED-A8FF-1539-0755-8A0D92C8A54F}"/>
                  </a:ext>
                </a:extLst>
              </p:cNvPr>
              <p:cNvSpPr/>
              <p:nvPr/>
            </p:nvSpPr>
            <p:spPr>
              <a:xfrm>
                <a:off x="8383250" y="2827125"/>
                <a:ext cx="227700" cy="22080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8" name="Google Shape;379;p40">
                <a:extLst>
                  <a:ext uri="{FF2B5EF4-FFF2-40B4-BE49-F238E27FC236}">
                    <a16:creationId xmlns:a16="http://schemas.microsoft.com/office/drawing/2014/main" id="{47321F23-621E-2555-5A98-3D8EBA051AC6}"/>
                  </a:ext>
                </a:extLst>
              </p:cNvPr>
              <p:cNvSpPr/>
              <p:nvPr/>
            </p:nvSpPr>
            <p:spPr>
              <a:xfrm>
                <a:off x="7819400" y="3075350"/>
                <a:ext cx="227700" cy="220800"/>
              </a:xfrm>
              <a:prstGeom prst="rect">
                <a:avLst/>
              </a:prstGeom>
              <a:solidFill>
                <a:srgbClr val="6666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59" name="Google Shape;380;p40">
                <a:extLst>
                  <a:ext uri="{FF2B5EF4-FFF2-40B4-BE49-F238E27FC236}">
                    <a16:creationId xmlns:a16="http://schemas.microsoft.com/office/drawing/2014/main" id="{792AEF97-7C02-2995-5FEC-2EC927483F7C}"/>
                  </a:ext>
                </a:extLst>
              </p:cNvPr>
              <p:cNvSpPr/>
              <p:nvPr/>
            </p:nvSpPr>
            <p:spPr>
              <a:xfrm>
                <a:off x="8101338" y="3075350"/>
                <a:ext cx="227700" cy="22080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0" name="Google Shape;381;p40">
                <a:extLst>
                  <a:ext uri="{FF2B5EF4-FFF2-40B4-BE49-F238E27FC236}">
                    <a16:creationId xmlns:a16="http://schemas.microsoft.com/office/drawing/2014/main" id="{F209DFA4-4B9A-47E5-BD0B-E2BAC0D8DE1E}"/>
                  </a:ext>
                </a:extLst>
              </p:cNvPr>
              <p:cNvSpPr/>
              <p:nvPr/>
            </p:nvSpPr>
            <p:spPr>
              <a:xfrm>
                <a:off x="8383300" y="3075350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1" name="Google Shape;382;p40">
                <a:extLst>
                  <a:ext uri="{FF2B5EF4-FFF2-40B4-BE49-F238E27FC236}">
                    <a16:creationId xmlns:a16="http://schemas.microsoft.com/office/drawing/2014/main" id="{E43DB853-D7D7-21C6-8E19-477A4BE87FB2}"/>
                  </a:ext>
                </a:extLst>
              </p:cNvPr>
              <p:cNvSpPr/>
              <p:nvPr/>
            </p:nvSpPr>
            <p:spPr>
              <a:xfrm>
                <a:off x="7819400" y="3323575"/>
                <a:ext cx="227700" cy="220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2" name="Google Shape;383;p40">
                <a:extLst>
                  <a:ext uri="{FF2B5EF4-FFF2-40B4-BE49-F238E27FC236}">
                    <a16:creationId xmlns:a16="http://schemas.microsoft.com/office/drawing/2014/main" id="{ED107AE1-5F0C-4502-49FB-5F0486A54746}"/>
                  </a:ext>
                </a:extLst>
              </p:cNvPr>
              <p:cNvSpPr/>
              <p:nvPr/>
            </p:nvSpPr>
            <p:spPr>
              <a:xfrm>
                <a:off x="8101325" y="332357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3" name="Google Shape;384;p40">
                <a:extLst>
                  <a:ext uri="{FF2B5EF4-FFF2-40B4-BE49-F238E27FC236}">
                    <a16:creationId xmlns:a16="http://schemas.microsoft.com/office/drawing/2014/main" id="{33570D52-16D8-EF84-25E8-4FD574821D2A}"/>
                  </a:ext>
                </a:extLst>
              </p:cNvPr>
              <p:cNvSpPr/>
              <p:nvPr/>
            </p:nvSpPr>
            <p:spPr>
              <a:xfrm>
                <a:off x="8383250" y="3323575"/>
                <a:ext cx="227700" cy="2208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pic>
          <p:nvPicPr>
            <p:cNvPr id="146" name="Picture 4" descr="Googly Eyes Smileys">
              <a:extLst>
                <a:ext uri="{FF2B5EF4-FFF2-40B4-BE49-F238E27FC236}">
                  <a16:creationId xmlns:a16="http://schemas.microsoft.com/office/drawing/2014/main" id="{5B61CBDD-DA50-7EBC-5F7C-7520A9569D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8253" y="6311899"/>
              <a:ext cx="277129" cy="277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EF00ED4-24DD-9266-B721-36109F5A5B72}"/>
              </a:ext>
            </a:extLst>
          </p:cNvPr>
          <p:cNvGrpSpPr/>
          <p:nvPr/>
        </p:nvGrpSpPr>
        <p:grpSpPr>
          <a:xfrm>
            <a:off x="5707311" y="4860196"/>
            <a:ext cx="1461208" cy="1728832"/>
            <a:chOff x="5707311" y="4860196"/>
            <a:chExt cx="1461208" cy="1728832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0A871A1-5A1B-7F60-B31F-AEC6F87779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51752" y="5499483"/>
              <a:ext cx="1929" cy="7933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oogle Shape;373;p40">
              <a:extLst>
                <a:ext uri="{FF2B5EF4-FFF2-40B4-BE49-F238E27FC236}">
                  <a16:creationId xmlns:a16="http://schemas.microsoft.com/office/drawing/2014/main" id="{494CF401-E742-C8E0-1B04-B14EA41A9F11}"/>
                </a:ext>
              </a:extLst>
            </p:cNvPr>
            <p:cNvGrpSpPr/>
            <p:nvPr/>
          </p:nvGrpSpPr>
          <p:grpSpPr>
            <a:xfrm>
              <a:off x="5851752" y="4860196"/>
              <a:ext cx="1316767" cy="1316767"/>
              <a:chOff x="7721400" y="2691963"/>
              <a:chExt cx="987575" cy="987575"/>
            </a:xfrm>
          </p:grpSpPr>
          <p:pic>
            <p:nvPicPr>
              <p:cNvPr id="65" name="Google Shape;375;p40">
                <a:extLst>
                  <a:ext uri="{FF2B5EF4-FFF2-40B4-BE49-F238E27FC236}">
                    <a16:creationId xmlns:a16="http://schemas.microsoft.com/office/drawing/2014/main" id="{656CDEB5-25D6-CF2D-C90E-6C6E0C26C052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721400" y="2691963"/>
                <a:ext cx="987575" cy="9875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" name="Google Shape;376;p40">
                <a:extLst>
                  <a:ext uri="{FF2B5EF4-FFF2-40B4-BE49-F238E27FC236}">
                    <a16:creationId xmlns:a16="http://schemas.microsoft.com/office/drawing/2014/main" id="{4ED58A80-769E-AF38-7503-F6BD2C8BE7A4}"/>
                  </a:ext>
                </a:extLst>
              </p:cNvPr>
              <p:cNvSpPr/>
              <p:nvPr/>
            </p:nvSpPr>
            <p:spPr>
              <a:xfrm>
                <a:off x="7819400" y="2827125"/>
                <a:ext cx="227700" cy="2208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7" name="Google Shape;377;p40">
                <a:extLst>
                  <a:ext uri="{FF2B5EF4-FFF2-40B4-BE49-F238E27FC236}">
                    <a16:creationId xmlns:a16="http://schemas.microsoft.com/office/drawing/2014/main" id="{C6CD9538-8B8D-9CD0-1B36-CE9A1EE7C4C4}"/>
                  </a:ext>
                </a:extLst>
              </p:cNvPr>
              <p:cNvSpPr/>
              <p:nvPr/>
            </p:nvSpPr>
            <p:spPr>
              <a:xfrm>
                <a:off x="8101325" y="2827125"/>
                <a:ext cx="227700" cy="220800"/>
              </a:xfrm>
              <a:prstGeom prst="rect">
                <a:avLst/>
              </a:prstGeom>
              <a:solidFill>
                <a:srgbClr val="9999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8" name="Google Shape;378;p40">
                <a:extLst>
                  <a:ext uri="{FF2B5EF4-FFF2-40B4-BE49-F238E27FC236}">
                    <a16:creationId xmlns:a16="http://schemas.microsoft.com/office/drawing/2014/main" id="{894473CD-1E3C-1B73-3F93-EBF61A29E1F1}"/>
                  </a:ext>
                </a:extLst>
              </p:cNvPr>
              <p:cNvSpPr/>
              <p:nvPr/>
            </p:nvSpPr>
            <p:spPr>
              <a:xfrm>
                <a:off x="8383250" y="2827125"/>
                <a:ext cx="227700" cy="22080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9" name="Google Shape;379;p40">
                <a:extLst>
                  <a:ext uri="{FF2B5EF4-FFF2-40B4-BE49-F238E27FC236}">
                    <a16:creationId xmlns:a16="http://schemas.microsoft.com/office/drawing/2014/main" id="{19175619-8D7D-892A-2923-51BF5DAA29A9}"/>
                  </a:ext>
                </a:extLst>
              </p:cNvPr>
              <p:cNvSpPr/>
              <p:nvPr/>
            </p:nvSpPr>
            <p:spPr>
              <a:xfrm>
                <a:off x="7819400" y="3075350"/>
                <a:ext cx="227700" cy="2208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0" name="Google Shape;380;p40">
                <a:extLst>
                  <a:ext uri="{FF2B5EF4-FFF2-40B4-BE49-F238E27FC236}">
                    <a16:creationId xmlns:a16="http://schemas.microsoft.com/office/drawing/2014/main" id="{D6F2BEC9-1DF4-C79A-98C3-8C189000804D}"/>
                  </a:ext>
                </a:extLst>
              </p:cNvPr>
              <p:cNvSpPr/>
              <p:nvPr/>
            </p:nvSpPr>
            <p:spPr>
              <a:xfrm>
                <a:off x="8101338" y="3075350"/>
                <a:ext cx="227700" cy="2208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1" name="Google Shape;381;p40">
                <a:extLst>
                  <a:ext uri="{FF2B5EF4-FFF2-40B4-BE49-F238E27FC236}">
                    <a16:creationId xmlns:a16="http://schemas.microsoft.com/office/drawing/2014/main" id="{47255AEC-3B0C-405C-2F79-9DFEF0848261}"/>
                  </a:ext>
                </a:extLst>
              </p:cNvPr>
              <p:cNvSpPr/>
              <p:nvPr/>
            </p:nvSpPr>
            <p:spPr>
              <a:xfrm>
                <a:off x="8383300" y="3075350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" name="Google Shape;382;p40">
                <a:extLst>
                  <a:ext uri="{FF2B5EF4-FFF2-40B4-BE49-F238E27FC236}">
                    <a16:creationId xmlns:a16="http://schemas.microsoft.com/office/drawing/2014/main" id="{692D595D-1AA4-89FB-24F2-EC44194315A5}"/>
                  </a:ext>
                </a:extLst>
              </p:cNvPr>
              <p:cNvSpPr/>
              <p:nvPr/>
            </p:nvSpPr>
            <p:spPr>
              <a:xfrm>
                <a:off x="7819400" y="3323575"/>
                <a:ext cx="227700" cy="220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3" name="Google Shape;383;p40">
                <a:extLst>
                  <a:ext uri="{FF2B5EF4-FFF2-40B4-BE49-F238E27FC236}">
                    <a16:creationId xmlns:a16="http://schemas.microsoft.com/office/drawing/2014/main" id="{D45F92C4-6B15-C5FD-9A7E-6A85F3CA8862}"/>
                  </a:ext>
                </a:extLst>
              </p:cNvPr>
              <p:cNvSpPr/>
              <p:nvPr/>
            </p:nvSpPr>
            <p:spPr>
              <a:xfrm>
                <a:off x="8101325" y="3323575"/>
                <a:ext cx="227700" cy="220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4" name="Google Shape;384;p40">
                <a:extLst>
                  <a:ext uri="{FF2B5EF4-FFF2-40B4-BE49-F238E27FC236}">
                    <a16:creationId xmlns:a16="http://schemas.microsoft.com/office/drawing/2014/main" id="{1FCAE4E3-9173-A9A1-20EC-C1D83E4134C1}"/>
                  </a:ext>
                </a:extLst>
              </p:cNvPr>
              <p:cNvSpPr/>
              <p:nvPr/>
            </p:nvSpPr>
            <p:spPr>
              <a:xfrm>
                <a:off x="8383250" y="3323575"/>
                <a:ext cx="227700" cy="220800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pic>
          <p:nvPicPr>
            <p:cNvPr id="147" name="Picture 4" descr="Googly Eyes Smileys">
              <a:extLst>
                <a:ext uri="{FF2B5EF4-FFF2-40B4-BE49-F238E27FC236}">
                  <a16:creationId xmlns:a16="http://schemas.microsoft.com/office/drawing/2014/main" id="{AA88E2F7-F723-F35B-946C-AA66853426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7311" y="6311899"/>
              <a:ext cx="277129" cy="277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5" name="Picture 2" descr="House Clipart Images – Browse 254,406 Stock Photos, Vectors ...">
            <a:extLst>
              <a:ext uri="{FF2B5EF4-FFF2-40B4-BE49-F238E27FC236}">
                <a16:creationId xmlns:a16="http://schemas.microsoft.com/office/drawing/2014/main" id="{315A1D22-FB4E-1698-E535-524C5126A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264" y="3160026"/>
            <a:ext cx="367595" cy="268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Picture 4" descr="Googly Eyes Smileys">
            <a:extLst>
              <a:ext uri="{FF2B5EF4-FFF2-40B4-BE49-F238E27FC236}">
                <a16:creationId xmlns:a16="http://schemas.microsoft.com/office/drawing/2014/main" id="{602B7C84-54E9-0B2D-4728-FC5C5D69F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5730" y="6140986"/>
            <a:ext cx="277129" cy="27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18BB83C0-B138-0827-88C8-62FF9F94AFD3}"/>
              </a:ext>
            </a:extLst>
          </p:cNvPr>
          <p:cNvSpPr txBox="1"/>
          <p:nvPr/>
        </p:nvSpPr>
        <p:spPr>
          <a:xfrm>
            <a:off x="9628063" y="4424421"/>
            <a:ext cx="1910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Small difference on average… </a:t>
            </a:r>
          </a:p>
        </p:txBody>
      </p:sp>
    </p:spTree>
    <p:extLst>
      <p:ext uri="{BB962C8B-B14F-4D97-AF65-F5344CB8AC3E}">
        <p14:creationId xmlns:p14="http://schemas.microsoft.com/office/powerpoint/2010/main" val="408011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8E9C-DF0A-FB79-6A9D-B5EE5E41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E4B7D0-9087-0DC7-7442-5C9320653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Multi-Voxel Pattern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9DF22B-5E88-CAD4-D30D-D629DCD94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Special Considerations</a:t>
            </a:r>
          </a:p>
          <a:p>
            <a:r>
              <a:rPr lang="en-US" b="1" dirty="0"/>
              <a:t>You need independent data partitions</a:t>
            </a:r>
          </a:p>
          <a:p>
            <a:pPr lvl="1"/>
            <a:r>
              <a:rPr lang="en-US" dirty="0"/>
              <a:t>Typically </a:t>
            </a:r>
            <a:r>
              <a:rPr lang="en-US" i="1" dirty="0"/>
              <a:t>separate runs</a:t>
            </a:r>
          </a:p>
          <a:p>
            <a:pPr lvl="1"/>
            <a:r>
              <a:rPr lang="en-US" dirty="0"/>
              <a:t>Each run becomes an </a:t>
            </a:r>
            <a:r>
              <a:rPr lang="en-US" b="1" dirty="0"/>
              <a:t>independent fold</a:t>
            </a:r>
            <a:r>
              <a:rPr lang="en-US" dirty="0"/>
              <a:t> for cross‑validation</a:t>
            </a:r>
            <a:endParaRPr lang="en-US" i="1" dirty="0"/>
          </a:p>
          <a:p>
            <a:pPr lvl="1"/>
            <a:r>
              <a:rPr lang="en-US" dirty="0"/>
              <a:t>Why?</a:t>
            </a:r>
          </a:p>
          <a:p>
            <a:pPr lvl="2"/>
            <a:r>
              <a:rPr lang="en-US" dirty="0"/>
              <a:t>So that training and testing are not confounded by temporal autocorrelation or run‑specific noise!</a:t>
            </a:r>
          </a:p>
          <a:p>
            <a:pPr lvl="1"/>
            <a:r>
              <a:rPr lang="en-US" dirty="0"/>
              <a:t>This means longer scan time…</a:t>
            </a:r>
          </a:p>
          <a:p>
            <a:r>
              <a:rPr lang="en-US" b="1" dirty="0"/>
              <a:t>No smoothing!</a:t>
            </a:r>
          </a:p>
          <a:p>
            <a:pPr lvl="1"/>
            <a:r>
              <a:rPr lang="en-US" dirty="0"/>
              <a:t>We want to preserve spatial pattern detail</a:t>
            </a:r>
          </a:p>
          <a:p>
            <a:r>
              <a:rPr lang="en-US" b="1" dirty="0"/>
              <a:t>Run in native space </a:t>
            </a:r>
            <a:r>
              <a:rPr lang="en-US" dirty="0"/>
              <a:t>(interpolation = blurring)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335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6823B1-0C2C-46B1-4524-2883DFEC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MVPA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6227F3-0627-1142-74FB-732FACF61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1) </a:t>
            </a:r>
            <a:r>
              <a:rPr lang="en-US" dirty="0"/>
              <a:t>Label blocks / trials and split them into independent regressors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C70574C-C0D0-211B-9579-50D04F21FD4B}"/>
              </a:ext>
            </a:extLst>
          </p:cNvPr>
          <p:cNvGrpSpPr/>
          <p:nvPr/>
        </p:nvGrpSpPr>
        <p:grpSpPr>
          <a:xfrm>
            <a:off x="835851" y="3152069"/>
            <a:ext cx="5539370" cy="2628001"/>
            <a:chOff x="3038574" y="3683898"/>
            <a:chExt cx="5539370" cy="2628001"/>
          </a:xfrm>
        </p:grpSpPr>
        <p:pic>
          <p:nvPicPr>
            <p:cNvPr id="36" name="Picture 2" descr="General Linear model">
              <a:extLst>
                <a:ext uri="{FF2B5EF4-FFF2-40B4-BE49-F238E27FC236}">
                  <a16:creationId xmlns:a16="http://schemas.microsoft.com/office/drawing/2014/main" id="{09446B36-46E2-E352-F033-2C72B4041B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500" r="65492"/>
            <a:stretch>
              <a:fillRect/>
            </a:stretch>
          </p:blipFill>
          <p:spPr bwMode="auto">
            <a:xfrm rot="16200000">
              <a:off x="4895393" y="2629349"/>
              <a:ext cx="2628001" cy="4737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B50B02A-A1FF-AAE2-564F-8F45455AB92E}"/>
                </a:ext>
              </a:extLst>
            </p:cNvPr>
            <p:cNvSpPr txBox="1"/>
            <p:nvPr/>
          </p:nvSpPr>
          <p:spPr>
            <a:xfrm rot="19580437">
              <a:off x="3144853" y="4608050"/>
              <a:ext cx="8489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FACES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8740E81-E6A6-E60B-9196-8ACD3BCAC2CE}"/>
                </a:ext>
              </a:extLst>
            </p:cNvPr>
            <p:cNvSpPr txBox="1"/>
            <p:nvPr/>
          </p:nvSpPr>
          <p:spPr>
            <a:xfrm rot="19580437">
              <a:off x="3038574" y="3859153"/>
              <a:ext cx="10615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HOUSES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25B8AF-42B8-64C8-A992-1F284A801433}"/>
              </a:ext>
            </a:extLst>
          </p:cNvPr>
          <p:cNvGrpSpPr/>
          <p:nvPr/>
        </p:nvGrpSpPr>
        <p:grpSpPr>
          <a:xfrm>
            <a:off x="2250893" y="3584331"/>
            <a:ext cx="3613152" cy="999334"/>
            <a:chOff x="4453616" y="4116160"/>
            <a:chExt cx="3613152" cy="999334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33942FB-E97B-FAA6-6873-70B98992D22A}"/>
                </a:ext>
              </a:extLst>
            </p:cNvPr>
            <p:cNvCxnSpPr/>
            <p:nvPr/>
          </p:nvCxnSpPr>
          <p:spPr>
            <a:xfrm flipV="1">
              <a:off x="4634591" y="4839269"/>
              <a:ext cx="0" cy="2762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AD0914E-0BB5-3B49-F2AB-E413ADCA016B}"/>
                </a:ext>
              </a:extLst>
            </p:cNvPr>
            <p:cNvCxnSpPr/>
            <p:nvPr/>
          </p:nvCxnSpPr>
          <p:spPr>
            <a:xfrm flipV="1">
              <a:off x="4977491" y="4839269"/>
              <a:ext cx="0" cy="2762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5C4E64B-898F-CDBA-EEF6-B3DF4D8A025B}"/>
                </a:ext>
              </a:extLst>
            </p:cNvPr>
            <p:cNvCxnSpPr/>
            <p:nvPr/>
          </p:nvCxnSpPr>
          <p:spPr>
            <a:xfrm flipV="1">
              <a:off x="5491841" y="4839269"/>
              <a:ext cx="0" cy="2762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8039EB0-40A1-B67E-4E87-2965CDFE9EE6}"/>
                </a:ext>
              </a:extLst>
            </p:cNvPr>
            <p:cNvCxnSpPr/>
            <p:nvPr/>
          </p:nvCxnSpPr>
          <p:spPr>
            <a:xfrm flipV="1">
              <a:off x="6006191" y="4839269"/>
              <a:ext cx="0" cy="2762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7275C1C-EB3A-804A-41C8-D57A37BAD94B}"/>
                </a:ext>
              </a:extLst>
            </p:cNvPr>
            <p:cNvCxnSpPr/>
            <p:nvPr/>
          </p:nvCxnSpPr>
          <p:spPr>
            <a:xfrm flipV="1">
              <a:off x="6349091" y="4839269"/>
              <a:ext cx="0" cy="2762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5AB87D-775D-22DD-88F3-226F8EB7210A}"/>
                </a:ext>
              </a:extLst>
            </p:cNvPr>
            <p:cNvCxnSpPr/>
            <p:nvPr/>
          </p:nvCxnSpPr>
          <p:spPr>
            <a:xfrm flipV="1">
              <a:off x="7215866" y="4839269"/>
              <a:ext cx="0" cy="2762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930B594-EA91-04CD-11AC-C37BD97E9C14}"/>
                </a:ext>
              </a:extLst>
            </p:cNvPr>
            <p:cNvCxnSpPr/>
            <p:nvPr/>
          </p:nvCxnSpPr>
          <p:spPr>
            <a:xfrm flipV="1">
              <a:off x="7387316" y="4839269"/>
              <a:ext cx="0" cy="2762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674C753-BB47-F41E-0762-5E8DF1033244}"/>
                </a:ext>
              </a:extLst>
            </p:cNvPr>
            <p:cNvCxnSpPr/>
            <p:nvPr/>
          </p:nvCxnSpPr>
          <p:spPr>
            <a:xfrm flipV="1">
              <a:off x="7911191" y="4839268"/>
              <a:ext cx="0" cy="2762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BD62621-0441-84F1-24BF-F00C95F78AFE}"/>
                </a:ext>
              </a:extLst>
            </p:cNvPr>
            <p:cNvCxnSpPr/>
            <p:nvPr/>
          </p:nvCxnSpPr>
          <p:spPr>
            <a:xfrm flipV="1">
              <a:off x="4453616" y="4116163"/>
              <a:ext cx="0" cy="2762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700EE6-A215-ECD8-CE0B-E271DAA8821B}"/>
                </a:ext>
              </a:extLst>
            </p:cNvPr>
            <p:cNvCxnSpPr/>
            <p:nvPr/>
          </p:nvCxnSpPr>
          <p:spPr>
            <a:xfrm flipV="1">
              <a:off x="4825091" y="4116163"/>
              <a:ext cx="0" cy="2762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E083560-DB4C-EE77-3901-929F8718D10B}"/>
                </a:ext>
              </a:extLst>
            </p:cNvPr>
            <p:cNvCxnSpPr/>
            <p:nvPr/>
          </p:nvCxnSpPr>
          <p:spPr>
            <a:xfrm flipV="1">
              <a:off x="5663291" y="4116162"/>
              <a:ext cx="0" cy="2762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07DBF2B-6E49-F723-A78B-DC6917B592CD}"/>
                </a:ext>
              </a:extLst>
            </p:cNvPr>
            <p:cNvCxnSpPr/>
            <p:nvPr/>
          </p:nvCxnSpPr>
          <p:spPr>
            <a:xfrm flipV="1">
              <a:off x="6166531" y="4116161"/>
              <a:ext cx="0" cy="2762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D9A2FBD-7B83-51C2-06BC-394E3F36E192}"/>
                </a:ext>
              </a:extLst>
            </p:cNvPr>
            <p:cNvCxnSpPr/>
            <p:nvPr/>
          </p:nvCxnSpPr>
          <p:spPr>
            <a:xfrm flipV="1">
              <a:off x="6695168" y="4116160"/>
              <a:ext cx="0" cy="2762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0EF81B6-87FE-E4BB-069B-E1712005A6E7}"/>
                </a:ext>
              </a:extLst>
            </p:cNvPr>
            <p:cNvCxnSpPr/>
            <p:nvPr/>
          </p:nvCxnSpPr>
          <p:spPr>
            <a:xfrm flipV="1">
              <a:off x="7033306" y="4116160"/>
              <a:ext cx="0" cy="2762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C3707A3-2F8C-B12F-164C-2ACDAF645B20}"/>
                </a:ext>
              </a:extLst>
            </p:cNvPr>
            <p:cNvCxnSpPr/>
            <p:nvPr/>
          </p:nvCxnSpPr>
          <p:spPr>
            <a:xfrm flipV="1">
              <a:off x="7547656" y="4116160"/>
              <a:ext cx="0" cy="2762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59F81CE-3F28-E07F-4746-6112209079B6}"/>
                </a:ext>
              </a:extLst>
            </p:cNvPr>
            <p:cNvCxnSpPr/>
            <p:nvPr/>
          </p:nvCxnSpPr>
          <p:spPr>
            <a:xfrm flipV="1">
              <a:off x="8066768" y="4116160"/>
              <a:ext cx="0" cy="2762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7EF350BA-AD77-3BD1-CEF9-C6ECC691A2C1}"/>
              </a:ext>
            </a:extLst>
          </p:cNvPr>
          <p:cNvSpPr txBox="1"/>
          <p:nvPr/>
        </p:nvSpPr>
        <p:spPr>
          <a:xfrm>
            <a:off x="7133218" y="2496566"/>
            <a:ext cx="3221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case, 2 regressors becomes 16 in total (8H, 8F)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FF19B70-DAB4-D8E5-A3EB-3E6C1D35317C}"/>
              </a:ext>
            </a:extLst>
          </p:cNvPr>
          <p:cNvGrpSpPr/>
          <p:nvPr/>
        </p:nvGrpSpPr>
        <p:grpSpPr>
          <a:xfrm>
            <a:off x="6708923" y="3314698"/>
            <a:ext cx="3832656" cy="1701541"/>
            <a:chOff x="7565594" y="3428998"/>
            <a:chExt cx="3832656" cy="1701541"/>
          </a:xfrm>
        </p:grpSpPr>
        <p:pic>
          <p:nvPicPr>
            <p:cNvPr id="58" name="Picture 2" descr="General Linear model">
              <a:extLst>
                <a:ext uri="{FF2B5EF4-FFF2-40B4-BE49-F238E27FC236}">
                  <a16:creationId xmlns:a16="http://schemas.microsoft.com/office/drawing/2014/main" id="{D80F7D70-3DBF-96BE-6934-E6C126C7F5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18" t="17941" r="67079" b="70762"/>
            <a:stretch>
              <a:fillRect/>
            </a:stretch>
          </p:blipFill>
          <p:spPr bwMode="auto">
            <a:xfrm rot="16200000">
              <a:off x="7680904" y="3313688"/>
              <a:ext cx="380999" cy="611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2" descr="General Linear model">
              <a:extLst>
                <a:ext uri="{FF2B5EF4-FFF2-40B4-BE49-F238E27FC236}">
                  <a16:creationId xmlns:a16="http://schemas.microsoft.com/office/drawing/2014/main" id="{138FE17D-9C8F-E6DF-6F65-15B9A98C10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18" t="29237" r="67079" b="55236"/>
            <a:stretch>
              <a:fillRect/>
            </a:stretch>
          </p:blipFill>
          <p:spPr bwMode="auto">
            <a:xfrm rot="16200000">
              <a:off x="8407006" y="3639388"/>
              <a:ext cx="380999" cy="840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" descr="General Linear model">
              <a:extLst>
                <a:ext uri="{FF2B5EF4-FFF2-40B4-BE49-F238E27FC236}">
                  <a16:creationId xmlns:a16="http://schemas.microsoft.com/office/drawing/2014/main" id="{4271A5B7-4A3D-AA55-FA31-E1BEF8FA3C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18" t="45315" r="67079" b="45637"/>
            <a:stretch>
              <a:fillRect/>
            </a:stretch>
          </p:blipFill>
          <p:spPr bwMode="auto">
            <a:xfrm rot="16200000">
              <a:off x="9098401" y="4254949"/>
              <a:ext cx="380999" cy="4898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2" descr="General Linear model">
              <a:extLst>
                <a:ext uri="{FF2B5EF4-FFF2-40B4-BE49-F238E27FC236}">
                  <a16:creationId xmlns:a16="http://schemas.microsoft.com/office/drawing/2014/main" id="{80C621FB-E3A0-AAD3-A81C-8FB189A7C7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18" t="54362" r="67079" b="35508"/>
            <a:stretch>
              <a:fillRect/>
            </a:stretch>
          </p:blipFill>
          <p:spPr bwMode="auto">
            <a:xfrm rot="16200000">
              <a:off x="9617513" y="4665839"/>
              <a:ext cx="380999" cy="548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2A73C08-3485-4F5E-374F-F8656F55B2C7}"/>
                </a:ext>
              </a:extLst>
            </p:cNvPr>
            <p:cNvCxnSpPr>
              <a:cxnSpLocks/>
            </p:cNvCxnSpPr>
            <p:nvPr/>
          </p:nvCxnSpPr>
          <p:spPr>
            <a:xfrm>
              <a:off x="8177214" y="3707947"/>
              <a:ext cx="3221036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78963A0-7582-E820-FFC9-05FB8CBA9AD8}"/>
                </a:ext>
              </a:extLst>
            </p:cNvPr>
            <p:cNvCxnSpPr>
              <a:cxnSpLocks/>
            </p:cNvCxnSpPr>
            <p:nvPr/>
          </p:nvCxnSpPr>
          <p:spPr>
            <a:xfrm>
              <a:off x="7634288" y="4147553"/>
              <a:ext cx="542926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683DD6A-6C36-0897-B893-9AF87825118F}"/>
                </a:ext>
              </a:extLst>
            </p:cNvPr>
            <p:cNvCxnSpPr>
              <a:cxnSpLocks/>
            </p:cNvCxnSpPr>
            <p:nvPr/>
          </p:nvCxnSpPr>
          <p:spPr>
            <a:xfrm>
              <a:off x="9018591" y="4132682"/>
              <a:ext cx="2379659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2D5A220-8456-1D47-88A6-5FDAA1EF6A5A}"/>
                </a:ext>
              </a:extLst>
            </p:cNvPr>
            <p:cNvCxnSpPr>
              <a:cxnSpLocks/>
            </p:cNvCxnSpPr>
            <p:nvPr/>
          </p:nvCxnSpPr>
          <p:spPr>
            <a:xfrm>
              <a:off x="7634288" y="4576177"/>
              <a:ext cx="1409701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D22C6D3-6308-0389-7C7B-616014A80784}"/>
                </a:ext>
              </a:extLst>
            </p:cNvPr>
            <p:cNvCxnSpPr>
              <a:cxnSpLocks/>
            </p:cNvCxnSpPr>
            <p:nvPr/>
          </p:nvCxnSpPr>
          <p:spPr>
            <a:xfrm>
              <a:off x="9528178" y="4582527"/>
              <a:ext cx="1870072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0C9A2B5-F17A-F451-3968-3EB6D2348489}"/>
                </a:ext>
              </a:extLst>
            </p:cNvPr>
            <p:cNvCxnSpPr>
              <a:cxnSpLocks/>
            </p:cNvCxnSpPr>
            <p:nvPr/>
          </p:nvCxnSpPr>
          <p:spPr>
            <a:xfrm>
              <a:off x="7634288" y="5020677"/>
              <a:ext cx="1900240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1B29C90-35DD-B871-7A4B-70FDCF34E47E}"/>
                </a:ext>
              </a:extLst>
            </p:cNvPr>
            <p:cNvCxnSpPr>
              <a:cxnSpLocks/>
            </p:cNvCxnSpPr>
            <p:nvPr/>
          </p:nvCxnSpPr>
          <p:spPr>
            <a:xfrm>
              <a:off x="10082214" y="5024854"/>
              <a:ext cx="1316036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5A92A95B-37FE-E267-D31B-784011ADC4D7}"/>
              </a:ext>
            </a:extLst>
          </p:cNvPr>
          <p:cNvSpPr txBox="1"/>
          <p:nvPr/>
        </p:nvSpPr>
        <p:spPr>
          <a:xfrm>
            <a:off x="9739813" y="5060493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8787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8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3FDDB-50E0-49FC-DD07-47FAFF75C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0517F8-2A02-1922-8DE1-D2AA7F94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MVPA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520042-97CC-9409-8EAC-066C29480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1) </a:t>
            </a:r>
            <a:r>
              <a:rPr lang="en-US" dirty="0"/>
              <a:t>Label blocks / trials and split them into independent regressors</a:t>
            </a:r>
          </a:p>
          <a:p>
            <a:pPr lvl="1"/>
            <a:r>
              <a:rPr lang="en-US" dirty="0"/>
              <a:t>Estimate effect size for each block / trial</a:t>
            </a:r>
          </a:p>
          <a:p>
            <a:r>
              <a:rPr lang="en-US" b="1" dirty="0"/>
              <a:t>Step 2</a:t>
            </a:r>
            <a:r>
              <a:rPr lang="en-US" dirty="0"/>
              <a:t>) Train a classifier (e.g., SVM) on the Beta maps</a:t>
            </a:r>
          </a:p>
        </p:txBody>
      </p:sp>
      <p:pic>
        <p:nvPicPr>
          <p:cNvPr id="3" name="Google Shape;398;p41">
            <a:extLst>
              <a:ext uri="{FF2B5EF4-FFF2-40B4-BE49-F238E27FC236}">
                <a16:creationId xmlns:a16="http://schemas.microsoft.com/office/drawing/2014/main" id="{130454F0-04F8-C43D-C10A-5D96FA36C64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63973" y="3932081"/>
            <a:ext cx="3464054" cy="22554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463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4967" y="549467"/>
            <a:ext cx="851432" cy="851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3701" y="654067"/>
            <a:ext cx="233967" cy="23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04234" y="714401"/>
            <a:ext cx="233967" cy="23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72934" y="771234"/>
            <a:ext cx="233967" cy="23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2069" y="2570553"/>
            <a:ext cx="6284799" cy="354063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0"/>
          <p:cNvSpPr txBox="1">
            <a:spLocks noGrp="1"/>
          </p:cNvSpPr>
          <p:nvPr>
            <p:ph type="body" idx="1"/>
          </p:nvPr>
        </p:nvSpPr>
        <p:spPr>
          <a:xfrm>
            <a:off x="830440" y="1738648"/>
            <a:ext cx="54264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b="1" dirty="0">
                <a:latin typeface="Aptos Display" panose="020B0004020202020204" pitchFamily="34" charset="0"/>
              </a:rPr>
              <a:t>Searchlight</a:t>
            </a:r>
            <a:r>
              <a:rPr lang="en" sz="2400" dirty="0">
                <a:latin typeface="Aptos Display" panose="020B0004020202020204" pitchFamily="34" charset="0"/>
              </a:rPr>
              <a:t> decoding analysis</a:t>
            </a:r>
            <a:endParaRPr sz="2400" dirty="0">
              <a:latin typeface="Aptos Display" panose="020B0004020202020204" pitchFamily="34" charset="0"/>
            </a:endParaRPr>
          </a:p>
        </p:txBody>
      </p:sp>
      <p:pic>
        <p:nvPicPr>
          <p:cNvPr id="370" name="Google Shape;370;p40"/>
          <p:cNvPicPr preferRelativeResize="0"/>
          <p:nvPr/>
        </p:nvPicPr>
        <p:blipFill rotWithShape="1">
          <a:blip r:embed="rId6">
            <a:alphaModFix/>
          </a:blip>
          <a:srcRect l="42814" t="10864" r="42183" b="10289"/>
          <a:stretch/>
        </p:blipFill>
        <p:spPr>
          <a:xfrm>
            <a:off x="8867300" y="2340667"/>
            <a:ext cx="1268469" cy="4000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8401946-EDCA-20C5-610B-F1084B60E59C}"/>
              </a:ext>
            </a:extLst>
          </p:cNvPr>
          <p:cNvGrpSpPr/>
          <p:nvPr/>
        </p:nvGrpSpPr>
        <p:grpSpPr>
          <a:xfrm>
            <a:off x="6140489" y="3485371"/>
            <a:ext cx="3342647" cy="836296"/>
            <a:chOff x="6140489" y="3485371"/>
            <a:chExt cx="3342647" cy="836296"/>
          </a:xfrm>
        </p:grpSpPr>
        <p:sp>
          <p:nvSpPr>
            <p:cNvPr id="371" name="Google Shape;371;p40"/>
            <p:cNvSpPr/>
            <p:nvPr/>
          </p:nvSpPr>
          <p:spPr>
            <a:xfrm rot="3946108">
              <a:off x="7736521" y="1889339"/>
              <a:ext cx="150584" cy="3342647"/>
            </a:xfrm>
            <a:prstGeom prst="flowChartExtract">
              <a:avLst/>
            </a:prstGeom>
            <a:solidFill>
              <a:srgbClr val="FFE5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2" name="Google Shape;372;p40"/>
            <p:cNvSpPr/>
            <p:nvPr/>
          </p:nvSpPr>
          <p:spPr>
            <a:xfrm>
              <a:off x="6205833" y="4173667"/>
              <a:ext cx="160400" cy="148000"/>
            </a:xfrm>
            <a:prstGeom prst="ellipse">
              <a:avLst/>
            </a:prstGeom>
            <a:solidFill>
              <a:srgbClr val="FFE5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373" name="Google Shape;373;p40"/>
          <p:cNvGrpSpPr/>
          <p:nvPr/>
        </p:nvGrpSpPr>
        <p:grpSpPr>
          <a:xfrm>
            <a:off x="10135767" y="3493067"/>
            <a:ext cx="1635600" cy="1509200"/>
            <a:chOff x="7601825" y="2619800"/>
            <a:chExt cx="1226700" cy="1131900"/>
          </a:xfrm>
        </p:grpSpPr>
        <p:sp>
          <p:nvSpPr>
            <p:cNvPr id="374" name="Google Shape;374;p40"/>
            <p:cNvSpPr/>
            <p:nvPr/>
          </p:nvSpPr>
          <p:spPr>
            <a:xfrm>
              <a:off x="7601825" y="2619800"/>
              <a:ext cx="1226700" cy="1131900"/>
            </a:xfrm>
            <a:prstGeom prst="ellipse">
              <a:avLst/>
            </a:prstGeom>
            <a:solidFill>
              <a:srgbClr val="FFE5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  <p:pic>
          <p:nvPicPr>
            <p:cNvPr id="375" name="Google Shape;37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21400" y="2691963"/>
              <a:ext cx="987575" cy="987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40"/>
            <p:cNvSpPr/>
            <p:nvPr/>
          </p:nvSpPr>
          <p:spPr>
            <a:xfrm>
              <a:off x="7819400" y="2827125"/>
              <a:ext cx="227700" cy="2208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7" name="Google Shape;377;p40"/>
            <p:cNvSpPr/>
            <p:nvPr/>
          </p:nvSpPr>
          <p:spPr>
            <a:xfrm>
              <a:off x="8101325" y="2827125"/>
              <a:ext cx="227700" cy="220800"/>
            </a:xfrm>
            <a:prstGeom prst="rect">
              <a:avLst/>
            </a:prstGeom>
            <a:solidFill>
              <a:srgbClr val="99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8" name="Google Shape;378;p40"/>
            <p:cNvSpPr/>
            <p:nvPr/>
          </p:nvSpPr>
          <p:spPr>
            <a:xfrm>
              <a:off x="8383250" y="2827125"/>
              <a:ext cx="227700" cy="220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9" name="Google Shape;379;p40"/>
            <p:cNvSpPr/>
            <p:nvPr/>
          </p:nvSpPr>
          <p:spPr>
            <a:xfrm>
              <a:off x="7819400" y="3075350"/>
              <a:ext cx="227700" cy="2208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80" name="Google Shape;380;p40"/>
            <p:cNvSpPr/>
            <p:nvPr/>
          </p:nvSpPr>
          <p:spPr>
            <a:xfrm>
              <a:off x="8101338" y="3075350"/>
              <a:ext cx="227700" cy="220800"/>
            </a:xfrm>
            <a:prstGeom prst="rect">
              <a:avLst/>
            </a:prstGeom>
            <a:solidFill>
              <a:srgbClr val="CC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8383300" y="3075350"/>
              <a:ext cx="227700" cy="220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82" name="Google Shape;382;p40"/>
            <p:cNvSpPr/>
            <p:nvPr/>
          </p:nvSpPr>
          <p:spPr>
            <a:xfrm>
              <a:off x="7819400" y="3323575"/>
              <a:ext cx="227700" cy="220800"/>
            </a:xfrm>
            <a:prstGeom prst="rect">
              <a:avLst/>
            </a:prstGeom>
            <a:solidFill>
              <a:srgbClr val="99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83" name="Google Shape;383;p40"/>
            <p:cNvSpPr/>
            <p:nvPr/>
          </p:nvSpPr>
          <p:spPr>
            <a:xfrm>
              <a:off x="8101325" y="3323575"/>
              <a:ext cx="227700" cy="220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84" name="Google Shape;384;p40"/>
            <p:cNvSpPr/>
            <p:nvPr/>
          </p:nvSpPr>
          <p:spPr>
            <a:xfrm>
              <a:off x="8383250" y="3323575"/>
              <a:ext cx="227700" cy="2208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6" name="Title 3">
            <a:extLst>
              <a:ext uri="{FF2B5EF4-FFF2-40B4-BE49-F238E27FC236}">
                <a16:creationId xmlns:a16="http://schemas.microsoft.com/office/drawing/2014/main" id="{0330F17C-D8BB-9D62-91B7-C6F82E3927C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MVPA</a:t>
            </a:r>
          </a:p>
        </p:txBody>
      </p:sp>
    </p:spTree>
    <p:extLst>
      <p:ext uri="{BB962C8B-B14F-4D97-AF65-F5344CB8AC3E}">
        <p14:creationId xmlns:p14="http://schemas.microsoft.com/office/powerpoint/2010/main" val="119750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4967" y="549467"/>
            <a:ext cx="851432" cy="851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3701" y="654067"/>
            <a:ext cx="233967" cy="23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04234" y="714401"/>
            <a:ext cx="233967" cy="23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72934" y="771234"/>
            <a:ext cx="233967" cy="23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4134" y="2621717"/>
            <a:ext cx="4542133" cy="34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1"/>
          <p:cNvSpPr txBox="1"/>
          <p:nvPr/>
        </p:nvSpPr>
        <p:spPr>
          <a:xfrm>
            <a:off x="7455967" y="2759400"/>
            <a:ext cx="3678400" cy="1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 dirty="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E.g., 6 runs</a:t>
            </a:r>
            <a:endParaRPr sz="2400" u="sng" dirty="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Train on 5, test on 1, rinse &amp; repeat</a:t>
            </a:r>
            <a:endParaRPr sz="2400" dirty="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97" name="Google Shape;397;p41"/>
          <p:cNvPicPr preferRelativeResize="0"/>
          <p:nvPr/>
        </p:nvPicPr>
        <p:blipFill rotWithShape="1">
          <a:blip r:embed="rId6">
            <a:alphaModFix/>
          </a:blip>
          <a:srcRect l="42814" t="10864" r="42183" b="10289"/>
          <a:stretch/>
        </p:blipFill>
        <p:spPr>
          <a:xfrm>
            <a:off x="1712685" y="2853555"/>
            <a:ext cx="851436" cy="2685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77892" y="4220318"/>
            <a:ext cx="2318008" cy="150923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6F5A85C-CFE3-6F8E-6CAE-BC2A61AD992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MVPA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7" name="Google Shape;369;p40">
            <a:extLst>
              <a:ext uri="{FF2B5EF4-FFF2-40B4-BE49-F238E27FC236}">
                <a16:creationId xmlns:a16="http://schemas.microsoft.com/office/drawing/2014/main" id="{E651F66C-7F58-52EF-DE37-36F7CAD29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0440" y="1738648"/>
            <a:ext cx="54264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b="1" dirty="0">
                <a:latin typeface="Aptos Display" panose="020B0004020202020204" pitchFamily="34" charset="0"/>
              </a:rPr>
              <a:t>Searchlight</a:t>
            </a:r>
            <a:r>
              <a:rPr lang="en" sz="2400" dirty="0">
                <a:latin typeface="Aptos Display" panose="020B0004020202020204" pitchFamily="34" charset="0"/>
              </a:rPr>
              <a:t> decoding analysis</a:t>
            </a:r>
            <a:endParaRPr sz="2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771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2"/>
          <p:cNvSpPr txBox="1">
            <a:spLocks noGrp="1"/>
          </p:cNvSpPr>
          <p:nvPr>
            <p:ph type="body" idx="1"/>
          </p:nvPr>
        </p:nvSpPr>
        <p:spPr>
          <a:xfrm>
            <a:off x="1140670" y="1536633"/>
            <a:ext cx="10635729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latin typeface="Aptos Display" panose="020B0004020202020204" pitchFamily="34" charset="0"/>
              </a:rPr>
              <a:t>Example Result (Accuracy map for Cond A – Cond B)</a:t>
            </a:r>
            <a:endParaRPr dirty="0">
              <a:latin typeface="Aptos Display" panose="020B0004020202020204" pitchFamily="34" charset="0"/>
            </a:endParaRPr>
          </a:p>
        </p:txBody>
      </p:sp>
      <p:pic>
        <p:nvPicPr>
          <p:cNvPr id="405" name="Google Shape;40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4967" y="549467"/>
            <a:ext cx="851432" cy="851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3701" y="654067"/>
            <a:ext cx="233967" cy="23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04234" y="714401"/>
            <a:ext cx="233967" cy="23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72934" y="771234"/>
            <a:ext cx="233967" cy="23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2"/>
          <p:cNvPicPr preferRelativeResize="0"/>
          <p:nvPr/>
        </p:nvPicPr>
        <p:blipFill>
          <a:blip r:embed="rId5">
            <a:alphaModFix/>
          </a:blip>
          <a:srcRect t="3116"/>
          <a:stretch>
            <a:fillRect/>
          </a:stretch>
        </p:blipFill>
        <p:spPr>
          <a:xfrm>
            <a:off x="1140670" y="2300233"/>
            <a:ext cx="9910632" cy="34478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55843A4-07AF-CA73-02D6-B34525FCD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992228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E030-6915-BDA2-014E-0BEAD240C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6717FA-2A55-D349-5D46-0BAC0123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MVPA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443DCDD-C42E-1029-7099-9E226A572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561974"/>
            <a:ext cx="6414532" cy="602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69;p40">
            <a:extLst>
              <a:ext uri="{FF2B5EF4-FFF2-40B4-BE49-F238E27FC236}">
                <a16:creationId xmlns:a16="http://schemas.microsoft.com/office/drawing/2014/main" id="{D164AAFA-C993-B573-EAB9-6C31FEFD4662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3560585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28600" marR="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600"/>
              </a:spcAft>
              <a:buFont typeface="Arial"/>
              <a:buNone/>
            </a:pPr>
            <a:r>
              <a:rPr lang="en-US" sz="2400" dirty="0">
                <a:latin typeface="Aptos Display" panose="020B0004020202020204" pitchFamily="34" charset="0"/>
              </a:rPr>
              <a:t>Many options:</a:t>
            </a:r>
          </a:p>
          <a:p>
            <a:pPr>
              <a:spcAft>
                <a:spcPts val="1600"/>
              </a:spcAft>
            </a:pPr>
            <a:r>
              <a:rPr lang="en-US" sz="2400" dirty="0">
                <a:latin typeface="Aptos Display" panose="020B0004020202020204" pitchFamily="34" charset="0"/>
              </a:rPr>
              <a:t>The Decoding Toolbox</a:t>
            </a:r>
          </a:p>
          <a:p>
            <a:pPr>
              <a:spcAft>
                <a:spcPts val="1600"/>
              </a:spcAft>
            </a:pPr>
            <a:r>
              <a:rPr lang="en-US" sz="2400" dirty="0" err="1">
                <a:latin typeface="Aptos Display" panose="020B0004020202020204" pitchFamily="34" charset="0"/>
              </a:rPr>
              <a:t>CoSMoMVPA</a:t>
            </a:r>
            <a:endParaRPr lang="en-US" sz="2400" dirty="0">
              <a:latin typeface="Aptos Display" panose="020B0004020202020204" pitchFamily="34" charset="0"/>
            </a:endParaRPr>
          </a:p>
          <a:p>
            <a:pPr>
              <a:spcAft>
                <a:spcPts val="1600"/>
              </a:spcAft>
            </a:pPr>
            <a:r>
              <a:rPr lang="en-US" sz="2400" dirty="0" err="1">
                <a:latin typeface="Aptos Display" panose="020B0004020202020204" pitchFamily="34" charset="0"/>
              </a:rPr>
              <a:t>pyMVPA</a:t>
            </a:r>
            <a:endParaRPr lang="en-US" sz="2400" dirty="0">
              <a:latin typeface="Aptos Display" panose="020B0004020202020204" pitchFamily="34" charset="0"/>
            </a:endParaRPr>
          </a:p>
          <a:p>
            <a:pPr>
              <a:spcAft>
                <a:spcPts val="1600"/>
              </a:spcAft>
            </a:pPr>
            <a:r>
              <a:rPr lang="en-US" sz="2400" dirty="0" err="1">
                <a:latin typeface="Aptos Display" panose="020B0004020202020204" pitchFamily="34" charset="0"/>
              </a:rPr>
              <a:t>NiLearn</a:t>
            </a:r>
            <a:endParaRPr lang="en-US" sz="2400" dirty="0">
              <a:latin typeface="Aptos Display" panose="020B0004020202020204" pitchFamily="34" charset="0"/>
            </a:endParaRPr>
          </a:p>
          <a:p>
            <a:pPr>
              <a:spcAft>
                <a:spcPts val="1600"/>
              </a:spcAft>
            </a:pPr>
            <a:r>
              <a:rPr lang="en-US" sz="2400" dirty="0">
                <a:latin typeface="Aptos Display" panose="020B0004020202020204" pitchFamily="34" charset="0"/>
              </a:rPr>
              <a:t>And more!</a:t>
            </a:r>
          </a:p>
        </p:txBody>
      </p:sp>
    </p:spTree>
    <p:extLst>
      <p:ext uri="{BB962C8B-B14F-4D97-AF65-F5344CB8AC3E}">
        <p14:creationId xmlns:p14="http://schemas.microsoft.com/office/powerpoint/2010/main" val="2821526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3D67A-39CC-21AA-FEC3-5F75E7701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E6DBFC-9D65-E14E-833A-A2665B71D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Representational Similarity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AB5DFC-9D63-3988-E76B-0A875E4CD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MVPA</a:t>
            </a:r>
          </a:p>
          <a:p>
            <a:pPr lvl="1"/>
            <a:r>
              <a:rPr lang="en-US" dirty="0"/>
              <a:t>What info is represented in each region?</a:t>
            </a:r>
          </a:p>
          <a:p>
            <a:pPr lvl="1"/>
            <a:r>
              <a:rPr lang="en-US" b="1" dirty="0"/>
              <a:t>MVPA</a:t>
            </a:r>
            <a:r>
              <a:rPr lang="en-US" dirty="0"/>
              <a:t>: “Can a multivariate brain pattern predict which stimulus/condition the participant is in?”</a:t>
            </a:r>
          </a:p>
          <a:p>
            <a:pPr lvl="1"/>
            <a:r>
              <a:rPr lang="en-US" b="1" dirty="0"/>
              <a:t>RSA</a:t>
            </a:r>
            <a:r>
              <a:rPr lang="en-US" dirty="0"/>
              <a:t>: “How similar are the </a:t>
            </a:r>
            <a:r>
              <a:rPr lang="en-US" i="1" dirty="0"/>
              <a:t>representational geometries</a:t>
            </a:r>
            <a:r>
              <a:rPr lang="en-US" dirty="0"/>
              <a:t> of different brain patterns?”</a:t>
            </a:r>
          </a:p>
          <a:p>
            <a:pPr lvl="2"/>
            <a:r>
              <a:rPr lang="en-US" dirty="0"/>
              <a:t>Do those geometries match a model, another brain region, or another modality?</a:t>
            </a:r>
          </a:p>
          <a:p>
            <a:pPr lvl="2"/>
            <a:endParaRPr lang="en-US" dirty="0"/>
          </a:p>
          <a:p>
            <a:r>
              <a:rPr lang="en-US" b="1" dirty="0"/>
              <a:t>Main goal</a:t>
            </a:r>
            <a:r>
              <a:rPr lang="en-US" dirty="0"/>
              <a:t>: Comparing neural patterns to computational / theoretical model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699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FCFA-2871-FD3F-F35A-44CC0F09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58439A-6DDB-3570-34F6-A2E487D6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046390-1B6C-06F7-CA48-A5B48642F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1) Same as MVPA</a:t>
            </a:r>
          </a:p>
          <a:p>
            <a:r>
              <a:rPr lang="en-US" dirty="0"/>
              <a:t>Step 2) </a:t>
            </a:r>
            <a:r>
              <a:rPr lang="en-US" b="1" dirty="0"/>
              <a:t>Compute pairwise distances</a:t>
            </a:r>
            <a:r>
              <a:rPr lang="en-US" dirty="0"/>
              <a:t> between every pair of patterns → </a:t>
            </a:r>
            <a:r>
              <a:rPr lang="en-US" i="1" dirty="0"/>
              <a:t>Representational Dissimilarity Matrix</a:t>
            </a:r>
            <a:r>
              <a:rPr lang="en-US" dirty="0"/>
              <a:t> (</a:t>
            </a:r>
            <a:r>
              <a:rPr lang="en-US" b="1" dirty="0"/>
              <a:t>RDM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Distance metric up to you (Pearson’s r, Euclidean, </a:t>
            </a:r>
            <a:r>
              <a:rPr lang="en-US" dirty="0" err="1"/>
              <a:t>Mahalanobis</a:t>
            </a:r>
            <a:r>
              <a:rPr lang="en-US" dirty="0"/>
              <a:t>, etc.)</a:t>
            </a:r>
          </a:p>
          <a:p>
            <a:r>
              <a:rPr lang="en-US" dirty="0"/>
              <a:t>Step 3) Compare RDMs</a:t>
            </a:r>
          </a:p>
          <a:p>
            <a:pPr lvl="1"/>
            <a:r>
              <a:rPr lang="en-US" dirty="0"/>
              <a:t>Between regions</a:t>
            </a:r>
          </a:p>
          <a:p>
            <a:pPr lvl="1"/>
            <a:r>
              <a:rPr lang="en-US" dirty="0"/>
              <a:t>Against model (e.g., theoretical RDM w/ semantic </a:t>
            </a:r>
            <a:r>
              <a:rPr lang="en-US" dirty="0" err="1"/>
              <a:t>dist</a:t>
            </a:r>
            <a:r>
              <a:rPr lang="en-US" dirty="0"/>
              <a:t> in feature space)</a:t>
            </a:r>
          </a:p>
          <a:p>
            <a:r>
              <a:rPr lang="en-US" dirty="0"/>
              <a:t>Step 4) Stats</a:t>
            </a:r>
          </a:p>
          <a:p>
            <a:pPr lvl="1"/>
            <a:r>
              <a:rPr lang="en-US" dirty="0"/>
              <a:t>Permutation on condition labels is common</a:t>
            </a:r>
          </a:p>
        </p:txBody>
      </p:sp>
    </p:spTree>
    <p:extLst>
      <p:ext uri="{BB962C8B-B14F-4D97-AF65-F5344CB8AC3E}">
        <p14:creationId xmlns:p14="http://schemas.microsoft.com/office/powerpoint/2010/main" val="1291059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95CA5-965E-ED1D-CE54-8278EA59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2F8AF3-CCCE-C2A9-DEC9-06561BBB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</a:t>
            </a:r>
          </a:p>
        </p:txBody>
      </p:sp>
      <p:pic>
        <p:nvPicPr>
          <p:cNvPr id="4100" name="Picture 4" descr="brain_extraction">
            <a:extLst>
              <a:ext uri="{FF2B5EF4-FFF2-40B4-BE49-F238E27FC236}">
                <a16:creationId xmlns:a16="http://schemas.microsoft.com/office/drawing/2014/main" id="{77D3CB8A-1EFB-F613-A6F1-460FB8AFA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49" y="1476375"/>
            <a:ext cx="8010525" cy="491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878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62CBF-6045-5570-F578-D6410B80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5F454A-3723-DE99-87B7-6DF878F39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</a:t>
            </a:r>
          </a:p>
        </p:txBody>
      </p:sp>
      <p:pic>
        <p:nvPicPr>
          <p:cNvPr id="4098" name="Picture 2" descr="Feature_embedding">
            <a:extLst>
              <a:ext uri="{FF2B5EF4-FFF2-40B4-BE49-F238E27FC236}">
                <a16:creationId xmlns:a16="http://schemas.microsoft.com/office/drawing/2014/main" id="{ED6F2BAA-418C-9022-7B57-B4055A0B2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381" y="1964644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C3BDC71B-4634-4C6E-DF0B-5A7E74458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850" y="1588522"/>
            <a:ext cx="3986212" cy="4409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514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086A9-E37E-4843-2EC0-6FC111FB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378D7F-76E4-5444-8F9B-6F969DC8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many more!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11FFD0-BD85-B013-452F-6B14F0D76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Functional</a:t>
            </a:r>
          </a:p>
          <a:p>
            <a:pPr lvl="1"/>
            <a:r>
              <a:rPr lang="en-US" dirty="0"/>
              <a:t>Region of Interest (ROI)</a:t>
            </a:r>
          </a:p>
          <a:p>
            <a:pPr lvl="1"/>
            <a:r>
              <a:rPr lang="en-US" dirty="0"/>
              <a:t>Resting-State Functional Connectivity (RSFC)</a:t>
            </a:r>
          </a:p>
          <a:p>
            <a:pPr lvl="2"/>
            <a:r>
              <a:rPr lang="en-US" dirty="0"/>
              <a:t>Psycho-Physiological Interaction (PPI)</a:t>
            </a:r>
          </a:p>
          <a:p>
            <a:pPr lvl="1"/>
            <a:r>
              <a:rPr lang="en-US" dirty="0"/>
              <a:t>Finite Impulse Response (FIR)</a:t>
            </a:r>
          </a:p>
          <a:p>
            <a:pPr lvl="1"/>
            <a:r>
              <a:rPr lang="en-US" dirty="0"/>
              <a:t>fMRI Adaptation</a:t>
            </a:r>
          </a:p>
          <a:p>
            <a:pPr marL="0" indent="0">
              <a:buNone/>
            </a:pPr>
            <a:r>
              <a:rPr lang="en-US" dirty="0"/>
              <a:t>Structural</a:t>
            </a:r>
          </a:p>
          <a:p>
            <a:pPr lvl="1"/>
            <a:r>
              <a:rPr lang="en-US" dirty="0"/>
              <a:t>Voxel-Based Morphometry (VBM)</a:t>
            </a:r>
          </a:p>
          <a:p>
            <a:pPr lvl="1"/>
            <a:r>
              <a:rPr lang="en-US" dirty="0"/>
              <a:t>Surface/Vertex-Wise Analysis (</a:t>
            </a:r>
            <a:r>
              <a:rPr lang="en-US" dirty="0" err="1"/>
              <a:t>cort</a:t>
            </a:r>
            <a:r>
              <a:rPr lang="en-US" dirty="0"/>
              <a:t>. thickness, density, etc.)</a:t>
            </a:r>
          </a:p>
          <a:p>
            <a:pPr lvl="1"/>
            <a:r>
              <a:rPr lang="en-US" dirty="0"/>
              <a:t>Transport Based Morphometry (TBM)</a:t>
            </a:r>
          </a:p>
        </p:txBody>
      </p:sp>
    </p:spTree>
    <p:extLst>
      <p:ext uri="{BB962C8B-B14F-4D97-AF65-F5344CB8AC3E}">
        <p14:creationId xmlns:p14="http://schemas.microsoft.com/office/powerpoint/2010/main" val="2697783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1072</Words>
  <Application>Microsoft Office PowerPoint</Application>
  <PresentationFormat>Widescreen</PresentationFormat>
  <Paragraphs>178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Aptos</vt:lpstr>
      <vt:lpstr>Aptos Display</vt:lpstr>
      <vt:lpstr>Arial</vt:lpstr>
      <vt:lpstr>Georgia</vt:lpstr>
      <vt:lpstr>Playfair Display</vt:lpstr>
      <vt:lpstr>Wingdings</vt:lpstr>
      <vt:lpstr>Office Theme</vt:lpstr>
      <vt:lpstr>1_Office Theme</vt:lpstr>
      <vt:lpstr>Office Theme</vt:lpstr>
      <vt:lpstr>Office Theme</vt:lpstr>
      <vt:lpstr>Office Theme</vt:lpstr>
      <vt:lpstr>Simple Light</vt:lpstr>
      <vt:lpstr>UVA Brainhack!</vt:lpstr>
      <vt:lpstr>Agenda</vt:lpstr>
      <vt:lpstr> Check-in</vt:lpstr>
      <vt:lpstr>Review</vt:lpstr>
      <vt:lpstr>Generalized Linear Model</vt:lpstr>
      <vt:lpstr>Design Matrix</vt:lpstr>
      <vt:lpstr>Design Matrix</vt:lpstr>
      <vt:lpstr>Modeling out structured noise</vt:lpstr>
      <vt:lpstr>PowerPoint Presentation</vt:lpstr>
      <vt:lpstr>Mass Univariate Analysis</vt:lpstr>
      <vt:lpstr>Beta coefficient weights</vt:lpstr>
      <vt:lpstr>Group-level analysis</vt:lpstr>
      <vt:lpstr>Group-level analysis</vt:lpstr>
      <vt:lpstr>Group-level analysis</vt:lpstr>
      <vt:lpstr>Recall: Normalization + Co-Registration</vt:lpstr>
      <vt:lpstr>Recall: Normalization + Co-Registration</vt:lpstr>
      <vt:lpstr>Group-level analysis</vt:lpstr>
      <vt:lpstr>Group-level analysis</vt:lpstr>
      <vt:lpstr>Group-level analysis</vt:lpstr>
      <vt:lpstr>Advanced Analysis</vt:lpstr>
      <vt:lpstr>Multi-Voxel Pattern Analysis</vt:lpstr>
      <vt:lpstr>Multi-Voxel Pattern Analysis</vt:lpstr>
      <vt:lpstr>Multi-Voxel Pattern Analysis</vt:lpstr>
      <vt:lpstr>MVPA</vt:lpstr>
      <vt:lpstr>MVPA</vt:lpstr>
      <vt:lpstr>PowerPoint Presentation</vt:lpstr>
      <vt:lpstr>PowerPoint Presentation</vt:lpstr>
      <vt:lpstr>Results</vt:lpstr>
      <vt:lpstr>MVPA</vt:lpstr>
      <vt:lpstr>Representational Similarity Analysis</vt:lpstr>
      <vt:lpstr>RSA</vt:lpstr>
      <vt:lpstr>RSA</vt:lpstr>
      <vt:lpstr>RSA</vt:lpstr>
      <vt:lpstr>And many more!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Gallagher, Richard Craig (rcg7jb)</dc:creator>
  <cp:lastModifiedBy>Gallagher, Richard Craig (rcg7jb)</cp:lastModifiedBy>
  <cp:revision>2</cp:revision>
  <dcterms:created xsi:type="dcterms:W3CDTF">2025-07-18T12:25:31Z</dcterms:created>
  <dcterms:modified xsi:type="dcterms:W3CDTF">2025-07-18T19:23:28Z</dcterms:modified>
</cp:coreProperties>
</file>